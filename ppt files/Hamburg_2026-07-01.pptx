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61" r:id="rId6"/>
    <p:sldId id="262" r:id="rId7"/>
    <p:sldId id="263" r:id="rId8"/>
    <p:sldId id="264" r:id="rId9"/>
    <p:sldId id="265" r:id="rId10"/>
    <p:sldId id="282" r:id="rId11"/>
    <p:sldId id="283" r:id="rId12"/>
    <p:sldId id="284" r:id="rId13"/>
    <p:sldId id="28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3" d="100"/>
          <a:sy n="83" d="100"/>
        </p:scale>
        <p:origin x="408"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events.triathlon.org/2026-wtcs-hamburg/race-info" TargetMode="Externa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events.triathlon.org/2026-wtcs-hamburg/water-quality" TargetMode="Externa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430000" y="0"/>
            <a:ext cx="758952"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3749039"/>
            <a:ext cx="1078992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USA_Triathlon_Logo.jpg"/>
          <p:cNvPicPr>
            <a:picLocks noChangeAspect="1"/>
          </p:cNvPicPr>
          <p:nvPr/>
        </p:nvPicPr>
        <p:blipFill>
          <a:blip r:embed="rId2"/>
          <a:stretch>
            <a:fillRect/>
          </a:stretch>
        </p:blipFill>
        <p:spPr>
          <a:xfrm>
            <a:off x="548640" y="365760"/>
            <a:ext cx="1920240" cy="1463040"/>
          </a:xfrm>
          <a:prstGeom prst="rect">
            <a:avLst/>
          </a:prstGeom>
        </p:spPr>
      </p:pic>
      <p:sp>
        <p:nvSpPr>
          <p:cNvPr id="6" name="TextBox 5"/>
          <p:cNvSpPr txBox="1"/>
          <p:nvPr/>
        </p:nvSpPr>
        <p:spPr>
          <a:xfrm>
            <a:off x="457200" y="1828800"/>
            <a:ext cx="10789920" cy="1280160"/>
          </a:xfrm>
          <a:prstGeom prst="rect">
            <a:avLst/>
          </a:prstGeom>
          <a:noFill/>
        </p:spPr>
        <p:txBody>
          <a:bodyPr wrap="square">
            <a:spAutoFit/>
          </a:bodyPr>
          <a:lstStyle/>
          <a:p>
            <a:pPr algn="ctr"/>
            <a:r>
              <a:rPr sz="5400" b="1" i="0">
                <a:solidFill>
                  <a:srgbClr val="FFFFFF"/>
                </a:solidFill>
                <a:latin typeface="Arial"/>
              </a:rPr>
              <a:t>HAMBURG RACE PREVIEW</a:t>
            </a:r>
          </a:p>
        </p:txBody>
      </p:sp>
      <p:sp>
        <p:nvSpPr>
          <p:cNvPr id="7" name="TextBox 6"/>
          <p:cNvSpPr txBox="1"/>
          <p:nvPr/>
        </p:nvSpPr>
        <p:spPr>
          <a:xfrm>
            <a:off x="457200" y="3937671"/>
            <a:ext cx="10789920" cy="369332"/>
          </a:xfrm>
          <a:prstGeom prst="rect">
            <a:avLst/>
          </a:prstGeom>
          <a:noFill/>
        </p:spPr>
        <p:txBody>
          <a:bodyPr wrap="square">
            <a:spAutoFit/>
          </a:bodyPr>
          <a:lstStyle/>
          <a:p>
            <a:pPr algn="ctr"/>
            <a:r>
              <a:rPr lang="en-US" sz="1800" b="0" i="0" dirty="0">
                <a:solidFill>
                  <a:srgbClr val="AABBDD"/>
                </a:solidFill>
                <a:latin typeface="Arial"/>
              </a:rPr>
              <a:t>Race</a:t>
            </a:r>
            <a:r>
              <a:rPr sz="1800" b="0" i="0" dirty="0">
                <a:solidFill>
                  <a:srgbClr val="AABBDD"/>
                </a:solidFill>
                <a:latin typeface="Arial"/>
              </a:rPr>
              <a:t> Analysis  ·  July 9 – 12, 2026</a:t>
            </a:r>
          </a:p>
        </p:txBody>
      </p:sp>
      <p:sp>
        <p:nvSpPr>
          <p:cNvPr id="8" name="TextBox 7"/>
          <p:cNvSpPr txBox="1"/>
          <p:nvPr/>
        </p:nvSpPr>
        <p:spPr>
          <a:xfrm>
            <a:off x="457200" y="4572000"/>
            <a:ext cx="10789920" cy="457200"/>
          </a:xfrm>
          <a:prstGeom prst="rect">
            <a:avLst/>
          </a:prstGeom>
          <a:noFill/>
        </p:spPr>
        <p:txBody>
          <a:bodyPr wrap="square">
            <a:spAutoFit/>
          </a:bodyPr>
          <a:lstStyle/>
          <a:p>
            <a:pPr algn="ctr"/>
            <a:r>
              <a:rPr sz="1400" b="0" i="0">
                <a:solidFill>
                  <a:srgbClr val="8090B0"/>
                </a:solidFill>
                <a:latin typeface="Arial"/>
              </a:rPr>
              <a:t>USA Triathlon High Performance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Week Schedule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300" b="1" i="0">
                <a:solidFill>
                  <a:srgbClr val="002060"/>
                </a:solidFill>
                <a:latin typeface="Arial"/>
              </a:rPr>
              <a:t>July 9 – 12, 2026   •   Rathausmarkt / Binnenalster, Hamburg, Germany (CEST, UTC+2)</a:t>
            </a:r>
          </a:p>
        </p:txBody>
      </p:sp>
      <p:sp>
        <p:nvSpPr>
          <p:cNvPr id="14" name="Rectangle 13"/>
          <p:cNvSpPr/>
          <p:nvPr/>
        </p:nvSpPr>
        <p:spPr>
          <a:xfrm>
            <a:off x="302828"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94268" y="1728216"/>
            <a:ext cx="2555748" cy="201168"/>
          </a:xfrm>
          <a:prstGeom prst="rect">
            <a:avLst/>
          </a:prstGeom>
          <a:noFill/>
        </p:spPr>
        <p:txBody>
          <a:bodyPr wrap="square">
            <a:spAutoFit/>
          </a:bodyPr>
          <a:lstStyle/>
          <a:p>
            <a:pPr algn="ctr"/>
            <a:r>
              <a:rPr sz="1200" b="1" i="0">
                <a:solidFill>
                  <a:srgbClr val="FFFFFF"/>
                </a:solidFill>
                <a:latin typeface="Arial"/>
              </a:rPr>
              <a:t>Fri • July 10</a:t>
            </a:r>
          </a:p>
        </p:txBody>
      </p:sp>
      <p:sp>
        <p:nvSpPr>
          <p:cNvPr id="16" name="TextBox 15"/>
          <p:cNvSpPr txBox="1"/>
          <p:nvPr/>
        </p:nvSpPr>
        <p:spPr>
          <a:xfrm>
            <a:off x="394268" y="1929384"/>
            <a:ext cx="2555748" cy="201168"/>
          </a:xfrm>
          <a:prstGeom prst="rect">
            <a:avLst/>
          </a:prstGeom>
          <a:noFill/>
        </p:spPr>
        <p:txBody>
          <a:bodyPr wrap="square">
            <a:spAutoFit/>
          </a:bodyPr>
          <a:lstStyle/>
          <a:p>
            <a:pPr algn="ctr"/>
            <a:r>
              <a:rPr sz="950" b="0" i="1">
                <a:solidFill>
                  <a:srgbClr val="AABBDD"/>
                </a:solidFill>
                <a:latin typeface="Arial"/>
              </a:rPr>
              <a:t>Familiarization &amp; Briefing</a:t>
            </a:r>
          </a:p>
        </p:txBody>
      </p:sp>
      <p:graphicFrame>
        <p:nvGraphicFramePr>
          <p:cNvPr id="17" name="Table 16"/>
          <p:cNvGraphicFramePr>
            <a:graphicFrameLocks noGrp="1"/>
          </p:cNvGraphicFramePr>
          <p:nvPr>
            <p:extLst>
              <p:ext uri="{D42A27DB-BD31-4B8C-83A1-F6EECF244321}">
                <p14:modId xmlns:p14="http://schemas.microsoft.com/office/powerpoint/2010/main" val="458336253"/>
              </p:ext>
            </p:extLst>
          </p:nvPr>
        </p:nvGraphicFramePr>
        <p:xfrm>
          <a:off x="302828" y="2240280"/>
          <a:ext cx="2738627" cy="1508760"/>
        </p:xfrm>
        <a:graphic>
          <a:graphicData uri="http://schemas.openxmlformats.org/drawingml/2006/table">
            <a:tbl>
              <a:tblPr firstRow="1" bandRow="1">
                <a:tableStyleId>{5C22544A-7EE6-4342-B048-85BDC9FD1C3A}</a:tableStyleId>
              </a:tblPr>
              <a:tblGrid>
                <a:gridCol w="985906">
                  <a:extLst>
                    <a:ext uri="{9D8B030D-6E8A-4147-A177-3AD203B41FA5}">
                      <a16:colId xmlns:a16="http://schemas.microsoft.com/office/drawing/2014/main" val="20000"/>
                    </a:ext>
                  </a:extLst>
                </a:gridCol>
                <a:gridCol w="1752721">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TBD</a:t>
                      </a:r>
                    </a:p>
                  </a:txBody>
                  <a:tcPr>
                    <a:solidFill>
                      <a:srgbClr val="F2F2F2"/>
                    </a:solidFill>
                  </a:tcPr>
                </a:tc>
                <a:tc>
                  <a:txBody>
                    <a:bodyPr/>
                    <a:lstStyle/>
                    <a:p>
                      <a:pPr algn="l"/>
                      <a:r>
                        <a:rPr sz="1000" b="0" i="0">
                          <a:solidFill>
                            <a:srgbClr val="262626"/>
                          </a:solidFill>
                          <a:latin typeface="Arial"/>
                        </a:rPr>
                        <a:t>Course familiarization — swim, bike, run circuits</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1" i="0">
                          <a:solidFill>
                            <a:srgbClr val="C00000"/>
                          </a:solidFill>
                          <a:latin typeface="Arial"/>
                        </a:rPr>
                        <a:t>TBD</a:t>
                      </a:r>
                    </a:p>
                  </a:txBody>
                  <a:tcPr>
                    <a:solidFill>
                      <a:srgbClr val="FDECEC"/>
                    </a:solidFill>
                  </a:tcPr>
                </a:tc>
                <a:tc>
                  <a:txBody>
                    <a:bodyPr/>
                    <a:lstStyle/>
                    <a:p>
                      <a:pPr algn="l"/>
                      <a:r>
                        <a:rPr sz="1000" b="1" i="0">
                          <a:solidFill>
                            <a:srgbClr val="C00000"/>
                          </a:solidFill>
                          <a:latin typeface="Arial"/>
                        </a:rPr>
                        <a:t>★ Mandatory Elite athlete briefing</a:t>
                      </a:r>
                    </a:p>
                  </a:txBody>
                  <a:tcPr>
                    <a:solidFill>
                      <a:srgbClr val="FDECEC"/>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TBD</a:t>
                      </a:r>
                    </a:p>
                  </a:txBody>
                  <a:tcPr>
                    <a:solidFill>
                      <a:srgbClr val="F2F2F2"/>
                    </a:solidFill>
                  </a:tcPr>
                </a:tc>
                <a:tc>
                  <a:txBody>
                    <a:bodyPr/>
                    <a:lstStyle/>
                    <a:p>
                      <a:pPr algn="l"/>
                      <a:r>
                        <a:rPr sz="1000" b="0" i="0">
                          <a:solidFill>
                            <a:srgbClr val="262626"/>
                          </a:solidFill>
                          <a:latin typeface="Arial"/>
                        </a:rPr>
                        <a:t>Race package distribution</a:t>
                      </a:r>
                    </a:p>
                  </a:txBody>
                  <a:tcPr>
                    <a:solidFill>
                      <a:srgbClr val="F2F2F2"/>
                    </a:solidFill>
                  </a:tcPr>
                </a:tc>
                <a:extLst>
                  <a:ext uri="{0D108BD9-81ED-4DB2-BD59-A6C34878D82A}">
                    <a16:rowId xmlns:a16="http://schemas.microsoft.com/office/drawing/2014/main" val="10002"/>
                  </a:ext>
                </a:extLst>
              </a:tr>
            </a:tbl>
          </a:graphicData>
        </a:graphic>
      </p:graphicFrame>
      <p:sp>
        <p:nvSpPr>
          <p:cNvPr id="18" name="Rectangle 17"/>
          <p:cNvSpPr/>
          <p:nvPr/>
        </p:nvSpPr>
        <p:spPr>
          <a:xfrm>
            <a:off x="4341437" y="1691640"/>
            <a:ext cx="3275803"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50813" y="1728216"/>
            <a:ext cx="3057051" cy="201168"/>
          </a:xfrm>
          <a:prstGeom prst="rect">
            <a:avLst/>
          </a:prstGeom>
          <a:noFill/>
        </p:spPr>
        <p:txBody>
          <a:bodyPr wrap="square">
            <a:spAutoFit/>
          </a:bodyPr>
          <a:lstStyle/>
          <a:p>
            <a:pPr algn="ctr"/>
            <a:r>
              <a:rPr sz="1200" b="1" i="0">
                <a:solidFill>
                  <a:srgbClr val="FFFFFF"/>
                </a:solidFill>
                <a:latin typeface="Arial"/>
              </a:rPr>
              <a:t>Sat • July 11</a:t>
            </a:r>
          </a:p>
        </p:txBody>
      </p:sp>
      <p:sp>
        <p:nvSpPr>
          <p:cNvPr id="20" name="TextBox 19"/>
          <p:cNvSpPr txBox="1"/>
          <p:nvPr/>
        </p:nvSpPr>
        <p:spPr>
          <a:xfrm>
            <a:off x="4450813" y="1929384"/>
            <a:ext cx="3057051" cy="201168"/>
          </a:xfrm>
          <a:prstGeom prst="rect">
            <a:avLst/>
          </a:prstGeom>
          <a:noFill/>
        </p:spPr>
        <p:txBody>
          <a:bodyPr wrap="square">
            <a:spAutoFit/>
          </a:bodyPr>
          <a:lstStyle/>
          <a:p>
            <a:pPr algn="ctr"/>
            <a:r>
              <a:rPr sz="950" b="0" i="1">
                <a:solidFill>
                  <a:srgbClr val="AABBDD"/>
                </a:solidFill>
                <a:latin typeface="Arial"/>
              </a:rPr>
              <a:t>ELITE SPRINT RACE DAY</a:t>
            </a:r>
          </a:p>
        </p:txBody>
      </p:sp>
      <p:graphicFrame>
        <p:nvGraphicFramePr>
          <p:cNvPr id="21" name="Table 20"/>
          <p:cNvGraphicFramePr>
            <a:graphicFrameLocks noGrp="1"/>
          </p:cNvGraphicFramePr>
          <p:nvPr>
            <p:extLst>
              <p:ext uri="{D42A27DB-BD31-4B8C-83A1-F6EECF244321}">
                <p14:modId xmlns:p14="http://schemas.microsoft.com/office/powerpoint/2010/main" val="3203600318"/>
              </p:ext>
            </p:extLst>
          </p:nvPr>
        </p:nvGraphicFramePr>
        <p:xfrm>
          <a:off x="4305222" y="2216241"/>
          <a:ext cx="3326280" cy="4314441"/>
        </p:xfrm>
        <a:graphic>
          <a:graphicData uri="http://schemas.openxmlformats.org/drawingml/2006/table">
            <a:tbl>
              <a:tblPr firstRow="1" bandRow="1">
                <a:tableStyleId>{5C22544A-7EE6-4342-B048-85BDC9FD1C3A}</a:tableStyleId>
              </a:tblPr>
              <a:tblGrid>
                <a:gridCol w="1197461">
                  <a:extLst>
                    <a:ext uri="{9D8B030D-6E8A-4147-A177-3AD203B41FA5}">
                      <a16:colId xmlns:a16="http://schemas.microsoft.com/office/drawing/2014/main" val="20000"/>
                    </a:ext>
                  </a:extLst>
                </a:gridCol>
                <a:gridCol w="2128819">
                  <a:extLst>
                    <a:ext uri="{9D8B030D-6E8A-4147-A177-3AD203B41FA5}">
                      <a16:colId xmlns:a16="http://schemas.microsoft.com/office/drawing/2014/main" val="20001"/>
                    </a:ext>
                  </a:extLst>
                </a:gridCol>
              </a:tblGrid>
              <a:tr h="338229">
                <a:tc>
                  <a:txBody>
                    <a:bodyPr/>
                    <a:lstStyle/>
                    <a:p>
                      <a:pPr algn="ctr"/>
                      <a:r>
                        <a:rPr sz="900" b="0" i="0">
                          <a:solidFill>
                            <a:srgbClr val="262626"/>
                          </a:solidFill>
                          <a:latin typeface="Arial"/>
                        </a:rPr>
                        <a:t>11:30 – 12:45</a:t>
                      </a:r>
                    </a:p>
                  </a:txBody>
                  <a:tcPr>
                    <a:solidFill>
                      <a:srgbClr val="F2F2F2"/>
                    </a:solidFill>
                  </a:tcPr>
                </a:tc>
                <a:tc>
                  <a:txBody>
                    <a:bodyPr/>
                    <a:lstStyle/>
                    <a:p>
                      <a:pPr algn="l"/>
                      <a:r>
                        <a:rPr sz="900" b="0" i="0" dirty="0">
                          <a:solidFill>
                            <a:srgbClr val="262626"/>
                          </a:solidFill>
                          <a:latin typeface="Arial"/>
                        </a:rPr>
                        <a:t>Elite Men — athletes' lounge check-in + warm-up</a:t>
                      </a:r>
                    </a:p>
                  </a:txBody>
                  <a:tcPr>
                    <a:solidFill>
                      <a:srgbClr val="F2F2F2"/>
                    </a:solidFill>
                  </a:tcPr>
                </a:tc>
                <a:extLst>
                  <a:ext uri="{0D108BD9-81ED-4DB2-BD59-A6C34878D82A}">
                    <a16:rowId xmlns:a16="http://schemas.microsoft.com/office/drawing/2014/main" val="10000"/>
                  </a:ext>
                </a:extLst>
              </a:tr>
              <a:tr h="338229">
                <a:tc>
                  <a:txBody>
                    <a:bodyPr/>
                    <a:lstStyle/>
                    <a:p>
                      <a:pPr algn="ctr"/>
                      <a:r>
                        <a:rPr sz="900" b="0" i="0">
                          <a:solidFill>
                            <a:srgbClr val="262626"/>
                          </a:solidFill>
                          <a:latin typeface="Arial"/>
                        </a:rPr>
                        <a:t>12:15 – 13:00</a:t>
                      </a:r>
                    </a:p>
                  </a:txBody>
                  <a:tcPr>
                    <a:solidFill>
                      <a:srgbClr val="FFFFFF"/>
                    </a:solidFill>
                  </a:tcPr>
                </a:tc>
                <a:tc>
                  <a:txBody>
                    <a:bodyPr/>
                    <a:lstStyle/>
                    <a:p>
                      <a:pPr algn="l"/>
                      <a:r>
                        <a:rPr sz="900" b="0" i="0">
                          <a:solidFill>
                            <a:srgbClr val="262626"/>
                          </a:solidFill>
                          <a:latin typeface="Arial"/>
                        </a:rPr>
                        <a:t>Elite Men — swim warm-up + transition check</a:t>
                      </a:r>
                    </a:p>
                  </a:txBody>
                  <a:tcPr>
                    <a:solidFill>
                      <a:srgbClr val="FFFFFF"/>
                    </a:solidFill>
                  </a:tcPr>
                </a:tc>
                <a:extLst>
                  <a:ext uri="{0D108BD9-81ED-4DB2-BD59-A6C34878D82A}">
                    <a16:rowId xmlns:a16="http://schemas.microsoft.com/office/drawing/2014/main" val="10001"/>
                  </a:ext>
                </a:extLst>
              </a:tr>
              <a:tr h="338229">
                <a:tc>
                  <a:txBody>
                    <a:bodyPr/>
                    <a:lstStyle/>
                    <a:p>
                      <a:pPr algn="ctr"/>
                      <a:r>
                        <a:rPr sz="900" b="0" i="0">
                          <a:solidFill>
                            <a:srgbClr val="262626"/>
                          </a:solidFill>
                          <a:latin typeface="Arial"/>
                        </a:rPr>
                        <a:t>13:10</a:t>
                      </a:r>
                    </a:p>
                  </a:txBody>
                  <a:tcPr>
                    <a:solidFill>
                      <a:srgbClr val="F2F2F2"/>
                    </a:solidFill>
                  </a:tcPr>
                </a:tc>
                <a:tc>
                  <a:txBody>
                    <a:bodyPr/>
                    <a:lstStyle/>
                    <a:p>
                      <a:pPr algn="l"/>
                      <a:r>
                        <a:rPr sz="900" b="0" i="0">
                          <a:solidFill>
                            <a:srgbClr val="262626"/>
                          </a:solidFill>
                          <a:latin typeface="Arial"/>
                        </a:rPr>
                        <a:t>Elite Men — athletes' introduction</a:t>
                      </a:r>
                    </a:p>
                  </a:txBody>
                  <a:tcPr>
                    <a:solidFill>
                      <a:srgbClr val="F2F2F2"/>
                    </a:solidFill>
                  </a:tcPr>
                </a:tc>
                <a:extLst>
                  <a:ext uri="{0D108BD9-81ED-4DB2-BD59-A6C34878D82A}">
                    <a16:rowId xmlns:a16="http://schemas.microsoft.com/office/drawing/2014/main" val="10002"/>
                  </a:ext>
                </a:extLst>
              </a:tr>
              <a:tr h="299697">
                <a:tc>
                  <a:txBody>
                    <a:bodyPr/>
                    <a:lstStyle/>
                    <a:p>
                      <a:pPr algn="ctr"/>
                      <a:r>
                        <a:rPr sz="900" b="1" i="0">
                          <a:solidFill>
                            <a:srgbClr val="C00000"/>
                          </a:solidFill>
                          <a:latin typeface="Arial"/>
                        </a:rPr>
                        <a:t>13:15</a:t>
                      </a:r>
                    </a:p>
                  </a:txBody>
                  <a:tcPr>
                    <a:solidFill>
                      <a:srgbClr val="FDECEC"/>
                    </a:solidFill>
                  </a:tcPr>
                </a:tc>
                <a:tc>
                  <a:txBody>
                    <a:bodyPr/>
                    <a:lstStyle/>
                    <a:p>
                      <a:pPr algn="l"/>
                      <a:r>
                        <a:rPr sz="900" b="1" i="0" dirty="0">
                          <a:solidFill>
                            <a:srgbClr val="C00000"/>
                          </a:solidFill>
                          <a:latin typeface="Arial"/>
                        </a:rPr>
                        <a:t>★ ELITE MEN START</a:t>
                      </a:r>
                    </a:p>
                  </a:txBody>
                  <a:tcPr>
                    <a:solidFill>
                      <a:srgbClr val="FDECEC"/>
                    </a:solidFill>
                  </a:tcPr>
                </a:tc>
                <a:extLst>
                  <a:ext uri="{0D108BD9-81ED-4DB2-BD59-A6C34878D82A}">
                    <a16:rowId xmlns:a16="http://schemas.microsoft.com/office/drawing/2014/main" val="10003"/>
                  </a:ext>
                </a:extLst>
              </a:tr>
              <a:tr h="299697">
                <a:tc>
                  <a:txBody>
                    <a:bodyPr/>
                    <a:lstStyle/>
                    <a:p>
                      <a:pPr algn="ctr"/>
                      <a:r>
                        <a:rPr sz="900" b="0" i="0">
                          <a:solidFill>
                            <a:srgbClr val="262626"/>
                          </a:solidFill>
                          <a:latin typeface="Arial"/>
                        </a:rPr>
                        <a:t>~14:06</a:t>
                      </a:r>
                    </a:p>
                  </a:txBody>
                  <a:tcPr>
                    <a:solidFill>
                      <a:srgbClr val="F2F2F2"/>
                    </a:solidFill>
                  </a:tcPr>
                </a:tc>
                <a:tc>
                  <a:txBody>
                    <a:bodyPr/>
                    <a:lstStyle/>
                    <a:p>
                      <a:pPr algn="l"/>
                      <a:r>
                        <a:rPr sz="900" b="0" i="0">
                          <a:solidFill>
                            <a:srgbClr val="262626"/>
                          </a:solidFill>
                          <a:latin typeface="Arial"/>
                        </a:rPr>
                        <a:t>Elite Men — projected finish</a:t>
                      </a:r>
                    </a:p>
                  </a:txBody>
                  <a:tcPr>
                    <a:solidFill>
                      <a:srgbClr val="F2F2F2"/>
                    </a:solidFill>
                  </a:tcPr>
                </a:tc>
                <a:extLst>
                  <a:ext uri="{0D108BD9-81ED-4DB2-BD59-A6C34878D82A}">
                    <a16:rowId xmlns:a16="http://schemas.microsoft.com/office/drawing/2014/main" val="10004"/>
                  </a:ext>
                </a:extLst>
              </a:tr>
              <a:tr h="299697">
                <a:tc>
                  <a:txBody>
                    <a:bodyPr/>
                    <a:lstStyle/>
                    <a:p>
                      <a:pPr algn="ctr"/>
                      <a:r>
                        <a:rPr sz="900" b="0" i="0">
                          <a:solidFill>
                            <a:srgbClr val="262626"/>
                          </a:solidFill>
                          <a:latin typeface="Arial"/>
                        </a:rPr>
                        <a:t>14:15</a:t>
                      </a:r>
                    </a:p>
                  </a:txBody>
                  <a:tcPr>
                    <a:solidFill>
                      <a:srgbClr val="FFFFFF"/>
                    </a:solidFill>
                  </a:tcPr>
                </a:tc>
                <a:tc>
                  <a:txBody>
                    <a:bodyPr/>
                    <a:lstStyle/>
                    <a:p>
                      <a:pPr algn="l"/>
                      <a:r>
                        <a:rPr sz="900" b="0" i="0">
                          <a:solidFill>
                            <a:srgbClr val="262626"/>
                          </a:solidFill>
                          <a:latin typeface="Arial"/>
                        </a:rPr>
                        <a:t>Elite Men medals ceremony</a:t>
                      </a:r>
                    </a:p>
                  </a:txBody>
                  <a:tcPr>
                    <a:solidFill>
                      <a:srgbClr val="FFFFFF"/>
                    </a:solidFill>
                  </a:tcPr>
                </a:tc>
                <a:extLst>
                  <a:ext uri="{0D108BD9-81ED-4DB2-BD59-A6C34878D82A}">
                    <a16:rowId xmlns:a16="http://schemas.microsoft.com/office/drawing/2014/main" val="10005"/>
                  </a:ext>
                </a:extLst>
              </a:tr>
              <a:tr h="338229">
                <a:tc>
                  <a:txBody>
                    <a:bodyPr/>
                    <a:lstStyle/>
                    <a:p>
                      <a:pPr algn="ctr"/>
                      <a:r>
                        <a:rPr sz="900" b="0" i="0">
                          <a:solidFill>
                            <a:srgbClr val="262626"/>
                          </a:solidFill>
                          <a:latin typeface="Arial"/>
                        </a:rPr>
                        <a:t>13:45 – 14:45</a:t>
                      </a:r>
                    </a:p>
                  </a:txBody>
                  <a:tcPr>
                    <a:solidFill>
                      <a:srgbClr val="F2F2F2"/>
                    </a:solidFill>
                  </a:tcPr>
                </a:tc>
                <a:tc>
                  <a:txBody>
                    <a:bodyPr/>
                    <a:lstStyle/>
                    <a:p>
                      <a:pPr algn="l"/>
                      <a:r>
                        <a:rPr sz="900" b="0" i="0">
                          <a:solidFill>
                            <a:srgbClr val="262626"/>
                          </a:solidFill>
                          <a:latin typeface="Arial"/>
                        </a:rPr>
                        <a:t>Elite Women — athletes' lounge check-in + warm-up</a:t>
                      </a:r>
                    </a:p>
                  </a:txBody>
                  <a:tcPr>
                    <a:solidFill>
                      <a:srgbClr val="F2F2F2"/>
                    </a:solidFill>
                  </a:tcPr>
                </a:tc>
                <a:extLst>
                  <a:ext uri="{0D108BD9-81ED-4DB2-BD59-A6C34878D82A}">
                    <a16:rowId xmlns:a16="http://schemas.microsoft.com/office/drawing/2014/main" val="10006"/>
                  </a:ext>
                </a:extLst>
              </a:tr>
              <a:tr h="338229">
                <a:tc>
                  <a:txBody>
                    <a:bodyPr/>
                    <a:lstStyle/>
                    <a:p>
                      <a:pPr algn="ctr"/>
                      <a:r>
                        <a:rPr sz="900" b="0" i="0" dirty="0">
                          <a:solidFill>
                            <a:srgbClr val="262626"/>
                          </a:solidFill>
                          <a:latin typeface="Arial"/>
                        </a:rPr>
                        <a:t>14:15 – 14:55</a:t>
                      </a:r>
                    </a:p>
                  </a:txBody>
                  <a:tcPr>
                    <a:solidFill>
                      <a:srgbClr val="FFFFFF"/>
                    </a:solidFill>
                  </a:tcPr>
                </a:tc>
                <a:tc>
                  <a:txBody>
                    <a:bodyPr/>
                    <a:lstStyle/>
                    <a:p>
                      <a:pPr algn="l"/>
                      <a:r>
                        <a:rPr sz="900" b="0" i="0">
                          <a:solidFill>
                            <a:srgbClr val="262626"/>
                          </a:solidFill>
                          <a:latin typeface="Arial"/>
                        </a:rPr>
                        <a:t>Elite Women — swim warm-up + transition check</a:t>
                      </a:r>
                    </a:p>
                  </a:txBody>
                  <a:tcPr>
                    <a:solidFill>
                      <a:srgbClr val="FFFFFF"/>
                    </a:solidFill>
                  </a:tcPr>
                </a:tc>
                <a:extLst>
                  <a:ext uri="{0D108BD9-81ED-4DB2-BD59-A6C34878D82A}">
                    <a16:rowId xmlns:a16="http://schemas.microsoft.com/office/drawing/2014/main" val="10007"/>
                  </a:ext>
                </a:extLst>
              </a:tr>
              <a:tr h="338229">
                <a:tc>
                  <a:txBody>
                    <a:bodyPr/>
                    <a:lstStyle/>
                    <a:p>
                      <a:pPr algn="ctr"/>
                      <a:r>
                        <a:rPr sz="900" b="0" i="0">
                          <a:solidFill>
                            <a:srgbClr val="262626"/>
                          </a:solidFill>
                          <a:latin typeface="Arial"/>
                        </a:rPr>
                        <a:t>14:50</a:t>
                      </a:r>
                    </a:p>
                  </a:txBody>
                  <a:tcPr>
                    <a:solidFill>
                      <a:srgbClr val="F2F2F2"/>
                    </a:solidFill>
                  </a:tcPr>
                </a:tc>
                <a:tc>
                  <a:txBody>
                    <a:bodyPr/>
                    <a:lstStyle/>
                    <a:p>
                      <a:pPr algn="l"/>
                      <a:r>
                        <a:rPr sz="900" b="0" i="0">
                          <a:solidFill>
                            <a:srgbClr val="262626"/>
                          </a:solidFill>
                          <a:latin typeface="Arial"/>
                        </a:rPr>
                        <a:t>Elite Women — athletes' introduction</a:t>
                      </a:r>
                    </a:p>
                  </a:txBody>
                  <a:tcPr>
                    <a:solidFill>
                      <a:srgbClr val="F2F2F2"/>
                    </a:solidFill>
                  </a:tcPr>
                </a:tc>
                <a:extLst>
                  <a:ext uri="{0D108BD9-81ED-4DB2-BD59-A6C34878D82A}">
                    <a16:rowId xmlns:a16="http://schemas.microsoft.com/office/drawing/2014/main" val="10008"/>
                  </a:ext>
                </a:extLst>
              </a:tr>
              <a:tr h="299697">
                <a:tc>
                  <a:txBody>
                    <a:bodyPr/>
                    <a:lstStyle/>
                    <a:p>
                      <a:pPr algn="ctr"/>
                      <a:r>
                        <a:rPr sz="900" b="1" i="0">
                          <a:solidFill>
                            <a:srgbClr val="C00000"/>
                          </a:solidFill>
                          <a:latin typeface="Arial"/>
                        </a:rPr>
                        <a:t>15:00</a:t>
                      </a:r>
                    </a:p>
                  </a:txBody>
                  <a:tcPr>
                    <a:solidFill>
                      <a:srgbClr val="FDECEC"/>
                    </a:solidFill>
                  </a:tcPr>
                </a:tc>
                <a:tc>
                  <a:txBody>
                    <a:bodyPr/>
                    <a:lstStyle/>
                    <a:p>
                      <a:pPr algn="l"/>
                      <a:r>
                        <a:rPr sz="900" b="1" i="0">
                          <a:solidFill>
                            <a:srgbClr val="C00000"/>
                          </a:solidFill>
                          <a:latin typeface="Arial"/>
                        </a:rPr>
                        <a:t>★ ELITE WOMEN START</a:t>
                      </a:r>
                    </a:p>
                  </a:txBody>
                  <a:tcPr>
                    <a:solidFill>
                      <a:srgbClr val="FDECEC"/>
                    </a:solidFill>
                  </a:tcPr>
                </a:tc>
                <a:extLst>
                  <a:ext uri="{0D108BD9-81ED-4DB2-BD59-A6C34878D82A}">
                    <a16:rowId xmlns:a16="http://schemas.microsoft.com/office/drawing/2014/main" val="10009"/>
                  </a:ext>
                </a:extLst>
              </a:tr>
              <a:tr h="338229">
                <a:tc>
                  <a:txBody>
                    <a:bodyPr/>
                    <a:lstStyle/>
                    <a:p>
                      <a:pPr algn="ctr"/>
                      <a:r>
                        <a:rPr sz="900" b="0" i="0">
                          <a:solidFill>
                            <a:srgbClr val="262626"/>
                          </a:solidFill>
                          <a:latin typeface="Arial"/>
                        </a:rPr>
                        <a:t>~15:55</a:t>
                      </a:r>
                    </a:p>
                  </a:txBody>
                  <a:tcPr>
                    <a:solidFill>
                      <a:srgbClr val="F2F2F2"/>
                    </a:solidFill>
                  </a:tcPr>
                </a:tc>
                <a:tc>
                  <a:txBody>
                    <a:bodyPr/>
                    <a:lstStyle/>
                    <a:p>
                      <a:pPr algn="l"/>
                      <a:r>
                        <a:rPr sz="900" b="0" i="0">
                          <a:solidFill>
                            <a:srgbClr val="262626"/>
                          </a:solidFill>
                          <a:latin typeface="Arial"/>
                        </a:rPr>
                        <a:t>Elite Women — projected finish</a:t>
                      </a:r>
                    </a:p>
                  </a:txBody>
                  <a:tcPr>
                    <a:solidFill>
                      <a:srgbClr val="F2F2F2"/>
                    </a:solidFill>
                  </a:tcPr>
                </a:tc>
                <a:extLst>
                  <a:ext uri="{0D108BD9-81ED-4DB2-BD59-A6C34878D82A}">
                    <a16:rowId xmlns:a16="http://schemas.microsoft.com/office/drawing/2014/main" val="10010"/>
                  </a:ext>
                </a:extLst>
              </a:tr>
              <a:tr h="338229">
                <a:tc>
                  <a:txBody>
                    <a:bodyPr/>
                    <a:lstStyle/>
                    <a:p>
                      <a:pPr algn="ctr"/>
                      <a:r>
                        <a:rPr sz="900" b="0" i="0">
                          <a:solidFill>
                            <a:srgbClr val="262626"/>
                          </a:solidFill>
                          <a:latin typeface="Arial"/>
                        </a:rPr>
                        <a:t>16:05</a:t>
                      </a:r>
                    </a:p>
                  </a:txBody>
                  <a:tcPr>
                    <a:solidFill>
                      <a:srgbClr val="FFFFFF"/>
                    </a:solidFill>
                  </a:tcPr>
                </a:tc>
                <a:tc>
                  <a:txBody>
                    <a:bodyPr/>
                    <a:lstStyle/>
                    <a:p>
                      <a:pPr algn="l"/>
                      <a:r>
                        <a:rPr sz="900" b="0" i="0">
                          <a:solidFill>
                            <a:srgbClr val="262626"/>
                          </a:solidFill>
                          <a:latin typeface="Arial"/>
                        </a:rPr>
                        <a:t>Elite Women medals ceremony</a:t>
                      </a:r>
                    </a:p>
                  </a:txBody>
                  <a:tcPr>
                    <a:solidFill>
                      <a:srgbClr val="FFFFFF"/>
                    </a:solidFill>
                  </a:tcPr>
                </a:tc>
                <a:extLst>
                  <a:ext uri="{0D108BD9-81ED-4DB2-BD59-A6C34878D82A}">
                    <a16:rowId xmlns:a16="http://schemas.microsoft.com/office/drawing/2014/main" val="10011"/>
                  </a:ext>
                </a:extLst>
              </a:tr>
              <a:tr h="299697">
                <a:tc>
                  <a:txBody>
                    <a:bodyPr/>
                    <a:lstStyle/>
                    <a:p>
                      <a:pPr algn="ctr"/>
                      <a:r>
                        <a:rPr sz="900" b="0" i="0">
                          <a:solidFill>
                            <a:srgbClr val="262626"/>
                          </a:solidFill>
                          <a:latin typeface="Arial"/>
                        </a:rPr>
                        <a:t>Evening</a:t>
                      </a:r>
                    </a:p>
                  </a:txBody>
                  <a:tcPr>
                    <a:solidFill>
                      <a:srgbClr val="F2F2F2"/>
                    </a:solidFill>
                  </a:tcPr>
                </a:tc>
                <a:tc>
                  <a:txBody>
                    <a:bodyPr/>
                    <a:lstStyle/>
                    <a:p>
                      <a:pPr algn="l"/>
                      <a:r>
                        <a:rPr sz="900" b="0" i="0" dirty="0">
                          <a:solidFill>
                            <a:srgbClr val="262626"/>
                          </a:solidFill>
                          <a:latin typeface="Arial"/>
                        </a:rPr>
                        <a:t>Mixed Relay team declaration</a:t>
                      </a:r>
                    </a:p>
                  </a:txBody>
                  <a:tcPr>
                    <a:solidFill>
                      <a:srgbClr val="F2F2F2"/>
                    </a:solidFill>
                  </a:tcPr>
                </a:tc>
                <a:extLst>
                  <a:ext uri="{0D108BD9-81ED-4DB2-BD59-A6C34878D82A}">
                    <a16:rowId xmlns:a16="http://schemas.microsoft.com/office/drawing/2014/main" val="10012"/>
                  </a:ext>
                </a:extLst>
              </a:tr>
            </a:tbl>
          </a:graphicData>
        </a:graphic>
      </p:graphicFrame>
      <p:sp>
        <p:nvSpPr>
          <p:cNvPr id="22" name="Rectangle 21"/>
          <p:cNvSpPr/>
          <p:nvPr/>
        </p:nvSpPr>
        <p:spPr>
          <a:xfrm>
            <a:off x="9091764" y="1677576"/>
            <a:ext cx="2907108" cy="48532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88830" y="1722028"/>
            <a:ext cx="2712977" cy="213544"/>
          </a:xfrm>
          <a:prstGeom prst="rect">
            <a:avLst/>
          </a:prstGeom>
          <a:noFill/>
        </p:spPr>
        <p:txBody>
          <a:bodyPr wrap="square">
            <a:spAutoFit/>
          </a:bodyPr>
          <a:lstStyle/>
          <a:p>
            <a:pPr algn="ctr"/>
            <a:r>
              <a:rPr sz="1200" b="1" i="0">
                <a:solidFill>
                  <a:srgbClr val="FFFFFF"/>
                </a:solidFill>
                <a:latin typeface="Arial"/>
              </a:rPr>
              <a:t>Sun • July 12</a:t>
            </a:r>
          </a:p>
        </p:txBody>
      </p:sp>
      <p:sp>
        <p:nvSpPr>
          <p:cNvPr id="24" name="TextBox 23"/>
          <p:cNvSpPr txBox="1"/>
          <p:nvPr/>
        </p:nvSpPr>
        <p:spPr>
          <a:xfrm>
            <a:off x="9188830" y="1923196"/>
            <a:ext cx="2712977" cy="213544"/>
          </a:xfrm>
          <a:prstGeom prst="rect">
            <a:avLst/>
          </a:prstGeom>
          <a:noFill/>
        </p:spPr>
        <p:txBody>
          <a:bodyPr wrap="square">
            <a:spAutoFit/>
          </a:bodyPr>
          <a:lstStyle/>
          <a:p>
            <a:pPr algn="ctr"/>
            <a:r>
              <a:rPr sz="950" b="0" i="1">
                <a:solidFill>
                  <a:srgbClr val="AABBDD"/>
                </a:solidFill>
                <a:latin typeface="Arial"/>
              </a:rPr>
              <a:t>Mixed Relay Day</a:t>
            </a:r>
          </a:p>
        </p:txBody>
      </p:sp>
      <p:graphicFrame>
        <p:nvGraphicFramePr>
          <p:cNvPr id="25" name="Table 24"/>
          <p:cNvGraphicFramePr>
            <a:graphicFrameLocks noGrp="1"/>
          </p:cNvGraphicFramePr>
          <p:nvPr>
            <p:extLst>
              <p:ext uri="{D42A27DB-BD31-4B8C-83A1-F6EECF244321}">
                <p14:modId xmlns:p14="http://schemas.microsoft.com/office/powerpoint/2010/main" val="3272557492"/>
              </p:ext>
            </p:extLst>
          </p:nvPr>
        </p:nvGraphicFramePr>
        <p:xfrm>
          <a:off x="9091764" y="2178401"/>
          <a:ext cx="2907107" cy="2135436"/>
        </p:xfrm>
        <a:graphic>
          <a:graphicData uri="http://schemas.openxmlformats.org/drawingml/2006/table">
            <a:tbl>
              <a:tblPr firstRow="1" bandRow="1">
                <a:tableStyleId>{5C22544A-7EE6-4342-B048-85BDC9FD1C3A}</a:tableStyleId>
              </a:tblPr>
              <a:tblGrid>
                <a:gridCol w="1046559">
                  <a:extLst>
                    <a:ext uri="{9D8B030D-6E8A-4147-A177-3AD203B41FA5}">
                      <a16:colId xmlns:a16="http://schemas.microsoft.com/office/drawing/2014/main" val="20000"/>
                    </a:ext>
                  </a:extLst>
                </a:gridCol>
                <a:gridCol w="1860548">
                  <a:extLst>
                    <a:ext uri="{9D8B030D-6E8A-4147-A177-3AD203B41FA5}">
                      <a16:colId xmlns:a16="http://schemas.microsoft.com/office/drawing/2014/main" val="20001"/>
                    </a:ext>
                  </a:extLst>
                </a:gridCol>
              </a:tblGrid>
              <a:tr h="533859">
                <a:tc>
                  <a:txBody>
                    <a:bodyPr/>
                    <a:lstStyle/>
                    <a:p>
                      <a:pPr algn="ctr"/>
                      <a:r>
                        <a:rPr sz="1000" b="0" i="0">
                          <a:solidFill>
                            <a:srgbClr val="262626"/>
                          </a:solidFill>
                          <a:latin typeface="Arial"/>
                        </a:rPr>
                        <a:t>TBD</a:t>
                      </a:r>
                    </a:p>
                  </a:txBody>
                  <a:tcPr marL="97066" marR="97066" marT="48533" marB="48533">
                    <a:solidFill>
                      <a:srgbClr val="F2F2F2"/>
                    </a:solidFill>
                  </a:tcPr>
                </a:tc>
                <a:tc>
                  <a:txBody>
                    <a:bodyPr/>
                    <a:lstStyle/>
                    <a:p>
                      <a:pPr algn="l"/>
                      <a:r>
                        <a:rPr sz="1000" b="0" i="0">
                          <a:solidFill>
                            <a:srgbClr val="262626"/>
                          </a:solidFill>
                          <a:latin typeface="Arial"/>
                        </a:rPr>
                        <a:t>Mixed Relay team managers' meeting</a:t>
                      </a:r>
                    </a:p>
                  </a:txBody>
                  <a:tcPr marL="97066" marR="97066" marT="48533" marB="48533">
                    <a:solidFill>
                      <a:srgbClr val="F2F2F2"/>
                    </a:solidFill>
                  </a:tcPr>
                </a:tc>
                <a:extLst>
                  <a:ext uri="{0D108BD9-81ED-4DB2-BD59-A6C34878D82A}">
                    <a16:rowId xmlns:a16="http://schemas.microsoft.com/office/drawing/2014/main" val="10000"/>
                  </a:ext>
                </a:extLst>
              </a:tr>
              <a:tr h="533859">
                <a:tc>
                  <a:txBody>
                    <a:bodyPr/>
                    <a:lstStyle/>
                    <a:p>
                      <a:pPr algn="ctr"/>
                      <a:r>
                        <a:rPr sz="1000" b="1" i="0">
                          <a:solidFill>
                            <a:srgbClr val="C00000"/>
                          </a:solidFill>
                          <a:latin typeface="Arial"/>
                        </a:rPr>
                        <a:t>17:30</a:t>
                      </a:r>
                    </a:p>
                  </a:txBody>
                  <a:tcPr marL="97066" marR="97066" marT="48533" marB="48533">
                    <a:solidFill>
                      <a:srgbClr val="FDECEC"/>
                    </a:solidFill>
                  </a:tcPr>
                </a:tc>
                <a:tc>
                  <a:txBody>
                    <a:bodyPr/>
                    <a:lstStyle/>
                    <a:p>
                      <a:pPr algn="l"/>
                      <a:r>
                        <a:rPr sz="1000" b="1" i="0">
                          <a:solidFill>
                            <a:srgbClr val="C00000"/>
                          </a:solidFill>
                          <a:latin typeface="Arial"/>
                        </a:rPr>
                        <a:t>★ MIXED RELAY START</a:t>
                      </a:r>
                    </a:p>
                  </a:txBody>
                  <a:tcPr marL="97066" marR="97066" marT="48533" marB="48533">
                    <a:solidFill>
                      <a:srgbClr val="FDECEC"/>
                    </a:solidFill>
                  </a:tcPr>
                </a:tc>
                <a:extLst>
                  <a:ext uri="{0D108BD9-81ED-4DB2-BD59-A6C34878D82A}">
                    <a16:rowId xmlns:a16="http://schemas.microsoft.com/office/drawing/2014/main" val="10001"/>
                  </a:ext>
                </a:extLst>
              </a:tr>
              <a:tr h="533859">
                <a:tc>
                  <a:txBody>
                    <a:bodyPr/>
                    <a:lstStyle/>
                    <a:p>
                      <a:pPr algn="ctr"/>
                      <a:r>
                        <a:rPr sz="1000" b="0" i="0">
                          <a:solidFill>
                            <a:srgbClr val="262626"/>
                          </a:solidFill>
                          <a:latin typeface="Arial"/>
                        </a:rPr>
                        <a:t>~18:45</a:t>
                      </a:r>
                    </a:p>
                  </a:txBody>
                  <a:tcPr marL="97066" marR="97066" marT="48533" marB="48533">
                    <a:solidFill>
                      <a:srgbClr val="F2F2F2"/>
                    </a:solidFill>
                  </a:tcPr>
                </a:tc>
                <a:tc>
                  <a:txBody>
                    <a:bodyPr/>
                    <a:lstStyle/>
                    <a:p>
                      <a:pPr algn="l"/>
                      <a:r>
                        <a:rPr sz="1000" b="0" i="0">
                          <a:solidFill>
                            <a:srgbClr val="262626"/>
                          </a:solidFill>
                          <a:latin typeface="Arial"/>
                        </a:rPr>
                        <a:t>Mixed Relay projected finish</a:t>
                      </a:r>
                    </a:p>
                  </a:txBody>
                  <a:tcPr marL="97066" marR="97066" marT="48533" marB="48533">
                    <a:solidFill>
                      <a:srgbClr val="F2F2F2"/>
                    </a:solidFill>
                  </a:tcPr>
                </a:tc>
                <a:extLst>
                  <a:ext uri="{0D108BD9-81ED-4DB2-BD59-A6C34878D82A}">
                    <a16:rowId xmlns:a16="http://schemas.microsoft.com/office/drawing/2014/main" val="10002"/>
                  </a:ext>
                </a:extLst>
              </a:tr>
              <a:tr h="533859">
                <a:tc>
                  <a:txBody>
                    <a:bodyPr/>
                    <a:lstStyle/>
                    <a:p>
                      <a:pPr algn="ctr"/>
                      <a:r>
                        <a:rPr sz="1000" b="0" i="0">
                          <a:solidFill>
                            <a:srgbClr val="262626"/>
                          </a:solidFill>
                          <a:latin typeface="Arial"/>
                        </a:rPr>
                        <a:t>Post-finish</a:t>
                      </a:r>
                    </a:p>
                  </a:txBody>
                  <a:tcPr marL="97066" marR="97066" marT="48533" marB="48533">
                    <a:solidFill>
                      <a:srgbClr val="FFFFFF"/>
                    </a:solidFill>
                  </a:tcPr>
                </a:tc>
                <a:tc>
                  <a:txBody>
                    <a:bodyPr/>
                    <a:lstStyle/>
                    <a:p>
                      <a:pPr algn="l"/>
                      <a:r>
                        <a:rPr sz="1000" b="0" i="0">
                          <a:solidFill>
                            <a:srgbClr val="262626"/>
                          </a:solidFill>
                          <a:latin typeface="Arial"/>
                        </a:rPr>
                        <a:t>Mixed Relay medals ceremony</a:t>
                      </a:r>
                    </a:p>
                  </a:txBody>
                  <a:tcPr marL="97066" marR="97066" marT="48533" marB="48533">
                    <a:solidFill>
                      <a:srgbClr val="FFFFFF"/>
                    </a:solidFill>
                  </a:tcPr>
                </a:tc>
                <a:extLst>
                  <a:ext uri="{0D108BD9-81ED-4DB2-BD59-A6C34878D82A}">
                    <a16:rowId xmlns:a16="http://schemas.microsoft.com/office/drawing/2014/main" val="10003"/>
                  </a:ext>
                </a:extLst>
              </a:tr>
            </a:tbl>
          </a:graphicData>
        </a:graphic>
      </p:graphicFrame>
      <p:sp>
        <p:nvSpPr>
          <p:cNvPr id="26" name="TextBox 25"/>
          <p:cNvSpPr txBox="1"/>
          <p:nvPr/>
        </p:nvSpPr>
        <p:spPr>
          <a:xfrm>
            <a:off x="274320" y="5774229"/>
            <a:ext cx="3026722" cy="646331"/>
          </a:xfrm>
          <a:prstGeom prst="rect">
            <a:avLst/>
          </a:prstGeom>
          <a:noFill/>
        </p:spPr>
        <p:txBody>
          <a:bodyPr wrap="square">
            <a:spAutoFit/>
          </a:bodyPr>
          <a:lstStyle/>
          <a:p>
            <a:pPr algn="ctr"/>
            <a:r>
              <a:rPr sz="900" b="0" i="1">
                <a:solidFill>
                  <a:srgbClr val="BFBFBF"/>
                </a:solidFill>
                <a:latin typeface="Arial"/>
              </a:rPr>
              <a:t>Times Rathausmarkt / Binnenalster, Hamburg, Germany (CEST, UTC+2). Schedule confirmed from World Triathlon race-info page / athlete guide; subject to organiser updates.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Course Differentiators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97280"/>
            <a:ext cx="6035040" cy="502920"/>
          </a:xfrm>
          <a:prstGeom prst="rect">
            <a:avLst/>
          </a:prstGeom>
          <a:noFill/>
        </p:spPr>
        <p:txBody>
          <a:bodyPr wrap="square">
            <a:spAutoFit/>
          </a:bodyPr>
          <a:lstStyle/>
          <a:p>
            <a:pPr algn="l"/>
            <a:r>
              <a:rPr sz="2000" b="1" i="0">
                <a:solidFill>
                  <a:srgbClr val="002060"/>
                </a:solidFill>
                <a:latin typeface="Arial"/>
              </a:rPr>
              <a:t>HAMBURG</a:t>
            </a:r>
          </a:p>
        </p:txBody>
      </p:sp>
      <p:sp>
        <p:nvSpPr>
          <p:cNvPr id="9" name="TextBox 8"/>
          <p:cNvSpPr txBox="1"/>
          <p:nvPr/>
        </p:nvSpPr>
        <p:spPr>
          <a:xfrm>
            <a:off x="274320" y="1627632"/>
            <a:ext cx="6035040" cy="1384995"/>
          </a:xfrm>
          <a:prstGeom prst="rect">
            <a:avLst/>
          </a:prstGeom>
          <a:noFill/>
        </p:spPr>
        <p:txBody>
          <a:bodyPr wrap="square">
            <a:spAutoFit/>
          </a:bodyPr>
          <a:lstStyle/>
          <a:p>
            <a:pPr algn="l"/>
            <a:r>
              <a:rPr sz="1400" b="0" i="0" dirty="0">
                <a:solidFill>
                  <a:srgbClr val="262626"/>
                </a:solidFill>
                <a:latin typeface="Arial"/>
              </a:rPr>
              <a:t>WTCS Hamburg is one of the sport's flagship city-center races, set in the heart of Hamburg along the </a:t>
            </a:r>
            <a:r>
              <a:rPr sz="1400" b="0" i="0" dirty="0" err="1">
                <a:solidFill>
                  <a:srgbClr val="262626"/>
                </a:solidFill>
                <a:latin typeface="Arial"/>
              </a:rPr>
              <a:t>Binnenalster</a:t>
            </a:r>
            <a:r>
              <a:rPr sz="1400" b="0" i="0" dirty="0">
                <a:solidFill>
                  <a:srgbClr val="262626"/>
                </a:solidFill>
                <a:latin typeface="Arial"/>
              </a:rPr>
              <a:t> and the historic </a:t>
            </a:r>
            <a:r>
              <a:rPr sz="1400" b="0" i="0" dirty="0" err="1">
                <a:solidFill>
                  <a:srgbClr val="262626"/>
                </a:solidFill>
                <a:latin typeface="Arial"/>
              </a:rPr>
              <a:t>Rathausmarkt</a:t>
            </a:r>
            <a:r>
              <a:rPr sz="1400" b="0" i="0" dirty="0">
                <a:solidFill>
                  <a:srgbClr val="262626"/>
                </a:solidFill>
                <a:latin typeface="Arial"/>
              </a:rPr>
              <a:t>. The sprint format rewards athletes who can handle high-frequency cornering on the bike and </a:t>
            </a:r>
            <a:r>
              <a:rPr lang="en-US" sz="1400" b="0" i="0" dirty="0">
                <a:solidFill>
                  <a:srgbClr val="262626"/>
                </a:solidFill>
                <a:latin typeface="Arial"/>
              </a:rPr>
              <a:t>can </a:t>
            </a:r>
            <a:r>
              <a:rPr lang="en-US" sz="1400" dirty="0">
                <a:solidFill>
                  <a:srgbClr val="262626"/>
                </a:solidFill>
                <a:latin typeface="Arial"/>
              </a:rPr>
              <a:t>run at the pointy end of the field.</a:t>
            </a:r>
            <a:r>
              <a:rPr sz="1400" b="0" i="0" dirty="0">
                <a:solidFill>
                  <a:srgbClr val="262626"/>
                </a:solidFill>
                <a:latin typeface="Arial"/>
              </a:rPr>
              <a:t> Hamburg has hosted elite triathlon since 2008 and consistently delivers fast, tactical racing in front of one of the largest crowds on the WTCS calendar.</a:t>
            </a:r>
          </a:p>
        </p:txBody>
      </p:sp>
      <p:sp>
        <p:nvSpPr>
          <p:cNvPr id="10" name="Rectangle 9"/>
          <p:cNvSpPr/>
          <p:nvPr/>
        </p:nvSpPr>
        <p:spPr>
          <a:xfrm>
            <a:off x="274320" y="3293856"/>
            <a:ext cx="603504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3306393"/>
            <a:ext cx="5669280" cy="274320"/>
          </a:xfrm>
          <a:prstGeom prst="rect">
            <a:avLst/>
          </a:prstGeom>
          <a:noFill/>
        </p:spPr>
        <p:txBody>
          <a:bodyPr wrap="square">
            <a:spAutoFit/>
          </a:bodyPr>
          <a:lstStyle/>
          <a:p>
            <a:pPr algn="l"/>
            <a:r>
              <a:rPr sz="1200" b="1" i="0">
                <a:solidFill>
                  <a:srgbClr val="FFFFFF"/>
                </a:solidFill>
                <a:latin typeface="Arial"/>
              </a:rPr>
              <a:t>COURSE FEATURES</a:t>
            </a:r>
          </a:p>
        </p:txBody>
      </p:sp>
      <p:sp>
        <p:nvSpPr>
          <p:cNvPr id="12" name="TextBox 11"/>
          <p:cNvSpPr txBox="1"/>
          <p:nvPr/>
        </p:nvSpPr>
        <p:spPr>
          <a:xfrm>
            <a:off x="365760" y="3699585"/>
            <a:ext cx="5852160" cy="523220"/>
          </a:xfrm>
          <a:prstGeom prst="rect">
            <a:avLst/>
          </a:prstGeom>
          <a:noFill/>
        </p:spPr>
        <p:txBody>
          <a:bodyPr wrap="square">
            <a:spAutoFit/>
          </a:bodyPr>
          <a:lstStyle/>
          <a:p>
            <a:pPr algn="l"/>
            <a:r>
              <a:rPr sz="1400" b="0" i="0" dirty="0">
                <a:solidFill>
                  <a:srgbClr val="262626"/>
                </a:solidFill>
                <a:latin typeface="Arial"/>
              </a:rPr>
              <a:t>•  Sheltered 750 m </a:t>
            </a:r>
            <a:r>
              <a:rPr sz="1400" b="0" i="0" dirty="0" err="1">
                <a:solidFill>
                  <a:srgbClr val="262626"/>
                </a:solidFill>
                <a:latin typeface="Arial"/>
              </a:rPr>
              <a:t>Binnenalster</a:t>
            </a:r>
            <a:r>
              <a:rPr sz="1400" b="0" i="0" dirty="0">
                <a:solidFill>
                  <a:srgbClr val="262626"/>
                </a:solidFill>
                <a:latin typeface="Arial"/>
              </a:rPr>
              <a:t> swim</a:t>
            </a:r>
            <a:r>
              <a:rPr lang="en-US" sz="1400" b="0" i="0" dirty="0">
                <a:solidFill>
                  <a:srgbClr val="262626"/>
                </a:solidFill>
                <a:latin typeface="Arial"/>
              </a:rPr>
              <a:t>. Typically </a:t>
            </a:r>
            <a:r>
              <a:rPr sz="1400" b="0" i="0" dirty="0">
                <a:solidFill>
                  <a:srgbClr val="262626"/>
                </a:solidFill>
                <a:latin typeface="Arial"/>
              </a:rPr>
              <a:t>flat fresh water</a:t>
            </a:r>
            <a:r>
              <a:rPr lang="en-US" sz="1400" b="0" i="0" dirty="0">
                <a:solidFill>
                  <a:srgbClr val="262626"/>
                </a:solidFill>
                <a:latin typeface="Arial"/>
              </a:rPr>
              <a:t>.</a:t>
            </a:r>
            <a:r>
              <a:rPr sz="1400" b="0" i="0" dirty="0">
                <a:solidFill>
                  <a:srgbClr val="262626"/>
                </a:solidFill>
                <a:latin typeface="Arial"/>
              </a:rPr>
              <a:t> </a:t>
            </a:r>
            <a:r>
              <a:rPr lang="en-US" sz="1400" b="0" i="0" dirty="0">
                <a:solidFill>
                  <a:srgbClr val="262626"/>
                </a:solidFill>
                <a:latin typeface="Arial"/>
              </a:rPr>
              <a:t>P</a:t>
            </a:r>
            <a:r>
              <a:rPr sz="1400" b="0" i="0" dirty="0">
                <a:solidFill>
                  <a:srgbClr val="262626"/>
                </a:solidFill>
                <a:latin typeface="Arial"/>
              </a:rPr>
              <a:t>ontoon start</a:t>
            </a:r>
            <a:r>
              <a:rPr lang="en-US" sz="1400" b="0" i="0" dirty="0">
                <a:solidFill>
                  <a:srgbClr val="262626"/>
                </a:solidFill>
                <a:latin typeface="Arial"/>
              </a:rPr>
              <a:t> and likely a </a:t>
            </a:r>
            <a:r>
              <a:rPr sz="1400" b="0" i="0" dirty="0">
                <a:solidFill>
                  <a:srgbClr val="262626"/>
                </a:solidFill>
                <a:latin typeface="Arial"/>
              </a:rPr>
              <a:t> non-wetsuit</a:t>
            </a:r>
            <a:r>
              <a:rPr lang="en-US" sz="1400" b="0" i="0" dirty="0">
                <a:solidFill>
                  <a:srgbClr val="262626"/>
                </a:solidFill>
                <a:latin typeface="Arial"/>
              </a:rPr>
              <a:t> swim</a:t>
            </a:r>
            <a:r>
              <a:rPr sz="1100" b="0" i="0" dirty="0">
                <a:solidFill>
                  <a:srgbClr val="262626"/>
                </a:solidFill>
                <a:latin typeface="Arial"/>
              </a:rPr>
              <a:t>.</a:t>
            </a:r>
          </a:p>
        </p:txBody>
      </p:sp>
      <p:sp>
        <p:nvSpPr>
          <p:cNvPr id="13" name="TextBox 12"/>
          <p:cNvSpPr txBox="1"/>
          <p:nvPr/>
        </p:nvSpPr>
        <p:spPr>
          <a:xfrm>
            <a:off x="365760" y="4357953"/>
            <a:ext cx="5852160" cy="523220"/>
          </a:xfrm>
          <a:prstGeom prst="rect">
            <a:avLst/>
          </a:prstGeom>
          <a:noFill/>
        </p:spPr>
        <p:txBody>
          <a:bodyPr wrap="square">
            <a:spAutoFit/>
          </a:bodyPr>
          <a:lstStyle/>
          <a:p>
            <a:pPr algn="l"/>
            <a:r>
              <a:rPr sz="1400" b="0" i="0" dirty="0">
                <a:solidFill>
                  <a:srgbClr val="262626"/>
                </a:solidFill>
                <a:latin typeface="Arial"/>
              </a:rPr>
              <a:t>•  6 × 3.3 km urban bike (19.8 km)</a:t>
            </a:r>
            <a:r>
              <a:rPr lang="en-US" sz="1400" b="0" i="0" dirty="0">
                <a:solidFill>
                  <a:srgbClr val="262626"/>
                </a:solidFill>
                <a:latin typeface="Arial"/>
              </a:rPr>
              <a:t>. </a:t>
            </a:r>
            <a:r>
              <a:rPr lang="en-US" sz="1400" dirty="0">
                <a:solidFill>
                  <a:srgbClr val="262626"/>
                </a:solidFill>
                <a:latin typeface="Arial"/>
              </a:rPr>
              <a:t>F</a:t>
            </a:r>
            <a:r>
              <a:rPr sz="1400" b="0" i="0" dirty="0">
                <a:solidFill>
                  <a:srgbClr val="262626"/>
                </a:solidFill>
                <a:latin typeface="Arial"/>
              </a:rPr>
              <a:t>lat but highly technical </a:t>
            </a:r>
            <a:r>
              <a:rPr lang="en-US" sz="1400" b="0" i="0" dirty="0">
                <a:solidFill>
                  <a:srgbClr val="262626"/>
                </a:solidFill>
                <a:latin typeface="Arial"/>
              </a:rPr>
              <a:t>course </a:t>
            </a:r>
            <a:r>
              <a:rPr sz="1400" b="0" i="0" dirty="0">
                <a:solidFill>
                  <a:srgbClr val="262626"/>
                </a:solidFill>
                <a:latin typeface="Arial"/>
              </a:rPr>
              <a:t>with multiple turns</a:t>
            </a:r>
            <a:r>
              <a:rPr lang="en-US" sz="1400" b="0" i="0" dirty="0">
                <a:solidFill>
                  <a:srgbClr val="262626"/>
                </a:solidFill>
                <a:latin typeface="Arial"/>
              </a:rPr>
              <a:t>.</a:t>
            </a:r>
            <a:r>
              <a:rPr sz="1400" b="0" i="0" dirty="0">
                <a:solidFill>
                  <a:srgbClr val="262626"/>
                </a:solidFill>
                <a:latin typeface="Arial"/>
              </a:rPr>
              <a:t> </a:t>
            </a:r>
            <a:r>
              <a:rPr lang="en-US" sz="1400" dirty="0">
                <a:solidFill>
                  <a:srgbClr val="262626"/>
                </a:solidFill>
                <a:latin typeface="Arial"/>
              </a:rPr>
              <a:t>L</a:t>
            </a:r>
            <a:r>
              <a:rPr sz="1400" b="0" i="0" dirty="0">
                <a:solidFill>
                  <a:srgbClr val="262626"/>
                </a:solidFill>
                <a:latin typeface="Arial"/>
              </a:rPr>
              <a:t>arge packs </a:t>
            </a:r>
            <a:r>
              <a:rPr lang="en-US" sz="1400" b="0" i="0" dirty="0">
                <a:solidFill>
                  <a:srgbClr val="262626"/>
                </a:solidFill>
                <a:latin typeface="Arial"/>
              </a:rPr>
              <a:t>historically come together</a:t>
            </a:r>
            <a:r>
              <a:rPr sz="1400" b="0" i="0" dirty="0">
                <a:solidFill>
                  <a:srgbClr val="262626"/>
                </a:solidFill>
                <a:latin typeface="Arial"/>
              </a:rPr>
              <a:t>.</a:t>
            </a:r>
          </a:p>
        </p:txBody>
      </p:sp>
      <p:sp>
        <p:nvSpPr>
          <p:cNvPr id="14" name="TextBox 13"/>
          <p:cNvSpPr txBox="1"/>
          <p:nvPr/>
        </p:nvSpPr>
        <p:spPr>
          <a:xfrm>
            <a:off x="365760" y="5016321"/>
            <a:ext cx="5852160" cy="738664"/>
          </a:xfrm>
          <a:prstGeom prst="rect">
            <a:avLst/>
          </a:prstGeom>
          <a:noFill/>
        </p:spPr>
        <p:txBody>
          <a:bodyPr wrap="square">
            <a:spAutoFit/>
          </a:bodyPr>
          <a:lstStyle/>
          <a:p>
            <a:pPr algn="l"/>
            <a:r>
              <a:rPr sz="1400" b="0" i="0" dirty="0">
                <a:solidFill>
                  <a:srgbClr val="262626"/>
                </a:solidFill>
                <a:latin typeface="Arial"/>
              </a:rPr>
              <a:t>•  2 × 5 km flat run through city-center streets</a:t>
            </a:r>
            <a:r>
              <a:rPr lang="en-US" sz="1400" b="0" i="0" dirty="0">
                <a:solidFill>
                  <a:srgbClr val="262626"/>
                </a:solidFill>
                <a:latin typeface="Arial"/>
              </a:rPr>
              <a:t>. Despite some cobblestone sections this is typically a fast run that comes down to a late surge. </a:t>
            </a:r>
            <a:endParaRPr sz="1400" b="0" i="0" dirty="0">
              <a:solidFill>
                <a:srgbClr val="262626"/>
              </a:solidFill>
              <a:latin typeface="Arial"/>
            </a:endParaRPr>
          </a:p>
        </p:txBody>
      </p:sp>
      <p:sp>
        <p:nvSpPr>
          <p:cNvPr id="15" name="TextBox 14"/>
          <p:cNvSpPr txBox="1"/>
          <p:nvPr/>
        </p:nvSpPr>
        <p:spPr>
          <a:xfrm>
            <a:off x="365760" y="5783958"/>
            <a:ext cx="5852160" cy="523220"/>
          </a:xfrm>
          <a:prstGeom prst="rect">
            <a:avLst/>
          </a:prstGeom>
          <a:noFill/>
        </p:spPr>
        <p:txBody>
          <a:bodyPr wrap="square">
            <a:spAutoFit/>
          </a:bodyPr>
          <a:lstStyle/>
          <a:p>
            <a:pPr algn="l"/>
            <a:r>
              <a:rPr sz="1400" b="0" i="0" dirty="0">
                <a:solidFill>
                  <a:srgbClr val="262626"/>
                </a:solidFill>
                <a:latin typeface="Arial"/>
              </a:rPr>
              <a:t>•  Elite Men 13:15 / Elite Women 15:00 Saturday July 11. Mixed Relay Sunday July 12.</a:t>
            </a:r>
          </a:p>
        </p:txBody>
      </p:sp>
      <p:sp>
        <p:nvSpPr>
          <p:cNvPr id="16" name="Rectangle 15"/>
          <p:cNvSpPr/>
          <p:nvPr/>
        </p:nvSpPr>
        <p:spPr>
          <a:xfrm>
            <a:off x="6583680" y="109728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9400" y="1115568"/>
            <a:ext cx="4937760" cy="274320"/>
          </a:xfrm>
          <a:prstGeom prst="rect">
            <a:avLst/>
          </a:prstGeom>
          <a:noFill/>
        </p:spPr>
        <p:txBody>
          <a:bodyPr wrap="square">
            <a:spAutoFit/>
          </a:bodyPr>
          <a:lstStyle/>
          <a:p>
            <a:pPr algn="l"/>
            <a:r>
              <a:rPr sz="1200" b="1" i="0">
                <a:solidFill>
                  <a:srgbClr val="FFFFFF"/>
                </a:solidFill>
                <a:latin typeface="Arial"/>
              </a:rPr>
              <a:t>COURSE AT A GLANCE</a:t>
            </a:r>
          </a:p>
        </p:txBody>
      </p:sp>
      <p:sp>
        <p:nvSpPr>
          <p:cNvPr id="18" name="TextBox 17"/>
          <p:cNvSpPr txBox="1"/>
          <p:nvPr/>
        </p:nvSpPr>
        <p:spPr>
          <a:xfrm>
            <a:off x="6675120" y="1508760"/>
            <a:ext cx="1828800" cy="320040"/>
          </a:xfrm>
          <a:prstGeom prst="rect">
            <a:avLst/>
          </a:prstGeom>
          <a:noFill/>
        </p:spPr>
        <p:txBody>
          <a:bodyPr wrap="square">
            <a:spAutoFit/>
          </a:bodyPr>
          <a:lstStyle/>
          <a:p>
            <a:pPr algn="l"/>
            <a:r>
              <a:rPr sz="1200" b="1" i="0">
                <a:solidFill>
                  <a:srgbClr val="002060"/>
                </a:solidFill>
                <a:latin typeface="Arial"/>
              </a:rPr>
              <a:t>Swim:</a:t>
            </a:r>
          </a:p>
        </p:txBody>
      </p:sp>
      <p:sp>
        <p:nvSpPr>
          <p:cNvPr id="19" name="TextBox 18"/>
          <p:cNvSpPr txBox="1"/>
          <p:nvPr/>
        </p:nvSpPr>
        <p:spPr>
          <a:xfrm>
            <a:off x="8229600" y="1508760"/>
            <a:ext cx="3657600" cy="320040"/>
          </a:xfrm>
          <a:prstGeom prst="rect">
            <a:avLst/>
          </a:prstGeom>
          <a:noFill/>
        </p:spPr>
        <p:txBody>
          <a:bodyPr wrap="square">
            <a:spAutoFit/>
          </a:bodyPr>
          <a:lstStyle/>
          <a:p>
            <a:pPr algn="l"/>
            <a:r>
              <a:rPr sz="1200" b="0" i="0" dirty="0">
                <a:solidFill>
                  <a:srgbClr val="262626"/>
                </a:solidFill>
                <a:latin typeface="Arial"/>
              </a:rPr>
              <a:t>750 m – 1 lap</a:t>
            </a:r>
          </a:p>
        </p:txBody>
      </p:sp>
      <p:sp>
        <p:nvSpPr>
          <p:cNvPr id="20" name="TextBox 19"/>
          <p:cNvSpPr txBox="1"/>
          <p:nvPr/>
        </p:nvSpPr>
        <p:spPr>
          <a:xfrm>
            <a:off x="6675120" y="1847088"/>
            <a:ext cx="1828800" cy="320040"/>
          </a:xfrm>
          <a:prstGeom prst="rect">
            <a:avLst/>
          </a:prstGeom>
          <a:noFill/>
        </p:spPr>
        <p:txBody>
          <a:bodyPr wrap="square">
            <a:spAutoFit/>
          </a:bodyPr>
          <a:lstStyle/>
          <a:p>
            <a:pPr algn="l"/>
            <a:r>
              <a:rPr sz="1200" b="1" i="0">
                <a:solidFill>
                  <a:srgbClr val="002060"/>
                </a:solidFill>
                <a:latin typeface="Arial"/>
              </a:rPr>
              <a:t>Bike:</a:t>
            </a:r>
          </a:p>
        </p:txBody>
      </p:sp>
      <p:sp>
        <p:nvSpPr>
          <p:cNvPr id="21" name="TextBox 20"/>
          <p:cNvSpPr txBox="1"/>
          <p:nvPr/>
        </p:nvSpPr>
        <p:spPr>
          <a:xfrm>
            <a:off x="8229600" y="1847088"/>
            <a:ext cx="3657600" cy="320040"/>
          </a:xfrm>
          <a:prstGeom prst="rect">
            <a:avLst/>
          </a:prstGeom>
          <a:noFill/>
        </p:spPr>
        <p:txBody>
          <a:bodyPr wrap="square">
            <a:spAutoFit/>
          </a:bodyPr>
          <a:lstStyle/>
          <a:p>
            <a:pPr algn="l"/>
            <a:r>
              <a:rPr sz="1200" b="0" i="0">
                <a:solidFill>
                  <a:srgbClr val="262626"/>
                </a:solidFill>
                <a:latin typeface="Arial"/>
              </a:rPr>
              <a:t>19.8 km – 6 laps × 3.3 km</a:t>
            </a:r>
          </a:p>
        </p:txBody>
      </p:sp>
      <p:sp>
        <p:nvSpPr>
          <p:cNvPr id="22" name="TextBox 21"/>
          <p:cNvSpPr txBox="1"/>
          <p:nvPr/>
        </p:nvSpPr>
        <p:spPr>
          <a:xfrm>
            <a:off x="6675120" y="2185415"/>
            <a:ext cx="1828800" cy="320040"/>
          </a:xfrm>
          <a:prstGeom prst="rect">
            <a:avLst/>
          </a:prstGeom>
          <a:noFill/>
        </p:spPr>
        <p:txBody>
          <a:bodyPr wrap="square">
            <a:spAutoFit/>
          </a:bodyPr>
          <a:lstStyle/>
          <a:p>
            <a:pPr algn="l"/>
            <a:r>
              <a:rPr sz="1200" b="1" i="0">
                <a:solidFill>
                  <a:srgbClr val="002060"/>
                </a:solidFill>
                <a:latin typeface="Arial"/>
              </a:rPr>
              <a:t>Run:</a:t>
            </a:r>
          </a:p>
        </p:txBody>
      </p:sp>
      <p:sp>
        <p:nvSpPr>
          <p:cNvPr id="23" name="TextBox 22"/>
          <p:cNvSpPr txBox="1"/>
          <p:nvPr/>
        </p:nvSpPr>
        <p:spPr>
          <a:xfrm>
            <a:off x="8229600" y="2185415"/>
            <a:ext cx="3657600" cy="320040"/>
          </a:xfrm>
          <a:prstGeom prst="rect">
            <a:avLst/>
          </a:prstGeom>
          <a:noFill/>
        </p:spPr>
        <p:txBody>
          <a:bodyPr wrap="square">
            <a:spAutoFit/>
          </a:bodyPr>
          <a:lstStyle/>
          <a:p>
            <a:pPr algn="l"/>
            <a:r>
              <a:rPr sz="1200" b="0" i="0">
                <a:solidFill>
                  <a:srgbClr val="262626"/>
                </a:solidFill>
                <a:latin typeface="Arial"/>
              </a:rPr>
              <a:t>10 km – 2 laps × 5 km</a:t>
            </a:r>
          </a:p>
        </p:txBody>
      </p:sp>
      <p:sp>
        <p:nvSpPr>
          <p:cNvPr id="24" name="TextBox 23"/>
          <p:cNvSpPr txBox="1"/>
          <p:nvPr/>
        </p:nvSpPr>
        <p:spPr>
          <a:xfrm>
            <a:off x="6675120" y="2523744"/>
            <a:ext cx="1828800" cy="320040"/>
          </a:xfrm>
          <a:prstGeom prst="rect">
            <a:avLst/>
          </a:prstGeom>
          <a:noFill/>
        </p:spPr>
        <p:txBody>
          <a:bodyPr wrap="square">
            <a:spAutoFit/>
          </a:bodyPr>
          <a:lstStyle/>
          <a:p>
            <a:pPr algn="l"/>
            <a:r>
              <a:rPr sz="1200" b="1" i="0">
                <a:solidFill>
                  <a:srgbClr val="002060"/>
                </a:solidFill>
                <a:latin typeface="Arial"/>
              </a:rPr>
              <a:t>Format:</a:t>
            </a:r>
          </a:p>
        </p:txBody>
      </p:sp>
      <p:sp>
        <p:nvSpPr>
          <p:cNvPr id="25" name="TextBox 24"/>
          <p:cNvSpPr txBox="1"/>
          <p:nvPr/>
        </p:nvSpPr>
        <p:spPr>
          <a:xfrm>
            <a:off x="8229600" y="2523744"/>
            <a:ext cx="3657600" cy="276999"/>
          </a:xfrm>
          <a:prstGeom prst="rect">
            <a:avLst/>
          </a:prstGeom>
          <a:noFill/>
        </p:spPr>
        <p:txBody>
          <a:bodyPr wrap="square">
            <a:spAutoFit/>
          </a:bodyPr>
          <a:lstStyle/>
          <a:p>
            <a:pPr algn="l"/>
            <a:r>
              <a:rPr sz="1200" b="0" i="0" dirty="0">
                <a:solidFill>
                  <a:srgbClr val="262626"/>
                </a:solidFill>
                <a:latin typeface="Arial"/>
              </a:rPr>
              <a:t>Sprint Triathlon </a:t>
            </a:r>
          </a:p>
        </p:txBody>
      </p:sp>
      <p:sp>
        <p:nvSpPr>
          <p:cNvPr id="26" name="TextBox 25"/>
          <p:cNvSpPr txBox="1"/>
          <p:nvPr/>
        </p:nvSpPr>
        <p:spPr>
          <a:xfrm>
            <a:off x="6675120" y="2862072"/>
            <a:ext cx="1828800" cy="320040"/>
          </a:xfrm>
          <a:prstGeom prst="rect">
            <a:avLst/>
          </a:prstGeom>
          <a:noFill/>
        </p:spPr>
        <p:txBody>
          <a:bodyPr wrap="square">
            <a:spAutoFit/>
          </a:bodyPr>
          <a:lstStyle/>
          <a:p>
            <a:pPr algn="l"/>
            <a:r>
              <a:rPr sz="1200" b="1" i="0">
                <a:solidFill>
                  <a:srgbClr val="002060"/>
                </a:solidFill>
                <a:latin typeface="Arial"/>
              </a:rPr>
              <a:t>Bike Laps:</a:t>
            </a:r>
          </a:p>
        </p:txBody>
      </p:sp>
      <p:sp>
        <p:nvSpPr>
          <p:cNvPr id="27" name="TextBox 26"/>
          <p:cNvSpPr txBox="1"/>
          <p:nvPr/>
        </p:nvSpPr>
        <p:spPr>
          <a:xfrm>
            <a:off x="8229600" y="2862072"/>
            <a:ext cx="3657600" cy="320040"/>
          </a:xfrm>
          <a:prstGeom prst="rect">
            <a:avLst/>
          </a:prstGeom>
          <a:noFill/>
        </p:spPr>
        <p:txBody>
          <a:bodyPr wrap="square">
            <a:spAutoFit/>
          </a:bodyPr>
          <a:lstStyle/>
          <a:p>
            <a:pPr algn="l"/>
            <a:r>
              <a:rPr sz="1200" b="0" i="0">
                <a:solidFill>
                  <a:srgbClr val="262626"/>
                </a:solidFill>
                <a:latin typeface="Arial"/>
              </a:rPr>
              <a:t>6</a:t>
            </a:r>
          </a:p>
        </p:txBody>
      </p:sp>
      <p:sp>
        <p:nvSpPr>
          <p:cNvPr id="28" name="TextBox 27"/>
          <p:cNvSpPr txBox="1"/>
          <p:nvPr/>
        </p:nvSpPr>
        <p:spPr>
          <a:xfrm>
            <a:off x="6675120" y="3200400"/>
            <a:ext cx="1828800" cy="320040"/>
          </a:xfrm>
          <a:prstGeom prst="rect">
            <a:avLst/>
          </a:prstGeom>
          <a:noFill/>
        </p:spPr>
        <p:txBody>
          <a:bodyPr wrap="square">
            <a:spAutoFit/>
          </a:bodyPr>
          <a:lstStyle/>
          <a:p>
            <a:pPr algn="l"/>
            <a:r>
              <a:rPr sz="1200" b="1" i="0">
                <a:solidFill>
                  <a:srgbClr val="002060"/>
                </a:solidFill>
                <a:latin typeface="Arial"/>
              </a:rPr>
              <a:t>Run Laps:</a:t>
            </a:r>
          </a:p>
        </p:txBody>
      </p:sp>
      <p:sp>
        <p:nvSpPr>
          <p:cNvPr id="29" name="TextBox 28"/>
          <p:cNvSpPr txBox="1"/>
          <p:nvPr/>
        </p:nvSpPr>
        <p:spPr>
          <a:xfrm>
            <a:off x="8229600" y="3200400"/>
            <a:ext cx="3657600" cy="320040"/>
          </a:xfrm>
          <a:prstGeom prst="rect">
            <a:avLst/>
          </a:prstGeom>
          <a:noFill/>
        </p:spPr>
        <p:txBody>
          <a:bodyPr wrap="square">
            <a:spAutoFit/>
          </a:bodyPr>
          <a:lstStyle/>
          <a:p>
            <a:pPr algn="l"/>
            <a:r>
              <a:rPr sz="1200" b="0" i="0">
                <a:solidFill>
                  <a:srgbClr val="262626"/>
                </a:solidFill>
                <a:latin typeface="Arial"/>
              </a:rPr>
              <a:t>2</a:t>
            </a:r>
          </a:p>
        </p:txBody>
      </p:sp>
      <p:sp>
        <p:nvSpPr>
          <p:cNvPr id="30" name="Rectangle 29"/>
          <p:cNvSpPr/>
          <p:nvPr/>
        </p:nvSpPr>
        <p:spPr>
          <a:xfrm>
            <a:off x="6583680" y="365760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29400" y="3675887"/>
            <a:ext cx="4937760" cy="274320"/>
          </a:xfrm>
          <a:prstGeom prst="rect">
            <a:avLst/>
          </a:prstGeom>
          <a:noFill/>
        </p:spPr>
        <p:txBody>
          <a:bodyPr wrap="square">
            <a:spAutoFit/>
          </a:bodyPr>
          <a:lstStyle/>
          <a:p>
            <a:pPr algn="l"/>
            <a:r>
              <a:rPr sz="1200" b="1" i="0">
                <a:solidFill>
                  <a:srgbClr val="FFFFFF"/>
                </a:solidFill>
                <a:latin typeface="Arial"/>
              </a:rPr>
              <a:t>QUICK LINKS</a:t>
            </a:r>
          </a:p>
        </p:txBody>
      </p:sp>
      <p:sp>
        <p:nvSpPr>
          <p:cNvPr id="32" name="TextBox 31"/>
          <p:cNvSpPr txBox="1"/>
          <p:nvPr/>
        </p:nvSpPr>
        <p:spPr>
          <a:xfrm>
            <a:off x="6675120" y="4069080"/>
            <a:ext cx="5120640" cy="274320"/>
          </a:xfrm>
          <a:prstGeom prst="rect">
            <a:avLst/>
          </a:prstGeom>
          <a:noFill/>
        </p:spPr>
        <p:txBody>
          <a:bodyPr wrap="square">
            <a:spAutoFit/>
          </a:bodyPr>
          <a:lstStyle/>
          <a:p>
            <a:pPr algn="l"/>
            <a:r>
              <a:rPr sz="1100" b="1" i="0">
                <a:solidFill>
                  <a:srgbClr val="002060"/>
                </a:solidFill>
                <a:latin typeface="Arial"/>
              </a:rPr>
              <a:t>Current Race Info:</a:t>
            </a:r>
          </a:p>
        </p:txBody>
      </p:sp>
      <p:sp>
        <p:nvSpPr>
          <p:cNvPr id="33" name="TextBox 32"/>
          <p:cNvSpPr txBox="1"/>
          <p:nvPr/>
        </p:nvSpPr>
        <p:spPr>
          <a:xfrm>
            <a:off x="6675120" y="4370832"/>
            <a:ext cx="5120640" cy="246221"/>
          </a:xfrm>
          <a:prstGeom prst="rect">
            <a:avLst/>
          </a:prstGeom>
          <a:noFill/>
        </p:spPr>
        <p:txBody>
          <a:bodyPr wrap="square">
            <a:spAutoFit/>
          </a:bodyPr>
          <a:lstStyle/>
          <a:p>
            <a:pPr algn="l"/>
            <a:r>
              <a:rPr sz="1000" b="0" i="1" dirty="0">
                <a:solidFill>
                  <a:srgbClr val="262626"/>
                </a:solidFill>
                <a:latin typeface="Arial"/>
                <a:hlinkClick r:id="rId3"/>
              </a:rPr>
              <a:t>Race Info | 2026 World Triathlon Championship Series Hamburg</a:t>
            </a:r>
            <a:endParaRPr sz="1000" b="0" i="1" dirty="0">
              <a:solidFill>
                <a:srgbClr val="262626"/>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43000"/>
            <a:ext cx="5120640" cy="38404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514600"/>
            <a:ext cx="4754880" cy="1280160"/>
          </a:xfrm>
          <a:prstGeom prst="rect">
            <a:avLst/>
          </a:prstGeom>
          <a:noFill/>
        </p:spPr>
        <p:txBody>
          <a:bodyPr wrap="square">
            <a:spAutoFit/>
          </a:bodyPr>
          <a:lstStyle/>
          <a:p>
            <a:pPr algn="ctr"/>
            <a:r>
              <a:rPr sz="1000" b="0" i="1">
                <a:solidFill>
                  <a:srgbClr val="BFBFBF"/>
                </a:solidFill>
                <a:latin typeface="Arial"/>
              </a:rPr>
              <a:t>[Drop swim course map here]
Save the organiser map as:
ppt files/support/hamburg_swim_course.png
It will be embedded automatically on the next run.</a:t>
            </a:r>
          </a:p>
        </p:txBody>
      </p:sp>
      <p:sp>
        <p:nvSpPr>
          <p:cNvPr id="10" name="TextBox 9"/>
          <p:cNvSpPr txBox="1"/>
          <p:nvPr/>
        </p:nvSpPr>
        <p:spPr>
          <a:xfrm>
            <a:off x="274320" y="5029200"/>
            <a:ext cx="5120640" cy="228600"/>
          </a:xfrm>
          <a:prstGeom prst="rect">
            <a:avLst/>
          </a:prstGeom>
          <a:noFill/>
        </p:spPr>
        <p:txBody>
          <a:bodyPr wrap="square">
            <a:spAutoFit/>
          </a:bodyPr>
          <a:lstStyle/>
          <a:p>
            <a:pPr algn="ctr"/>
            <a:r>
              <a:rPr sz="900" b="0" i="1">
                <a:solidFill>
                  <a:srgbClr val="BFBFBF"/>
                </a:solidFill>
                <a:latin typeface="Arial"/>
              </a:rPr>
              <a:t>Source: World Triathlon race info — 2026 WTCS Hamburg</a:t>
            </a:r>
          </a:p>
        </p:txBody>
      </p:sp>
      <p:sp>
        <p:nvSpPr>
          <p:cNvPr id="11" name="Rectangle 10"/>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750 m   •   single lap</a:t>
            </a:r>
          </a:p>
        </p:txBody>
      </p:sp>
      <p:sp>
        <p:nvSpPr>
          <p:cNvPr id="13" name="TextBox 12"/>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Sheltered urban lake — fresh water, calm conditions</a:t>
            </a:r>
          </a:p>
        </p:txBody>
      </p:sp>
      <p:sp>
        <p:nvSpPr>
          <p:cNvPr id="14" name="Rectangle 13"/>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6" name="TextBox 15"/>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750 m</a:t>
            </a:r>
          </a:p>
        </p:txBody>
      </p:sp>
      <p:sp>
        <p:nvSpPr>
          <p:cNvPr id="17" name="Rectangle 16"/>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2139696"/>
            <a:ext cx="1920240" cy="230832"/>
          </a:xfrm>
          <a:prstGeom prst="rect">
            <a:avLst/>
          </a:prstGeom>
          <a:noFill/>
        </p:spPr>
        <p:txBody>
          <a:bodyPr wrap="square">
            <a:spAutoFit/>
          </a:bodyPr>
          <a:lstStyle/>
          <a:p>
            <a:pPr algn="ctr"/>
            <a:r>
              <a:rPr lang="en-US" sz="900" b="1" i="0" dirty="0">
                <a:solidFill>
                  <a:srgbClr val="002060"/>
                </a:solidFill>
                <a:latin typeface="Arial"/>
              </a:rPr>
              <a:t>Body of Water</a:t>
            </a:r>
            <a:endParaRPr sz="900" b="1" i="0" dirty="0">
              <a:solidFill>
                <a:srgbClr val="002060"/>
              </a:solidFill>
              <a:latin typeface="Arial"/>
            </a:endParaRPr>
          </a:p>
        </p:txBody>
      </p:sp>
      <p:sp>
        <p:nvSpPr>
          <p:cNvPr id="19" name="TextBox 18"/>
          <p:cNvSpPr txBox="1"/>
          <p:nvPr/>
        </p:nvSpPr>
        <p:spPr>
          <a:xfrm>
            <a:off x="7772400" y="2340864"/>
            <a:ext cx="1920240" cy="307777"/>
          </a:xfrm>
          <a:prstGeom prst="rect">
            <a:avLst/>
          </a:prstGeom>
          <a:noFill/>
        </p:spPr>
        <p:txBody>
          <a:bodyPr wrap="square">
            <a:spAutoFit/>
          </a:bodyPr>
          <a:lstStyle/>
          <a:p>
            <a:pPr algn="ctr"/>
            <a:r>
              <a:rPr lang="en-US" sz="1400" b="1" i="0" dirty="0">
                <a:solidFill>
                  <a:srgbClr val="262626"/>
                </a:solidFill>
                <a:latin typeface="Arial"/>
              </a:rPr>
              <a:t>River</a:t>
            </a:r>
            <a:endParaRPr sz="1400" b="1" i="0" dirty="0">
              <a:solidFill>
                <a:srgbClr val="262626"/>
              </a:solidFill>
              <a:latin typeface="Arial"/>
            </a:endParaRPr>
          </a:p>
        </p:txBody>
      </p:sp>
      <p:sp>
        <p:nvSpPr>
          <p:cNvPr id="20" name="Rectangle 19"/>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Start</a:t>
            </a:r>
          </a:p>
        </p:txBody>
      </p:sp>
      <p:sp>
        <p:nvSpPr>
          <p:cNvPr id="22" name="TextBox 21"/>
          <p:cNvSpPr txBox="1"/>
          <p:nvPr/>
        </p:nvSpPr>
        <p:spPr>
          <a:xfrm>
            <a:off x="9875520" y="2340864"/>
            <a:ext cx="1920240" cy="347472"/>
          </a:xfrm>
          <a:prstGeom prst="rect">
            <a:avLst/>
          </a:prstGeom>
          <a:noFill/>
        </p:spPr>
        <p:txBody>
          <a:bodyPr wrap="square">
            <a:spAutoFit/>
          </a:bodyPr>
          <a:lstStyle/>
          <a:p>
            <a:pPr algn="ctr"/>
            <a:r>
              <a:rPr sz="1400" b="1" i="0">
                <a:solidFill>
                  <a:srgbClr val="262626"/>
                </a:solidFill>
                <a:latin typeface="Arial"/>
              </a:rPr>
              <a:t>Pontoon start</a:t>
            </a:r>
          </a:p>
        </p:txBody>
      </p:sp>
      <p:sp>
        <p:nvSpPr>
          <p:cNvPr id="23" name="Rectangle 22"/>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Water Temp</a:t>
            </a:r>
          </a:p>
        </p:txBody>
      </p:sp>
      <p:sp>
        <p:nvSpPr>
          <p:cNvPr id="25" name="TextBox 24"/>
          <p:cNvSpPr txBox="1"/>
          <p:nvPr/>
        </p:nvSpPr>
        <p:spPr>
          <a:xfrm>
            <a:off x="5669280" y="3054096"/>
            <a:ext cx="1920240" cy="307777"/>
          </a:xfrm>
          <a:prstGeom prst="rect">
            <a:avLst/>
          </a:prstGeom>
          <a:noFill/>
        </p:spPr>
        <p:txBody>
          <a:bodyPr wrap="square">
            <a:spAutoFit/>
          </a:bodyPr>
          <a:lstStyle/>
          <a:p>
            <a:pPr algn="ctr"/>
            <a:r>
              <a:rPr sz="1400" b="1" i="0" dirty="0">
                <a:solidFill>
                  <a:srgbClr val="262626"/>
                </a:solidFill>
                <a:latin typeface="Arial"/>
              </a:rPr>
              <a:t>18.0–22.0 °C </a:t>
            </a:r>
          </a:p>
        </p:txBody>
      </p:sp>
      <p:sp>
        <p:nvSpPr>
          <p:cNvPr id="26" name="Rectangle 25"/>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Wetsuit</a:t>
            </a:r>
          </a:p>
        </p:txBody>
      </p:sp>
      <p:sp>
        <p:nvSpPr>
          <p:cNvPr id="28" name="TextBox 27"/>
          <p:cNvSpPr txBox="1"/>
          <p:nvPr/>
        </p:nvSpPr>
        <p:spPr>
          <a:xfrm>
            <a:off x="7772400" y="3054096"/>
            <a:ext cx="1920240" cy="307777"/>
          </a:xfrm>
          <a:prstGeom prst="rect">
            <a:avLst/>
          </a:prstGeom>
          <a:noFill/>
        </p:spPr>
        <p:txBody>
          <a:bodyPr wrap="square">
            <a:spAutoFit/>
          </a:bodyPr>
          <a:lstStyle/>
          <a:p>
            <a:pPr algn="ctr"/>
            <a:r>
              <a:rPr sz="1400" b="1" i="0" dirty="0">
                <a:solidFill>
                  <a:srgbClr val="262626"/>
                </a:solidFill>
                <a:latin typeface="Arial"/>
              </a:rPr>
              <a:t>Likely </a:t>
            </a:r>
            <a:r>
              <a:rPr lang="en-US" sz="1400" b="1" i="0" dirty="0">
                <a:solidFill>
                  <a:srgbClr val="262626"/>
                </a:solidFill>
                <a:latin typeface="Arial"/>
              </a:rPr>
              <a:t>non-</a:t>
            </a:r>
            <a:r>
              <a:rPr sz="1400" b="1" i="0" dirty="0">
                <a:solidFill>
                  <a:srgbClr val="262626"/>
                </a:solidFill>
                <a:latin typeface="Arial"/>
              </a:rPr>
              <a:t>wetsuit</a:t>
            </a:r>
          </a:p>
        </p:txBody>
      </p:sp>
      <p:sp>
        <p:nvSpPr>
          <p:cNvPr id="29" name="Rectangle 28"/>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Lap Count</a:t>
            </a:r>
          </a:p>
        </p:txBody>
      </p:sp>
      <p:sp>
        <p:nvSpPr>
          <p:cNvPr id="31" name="TextBox 30"/>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1</a:t>
            </a:r>
          </a:p>
        </p:txBody>
      </p:sp>
      <p:sp>
        <p:nvSpPr>
          <p:cNvPr id="32" name="Rectangle 31"/>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4" name="TextBox 33"/>
          <p:cNvSpPr txBox="1"/>
          <p:nvPr/>
        </p:nvSpPr>
        <p:spPr>
          <a:xfrm>
            <a:off x="5669280" y="3977640"/>
            <a:ext cx="6126480" cy="307777"/>
          </a:xfrm>
          <a:prstGeom prst="rect">
            <a:avLst/>
          </a:prstGeom>
          <a:noFill/>
        </p:spPr>
        <p:txBody>
          <a:bodyPr wrap="square">
            <a:spAutoFit/>
          </a:bodyPr>
          <a:lstStyle/>
          <a:p>
            <a:pPr algn="l"/>
            <a:r>
              <a:rPr sz="1400" b="0" i="0" dirty="0">
                <a:solidFill>
                  <a:srgbClr val="262626"/>
                </a:solidFill>
                <a:latin typeface="Arial"/>
              </a:rPr>
              <a:t>•  Single 750 m loop </a:t>
            </a:r>
            <a:r>
              <a:rPr lang="en-US" sz="1400" b="0" i="0" dirty="0">
                <a:solidFill>
                  <a:srgbClr val="262626"/>
                </a:solidFill>
                <a:latin typeface="Arial"/>
              </a:rPr>
              <a:t>with a pontoon start into the Alster canal.</a:t>
            </a:r>
            <a:endParaRPr sz="1400" b="0" i="0" dirty="0">
              <a:solidFill>
                <a:srgbClr val="262626"/>
              </a:solidFill>
              <a:latin typeface="Arial"/>
            </a:endParaRPr>
          </a:p>
        </p:txBody>
      </p:sp>
      <p:sp>
        <p:nvSpPr>
          <p:cNvPr id="35" name="TextBox 34"/>
          <p:cNvSpPr txBox="1"/>
          <p:nvPr/>
        </p:nvSpPr>
        <p:spPr>
          <a:xfrm>
            <a:off x="5669280" y="4295970"/>
            <a:ext cx="6126480" cy="307777"/>
          </a:xfrm>
          <a:prstGeom prst="rect">
            <a:avLst/>
          </a:prstGeom>
          <a:noFill/>
        </p:spPr>
        <p:txBody>
          <a:bodyPr wrap="square">
            <a:spAutoFit/>
          </a:bodyPr>
          <a:lstStyle/>
          <a:p>
            <a:r>
              <a:rPr lang="en-US" sz="1400" dirty="0">
                <a:solidFill>
                  <a:srgbClr val="262626"/>
                </a:solidFill>
                <a:latin typeface="Arial"/>
              </a:rPr>
              <a:t>•  Fresh water lake in city center. Typically fairly calm conditions</a:t>
            </a:r>
          </a:p>
        </p:txBody>
      </p:sp>
      <p:sp>
        <p:nvSpPr>
          <p:cNvPr id="36" name="TextBox 35"/>
          <p:cNvSpPr txBox="1"/>
          <p:nvPr/>
        </p:nvSpPr>
        <p:spPr>
          <a:xfrm>
            <a:off x="5669280" y="4614300"/>
            <a:ext cx="6126480" cy="523220"/>
          </a:xfrm>
          <a:prstGeom prst="rect">
            <a:avLst/>
          </a:prstGeom>
          <a:noFill/>
        </p:spPr>
        <p:txBody>
          <a:bodyPr wrap="square">
            <a:spAutoFit/>
          </a:bodyPr>
          <a:lstStyle/>
          <a:p>
            <a:r>
              <a:rPr lang="en-US" sz="1400" dirty="0">
                <a:solidFill>
                  <a:srgbClr val="262626"/>
                </a:solidFill>
                <a:latin typeface="Arial"/>
              </a:rPr>
              <a:t>•  July morning water mid-to-high teens Celsius. Potential for wetsuit, but has historically been above the limit. </a:t>
            </a:r>
          </a:p>
        </p:txBody>
      </p:sp>
      <p:sp>
        <p:nvSpPr>
          <p:cNvPr id="38" name="TextBox 37"/>
          <p:cNvSpPr txBox="1"/>
          <p:nvPr/>
        </p:nvSpPr>
        <p:spPr>
          <a:xfrm>
            <a:off x="5669280" y="5148072"/>
            <a:ext cx="6126480" cy="523220"/>
          </a:xfrm>
          <a:prstGeom prst="rect">
            <a:avLst/>
          </a:prstGeom>
          <a:noFill/>
        </p:spPr>
        <p:txBody>
          <a:bodyPr wrap="square">
            <a:spAutoFit/>
          </a:bodyPr>
          <a:lstStyle/>
          <a:p>
            <a:pPr algn="l"/>
            <a:r>
              <a:rPr sz="1400" b="0" i="0" dirty="0">
                <a:solidFill>
                  <a:srgbClr val="262626"/>
                </a:solidFill>
                <a:latin typeface="Arial"/>
              </a:rPr>
              <a:t>•  Short run into T1 from the Alster exit ramp</a:t>
            </a:r>
            <a:r>
              <a:rPr lang="en-US" sz="1400" b="0" i="0" dirty="0">
                <a:solidFill>
                  <a:srgbClr val="262626"/>
                </a:solidFill>
                <a:latin typeface="Arial"/>
              </a:rPr>
              <a:t>; </a:t>
            </a:r>
            <a:r>
              <a:rPr sz="1400" b="0" i="0" dirty="0">
                <a:solidFill>
                  <a:srgbClr val="262626"/>
                </a:solidFill>
                <a:latin typeface="Arial"/>
              </a:rPr>
              <a:t>transition area directly adjacent to city hall</a:t>
            </a:r>
          </a:p>
        </p:txBody>
      </p:sp>
      <p:pic>
        <p:nvPicPr>
          <p:cNvPr id="40" name="Picture 39">
            <a:extLst>
              <a:ext uri="{FF2B5EF4-FFF2-40B4-BE49-F238E27FC236}">
                <a16:creationId xmlns:a16="http://schemas.microsoft.com/office/drawing/2014/main" id="{307EF0E4-858A-6141-1386-100A4CBDA5F0}"/>
              </a:ext>
            </a:extLst>
          </p:cNvPr>
          <p:cNvPicPr>
            <a:picLocks noChangeAspect="1"/>
          </p:cNvPicPr>
          <p:nvPr/>
        </p:nvPicPr>
        <p:blipFill>
          <a:blip r:embed="rId3"/>
          <a:stretch>
            <a:fillRect/>
          </a:stretch>
        </p:blipFill>
        <p:spPr>
          <a:xfrm>
            <a:off x="263095" y="1143000"/>
            <a:ext cx="5177298" cy="38991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p:cNvSpPr/>
          <p:nvPr/>
        </p:nvSpPr>
        <p:spPr>
          <a:xfrm>
            <a:off x="274320" y="5120640"/>
            <a:ext cx="11640312" cy="141732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4320" y="5577840"/>
            <a:ext cx="11640312" cy="548640"/>
          </a:xfrm>
          <a:prstGeom prst="rect">
            <a:avLst/>
          </a:prstGeom>
          <a:noFill/>
        </p:spPr>
        <p:txBody>
          <a:bodyPr wrap="square">
            <a:spAutoFit/>
          </a:bodyPr>
          <a:lstStyle/>
          <a:p>
            <a:pPr algn="ctr"/>
            <a:r>
              <a:rPr sz="1100" b="0" i="1">
                <a:solidFill>
                  <a:srgbClr val="BFBFBF"/>
                </a:solidFill>
                <a:latin typeface="Arial"/>
              </a:rPr>
              <a:t>Flat course — published profile shows no significant climbs.
No elevation chart synthesized; if a race GPS FIT becomes available, real contours will replace this block.</a:t>
            </a:r>
          </a:p>
        </p:txBody>
      </p:sp>
      <p:pic>
        <p:nvPicPr>
          <p:cNvPr id="44" name="Picture 43">
            <a:extLst>
              <a:ext uri="{FF2B5EF4-FFF2-40B4-BE49-F238E27FC236}">
                <a16:creationId xmlns:a16="http://schemas.microsoft.com/office/drawing/2014/main" id="{399EF91B-40F9-7F4C-0103-E1085C7E735A}"/>
              </a:ext>
            </a:extLst>
          </p:cNvPr>
          <p:cNvPicPr>
            <a:picLocks noChangeAspect="1"/>
          </p:cNvPicPr>
          <p:nvPr/>
        </p:nvPicPr>
        <p:blipFill>
          <a:blip r:embed="rId2"/>
          <a:stretch>
            <a:fillRect/>
          </a:stretch>
        </p:blipFill>
        <p:spPr>
          <a:xfrm>
            <a:off x="1759239" y="5120640"/>
            <a:ext cx="7820082" cy="1417320"/>
          </a:xfrm>
          <a:prstGeom prst="rect">
            <a:avLst/>
          </a:prstGeom>
        </p:spPr>
      </p:pic>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3"/>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43000"/>
            <a:ext cx="5120640" cy="329184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240280"/>
            <a:ext cx="4754880" cy="1280160"/>
          </a:xfrm>
          <a:prstGeom prst="rect">
            <a:avLst/>
          </a:prstGeom>
          <a:noFill/>
        </p:spPr>
        <p:txBody>
          <a:bodyPr wrap="square">
            <a:spAutoFit/>
          </a:bodyPr>
          <a:lstStyle/>
          <a:p>
            <a:pPr algn="ctr"/>
            <a:r>
              <a:rPr sz="1000" b="0" i="1">
                <a:solidFill>
                  <a:srgbClr val="BFBFBF"/>
                </a:solidFill>
                <a:latin typeface="Arial"/>
              </a:rPr>
              <a:t>[Drop course map here]
Save the organiser course map as:
ppt files/support/hamburg_bike_course.png
It will be embedded automatically on the next run.</a:t>
            </a:r>
          </a:p>
        </p:txBody>
      </p:sp>
      <p:sp>
        <p:nvSpPr>
          <p:cNvPr id="10" name="TextBox 9"/>
          <p:cNvSpPr txBox="1"/>
          <p:nvPr/>
        </p:nvSpPr>
        <p:spPr>
          <a:xfrm>
            <a:off x="274320" y="4480560"/>
            <a:ext cx="5120640" cy="228600"/>
          </a:xfrm>
          <a:prstGeom prst="rect">
            <a:avLst/>
          </a:prstGeom>
          <a:noFill/>
        </p:spPr>
        <p:txBody>
          <a:bodyPr wrap="square">
            <a:spAutoFit/>
          </a:bodyPr>
          <a:lstStyle/>
          <a:p>
            <a:pPr algn="ctr"/>
            <a:r>
              <a:rPr sz="900" b="0" i="1">
                <a:solidFill>
                  <a:srgbClr val="BFBFBF"/>
                </a:solidFill>
                <a:latin typeface="Arial"/>
              </a:rPr>
              <a:t>Source: World Triathlon race info — 2026 WTCS Hamburg</a:t>
            </a:r>
          </a:p>
        </p:txBody>
      </p:sp>
      <p:sp>
        <p:nvSpPr>
          <p:cNvPr id="11" name="Rectangle 10"/>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19.8 km   •   6 × 3.3 km loops</a:t>
            </a:r>
          </a:p>
        </p:txBody>
      </p:sp>
      <p:sp>
        <p:nvSpPr>
          <p:cNvPr id="13" name="TextBox 12"/>
          <p:cNvSpPr txBox="1"/>
          <p:nvPr/>
        </p:nvSpPr>
        <p:spPr>
          <a:xfrm>
            <a:off x="5577840" y="1636776"/>
            <a:ext cx="6309360" cy="292608"/>
          </a:xfrm>
          <a:prstGeom prst="rect">
            <a:avLst/>
          </a:prstGeom>
          <a:noFill/>
        </p:spPr>
        <p:txBody>
          <a:bodyPr wrap="square">
            <a:spAutoFit/>
          </a:bodyPr>
          <a:lstStyle/>
          <a:p>
            <a:pPr algn="ctr"/>
            <a:r>
              <a:rPr sz="1100" b="0" i="1" dirty="0">
                <a:solidFill>
                  <a:srgbClr val="AABBDD"/>
                </a:solidFill>
                <a:latin typeface="Arial"/>
              </a:rPr>
              <a:t>Closed urban circuit — </a:t>
            </a:r>
            <a:r>
              <a:rPr sz="1100" b="0" i="1" dirty="0" err="1">
                <a:solidFill>
                  <a:srgbClr val="AABBDD"/>
                </a:solidFill>
                <a:latin typeface="Arial"/>
              </a:rPr>
              <a:t>Rathausmarkt</a:t>
            </a:r>
            <a:r>
              <a:rPr sz="1100" b="0" i="1" dirty="0">
                <a:solidFill>
                  <a:srgbClr val="AABBDD"/>
                </a:solidFill>
                <a:latin typeface="Arial"/>
              </a:rPr>
              <a:t>, </a:t>
            </a:r>
            <a:r>
              <a:rPr sz="1100" b="0" i="1" dirty="0" err="1">
                <a:solidFill>
                  <a:srgbClr val="AABBDD"/>
                </a:solidFill>
                <a:latin typeface="Arial"/>
              </a:rPr>
              <a:t>Alsterufer</a:t>
            </a:r>
            <a:r>
              <a:rPr sz="1100" b="0" i="1" dirty="0">
                <a:solidFill>
                  <a:srgbClr val="AABBDD"/>
                </a:solidFill>
                <a:latin typeface="Arial"/>
              </a:rPr>
              <a:t>, </a:t>
            </a:r>
            <a:r>
              <a:rPr sz="1100" b="0" i="1" dirty="0" err="1">
                <a:solidFill>
                  <a:srgbClr val="AABBDD"/>
                </a:solidFill>
                <a:latin typeface="Arial"/>
              </a:rPr>
              <a:t>Jungfernstieg</a:t>
            </a:r>
            <a:endParaRPr sz="1100" b="0" i="1" dirty="0">
              <a:solidFill>
                <a:srgbClr val="AABBDD"/>
              </a:solidFill>
              <a:latin typeface="Arial"/>
            </a:endParaRPr>
          </a:p>
        </p:txBody>
      </p:sp>
      <p:sp>
        <p:nvSpPr>
          <p:cNvPr id="14" name="Rectangle 13"/>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Elevation / Lap</a:t>
            </a:r>
          </a:p>
        </p:txBody>
      </p:sp>
      <p:sp>
        <p:nvSpPr>
          <p:cNvPr id="16" name="TextBox 15"/>
          <p:cNvSpPr txBox="1"/>
          <p:nvPr/>
        </p:nvSpPr>
        <p:spPr>
          <a:xfrm>
            <a:off x="5669280" y="2340864"/>
            <a:ext cx="1920240" cy="323165"/>
          </a:xfrm>
          <a:prstGeom prst="rect">
            <a:avLst/>
          </a:prstGeom>
          <a:noFill/>
        </p:spPr>
        <p:txBody>
          <a:bodyPr wrap="square">
            <a:spAutoFit/>
          </a:bodyPr>
          <a:lstStyle/>
          <a:p>
            <a:pPr algn="ctr"/>
            <a:r>
              <a:rPr lang="en-US" sz="1500" b="1" i="0" dirty="0">
                <a:solidFill>
                  <a:srgbClr val="262626"/>
                </a:solidFill>
                <a:latin typeface="Arial"/>
              </a:rPr>
              <a:t>27 ft / lap</a:t>
            </a:r>
            <a:endParaRPr sz="1500" b="1" i="0" dirty="0">
              <a:solidFill>
                <a:srgbClr val="262626"/>
              </a:solidFill>
              <a:latin typeface="Arial"/>
            </a:endParaRPr>
          </a:p>
        </p:txBody>
      </p:sp>
      <p:sp>
        <p:nvSpPr>
          <p:cNvPr id="17" name="Rectangle 16"/>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19" name="TextBox 18"/>
          <p:cNvSpPr txBox="1"/>
          <p:nvPr/>
        </p:nvSpPr>
        <p:spPr>
          <a:xfrm>
            <a:off x="7772400" y="2340864"/>
            <a:ext cx="1920240" cy="323165"/>
          </a:xfrm>
          <a:prstGeom prst="rect">
            <a:avLst/>
          </a:prstGeom>
          <a:noFill/>
        </p:spPr>
        <p:txBody>
          <a:bodyPr wrap="square">
            <a:spAutoFit/>
          </a:bodyPr>
          <a:lstStyle/>
          <a:p>
            <a:pPr algn="ctr"/>
            <a:r>
              <a:rPr lang="en-US" sz="1500" b="1" i="0" dirty="0">
                <a:solidFill>
                  <a:srgbClr val="262626"/>
                </a:solidFill>
                <a:latin typeface="Arial"/>
              </a:rPr>
              <a:t>162 ft</a:t>
            </a:r>
            <a:endParaRPr sz="1500" b="1" i="0" dirty="0">
              <a:solidFill>
                <a:srgbClr val="262626"/>
              </a:solidFill>
              <a:latin typeface="Arial"/>
            </a:endParaRPr>
          </a:p>
        </p:txBody>
      </p:sp>
      <p:sp>
        <p:nvSpPr>
          <p:cNvPr id="20" name="Rectangle 19"/>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2" name="TextBox 21"/>
          <p:cNvSpPr txBox="1"/>
          <p:nvPr/>
        </p:nvSpPr>
        <p:spPr>
          <a:xfrm>
            <a:off x="9875520" y="2340864"/>
            <a:ext cx="1920240" cy="323165"/>
          </a:xfrm>
          <a:prstGeom prst="rect">
            <a:avLst/>
          </a:prstGeom>
          <a:noFill/>
        </p:spPr>
        <p:txBody>
          <a:bodyPr wrap="square">
            <a:spAutoFit/>
          </a:bodyPr>
          <a:lstStyle/>
          <a:p>
            <a:pPr algn="ctr"/>
            <a:r>
              <a:rPr lang="en-US" sz="1500" b="1" i="0" dirty="0">
                <a:solidFill>
                  <a:srgbClr val="262626"/>
                </a:solidFill>
                <a:latin typeface="Arial"/>
              </a:rPr>
              <a:t>~0-1%</a:t>
            </a:r>
            <a:endParaRPr sz="1500" b="1" i="0" dirty="0">
              <a:solidFill>
                <a:srgbClr val="262626"/>
              </a:solidFill>
              <a:latin typeface="Arial"/>
            </a:endParaRPr>
          </a:p>
        </p:txBody>
      </p:sp>
      <p:sp>
        <p:nvSpPr>
          <p:cNvPr id="23" name="Rectangle 22"/>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Max Climb Grade</a:t>
            </a:r>
          </a:p>
        </p:txBody>
      </p:sp>
      <p:sp>
        <p:nvSpPr>
          <p:cNvPr id="25" name="TextBox 24"/>
          <p:cNvSpPr txBox="1"/>
          <p:nvPr/>
        </p:nvSpPr>
        <p:spPr>
          <a:xfrm>
            <a:off x="5669280" y="3054096"/>
            <a:ext cx="1920240" cy="323165"/>
          </a:xfrm>
          <a:prstGeom prst="rect">
            <a:avLst/>
          </a:prstGeom>
          <a:noFill/>
        </p:spPr>
        <p:txBody>
          <a:bodyPr wrap="square">
            <a:spAutoFit/>
          </a:bodyPr>
          <a:lstStyle/>
          <a:p>
            <a:pPr algn="ctr"/>
            <a:r>
              <a:rPr lang="en-US" sz="1500" b="1" i="0" dirty="0">
                <a:solidFill>
                  <a:srgbClr val="262626"/>
                </a:solidFill>
                <a:latin typeface="Arial"/>
              </a:rPr>
              <a:t>7%</a:t>
            </a:r>
            <a:endParaRPr sz="1500" b="1" i="0" dirty="0">
              <a:solidFill>
                <a:srgbClr val="262626"/>
              </a:solidFill>
              <a:latin typeface="Arial"/>
            </a:endParaRPr>
          </a:p>
        </p:txBody>
      </p:sp>
      <p:sp>
        <p:nvSpPr>
          <p:cNvPr id="26" name="Rectangle 25"/>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Wind</a:t>
            </a:r>
          </a:p>
        </p:txBody>
      </p:sp>
      <p:sp>
        <p:nvSpPr>
          <p:cNvPr id="28" name="TextBox 27"/>
          <p:cNvSpPr txBox="1"/>
          <p:nvPr/>
        </p:nvSpPr>
        <p:spPr>
          <a:xfrm>
            <a:off x="7772400" y="3054096"/>
            <a:ext cx="1920240" cy="323165"/>
          </a:xfrm>
          <a:prstGeom prst="rect">
            <a:avLst/>
          </a:prstGeom>
          <a:noFill/>
        </p:spPr>
        <p:txBody>
          <a:bodyPr wrap="square">
            <a:spAutoFit/>
          </a:bodyPr>
          <a:lstStyle/>
          <a:p>
            <a:pPr algn="ctr"/>
            <a:r>
              <a:rPr sz="1500" b="1" i="0" dirty="0">
                <a:solidFill>
                  <a:srgbClr val="262626"/>
                </a:solidFill>
                <a:latin typeface="Arial"/>
              </a:rPr>
              <a:t>City-center setting</a:t>
            </a:r>
          </a:p>
        </p:txBody>
      </p:sp>
      <p:sp>
        <p:nvSpPr>
          <p:cNvPr id="29" name="Rectangle 28"/>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Loops</a:t>
            </a:r>
          </a:p>
        </p:txBody>
      </p:sp>
      <p:sp>
        <p:nvSpPr>
          <p:cNvPr id="31" name="TextBox 30"/>
          <p:cNvSpPr txBox="1"/>
          <p:nvPr/>
        </p:nvSpPr>
        <p:spPr>
          <a:xfrm>
            <a:off x="9875520" y="3054096"/>
            <a:ext cx="1920240" cy="347472"/>
          </a:xfrm>
          <a:prstGeom prst="rect">
            <a:avLst/>
          </a:prstGeom>
          <a:noFill/>
        </p:spPr>
        <p:txBody>
          <a:bodyPr wrap="square">
            <a:spAutoFit/>
          </a:bodyPr>
          <a:lstStyle/>
          <a:p>
            <a:pPr algn="ctr"/>
            <a:r>
              <a:rPr sz="1500" b="1" i="0">
                <a:solidFill>
                  <a:srgbClr val="262626"/>
                </a:solidFill>
                <a:latin typeface="Arial"/>
              </a:rPr>
              <a:t>6 × 3.3 km</a:t>
            </a:r>
          </a:p>
        </p:txBody>
      </p:sp>
      <p:sp>
        <p:nvSpPr>
          <p:cNvPr id="32" name="Rectangle 31"/>
          <p:cNvSpPr/>
          <p:nvPr/>
        </p:nvSpPr>
        <p:spPr>
          <a:xfrm>
            <a:off x="5577840" y="370332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69280" y="3730752"/>
            <a:ext cx="6126480" cy="237744"/>
          </a:xfrm>
          <a:prstGeom prst="rect">
            <a:avLst/>
          </a:prstGeom>
          <a:noFill/>
        </p:spPr>
        <p:txBody>
          <a:bodyPr wrap="square">
            <a:spAutoFit/>
          </a:bodyPr>
          <a:lstStyle/>
          <a:p>
            <a:pPr algn="l"/>
            <a:r>
              <a:rPr sz="1200" b="1" i="0">
                <a:solidFill>
                  <a:srgbClr val="FFFFFF"/>
                </a:solidFill>
                <a:latin typeface="Arial"/>
              </a:rPr>
              <a:t>Tactical Implications</a:t>
            </a:r>
          </a:p>
        </p:txBody>
      </p:sp>
      <p:sp>
        <p:nvSpPr>
          <p:cNvPr id="34" name="TextBox 33"/>
          <p:cNvSpPr txBox="1"/>
          <p:nvPr/>
        </p:nvSpPr>
        <p:spPr>
          <a:xfrm>
            <a:off x="5669280" y="4069080"/>
            <a:ext cx="6126480" cy="646331"/>
          </a:xfrm>
          <a:prstGeom prst="rect">
            <a:avLst/>
          </a:prstGeom>
          <a:noFill/>
        </p:spPr>
        <p:txBody>
          <a:bodyPr wrap="square">
            <a:spAutoFit/>
          </a:bodyPr>
          <a:lstStyle/>
          <a:p>
            <a:r>
              <a:rPr lang="en-US" sz="1200" dirty="0">
                <a:solidFill>
                  <a:srgbClr val="262626"/>
                </a:solidFill>
                <a:latin typeface="Arial"/>
              </a:rPr>
              <a:t>•  </a:t>
            </a:r>
            <a:r>
              <a:rPr sz="1200" b="0" i="0" dirty="0">
                <a:solidFill>
                  <a:srgbClr val="262626"/>
                </a:solidFill>
                <a:latin typeface="Arial"/>
              </a:rPr>
              <a:t>Hamburg's city center</a:t>
            </a:r>
            <a:r>
              <a:rPr lang="en-US" sz="1200" b="0" i="0" dirty="0">
                <a:solidFill>
                  <a:srgbClr val="262626"/>
                </a:solidFill>
                <a:latin typeface="Arial"/>
              </a:rPr>
              <a:t> bike represents </a:t>
            </a:r>
            <a:r>
              <a:rPr sz="1200" b="0" i="0" dirty="0">
                <a:solidFill>
                  <a:srgbClr val="262626"/>
                </a:solidFill>
                <a:latin typeface="Arial"/>
              </a:rPr>
              <a:t>one of the most technical WTCS bike courses</a:t>
            </a:r>
            <a:r>
              <a:rPr lang="en-US" sz="1200" dirty="0">
                <a:solidFill>
                  <a:srgbClr val="262626"/>
                </a:solidFill>
                <a:latin typeface="Arial"/>
              </a:rPr>
              <a:t>. Pancake-flat throughout, but high-frequency turns reward bike-handling skills alongside power. </a:t>
            </a:r>
          </a:p>
        </p:txBody>
      </p:sp>
      <p:sp>
        <p:nvSpPr>
          <p:cNvPr id="36" name="TextBox 35"/>
          <p:cNvSpPr txBox="1"/>
          <p:nvPr/>
        </p:nvSpPr>
        <p:spPr>
          <a:xfrm>
            <a:off x="5669280" y="4654296"/>
            <a:ext cx="6126480" cy="646331"/>
          </a:xfrm>
          <a:prstGeom prst="rect">
            <a:avLst/>
          </a:prstGeom>
          <a:noFill/>
        </p:spPr>
        <p:txBody>
          <a:bodyPr wrap="square">
            <a:spAutoFit/>
          </a:bodyPr>
          <a:lstStyle/>
          <a:p>
            <a:r>
              <a:rPr sz="1200" b="0" i="0" dirty="0">
                <a:solidFill>
                  <a:srgbClr val="262626"/>
                </a:solidFill>
                <a:latin typeface="Arial"/>
              </a:rPr>
              <a:t>•  Drafting packs form easily on the long straights; Hamburg historically produces large lead packs of 30+ athletes</a:t>
            </a:r>
            <a:r>
              <a:rPr lang="en-US" sz="1200" dirty="0">
                <a:solidFill>
                  <a:srgbClr val="262626"/>
                </a:solidFill>
                <a:latin typeface="Arial"/>
              </a:rPr>
              <a:t>. Cobblestone sections add additional complexity</a:t>
            </a:r>
          </a:p>
          <a:p>
            <a:pPr algn="l"/>
            <a:endParaRPr sz="1200" b="0" i="0" dirty="0">
              <a:solidFill>
                <a:srgbClr val="262626"/>
              </a:solidFill>
              <a:latin typeface="Arial"/>
            </a:endParaRPr>
          </a:p>
        </p:txBody>
      </p:sp>
      <p:pic>
        <p:nvPicPr>
          <p:cNvPr id="42" name="Picture 41">
            <a:extLst>
              <a:ext uri="{FF2B5EF4-FFF2-40B4-BE49-F238E27FC236}">
                <a16:creationId xmlns:a16="http://schemas.microsoft.com/office/drawing/2014/main" id="{1D8C76B8-C890-1947-6E66-2B2AF12A870F}"/>
              </a:ext>
            </a:extLst>
          </p:cNvPr>
          <p:cNvPicPr>
            <a:picLocks noChangeAspect="1"/>
          </p:cNvPicPr>
          <p:nvPr/>
        </p:nvPicPr>
        <p:blipFill>
          <a:blip r:embed="rId4"/>
          <a:stretch>
            <a:fillRect/>
          </a:stretch>
        </p:blipFill>
        <p:spPr>
          <a:xfrm>
            <a:off x="228601" y="1143001"/>
            <a:ext cx="5276088" cy="3886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5D521B7F-CF92-9ED1-197E-C0EEE949BAF9}"/>
              </a:ext>
            </a:extLst>
          </p:cNvPr>
          <p:cNvPicPr>
            <a:picLocks noChangeAspect="1"/>
          </p:cNvPicPr>
          <p:nvPr/>
        </p:nvPicPr>
        <p:blipFill>
          <a:blip r:embed="rId2"/>
          <a:stretch>
            <a:fillRect/>
          </a:stretch>
        </p:blipFill>
        <p:spPr>
          <a:xfrm>
            <a:off x="2199224" y="5148072"/>
            <a:ext cx="7195324" cy="1551188"/>
          </a:xfrm>
          <a:prstGeom prst="rect">
            <a:avLst/>
          </a:prstGeom>
        </p:spPr>
      </p:pic>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3"/>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43000"/>
            <a:ext cx="5120640" cy="38404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514600"/>
            <a:ext cx="4754880" cy="1280160"/>
          </a:xfrm>
          <a:prstGeom prst="rect">
            <a:avLst/>
          </a:prstGeom>
          <a:noFill/>
        </p:spPr>
        <p:txBody>
          <a:bodyPr wrap="square">
            <a:spAutoFit/>
          </a:bodyPr>
          <a:lstStyle/>
          <a:p>
            <a:pPr algn="ctr"/>
            <a:r>
              <a:rPr sz="1000" b="0" i="1">
                <a:solidFill>
                  <a:srgbClr val="BFBFBF"/>
                </a:solidFill>
                <a:latin typeface="Arial"/>
              </a:rPr>
              <a:t>[Drop run course map here]
Save the organiser map as:
ppt files/support/hamburg_run_course.png
It will be embedded automatically on the next run.</a:t>
            </a:r>
          </a:p>
        </p:txBody>
      </p:sp>
      <p:sp>
        <p:nvSpPr>
          <p:cNvPr id="10" name="TextBox 9"/>
          <p:cNvSpPr txBox="1"/>
          <p:nvPr/>
        </p:nvSpPr>
        <p:spPr>
          <a:xfrm>
            <a:off x="274320" y="5029200"/>
            <a:ext cx="5120640" cy="228600"/>
          </a:xfrm>
          <a:prstGeom prst="rect">
            <a:avLst/>
          </a:prstGeom>
          <a:noFill/>
        </p:spPr>
        <p:txBody>
          <a:bodyPr wrap="square">
            <a:spAutoFit/>
          </a:bodyPr>
          <a:lstStyle/>
          <a:p>
            <a:pPr algn="ctr"/>
            <a:r>
              <a:rPr sz="900" b="0" i="1">
                <a:solidFill>
                  <a:srgbClr val="BFBFBF"/>
                </a:solidFill>
                <a:latin typeface="Arial"/>
              </a:rPr>
              <a:t>Source: World Triathlon race info — 2026 WTCS Hamburg</a:t>
            </a:r>
          </a:p>
        </p:txBody>
      </p:sp>
      <p:sp>
        <p:nvSpPr>
          <p:cNvPr id="11" name="Rectangle 10"/>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77840" y="1252728"/>
            <a:ext cx="6309360" cy="430887"/>
          </a:xfrm>
          <a:prstGeom prst="rect">
            <a:avLst/>
          </a:prstGeom>
          <a:noFill/>
        </p:spPr>
        <p:txBody>
          <a:bodyPr wrap="square">
            <a:spAutoFit/>
          </a:bodyPr>
          <a:lstStyle/>
          <a:p>
            <a:pPr algn="ctr"/>
            <a:r>
              <a:rPr lang="en-US" sz="2200" b="1" dirty="0">
                <a:solidFill>
                  <a:srgbClr val="FFFFFF"/>
                </a:solidFill>
                <a:latin typeface="Arial"/>
              </a:rPr>
              <a:t>5</a:t>
            </a:r>
            <a:r>
              <a:rPr sz="2200" b="1" i="0" dirty="0">
                <a:solidFill>
                  <a:srgbClr val="FFFFFF"/>
                </a:solidFill>
                <a:latin typeface="Arial"/>
              </a:rPr>
              <a:t>.0 km   •   2 × </a:t>
            </a:r>
            <a:r>
              <a:rPr lang="en-US" sz="2200" b="1" i="0" dirty="0">
                <a:solidFill>
                  <a:srgbClr val="FFFFFF"/>
                </a:solidFill>
                <a:latin typeface="Arial"/>
              </a:rPr>
              <a:t>2.5</a:t>
            </a:r>
            <a:r>
              <a:rPr sz="2200" b="1" i="0" dirty="0">
                <a:solidFill>
                  <a:srgbClr val="FFFFFF"/>
                </a:solidFill>
                <a:latin typeface="Arial"/>
              </a:rPr>
              <a:t> km</a:t>
            </a:r>
          </a:p>
        </p:txBody>
      </p:sp>
      <p:sp>
        <p:nvSpPr>
          <p:cNvPr id="13" name="TextBox 12"/>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Closed urban — Rathausmarkt, Alsterarkaden, city hall precinct</a:t>
            </a:r>
          </a:p>
        </p:txBody>
      </p:sp>
      <p:sp>
        <p:nvSpPr>
          <p:cNvPr id="14" name="Rectangle 13"/>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6" name="TextBox 15"/>
          <p:cNvSpPr txBox="1"/>
          <p:nvPr/>
        </p:nvSpPr>
        <p:spPr>
          <a:xfrm>
            <a:off x="5669280" y="2340864"/>
            <a:ext cx="1920240" cy="307777"/>
          </a:xfrm>
          <a:prstGeom prst="rect">
            <a:avLst/>
          </a:prstGeom>
          <a:noFill/>
        </p:spPr>
        <p:txBody>
          <a:bodyPr wrap="square">
            <a:spAutoFit/>
          </a:bodyPr>
          <a:lstStyle/>
          <a:p>
            <a:pPr algn="ctr"/>
            <a:r>
              <a:rPr lang="en-US" sz="1400" b="1" dirty="0">
                <a:solidFill>
                  <a:srgbClr val="262626"/>
                </a:solidFill>
                <a:latin typeface="Arial"/>
              </a:rPr>
              <a:t>5</a:t>
            </a:r>
            <a:r>
              <a:rPr sz="1400" b="1" i="0" dirty="0">
                <a:solidFill>
                  <a:srgbClr val="262626"/>
                </a:solidFill>
                <a:latin typeface="Arial"/>
              </a:rPr>
              <a:t>.0 km</a:t>
            </a:r>
          </a:p>
        </p:txBody>
      </p:sp>
      <p:sp>
        <p:nvSpPr>
          <p:cNvPr id="17" name="Rectangle 16"/>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Lap Structure</a:t>
            </a:r>
          </a:p>
        </p:txBody>
      </p:sp>
      <p:sp>
        <p:nvSpPr>
          <p:cNvPr id="19" name="TextBox 18"/>
          <p:cNvSpPr txBox="1"/>
          <p:nvPr/>
        </p:nvSpPr>
        <p:spPr>
          <a:xfrm>
            <a:off x="7772400" y="2340864"/>
            <a:ext cx="1920240" cy="307777"/>
          </a:xfrm>
          <a:prstGeom prst="rect">
            <a:avLst/>
          </a:prstGeom>
          <a:noFill/>
        </p:spPr>
        <p:txBody>
          <a:bodyPr wrap="square">
            <a:spAutoFit/>
          </a:bodyPr>
          <a:lstStyle/>
          <a:p>
            <a:pPr algn="ctr"/>
            <a:r>
              <a:rPr sz="1400" b="1" i="0" dirty="0">
                <a:solidFill>
                  <a:srgbClr val="262626"/>
                </a:solidFill>
                <a:latin typeface="Arial"/>
              </a:rPr>
              <a:t>2 × </a:t>
            </a:r>
            <a:r>
              <a:rPr lang="en-US" sz="1400" b="1" i="0" dirty="0">
                <a:solidFill>
                  <a:srgbClr val="262626"/>
                </a:solidFill>
                <a:latin typeface="Arial"/>
              </a:rPr>
              <a:t>2.5</a:t>
            </a:r>
            <a:r>
              <a:rPr sz="1400" b="1" i="0" dirty="0">
                <a:solidFill>
                  <a:srgbClr val="262626"/>
                </a:solidFill>
                <a:latin typeface="Arial"/>
              </a:rPr>
              <a:t> km</a:t>
            </a:r>
          </a:p>
        </p:txBody>
      </p:sp>
      <p:sp>
        <p:nvSpPr>
          <p:cNvPr id="20" name="Rectangle 19"/>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22" name="TextBox 21"/>
          <p:cNvSpPr txBox="1"/>
          <p:nvPr/>
        </p:nvSpPr>
        <p:spPr>
          <a:xfrm>
            <a:off x="9875520" y="2340864"/>
            <a:ext cx="1920240" cy="307777"/>
          </a:xfrm>
          <a:prstGeom prst="rect">
            <a:avLst/>
          </a:prstGeom>
          <a:noFill/>
        </p:spPr>
        <p:txBody>
          <a:bodyPr wrap="square">
            <a:spAutoFit/>
          </a:bodyPr>
          <a:lstStyle/>
          <a:p>
            <a:pPr algn="ctr"/>
            <a:r>
              <a:rPr lang="en-US" sz="1400" b="1" i="0" dirty="0">
                <a:solidFill>
                  <a:srgbClr val="262626"/>
                </a:solidFill>
                <a:latin typeface="Arial"/>
              </a:rPr>
              <a:t>136 ft</a:t>
            </a:r>
            <a:endParaRPr sz="1400" b="1" i="0" dirty="0">
              <a:solidFill>
                <a:srgbClr val="262626"/>
              </a:solidFill>
              <a:latin typeface="Arial"/>
            </a:endParaRPr>
          </a:p>
        </p:txBody>
      </p:sp>
      <p:sp>
        <p:nvSpPr>
          <p:cNvPr id="23" name="Rectangle 22"/>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5" name="TextBox 24"/>
          <p:cNvSpPr txBox="1"/>
          <p:nvPr/>
        </p:nvSpPr>
        <p:spPr>
          <a:xfrm>
            <a:off x="5669280" y="3054096"/>
            <a:ext cx="1920240" cy="307777"/>
          </a:xfrm>
          <a:prstGeom prst="rect">
            <a:avLst/>
          </a:prstGeom>
          <a:noFill/>
        </p:spPr>
        <p:txBody>
          <a:bodyPr wrap="square">
            <a:spAutoFit/>
          </a:bodyPr>
          <a:lstStyle/>
          <a:p>
            <a:pPr algn="ctr"/>
            <a:r>
              <a:rPr lang="en-US" sz="1400" b="1" i="0" dirty="0">
                <a:solidFill>
                  <a:srgbClr val="262626"/>
                </a:solidFill>
                <a:latin typeface="Arial"/>
              </a:rPr>
              <a:t>~0-1%</a:t>
            </a:r>
            <a:endParaRPr sz="1400" b="1" i="0" dirty="0">
              <a:solidFill>
                <a:srgbClr val="262626"/>
              </a:solidFill>
              <a:latin typeface="Arial"/>
            </a:endParaRPr>
          </a:p>
        </p:txBody>
      </p:sp>
      <p:sp>
        <p:nvSpPr>
          <p:cNvPr id="26" name="Rectangle 25"/>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Max ▲ / ▼</a:t>
            </a:r>
          </a:p>
        </p:txBody>
      </p:sp>
      <p:sp>
        <p:nvSpPr>
          <p:cNvPr id="28" name="TextBox 27"/>
          <p:cNvSpPr txBox="1"/>
          <p:nvPr/>
        </p:nvSpPr>
        <p:spPr>
          <a:xfrm>
            <a:off x="7772400" y="3054096"/>
            <a:ext cx="1920240" cy="307777"/>
          </a:xfrm>
          <a:prstGeom prst="rect">
            <a:avLst/>
          </a:prstGeom>
          <a:noFill/>
        </p:spPr>
        <p:txBody>
          <a:bodyPr wrap="square">
            <a:spAutoFit/>
          </a:bodyPr>
          <a:lstStyle/>
          <a:p>
            <a:pPr algn="ctr"/>
            <a:r>
              <a:rPr lang="en-US" sz="1400" b="1" i="0" dirty="0">
                <a:solidFill>
                  <a:srgbClr val="262626"/>
                </a:solidFill>
                <a:latin typeface="Arial"/>
              </a:rPr>
              <a:t>+ 1.8% </a:t>
            </a:r>
            <a:endParaRPr sz="1400" b="1" i="0" dirty="0">
              <a:solidFill>
                <a:srgbClr val="262626"/>
              </a:solidFill>
              <a:latin typeface="Arial"/>
            </a:endParaRPr>
          </a:p>
        </p:txBody>
      </p:sp>
      <p:sp>
        <p:nvSpPr>
          <p:cNvPr id="29" name="Rectangle 28"/>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Heat Risk</a:t>
            </a:r>
          </a:p>
        </p:txBody>
      </p:sp>
      <p:sp>
        <p:nvSpPr>
          <p:cNvPr id="31" name="TextBox 30"/>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LOW–MODERATE</a:t>
            </a:r>
          </a:p>
        </p:txBody>
      </p:sp>
      <p:sp>
        <p:nvSpPr>
          <p:cNvPr id="32" name="Rectangle 31"/>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4" name="TextBox 33"/>
          <p:cNvSpPr txBox="1"/>
          <p:nvPr/>
        </p:nvSpPr>
        <p:spPr>
          <a:xfrm>
            <a:off x="5669280" y="3977640"/>
            <a:ext cx="6126480" cy="523220"/>
          </a:xfrm>
          <a:prstGeom prst="rect">
            <a:avLst/>
          </a:prstGeom>
          <a:noFill/>
        </p:spPr>
        <p:txBody>
          <a:bodyPr wrap="square">
            <a:spAutoFit/>
          </a:bodyPr>
          <a:lstStyle/>
          <a:p>
            <a:pPr algn="l"/>
            <a:r>
              <a:rPr sz="1400" b="0" i="0" dirty="0">
                <a:solidFill>
                  <a:srgbClr val="262626"/>
                </a:solidFill>
                <a:latin typeface="Arial"/>
              </a:rPr>
              <a:t>•  2 × </a:t>
            </a:r>
            <a:r>
              <a:rPr lang="en-US" sz="1400" b="0" i="0" dirty="0">
                <a:solidFill>
                  <a:srgbClr val="262626"/>
                </a:solidFill>
                <a:latin typeface="Arial"/>
              </a:rPr>
              <a:t>2.5</a:t>
            </a:r>
            <a:r>
              <a:rPr sz="1400" b="0" i="0" dirty="0">
                <a:solidFill>
                  <a:srgbClr val="262626"/>
                </a:solidFill>
                <a:latin typeface="Arial"/>
              </a:rPr>
              <a:t> km laps through Hamburg's historic city center</a:t>
            </a:r>
            <a:r>
              <a:rPr lang="en-US" sz="1400" b="0" i="0" dirty="0">
                <a:solidFill>
                  <a:srgbClr val="262626"/>
                </a:solidFill>
                <a:latin typeface="Arial"/>
              </a:rPr>
              <a:t> offers a </a:t>
            </a:r>
            <a:r>
              <a:rPr sz="1400" b="0" i="0" dirty="0">
                <a:solidFill>
                  <a:srgbClr val="262626"/>
                </a:solidFill>
                <a:latin typeface="Arial"/>
              </a:rPr>
              <a:t>flat, fast,</a:t>
            </a:r>
            <a:r>
              <a:rPr lang="en-US" sz="1400" b="0" i="0" dirty="0">
                <a:solidFill>
                  <a:srgbClr val="262626"/>
                </a:solidFill>
                <a:latin typeface="Arial"/>
              </a:rPr>
              <a:t> and most importantly a</a:t>
            </a:r>
            <a:r>
              <a:rPr sz="1400" b="0" i="0" dirty="0">
                <a:solidFill>
                  <a:srgbClr val="262626"/>
                </a:solidFill>
                <a:latin typeface="Arial"/>
              </a:rPr>
              <a:t> spectator-dense course</a:t>
            </a:r>
          </a:p>
        </p:txBody>
      </p:sp>
      <p:sp>
        <p:nvSpPr>
          <p:cNvPr id="35" name="TextBox 34"/>
          <p:cNvSpPr txBox="1"/>
          <p:nvPr/>
        </p:nvSpPr>
        <p:spPr>
          <a:xfrm>
            <a:off x="5669280" y="4524274"/>
            <a:ext cx="6126480" cy="307777"/>
          </a:xfrm>
          <a:prstGeom prst="rect">
            <a:avLst/>
          </a:prstGeom>
          <a:noFill/>
        </p:spPr>
        <p:txBody>
          <a:bodyPr wrap="square">
            <a:spAutoFit/>
          </a:bodyPr>
          <a:lstStyle/>
          <a:p>
            <a:pPr algn="l"/>
            <a:r>
              <a:rPr sz="1400" b="0" i="0" dirty="0">
                <a:solidFill>
                  <a:srgbClr val="262626"/>
                </a:solidFill>
                <a:latin typeface="Arial"/>
              </a:rPr>
              <a:t>•  Cobblestone sections</a:t>
            </a:r>
            <a:r>
              <a:rPr lang="en-US" sz="1400" dirty="0">
                <a:solidFill>
                  <a:srgbClr val="262626"/>
                </a:solidFill>
                <a:latin typeface="Arial"/>
              </a:rPr>
              <a:t> add additional terrain from typically road surfaces. </a:t>
            </a:r>
            <a:endParaRPr sz="1400" b="0" i="0" dirty="0">
              <a:solidFill>
                <a:srgbClr val="262626"/>
              </a:solidFill>
              <a:latin typeface="Arial"/>
            </a:endParaRPr>
          </a:p>
        </p:txBody>
      </p:sp>
      <p:sp>
        <p:nvSpPr>
          <p:cNvPr id="37" name="TextBox 36"/>
          <p:cNvSpPr txBox="1"/>
          <p:nvPr/>
        </p:nvSpPr>
        <p:spPr>
          <a:xfrm>
            <a:off x="5669280" y="4855464"/>
            <a:ext cx="6126480" cy="307777"/>
          </a:xfrm>
          <a:prstGeom prst="rect">
            <a:avLst/>
          </a:prstGeom>
          <a:noFill/>
        </p:spPr>
        <p:txBody>
          <a:bodyPr wrap="square">
            <a:spAutoFit/>
          </a:bodyPr>
          <a:lstStyle/>
          <a:p>
            <a:pPr algn="l"/>
            <a:r>
              <a:rPr lang="en-US" sz="1400" b="0" i="0" dirty="0">
                <a:solidFill>
                  <a:srgbClr val="262626"/>
                </a:solidFill>
                <a:latin typeface="Arial"/>
              </a:rPr>
              <a:t>•  </a:t>
            </a:r>
            <a:r>
              <a:rPr sz="1400" b="0" i="0" dirty="0">
                <a:solidFill>
                  <a:srgbClr val="262626"/>
                </a:solidFill>
                <a:latin typeface="Arial"/>
              </a:rPr>
              <a:t>July Hamburg averages ~22 °C, manageable but warm</a:t>
            </a:r>
          </a:p>
        </p:txBody>
      </p:sp>
      <p:pic>
        <p:nvPicPr>
          <p:cNvPr id="40" name="Picture 39">
            <a:extLst>
              <a:ext uri="{FF2B5EF4-FFF2-40B4-BE49-F238E27FC236}">
                <a16:creationId xmlns:a16="http://schemas.microsoft.com/office/drawing/2014/main" id="{93ACF5C7-4D9E-2F8A-39E2-C3127A8669B9}"/>
              </a:ext>
            </a:extLst>
          </p:cNvPr>
          <p:cNvPicPr>
            <a:picLocks noChangeAspect="1"/>
          </p:cNvPicPr>
          <p:nvPr/>
        </p:nvPicPr>
        <p:blipFill>
          <a:blip r:embed="rId4"/>
          <a:stretch>
            <a:fillRect/>
          </a:stretch>
        </p:blipFill>
        <p:spPr>
          <a:xfrm>
            <a:off x="274320" y="1099529"/>
            <a:ext cx="5120640" cy="388395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Travel &amp; Arrival Load</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Denver, CO → Hamburg race week</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960120"/>
          </a:xfrm>
          <a:prstGeom prst="rect">
            <a:avLst/>
          </a:prstGeom>
          <a:solidFill>
            <a:srgbClr val="E9EFF9"/>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200" b="1" i="0">
                <a:solidFill>
                  <a:srgbClr val="002060"/>
                </a:solidFill>
                <a:latin typeface="Arial"/>
              </a:rPr>
              <a:t>Core travel read</a:t>
            </a:r>
          </a:p>
        </p:txBody>
      </p:sp>
      <p:sp>
        <p:nvSpPr>
          <p:cNvPr id="10" name="TextBox 9"/>
          <p:cNvSpPr txBox="1"/>
          <p:nvPr/>
        </p:nvSpPr>
        <p:spPr>
          <a:xfrm>
            <a:off x="457200" y="1444752"/>
            <a:ext cx="11247120" cy="577081"/>
          </a:xfrm>
          <a:prstGeom prst="rect">
            <a:avLst/>
          </a:prstGeom>
          <a:noFill/>
        </p:spPr>
        <p:txBody>
          <a:bodyPr wrap="square">
            <a:spAutoFit/>
          </a:bodyPr>
          <a:lstStyle/>
          <a:p>
            <a:pPr algn="ctr"/>
            <a:r>
              <a:rPr sz="1050" b="0" i="0" dirty="0">
                <a:solidFill>
                  <a:srgbClr val="262626"/>
                </a:solidFill>
                <a:latin typeface="Arial"/>
              </a:rPr>
              <a:t>Denver → Hamburg requires one or two stops</a:t>
            </a:r>
            <a:r>
              <a:rPr lang="en-US" sz="1050" b="0" i="0" dirty="0">
                <a:solidFill>
                  <a:srgbClr val="262626"/>
                </a:solidFill>
                <a:latin typeface="Arial"/>
              </a:rPr>
              <a:t>. T</a:t>
            </a:r>
            <a:r>
              <a:rPr sz="1050" b="0" i="0" dirty="0">
                <a:solidFill>
                  <a:srgbClr val="262626"/>
                </a:solidFill>
                <a:latin typeface="Arial"/>
              </a:rPr>
              <a:t>ypical routes connect through London (LHR), Amsterdam (AMS), Frankfurt (FRA), or Paris (CDG) before the short </a:t>
            </a:r>
            <a:r>
              <a:rPr lang="en-US" sz="1050" dirty="0">
                <a:solidFill>
                  <a:srgbClr val="262626"/>
                </a:solidFill>
                <a:latin typeface="Arial"/>
              </a:rPr>
              <a:t>connection</a:t>
            </a:r>
            <a:r>
              <a:rPr sz="1050" b="0" i="0" dirty="0">
                <a:solidFill>
                  <a:srgbClr val="262626"/>
                </a:solidFill>
                <a:latin typeface="Arial"/>
              </a:rPr>
              <a:t> into Hamburg (HAM). Lufthansa and United operate the </a:t>
            </a:r>
            <a:r>
              <a:rPr lang="en-US" sz="1050" b="0" i="0" dirty="0">
                <a:solidFill>
                  <a:srgbClr val="262626"/>
                </a:solidFill>
                <a:latin typeface="Arial"/>
              </a:rPr>
              <a:t>best options </a:t>
            </a:r>
            <a:r>
              <a:rPr sz="1050" b="0" i="0" dirty="0">
                <a:solidFill>
                  <a:srgbClr val="262626"/>
                </a:solidFill>
                <a:latin typeface="Arial"/>
              </a:rPr>
              <a:t>from DEN. CEST (UTC+2) is 8 hours ahead of MDT. Hamburg Airport (HAM) is 10 km from the city center</a:t>
            </a:r>
            <a:r>
              <a:rPr lang="en-US" sz="1050" b="0" i="0" dirty="0">
                <a:solidFill>
                  <a:srgbClr val="262626"/>
                </a:solidFill>
                <a:latin typeface="Arial"/>
              </a:rPr>
              <a:t>. </a:t>
            </a:r>
            <a:r>
              <a:rPr lang="en-US" sz="1050" dirty="0">
                <a:solidFill>
                  <a:srgbClr val="262626"/>
                </a:solidFill>
                <a:latin typeface="Arial"/>
              </a:rPr>
              <a:t>T</a:t>
            </a:r>
            <a:r>
              <a:rPr sz="1050" b="0" i="0" dirty="0">
                <a:solidFill>
                  <a:srgbClr val="262626"/>
                </a:solidFill>
                <a:latin typeface="Arial"/>
              </a:rPr>
              <a:t>axi/rideshare ~20 min, S-Bahn line S1 links the airport to the </a:t>
            </a:r>
            <a:r>
              <a:rPr sz="1050" b="0" i="0" dirty="0" err="1">
                <a:solidFill>
                  <a:srgbClr val="262626"/>
                </a:solidFill>
                <a:latin typeface="Arial"/>
              </a:rPr>
              <a:t>Hauptbahnhof</a:t>
            </a:r>
            <a:r>
              <a:rPr sz="1050" b="0" i="0" dirty="0">
                <a:solidFill>
                  <a:srgbClr val="262626"/>
                </a:solidFill>
                <a:latin typeface="Arial"/>
              </a:rPr>
              <a:t> in ~25 min. Most WTCS hotels sit within 1–2 km of the Alster.</a:t>
            </a:r>
          </a:p>
        </p:txBody>
      </p:sp>
      <p:sp>
        <p:nvSpPr>
          <p:cNvPr id="11" name="Rectangle 10"/>
          <p:cNvSpPr/>
          <p:nvPr/>
        </p:nvSpPr>
        <p:spPr>
          <a:xfrm>
            <a:off x="274320"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2286000"/>
            <a:ext cx="2072030" cy="201168"/>
          </a:xfrm>
          <a:prstGeom prst="rect">
            <a:avLst/>
          </a:prstGeom>
          <a:noFill/>
        </p:spPr>
        <p:txBody>
          <a:bodyPr wrap="square">
            <a:spAutoFit/>
          </a:bodyPr>
          <a:lstStyle/>
          <a:p>
            <a:pPr algn="ctr"/>
            <a:r>
              <a:rPr sz="1000" b="1" i="0">
                <a:solidFill>
                  <a:srgbClr val="002060"/>
                </a:solidFill>
                <a:latin typeface="Arial"/>
              </a:rPr>
              <a:t>Primary route</a:t>
            </a:r>
          </a:p>
        </p:txBody>
      </p:sp>
      <p:sp>
        <p:nvSpPr>
          <p:cNvPr id="13" name="TextBox 12"/>
          <p:cNvSpPr txBox="1"/>
          <p:nvPr/>
        </p:nvSpPr>
        <p:spPr>
          <a:xfrm>
            <a:off x="347472" y="2496312"/>
            <a:ext cx="2072030" cy="292608"/>
          </a:xfrm>
          <a:prstGeom prst="rect">
            <a:avLst/>
          </a:prstGeom>
          <a:noFill/>
        </p:spPr>
        <p:txBody>
          <a:bodyPr wrap="square">
            <a:spAutoFit/>
          </a:bodyPr>
          <a:lstStyle/>
          <a:p>
            <a:pPr algn="ctr"/>
            <a:r>
              <a:rPr sz="1400" b="1" i="0">
                <a:solidFill>
                  <a:srgbClr val="262626"/>
                </a:solidFill>
                <a:latin typeface="Arial"/>
              </a:rPr>
              <a:t>DEN → HAM</a:t>
            </a:r>
          </a:p>
        </p:txBody>
      </p:sp>
      <p:sp>
        <p:nvSpPr>
          <p:cNvPr id="14" name="TextBox 13"/>
          <p:cNvSpPr txBox="1"/>
          <p:nvPr/>
        </p:nvSpPr>
        <p:spPr>
          <a:xfrm>
            <a:off x="347472" y="2807208"/>
            <a:ext cx="2072030" cy="230832"/>
          </a:xfrm>
          <a:prstGeom prst="rect">
            <a:avLst/>
          </a:prstGeom>
          <a:noFill/>
        </p:spPr>
        <p:txBody>
          <a:bodyPr wrap="square">
            <a:spAutoFit/>
          </a:bodyPr>
          <a:lstStyle/>
          <a:p>
            <a:pPr algn="ctr"/>
            <a:r>
              <a:rPr sz="900" b="0" i="1" dirty="0">
                <a:solidFill>
                  <a:srgbClr val="BFBFBF"/>
                </a:solidFill>
                <a:latin typeface="Arial"/>
              </a:rPr>
              <a:t>1–2 stops</a:t>
            </a:r>
          </a:p>
        </p:txBody>
      </p:sp>
      <p:sp>
        <p:nvSpPr>
          <p:cNvPr id="15" name="Rectangle 14"/>
          <p:cNvSpPr/>
          <p:nvPr/>
        </p:nvSpPr>
        <p:spPr>
          <a:xfrm>
            <a:off x="2629814"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02966" y="2286000"/>
            <a:ext cx="2072030" cy="201168"/>
          </a:xfrm>
          <a:prstGeom prst="rect">
            <a:avLst/>
          </a:prstGeom>
          <a:noFill/>
        </p:spPr>
        <p:txBody>
          <a:bodyPr wrap="square">
            <a:spAutoFit/>
          </a:bodyPr>
          <a:lstStyle/>
          <a:p>
            <a:pPr algn="ctr"/>
            <a:r>
              <a:rPr sz="1000" b="1" i="0">
                <a:solidFill>
                  <a:srgbClr val="002060"/>
                </a:solidFill>
                <a:latin typeface="Arial"/>
              </a:rPr>
              <a:t>Flight time</a:t>
            </a:r>
          </a:p>
        </p:txBody>
      </p:sp>
      <p:sp>
        <p:nvSpPr>
          <p:cNvPr id="17" name="TextBox 16"/>
          <p:cNvSpPr txBox="1"/>
          <p:nvPr/>
        </p:nvSpPr>
        <p:spPr>
          <a:xfrm>
            <a:off x="2702966" y="2496312"/>
            <a:ext cx="2072030" cy="292608"/>
          </a:xfrm>
          <a:prstGeom prst="rect">
            <a:avLst/>
          </a:prstGeom>
          <a:noFill/>
        </p:spPr>
        <p:txBody>
          <a:bodyPr wrap="square">
            <a:spAutoFit/>
          </a:bodyPr>
          <a:lstStyle/>
          <a:p>
            <a:pPr algn="ctr"/>
            <a:r>
              <a:rPr sz="1400" b="1" i="0">
                <a:solidFill>
                  <a:srgbClr val="262626"/>
                </a:solidFill>
                <a:latin typeface="Arial"/>
              </a:rPr>
              <a:t>~14–16h</a:t>
            </a:r>
          </a:p>
        </p:txBody>
      </p:sp>
      <p:sp>
        <p:nvSpPr>
          <p:cNvPr id="18" name="TextBox 17"/>
          <p:cNvSpPr txBox="1"/>
          <p:nvPr/>
        </p:nvSpPr>
        <p:spPr>
          <a:xfrm>
            <a:off x="2702966" y="2807208"/>
            <a:ext cx="2072030" cy="256032"/>
          </a:xfrm>
          <a:prstGeom prst="rect">
            <a:avLst/>
          </a:prstGeom>
          <a:noFill/>
        </p:spPr>
        <p:txBody>
          <a:bodyPr wrap="square">
            <a:spAutoFit/>
          </a:bodyPr>
          <a:lstStyle/>
          <a:p>
            <a:pPr algn="ctr"/>
            <a:r>
              <a:rPr sz="900" b="0" i="1">
                <a:solidFill>
                  <a:srgbClr val="BFBFBF"/>
                </a:solidFill>
                <a:latin typeface="Arial"/>
              </a:rPr>
              <a:t>Including layover</a:t>
            </a:r>
          </a:p>
        </p:txBody>
      </p:sp>
      <p:sp>
        <p:nvSpPr>
          <p:cNvPr id="19" name="Rectangle 18"/>
          <p:cNvSpPr/>
          <p:nvPr/>
        </p:nvSpPr>
        <p:spPr>
          <a:xfrm>
            <a:off x="4985308"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58460" y="2286000"/>
            <a:ext cx="2072030" cy="201168"/>
          </a:xfrm>
          <a:prstGeom prst="rect">
            <a:avLst/>
          </a:prstGeom>
          <a:noFill/>
        </p:spPr>
        <p:txBody>
          <a:bodyPr wrap="square">
            <a:spAutoFit/>
          </a:bodyPr>
          <a:lstStyle/>
          <a:p>
            <a:pPr algn="ctr"/>
            <a:r>
              <a:rPr sz="1000" b="1" i="0">
                <a:solidFill>
                  <a:srgbClr val="002060"/>
                </a:solidFill>
                <a:latin typeface="Arial"/>
              </a:rPr>
              <a:t>Time zones</a:t>
            </a:r>
          </a:p>
        </p:txBody>
      </p:sp>
      <p:sp>
        <p:nvSpPr>
          <p:cNvPr id="21" name="TextBox 20"/>
          <p:cNvSpPr txBox="1"/>
          <p:nvPr/>
        </p:nvSpPr>
        <p:spPr>
          <a:xfrm>
            <a:off x="5058460" y="2496312"/>
            <a:ext cx="2072030" cy="292608"/>
          </a:xfrm>
          <a:prstGeom prst="rect">
            <a:avLst/>
          </a:prstGeom>
          <a:noFill/>
        </p:spPr>
        <p:txBody>
          <a:bodyPr wrap="square">
            <a:spAutoFit/>
          </a:bodyPr>
          <a:lstStyle/>
          <a:p>
            <a:pPr algn="ctr"/>
            <a:r>
              <a:rPr sz="1400" b="1" i="0">
                <a:solidFill>
                  <a:srgbClr val="262626"/>
                </a:solidFill>
                <a:latin typeface="Arial"/>
              </a:rPr>
              <a:t>+8h</a:t>
            </a:r>
          </a:p>
        </p:txBody>
      </p:sp>
      <p:sp>
        <p:nvSpPr>
          <p:cNvPr id="22" name="TextBox 21"/>
          <p:cNvSpPr txBox="1"/>
          <p:nvPr/>
        </p:nvSpPr>
        <p:spPr>
          <a:xfrm>
            <a:off x="5058460" y="2807208"/>
            <a:ext cx="2072030" cy="256032"/>
          </a:xfrm>
          <a:prstGeom prst="rect">
            <a:avLst/>
          </a:prstGeom>
          <a:noFill/>
        </p:spPr>
        <p:txBody>
          <a:bodyPr wrap="square">
            <a:spAutoFit/>
          </a:bodyPr>
          <a:lstStyle/>
          <a:p>
            <a:pPr algn="ctr"/>
            <a:r>
              <a:rPr sz="900" b="0" i="1">
                <a:solidFill>
                  <a:srgbClr val="BFBFBF"/>
                </a:solidFill>
                <a:latin typeface="Arial"/>
              </a:rPr>
              <a:t>CEST ahead of MDT</a:t>
            </a:r>
          </a:p>
        </p:txBody>
      </p:sp>
      <p:sp>
        <p:nvSpPr>
          <p:cNvPr id="23" name="Rectangle 22"/>
          <p:cNvSpPr/>
          <p:nvPr/>
        </p:nvSpPr>
        <p:spPr>
          <a:xfrm>
            <a:off x="7340803"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13955" y="2286000"/>
            <a:ext cx="2072030" cy="201168"/>
          </a:xfrm>
          <a:prstGeom prst="rect">
            <a:avLst/>
          </a:prstGeom>
          <a:noFill/>
        </p:spPr>
        <p:txBody>
          <a:bodyPr wrap="square">
            <a:spAutoFit/>
          </a:bodyPr>
          <a:lstStyle/>
          <a:p>
            <a:pPr algn="ctr"/>
            <a:r>
              <a:rPr sz="1000" b="1" i="0">
                <a:solidFill>
                  <a:srgbClr val="002060"/>
                </a:solidFill>
                <a:latin typeface="Arial"/>
              </a:rPr>
              <a:t>Airport Transfer</a:t>
            </a:r>
          </a:p>
        </p:txBody>
      </p:sp>
      <p:sp>
        <p:nvSpPr>
          <p:cNvPr id="25" name="TextBox 24"/>
          <p:cNvSpPr txBox="1"/>
          <p:nvPr/>
        </p:nvSpPr>
        <p:spPr>
          <a:xfrm>
            <a:off x="7413955" y="2496312"/>
            <a:ext cx="2072030" cy="292608"/>
          </a:xfrm>
          <a:prstGeom prst="rect">
            <a:avLst/>
          </a:prstGeom>
          <a:noFill/>
        </p:spPr>
        <p:txBody>
          <a:bodyPr wrap="square">
            <a:spAutoFit/>
          </a:bodyPr>
          <a:lstStyle/>
          <a:p>
            <a:pPr algn="ctr"/>
            <a:r>
              <a:rPr sz="1400" b="1" i="0">
                <a:solidFill>
                  <a:srgbClr val="262626"/>
                </a:solidFill>
                <a:latin typeface="Arial"/>
              </a:rPr>
              <a:t>HAM → City Center</a:t>
            </a:r>
          </a:p>
        </p:txBody>
      </p:sp>
      <p:sp>
        <p:nvSpPr>
          <p:cNvPr id="26" name="TextBox 25"/>
          <p:cNvSpPr txBox="1"/>
          <p:nvPr/>
        </p:nvSpPr>
        <p:spPr>
          <a:xfrm>
            <a:off x="7413955" y="2807208"/>
            <a:ext cx="2072030" cy="256032"/>
          </a:xfrm>
          <a:prstGeom prst="rect">
            <a:avLst/>
          </a:prstGeom>
          <a:noFill/>
        </p:spPr>
        <p:txBody>
          <a:bodyPr wrap="square">
            <a:spAutoFit/>
          </a:bodyPr>
          <a:lstStyle/>
          <a:p>
            <a:pPr algn="ctr"/>
            <a:r>
              <a:rPr sz="900" b="0" i="1">
                <a:solidFill>
                  <a:srgbClr val="BFBFBF"/>
                </a:solidFill>
                <a:latin typeface="Arial"/>
              </a:rPr>
              <a:t>S-Bahn S1 ~25 min or taxi ~20 min</a:t>
            </a:r>
          </a:p>
        </p:txBody>
      </p:sp>
      <p:sp>
        <p:nvSpPr>
          <p:cNvPr id="27" name="Rectangle 26"/>
          <p:cNvSpPr/>
          <p:nvPr/>
        </p:nvSpPr>
        <p:spPr>
          <a:xfrm>
            <a:off x="9696297"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69449" y="2286000"/>
            <a:ext cx="2072030" cy="201168"/>
          </a:xfrm>
          <a:prstGeom prst="rect">
            <a:avLst/>
          </a:prstGeom>
          <a:noFill/>
        </p:spPr>
        <p:txBody>
          <a:bodyPr wrap="square">
            <a:spAutoFit/>
          </a:bodyPr>
          <a:lstStyle/>
          <a:p>
            <a:pPr algn="ctr"/>
            <a:r>
              <a:rPr sz="1000" b="1" i="0">
                <a:solidFill>
                  <a:srgbClr val="002060"/>
                </a:solidFill>
                <a:latin typeface="Arial"/>
              </a:rPr>
              <a:t>Transfer Distance</a:t>
            </a:r>
          </a:p>
        </p:txBody>
      </p:sp>
      <p:sp>
        <p:nvSpPr>
          <p:cNvPr id="29" name="TextBox 28"/>
          <p:cNvSpPr txBox="1"/>
          <p:nvPr/>
        </p:nvSpPr>
        <p:spPr>
          <a:xfrm>
            <a:off x="9769449" y="2496312"/>
            <a:ext cx="2072030" cy="292608"/>
          </a:xfrm>
          <a:prstGeom prst="rect">
            <a:avLst/>
          </a:prstGeom>
          <a:noFill/>
        </p:spPr>
        <p:txBody>
          <a:bodyPr wrap="square">
            <a:spAutoFit/>
          </a:bodyPr>
          <a:lstStyle/>
          <a:p>
            <a:pPr algn="ctr"/>
            <a:r>
              <a:rPr sz="1400" b="1" i="0">
                <a:solidFill>
                  <a:srgbClr val="262626"/>
                </a:solidFill>
                <a:latin typeface="Arial"/>
              </a:rPr>
              <a:t>~10 km</a:t>
            </a:r>
          </a:p>
        </p:txBody>
      </p:sp>
      <p:sp>
        <p:nvSpPr>
          <p:cNvPr id="30" name="TextBox 29"/>
          <p:cNvSpPr txBox="1"/>
          <p:nvPr/>
        </p:nvSpPr>
        <p:spPr>
          <a:xfrm>
            <a:off x="9769449" y="2807208"/>
            <a:ext cx="2072030" cy="256032"/>
          </a:xfrm>
          <a:prstGeom prst="rect">
            <a:avLst/>
          </a:prstGeom>
          <a:noFill/>
        </p:spPr>
        <p:txBody>
          <a:bodyPr wrap="square">
            <a:spAutoFit/>
          </a:bodyPr>
          <a:lstStyle/>
          <a:p>
            <a:pPr algn="ctr"/>
            <a:r>
              <a:rPr sz="900" b="0" i="1">
                <a:solidFill>
                  <a:srgbClr val="BFBFBF"/>
                </a:solidFill>
                <a:latin typeface="Arial"/>
              </a:rPr>
              <a:t>HAM Airport to Binnenalster</a:t>
            </a:r>
          </a:p>
        </p:txBody>
      </p:sp>
      <p:sp>
        <p:nvSpPr>
          <p:cNvPr id="31" name="Rectangle 30"/>
          <p:cNvSpPr/>
          <p:nvPr/>
        </p:nvSpPr>
        <p:spPr>
          <a:xfrm>
            <a:off x="274320" y="3291840"/>
            <a:ext cx="5669280" cy="237744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3401568"/>
            <a:ext cx="5394960" cy="292608"/>
          </a:xfrm>
          <a:prstGeom prst="rect">
            <a:avLst/>
          </a:prstGeom>
          <a:noFill/>
        </p:spPr>
        <p:txBody>
          <a:bodyPr wrap="square">
            <a:spAutoFit/>
          </a:bodyPr>
          <a:lstStyle/>
          <a:p>
            <a:pPr algn="ctr"/>
            <a:r>
              <a:rPr sz="1300" b="1" i="0">
                <a:solidFill>
                  <a:srgbClr val="002060"/>
                </a:solidFill>
                <a:latin typeface="Arial"/>
              </a:rPr>
              <a:t>Host Hotel / Official Accommodation</a:t>
            </a:r>
          </a:p>
        </p:txBody>
      </p:sp>
      <p:sp>
        <p:nvSpPr>
          <p:cNvPr id="33" name="TextBox 32"/>
          <p:cNvSpPr txBox="1"/>
          <p:nvPr/>
        </p:nvSpPr>
        <p:spPr>
          <a:xfrm>
            <a:off x="438912" y="3749040"/>
            <a:ext cx="5340096" cy="646331"/>
          </a:xfrm>
          <a:prstGeom prst="rect">
            <a:avLst/>
          </a:prstGeom>
          <a:noFill/>
        </p:spPr>
        <p:txBody>
          <a:bodyPr wrap="square">
            <a:spAutoFit/>
          </a:bodyPr>
          <a:lstStyle/>
          <a:p>
            <a:pPr algn="l"/>
            <a:r>
              <a:rPr sz="1200" b="0" i="0" dirty="0">
                <a:solidFill>
                  <a:srgbClr val="262626"/>
                </a:solidFill>
                <a:latin typeface="Arial"/>
              </a:rPr>
              <a:t>•  Historic WTCS host hotels cluster along the </a:t>
            </a:r>
            <a:r>
              <a:rPr sz="1200" b="0" i="0" dirty="0" err="1">
                <a:solidFill>
                  <a:srgbClr val="262626"/>
                </a:solidFill>
                <a:latin typeface="Arial"/>
              </a:rPr>
              <a:t>Außenalster</a:t>
            </a:r>
            <a:r>
              <a:rPr sz="1200" b="0" i="0" dirty="0">
                <a:solidFill>
                  <a:srgbClr val="262626"/>
                </a:solidFill>
                <a:latin typeface="Arial"/>
              </a:rPr>
              <a:t> and inner city: Radisson Blu, Fairmont Hotel Vier Jahreszeiten, and NH Hotels are common LOC choices.</a:t>
            </a:r>
          </a:p>
        </p:txBody>
      </p:sp>
      <p:sp>
        <p:nvSpPr>
          <p:cNvPr id="34" name="TextBox 33"/>
          <p:cNvSpPr txBox="1"/>
          <p:nvPr/>
        </p:nvSpPr>
        <p:spPr>
          <a:xfrm>
            <a:off x="438912" y="4439819"/>
            <a:ext cx="5340096" cy="461665"/>
          </a:xfrm>
          <a:prstGeom prst="rect">
            <a:avLst/>
          </a:prstGeom>
          <a:noFill/>
        </p:spPr>
        <p:txBody>
          <a:bodyPr wrap="square">
            <a:spAutoFit/>
          </a:bodyPr>
          <a:lstStyle/>
          <a:p>
            <a:pPr algn="l"/>
            <a:r>
              <a:rPr sz="1200" b="0" i="0" dirty="0">
                <a:solidFill>
                  <a:srgbClr val="262626"/>
                </a:solidFill>
                <a:latin typeface="Arial"/>
              </a:rPr>
              <a:t>•  </a:t>
            </a:r>
            <a:r>
              <a:rPr sz="1200" b="0" i="0" dirty="0" err="1">
                <a:solidFill>
                  <a:srgbClr val="262626"/>
                </a:solidFill>
                <a:latin typeface="Arial"/>
              </a:rPr>
              <a:t>Binnenalster</a:t>
            </a:r>
            <a:r>
              <a:rPr sz="1200" b="0" i="0" dirty="0">
                <a:solidFill>
                  <a:srgbClr val="262626"/>
                </a:solidFill>
                <a:latin typeface="Arial"/>
              </a:rPr>
              <a:t> / </a:t>
            </a:r>
            <a:r>
              <a:rPr sz="1200" b="0" i="0" dirty="0" err="1">
                <a:solidFill>
                  <a:srgbClr val="262626"/>
                </a:solidFill>
                <a:latin typeface="Arial"/>
              </a:rPr>
              <a:t>Rathausmarkt</a:t>
            </a:r>
            <a:r>
              <a:rPr sz="1200" b="0" i="0" dirty="0">
                <a:solidFill>
                  <a:srgbClr val="262626"/>
                </a:solidFill>
                <a:latin typeface="Arial"/>
              </a:rPr>
              <a:t> area gives walking distance to transition</a:t>
            </a:r>
            <a:r>
              <a:rPr lang="en-US" sz="1200" b="0" i="0" dirty="0">
                <a:solidFill>
                  <a:srgbClr val="262626"/>
                </a:solidFill>
                <a:latin typeface="Arial"/>
              </a:rPr>
              <a:t>. </a:t>
            </a:r>
            <a:r>
              <a:rPr lang="en-US" sz="1200" dirty="0">
                <a:solidFill>
                  <a:srgbClr val="262626"/>
                </a:solidFill>
                <a:latin typeface="Arial"/>
              </a:rPr>
              <a:t>N</a:t>
            </a:r>
            <a:r>
              <a:rPr sz="1200" b="0" i="0" dirty="0">
                <a:solidFill>
                  <a:srgbClr val="262626"/>
                </a:solidFill>
                <a:latin typeface="Arial"/>
              </a:rPr>
              <a:t>o shuttle needed for pre-race check-in or familiarization.</a:t>
            </a:r>
          </a:p>
        </p:txBody>
      </p:sp>
      <p:sp>
        <p:nvSpPr>
          <p:cNvPr id="35" name="TextBox 34"/>
          <p:cNvSpPr txBox="1"/>
          <p:nvPr/>
        </p:nvSpPr>
        <p:spPr>
          <a:xfrm>
            <a:off x="438912" y="4945932"/>
            <a:ext cx="5340096" cy="461665"/>
          </a:xfrm>
          <a:prstGeom prst="rect">
            <a:avLst/>
          </a:prstGeom>
          <a:noFill/>
        </p:spPr>
        <p:txBody>
          <a:bodyPr wrap="square">
            <a:spAutoFit/>
          </a:bodyPr>
          <a:lstStyle/>
          <a:p>
            <a:pPr algn="l"/>
            <a:r>
              <a:rPr sz="1200" b="0" i="0" dirty="0">
                <a:solidFill>
                  <a:srgbClr val="262626"/>
                </a:solidFill>
                <a:latin typeface="Arial"/>
              </a:rPr>
              <a:t>•  City </a:t>
            </a:r>
            <a:r>
              <a:rPr sz="1200" b="0" i="0" dirty="0" err="1">
                <a:solidFill>
                  <a:srgbClr val="262626"/>
                </a:solidFill>
                <a:latin typeface="Arial"/>
              </a:rPr>
              <a:t>centre</a:t>
            </a:r>
            <a:r>
              <a:rPr sz="1200" b="0" i="0" dirty="0">
                <a:solidFill>
                  <a:srgbClr val="262626"/>
                </a:solidFill>
                <a:latin typeface="Arial"/>
              </a:rPr>
              <a:t> parking is limited and expensive</a:t>
            </a:r>
            <a:r>
              <a:rPr lang="en-US" sz="1200" b="0" i="0" dirty="0">
                <a:solidFill>
                  <a:srgbClr val="262626"/>
                </a:solidFill>
                <a:latin typeface="Arial"/>
              </a:rPr>
              <a:t>. </a:t>
            </a:r>
            <a:r>
              <a:rPr sz="1200" b="0" i="0" dirty="0">
                <a:solidFill>
                  <a:srgbClr val="262626"/>
                </a:solidFill>
                <a:latin typeface="Arial"/>
              </a:rPr>
              <a:t>most athletes walk or use S-Bahn from the hotel to the venue.</a:t>
            </a:r>
          </a:p>
        </p:txBody>
      </p:sp>
      <p:sp>
        <p:nvSpPr>
          <p:cNvPr id="37" name="Rectangle 36"/>
          <p:cNvSpPr/>
          <p:nvPr/>
        </p:nvSpPr>
        <p:spPr>
          <a:xfrm>
            <a:off x="6217920" y="3291840"/>
            <a:ext cx="5669280" cy="237744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55080" y="3401568"/>
            <a:ext cx="5394960" cy="292608"/>
          </a:xfrm>
          <a:prstGeom prst="rect">
            <a:avLst/>
          </a:prstGeom>
          <a:noFill/>
        </p:spPr>
        <p:txBody>
          <a:bodyPr wrap="square">
            <a:spAutoFit/>
          </a:bodyPr>
          <a:lstStyle/>
          <a:p>
            <a:pPr algn="ctr"/>
            <a:r>
              <a:rPr sz="1300" b="1" i="0">
                <a:solidFill>
                  <a:srgbClr val="002060"/>
                </a:solidFill>
                <a:latin typeface="Arial"/>
              </a:rPr>
              <a:t>Food / Grocery Options Near Hotel + Venue</a:t>
            </a:r>
          </a:p>
        </p:txBody>
      </p:sp>
      <p:sp>
        <p:nvSpPr>
          <p:cNvPr id="39" name="TextBox 38"/>
          <p:cNvSpPr txBox="1"/>
          <p:nvPr/>
        </p:nvSpPr>
        <p:spPr>
          <a:xfrm>
            <a:off x="6382512" y="3749040"/>
            <a:ext cx="5340096" cy="646331"/>
          </a:xfrm>
          <a:prstGeom prst="rect">
            <a:avLst/>
          </a:prstGeom>
          <a:noFill/>
        </p:spPr>
        <p:txBody>
          <a:bodyPr wrap="square">
            <a:spAutoFit/>
          </a:bodyPr>
          <a:lstStyle/>
          <a:p>
            <a:pPr algn="l"/>
            <a:r>
              <a:rPr sz="1200" b="0" i="0" dirty="0">
                <a:solidFill>
                  <a:srgbClr val="262626"/>
                </a:solidFill>
                <a:latin typeface="Arial"/>
              </a:rPr>
              <a:t>•  Best stock-up: REWE, Edeka, or Aldi branches within 10 min walk of the </a:t>
            </a:r>
            <a:r>
              <a:rPr sz="1200" b="0" i="0" dirty="0" err="1">
                <a:solidFill>
                  <a:srgbClr val="262626"/>
                </a:solidFill>
                <a:latin typeface="Arial"/>
              </a:rPr>
              <a:t>Binnenalster</a:t>
            </a:r>
            <a:r>
              <a:rPr sz="1200" b="0" i="0" dirty="0">
                <a:solidFill>
                  <a:srgbClr val="262626"/>
                </a:solidFill>
                <a:latin typeface="Arial"/>
              </a:rPr>
              <a:t> area; Hamburger Str / </a:t>
            </a:r>
            <a:r>
              <a:rPr sz="1200" b="0" i="0" dirty="0" err="1">
                <a:solidFill>
                  <a:srgbClr val="262626"/>
                </a:solidFill>
                <a:latin typeface="Arial"/>
              </a:rPr>
              <a:t>Mönckebergstraße</a:t>
            </a:r>
            <a:r>
              <a:rPr sz="1200" b="0" i="0" dirty="0">
                <a:solidFill>
                  <a:srgbClr val="262626"/>
                </a:solidFill>
                <a:latin typeface="Arial"/>
              </a:rPr>
              <a:t> corridor has most options.</a:t>
            </a:r>
          </a:p>
        </p:txBody>
      </p:sp>
      <p:sp>
        <p:nvSpPr>
          <p:cNvPr id="40" name="TextBox 39"/>
          <p:cNvSpPr txBox="1"/>
          <p:nvPr/>
        </p:nvSpPr>
        <p:spPr>
          <a:xfrm>
            <a:off x="6382512" y="4454197"/>
            <a:ext cx="5340096" cy="461665"/>
          </a:xfrm>
          <a:prstGeom prst="rect">
            <a:avLst/>
          </a:prstGeom>
          <a:noFill/>
        </p:spPr>
        <p:txBody>
          <a:bodyPr wrap="square">
            <a:spAutoFit/>
          </a:bodyPr>
          <a:lstStyle/>
          <a:p>
            <a:pPr algn="l"/>
            <a:r>
              <a:rPr sz="1200" b="0" i="0" dirty="0">
                <a:solidFill>
                  <a:srgbClr val="262626"/>
                </a:solidFill>
                <a:latin typeface="Arial"/>
              </a:rPr>
              <a:t>•  Quick basics: </a:t>
            </a:r>
            <a:r>
              <a:rPr lang="en-US" sz="1200" b="0" i="0" dirty="0">
                <a:solidFill>
                  <a:srgbClr val="262626"/>
                </a:solidFill>
                <a:latin typeface="Arial"/>
              </a:rPr>
              <a:t>dm (pharmacy), </a:t>
            </a:r>
            <a:r>
              <a:rPr sz="1200" b="0" i="0" dirty="0">
                <a:solidFill>
                  <a:srgbClr val="262626"/>
                </a:solidFill>
                <a:latin typeface="Arial"/>
              </a:rPr>
              <a:t>Starbucks, </a:t>
            </a:r>
            <a:r>
              <a:rPr sz="1200" b="0" i="0" dirty="0" err="1">
                <a:solidFill>
                  <a:srgbClr val="262626"/>
                </a:solidFill>
                <a:latin typeface="Arial"/>
              </a:rPr>
              <a:t>Backwerk</a:t>
            </a:r>
            <a:r>
              <a:rPr sz="1200" b="0" i="0" dirty="0">
                <a:solidFill>
                  <a:srgbClr val="262626"/>
                </a:solidFill>
                <a:latin typeface="Arial"/>
              </a:rPr>
              <a:t>, and bakeries throughout the </a:t>
            </a:r>
            <a:r>
              <a:rPr sz="1200" b="0" i="0" dirty="0" err="1">
                <a:solidFill>
                  <a:srgbClr val="262626"/>
                </a:solidFill>
                <a:latin typeface="Arial"/>
              </a:rPr>
              <a:t>Rathausmarkt</a:t>
            </a:r>
            <a:r>
              <a:rPr sz="1200" b="0" i="0" dirty="0">
                <a:solidFill>
                  <a:srgbClr val="262626"/>
                </a:solidFill>
                <a:latin typeface="Arial"/>
              </a:rPr>
              <a:t> pedestrian zone.</a:t>
            </a:r>
          </a:p>
        </p:txBody>
      </p:sp>
      <p:sp>
        <p:nvSpPr>
          <p:cNvPr id="41" name="TextBox 40"/>
          <p:cNvSpPr txBox="1"/>
          <p:nvPr/>
        </p:nvSpPr>
        <p:spPr>
          <a:xfrm>
            <a:off x="6382512" y="4974687"/>
            <a:ext cx="5340096" cy="461665"/>
          </a:xfrm>
          <a:prstGeom prst="rect">
            <a:avLst/>
          </a:prstGeom>
          <a:noFill/>
        </p:spPr>
        <p:txBody>
          <a:bodyPr wrap="square">
            <a:spAutoFit/>
          </a:bodyPr>
          <a:lstStyle/>
          <a:p>
            <a:pPr algn="l"/>
            <a:r>
              <a:rPr sz="1200" b="0" i="0" dirty="0">
                <a:solidFill>
                  <a:srgbClr val="262626"/>
                </a:solidFill>
                <a:latin typeface="Arial"/>
              </a:rPr>
              <a:t>•  Athlete-friendly meals: Zum </a:t>
            </a:r>
            <a:r>
              <a:rPr sz="1200" b="0" i="0" dirty="0" err="1">
                <a:solidFill>
                  <a:srgbClr val="262626"/>
                </a:solidFill>
                <a:latin typeface="Arial"/>
              </a:rPr>
              <a:t>Alten</a:t>
            </a:r>
            <a:r>
              <a:rPr sz="1200" b="0" i="0" dirty="0">
                <a:solidFill>
                  <a:srgbClr val="262626"/>
                </a:solidFill>
                <a:latin typeface="Arial"/>
              </a:rPr>
              <a:t> Rathaus, Block House (Hamburg chain</a:t>
            </a:r>
            <a:r>
              <a:rPr lang="en-US" sz="1200" b="0" i="0" dirty="0">
                <a:solidFill>
                  <a:srgbClr val="262626"/>
                </a:solidFill>
                <a:latin typeface="Arial"/>
              </a:rPr>
              <a:t>)</a:t>
            </a:r>
            <a:r>
              <a:rPr sz="1200" b="0" i="0" dirty="0">
                <a:solidFill>
                  <a:srgbClr val="262626"/>
                </a:solidFill>
                <a:latin typeface="Arial"/>
              </a:rPr>
              <a:t>, and </a:t>
            </a:r>
            <a:r>
              <a:rPr sz="1200" b="0" i="0" dirty="0" err="1">
                <a:solidFill>
                  <a:srgbClr val="262626"/>
                </a:solidFill>
                <a:latin typeface="Arial"/>
              </a:rPr>
              <a:t>Superkitchen</a:t>
            </a:r>
            <a:r>
              <a:rPr sz="1200" b="0" i="0" dirty="0">
                <a:solidFill>
                  <a:srgbClr val="262626"/>
                </a:solidFill>
                <a:latin typeface="Arial"/>
              </a:rPr>
              <a:t> near the Alster area.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274320" y="1088134"/>
            <a:ext cx="8961118" cy="256034"/>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0" name="TextBox 9"/>
          <p:cNvSpPr txBox="1"/>
          <p:nvPr/>
        </p:nvSpPr>
        <p:spPr>
          <a:xfrm>
            <a:off x="320040" y="1088135"/>
            <a:ext cx="8915398" cy="238527"/>
          </a:xfrm>
          <a:prstGeom prst="rect">
            <a:avLst/>
          </a:prstGeom>
          <a:noFill/>
        </p:spPr>
        <p:txBody>
          <a:bodyPr wrap="square">
            <a:spAutoFit/>
          </a:bodyPr>
          <a:lstStyle/>
          <a:p>
            <a:pPr algn="l"/>
            <a:r>
              <a:rPr sz="950" b="1" i="0" dirty="0">
                <a:solidFill>
                  <a:schemeClr val="bg1"/>
                </a:solidFill>
                <a:latin typeface="Arial"/>
              </a:rPr>
              <a:t>RACE-DAY WEATHER (08:00–11:00 local)</a:t>
            </a:r>
          </a:p>
        </p:txBody>
      </p:sp>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Environmental Risk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1928602422"/>
              </p:ext>
            </p:extLst>
          </p:nvPr>
        </p:nvGraphicFramePr>
        <p:xfrm>
          <a:off x="274320" y="1429227"/>
          <a:ext cx="4709158" cy="2590800"/>
        </p:xfrm>
        <a:graphic>
          <a:graphicData uri="http://schemas.openxmlformats.org/drawingml/2006/table">
            <a:tbl>
              <a:tblPr firstRow="1" bandRow="1">
                <a:tableStyleId>{5C22544A-7EE6-4342-B048-85BDC9FD1C3A}</a:tableStyleId>
              </a:tblPr>
              <a:tblGrid>
                <a:gridCol w="612190">
                  <a:extLst>
                    <a:ext uri="{9D8B030D-6E8A-4147-A177-3AD203B41FA5}">
                      <a16:colId xmlns:a16="http://schemas.microsoft.com/office/drawing/2014/main" val="20000"/>
                    </a:ext>
                  </a:extLst>
                </a:gridCol>
                <a:gridCol w="800557">
                  <a:extLst>
                    <a:ext uri="{9D8B030D-6E8A-4147-A177-3AD203B41FA5}">
                      <a16:colId xmlns:a16="http://schemas.microsoft.com/office/drawing/2014/main" val="20001"/>
                    </a:ext>
                  </a:extLst>
                </a:gridCol>
                <a:gridCol w="894740">
                  <a:extLst>
                    <a:ext uri="{9D8B030D-6E8A-4147-A177-3AD203B41FA5}">
                      <a16:colId xmlns:a16="http://schemas.microsoft.com/office/drawing/2014/main" val="20002"/>
                    </a:ext>
                  </a:extLst>
                </a:gridCol>
                <a:gridCol w="800557">
                  <a:extLst>
                    <a:ext uri="{9D8B030D-6E8A-4147-A177-3AD203B41FA5}">
                      <a16:colId xmlns:a16="http://schemas.microsoft.com/office/drawing/2014/main" val="20003"/>
                    </a:ext>
                  </a:extLst>
                </a:gridCol>
                <a:gridCol w="800557">
                  <a:extLst>
                    <a:ext uri="{9D8B030D-6E8A-4147-A177-3AD203B41FA5}">
                      <a16:colId xmlns:a16="http://schemas.microsoft.com/office/drawing/2014/main" val="20004"/>
                    </a:ext>
                  </a:extLst>
                </a:gridCol>
                <a:gridCol w="800557">
                  <a:extLst>
                    <a:ext uri="{9D8B030D-6E8A-4147-A177-3AD203B41FA5}">
                      <a16:colId xmlns:a16="http://schemas.microsoft.com/office/drawing/2014/main" val="20005"/>
                    </a:ext>
                  </a:extLst>
                </a:gridCol>
              </a:tblGrid>
              <a:tr h="274320">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Date</a:t>
                      </a:r>
                    </a:p>
                  </a:txBody>
                  <a:tcPr>
                    <a:solidFill>
                      <a:srgbClr val="002060"/>
                    </a:solidFill>
                  </a:tcPr>
                </a:tc>
                <a:tc>
                  <a:txBody>
                    <a:bodyPr/>
                    <a:lstStyle/>
                    <a:p>
                      <a:pPr algn="ctr"/>
                      <a:r>
                        <a:rPr sz="1000" b="1" i="0">
                          <a:solidFill>
                            <a:srgbClr val="FFFFFF"/>
                          </a:solidFill>
                          <a:latin typeface="Arial"/>
                        </a:rPr>
                        <a:t>Air Temp</a:t>
                      </a:r>
                    </a:p>
                  </a:txBody>
                  <a:tcPr>
                    <a:solidFill>
                      <a:srgbClr val="002060"/>
                    </a:solidFill>
                  </a:tcPr>
                </a:tc>
                <a:tc>
                  <a:txBody>
                    <a:bodyPr/>
                    <a:lstStyle/>
                    <a:p>
                      <a:pPr algn="ctr"/>
                      <a:r>
                        <a:rPr sz="1000" b="1" i="0">
                          <a:solidFill>
                            <a:srgbClr val="FFFFFF"/>
                          </a:solidFill>
                          <a:latin typeface="Arial"/>
                        </a:rPr>
                        <a:t>Humidity</a:t>
                      </a:r>
                    </a:p>
                  </a:txBody>
                  <a:tcPr>
                    <a:solidFill>
                      <a:srgbClr val="002060"/>
                    </a:solidFill>
                  </a:tcPr>
                </a:tc>
                <a:tc>
                  <a:txBody>
                    <a:bodyPr/>
                    <a:lstStyle/>
                    <a:p>
                      <a:pPr algn="ctr"/>
                      <a:r>
                        <a:rPr sz="1000" b="1" i="0">
                          <a:solidFill>
                            <a:srgbClr val="FFFFFF"/>
                          </a:solidFill>
                          <a:latin typeface="Arial"/>
                        </a:rPr>
                        <a:t>Wind km/h</a:t>
                      </a:r>
                    </a:p>
                  </a:txBody>
                  <a:tcPr>
                    <a:solidFill>
                      <a:srgbClr val="002060"/>
                    </a:solidFill>
                  </a:tcPr>
                </a:tc>
                <a:tc>
                  <a:txBody>
                    <a:bodyPr/>
                    <a:lstStyle/>
                    <a:p>
                      <a:pPr algn="ctr"/>
                      <a:r>
                        <a:rPr sz="1000" b="1" i="0">
                          <a:solidFill>
                            <a:srgbClr val="FFFFFF"/>
                          </a:solidFill>
                          <a:latin typeface="Arial"/>
                        </a:rPr>
                        <a:t>Precip mm</a:t>
                      </a:r>
                    </a:p>
                  </a:txBody>
                  <a:tcPr>
                    <a:solidFill>
                      <a:srgbClr val="002060"/>
                    </a:solidFill>
                  </a:tcPr>
                </a:tc>
                <a:extLst>
                  <a:ext uri="{0D108BD9-81ED-4DB2-BD59-A6C34878D82A}">
                    <a16:rowId xmlns:a16="http://schemas.microsoft.com/office/drawing/2014/main" val="10000"/>
                  </a:ext>
                </a:extLst>
              </a:tr>
              <a:tr h="274320">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Jul 14</a:t>
                      </a:r>
                    </a:p>
                  </a:txBody>
                  <a:tcPr>
                    <a:solidFill>
                      <a:srgbClr val="FFFFFF"/>
                    </a:solidFill>
                  </a:tcPr>
                </a:tc>
                <a:tc>
                  <a:txBody>
                    <a:bodyPr/>
                    <a:lstStyle/>
                    <a:p>
                      <a:pPr algn="ctr"/>
                      <a:r>
                        <a:rPr sz="1000" b="0" i="0">
                          <a:solidFill>
                            <a:srgbClr val="262626"/>
                          </a:solidFill>
                          <a:latin typeface="Arial"/>
                        </a:rPr>
                        <a:t>21</a:t>
                      </a:r>
                    </a:p>
                  </a:txBody>
                  <a:tcPr>
                    <a:solidFill>
                      <a:srgbClr val="FFFFFF"/>
                    </a:solidFill>
                  </a:tcPr>
                </a:tc>
                <a:tc>
                  <a:txBody>
                    <a:bodyPr/>
                    <a:lstStyle/>
                    <a:p>
                      <a:pPr algn="ctr"/>
                      <a:r>
                        <a:rPr sz="1000" b="0" i="0">
                          <a:solidFill>
                            <a:srgbClr val="262626"/>
                          </a:solidFill>
                          <a:latin typeface="Arial"/>
                        </a:rPr>
                        <a:t>67%</a:t>
                      </a:r>
                    </a:p>
                  </a:txBody>
                  <a:tcPr>
                    <a:solidFill>
                      <a:srgbClr val="FFFFFF"/>
                    </a:solidFill>
                  </a:tcPr>
                </a:tc>
                <a:tc>
                  <a:txBody>
                    <a:bodyPr/>
                    <a:lstStyle/>
                    <a:p>
                      <a:pPr algn="ctr"/>
                      <a:r>
                        <a:rPr sz="1000" b="0" i="0">
                          <a:solidFill>
                            <a:srgbClr val="262626"/>
                          </a:solidFill>
                          <a:latin typeface="Arial"/>
                        </a:rPr>
                        <a:t>11</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extLst>
                  <a:ext uri="{0D108BD9-81ED-4DB2-BD59-A6C34878D82A}">
                    <a16:rowId xmlns:a16="http://schemas.microsoft.com/office/drawing/2014/main" val="10001"/>
                  </a:ext>
                </a:extLst>
              </a:tr>
              <a:tr h="274320">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Jul 06</a:t>
                      </a:r>
                    </a:p>
                  </a:txBody>
                  <a:tcPr>
                    <a:solidFill>
                      <a:srgbClr val="F2F2F2"/>
                    </a:solidFill>
                  </a:tcPr>
                </a:tc>
                <a:tc>
                  <a:txBody>
                    <a:bodyPr/>
                    <a:lstStyle/>
                    <a:p>
                      <a:pPr algn="ctr"/>
                      <a:r>
                        <a:rPr sz="1000" b="0" i="0">
                          <a:solidFill>
                            <a:srgbClr val="262626"/>
                          </a:solidFill>
                          <a:latin typeface="Arial"/>
                        </a:rPr>
                        <a:t>15.0°*</a:t>
                      </a:r>
                    </a:p>
                  </a:txBody>
                  <a:tcPr>
                    <a:solidFill>
                      <a:srgbClr val="F2F2F2"/>
                    </a:solidFill>
                  </a:tcPr>
                </a:tc>
                <a:tc>
                  <a:txBody>
                    <a:bodyPr/>
                    <a:lstStyle/>
                    <a:p>
                      <a:pPr algn="ctr"/>
                      <a:r>
                        <a:rPr sz="1000" b="0" i="0">
                          <a:solidFill>
                            <a:srgbClr val="262626"/>
                          </a:solidFill>
                          <a:latin typeface="Arial"/>
                        </a:rPr>
                        <a:t>87%</a:t>
                      </a:r>
                    </a:p>
                  </a:txBody>
                  <a:tcPr>
                    <a:solidFill>
                      <a:srgbClr val="F2F2F2"/>
                    </a:solidFill>
                  </a:tcPr>
                </a:tc>
                <a:tc>
                  <a:txBody>
                    <a:bodyPr/>
                    <a:lstStyle/>
                    <a:p>
                      <a:pPr algn="ctr"/>
                      <a:r>
                        <a:rPr sz="1000" b="0" i="0">
                          <a:solidFill>
                            <a:srgbClr val="262626"/>
                          </a:solidFill>
                          <a:latin typeface="Arial"/>
                        </a:rPr>
                        <a:t>16</a:t>
                      </a:r>
                    </a:p>
                  </a:txBody>
                  <a:tcPr>
                    <a:solidFill>
                      <a:srgbClr val="F2F2F2"/>
                    </a:solidFill>
                  </a:tcPr>
                </a:tc>
                <a:tc>
                  <a:txBody>
                    <a:bodyPr/>
                    <a:lstStyle/>
                    <a:p>
                      <a:pPr algn="ctr"/>
                      <a:r>
                        <a:rPr sz="1000" b="0" i="0">
                          <a:solidFill>
                            <a:srgbClr val="262626"/>
                          </a:solidFill>
                          <a:latin typeface="Arial"/>
                        </a:rPr>
                        <a:t>1.1</a:t>
                      </a:r>
                    </a:p>
                  </a:txBody>
                  <a:tcPr>
                    <a:solidFill>
                      <a:srgbClr val="F2F2F2"/>
                    </a:solidFill>
                  </a:tcPr>
                </a:tc>
                <a:extLst>
                  <a:ext uri="{0D108BD9-81ED-4DB2-BD59-A6C34878D82A}">
                    <a16:rowId xmlns:a16="http://schemas.microsoft.com/office/drawing/2014/main" val="10002"/>
                  </a:ext>
                </a:extLst>
              </a:tr>
              <a:tr h="274320">
                <a:tc>
                  <a:txBody>
                    <a:bodyPr/>
                    <a:lstStyle/>
                    <a:p>
                      <a:pPr algn="ctr"/>
                      <a:r>
                        <a:rPr sz="1000" b="0" i="0">
                          <a:solidFill>
                            <a:srgbClr val="262626"/>
                          </a:solidFill>
                          <a:latin typeface="Arial"/>
                        </a:rPr>
                        <a:t>2020</a:t>
                      </a:r>
                    </a:p>
                  </a:txBody>
                  <a:tcPr>
                    <a:solidFill>
                      <a:srgbClr val="FFFFFF"/>
                    </a:solidFill>
                  </a:tcPr>
                </a:tc>
                <a:tc>
                  <a:txBody>
                    <a:bodyPr/>
                    <a:lstStyle/>
                    <a:p>
                      <a:pPr algn="ctr"/>
                      <a:r>
                        <a:rPr sz="1000" b="0" i="0">
                          <a:solidFill>
                            <a:srgbClr val="262626"/>
                          </a:solidFill>
                          <a:latin typeface="Arial"/>
                        </a:rPr>
                        <a:t>Sep 05</a:t>
                      </a:r>
                    </a:p>
                  </a:txBody>
                  <a:tcPr>
                    <a:solidFill>
                      <a:srgbClr val="FFFFFF"/>
                    </a:solidFill>
                  </a:tcPr>
                </a:tc>
                <a:tc>
                  <a:txBody>
                    <a:bodyPr/>
                    <a:lstStyle/>
                    <a:p>
                      <a:pPr algn="ctr"/>
                      <a:r>
                        <a:rPr sz="1000" b="0" i="0">
                          <a:solidFill>
                            <a:srgbClr val="262626"/>
                          </a:solidFill>
                          <a:latin typeface="Arial"/>
                        </a:rPr>
                        <a:t>13.8°*</a:t>
                      </a:r>
                    </a:p>
                  </a:txBody>
                  <a:tcPr>
                    <a:solidFill>
                      <a:srgbClr val="FFFFFF"/>
                    </a:solidFill>
                  </a:tcPr>
                </a:tc>
                <a:tc>
                  <a:txBody>
                    <a:bodyPr/>
                    <a:lstStyle/>
                    <a:p>
                      <a:pPr algn="ctr"/>
                      <a:r>
                        <a:rPr sz="1000" b="0" i="0">
                          <a:solidFill>
                            <a:srgbClr val="262626"/>
                          </a:solidFill>
                          <a:latin typeface="Arial"/>
                        </a:rPr>
                        <a:t>94%</a:t>
                      </a:r>
                    </a:p>
                  </a:txBody>
                  <a:tcPr>
                    <a:solidFill>
                      <a:srgbClr val="FFFFFF"/>
                    </a:solidFill>
                  </a:tcPr>
                </a:tc>
                <a:tc>
                  <a:txBody>
                    <a:bodyPr/>
                    <a:lstStyle/>
                    <a:p>
                      <a:pPr algn="ctr"/>
                      <a:r>
                        <a:rPr sz="1000" b="0" i="0">
                          <a:solidFill>
                            <a:srgbClr val="262626"/>
                          </a:solidFill>
                          <a:latin typeface="Arial"/>
                        </a:rPr>
                        <a:t>14</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274320">
                <a:tc>
                  <a:txBody>
                    <a:bodyPr/>
                    <a:lstStyle/>
                    <a:p>
                      <a:pPr algn="ctr"/>
                      <a:r>
                        <a:rPr sz="1000" b="0" i="0">
                          <a:solidFill>
                            <a:srgbClr val="262626"/>
                          </a:solidFill>
                          <a:latin typeface="Arial"/>
                        </a:rPr>
                        <a:t>2021</a:t>
                      </a:r>
                    </a:p>
                  </a:txBody>
                  <a:tcPr>
                    <a:solidFill>
                      <a:srgbClr val="F2F2F2"/>
                    </a:solidFill>
                  </a:tcPr>
                </a:tc>
                <a:tc>
                  <a:txBody>
                    <a:bodyPr/>
                    <a:lstStyle/>
                    <a:p>
                      <a:pPr algn="ctr"/>
                      <a:r>
                        <a:rPr sz="1000" b="0" i="0">
                          <a:solidFill>
                            <a:srgbClr val="262626"/>
                          </a:solidFill>
                          <a:latin typeface="Arial"/>
                        </a:rPr>
                        <a:t>Sep 18</a:t>
                      </a:r>
                    </a:p>
                  </a:txBody>
                  <a:tcPr>
                    <a:solidFill>
                      <a:srgbClr val="F2F2F2"/>
                    </a:solidFill>
                  </a:tcPr>
                </a:tc>
                <a:tc>
                  <a:txBody>
                    <a:bodyPr/>
                    <a:lstStyle/>
                    <a:p>
                      <a:pPr algn="ctr"/>
                      <a:r>
                        <a:rPr sz="1000" b="0" i="0">
                          <a:solidFill>
                            <a:srgbClr val="262626"/>
                          </a:solidFill>
                          <a:latin typeface="Arial"/>
                        </a:rPr>
                        <a:t>15.5°*</a:t>
                      </a:r>
                    </a:p>
                  </a:txBody>
                  <a:tcPr>
                    <a:solidFill>
                      <a:srgbClr val="F2F2F2"/>
                    </a:solidFill>
                  </a:tcPr>
                </a:tc>
                <a:tc>
                  <a:txBody>
                    <a:bodyPr/>
                    <a:lstStyle/>
                    <a:p>
                      <a:pPr algn="ctr"/>
                      <a:r>
                        <a:rPr sz="1000" b="0" i="0">
                          <a:solidFill>
                            <a:srgbClr val="262626"/>
                          </a:solidFill>
                          <a:latin typeface="Arial"/>
                        </a:rPr>
                        <a:t>84%</a:t>
                      </a:r>
                    </a:p>
                  </a:txBody>
                  <a:tcPr>
                    <a:solidFill>
                      <a:srgbClr val="F2F2F2"/>
                    </a:solidFill>
                  </a:tcPr>
                </a:tc>
                <a:tc>
                  <a:txBody>
                    <a:bodyPr/>
                    <a:lstStyle/>
                    <a:p>
                      <a:pPr algn="ctr"/>
                      <a:r>
                        <a:rPr sz="1000" b="0" i="0">
                          <a:solidFill>
                            <a:srgbClr val="262626"/>
                          </a:solidFill>
                          <a:latin typeface="Arial"/>
                        </a:rPr>
                        <a:t>10</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extLst>
                  <a:ext uri="{0D108BD9-81ED-4DB2-BD59-A6C34878D82A}">
                    <a16:rowId xmlns:a16="http://schemas.microsoft.com/office/drawing/2014/main" val="10004"/>
                  </a:ext>
                </a:extLst>
              </a:tr>
              <a:tr h="274320">
                <a:tc>
                  <a:txBody>
                    <a:bodyPr/>
                    <a:lstStyle/>
                    <a:p>
                      <a:pPr algn="ctr"/>
                      <a:r>
                        <a:rPr sz="1000" b="0" i="0">
                          <a:solidFill>
                            <a:srgbClr val="262626"/>
                          </a:solidFill>
                          <a:latin typeface="Arial"/>
                        </a:rPr>
                        <a:t>2022</a:t>
                      </a:r>
                    </a:p>
                  </a:txBody>
                  <a:tcPr>
                    <a:solidFill>
                      <a:srgbClr val="FFFFFF"/>
                    </a:solidFill>
                  </a:tcPr>
                </a:tc>
                <a:tc>
                  <a:txBody>
                    <a:bodyPr/>
                    <a:lstStyle/>
                    <a:p>
                      <a:pPr algn="ctr"/>
                      <a:r>
                        <a:rPr sz="1000" b="0" i="0">
                          <a:solidFill>
                            <a:srgbClr val="262626"/>
                          </a:solidFill>
                          <a:latin typeface="Arial"/>
                        </a:rPr>
                        <a:t>Jul 09</a:t>
                      </a:r>
                    </a:p>
                  </a:txBody>
                  <a:tcPr>
                    <a:solidFill>
                      <a:srgbClr val="FFFFFF"/>
                    </a:solidFill>
                  </a:tcPr>
                </a:tc>
                <a:tc>
                  <a:txBody>
                    <a:bodyPr/>
                    <a:lstStyle/>
                    <a:p>
                      <a:pPr algn="ctr"/>
                      <a:r>
                        <a:rPr sz="1000" b="0" i="0">
                          <a:solidFill>
                            <a:srgbClr val="262626"/>
                          </a:solidFill>
                          <a:latin typeface="Arial"/>
                        </a:rPr>
                        <a:t>23.4</a:t>
                      </a:r>
                    </a:p>
                  </a:txBody>
                  <a:tcPr>
                    <a:solidFill>
                      <a:srgbClr val="FFFFFF"/>
                    </a:solidFill>
                  </a:tcPr>
                </a:tc>
                <a:tc>
                  <a:txBody>
                    <a:bodyPr/>
                    <a:lstStyle/>
                    <a:p>
                      <a:pPr algn="ctr"/>
                      <a:r>
                        <a:rPr sz="1000" b="0" i="0">
                          <a:solidFill>
                            <a:srgbClr val="262626"/>
                          </a:solidFill>
                          <a:latin typeface="Arial"/>
                        </a:rPr>
                        <a:t>81%</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0.1</a:t>
                      </a:r>
                    </a:p>
                  </a:txBody>
                  <a:tcPr>
                    <a:solidFill>
                      <a:srgbClr val="FFFFFF"/>
                    </a:solidFill>
                  </a:tcPr>
                </a:tc>
                <a:extLst>
                  <a:ext uri="{0D108BD9-81ED-4DB2-BD59-A6C34878D82A}">
                    <a16:rowId xmlns:a16="http://schemas.microsoft.com/office/drawing/2014/main" val="10005"/>
                  </a:ext>
                </a:extLst>
              </a:tr>
              <a:tr h="274320">
                <a:tc>
                  <a:txBody>
                    <a:bodyPr/>
                    <a:lstStyle/>
                    <a:p>
                      <a:pPr algn="ctr"/>
                      <a:r>
                        <a:rPr sz="1000" b="0" i="0">
                          <a:solidFill>
                            <a:srgbClr val="262626"/>
                          </a:solidFill>
                          <a:latin typeface="Arial"/>
                        </a:rPr>
                        <a:t>2023</a:t>
                      </a:r>
                    </a:p>
                  </a:txBody>
                  <a:tcPr>
                    <a:solidFill>
                      <a:srgbClr val="F2F2F2"/>
                    </a:solidFill>
                  </a:tcPr>
                </a:tc>
                <a:tc>
                  <a:txBody>
                    <a:bodyPr/>
                    <a:lstStyle/>
                    <a:p>
                      <a:pPr algn="ctr"/>
                      <a:r>
                        <a:rPr sz="1000" b="0" i="0">
                          <a:solidFill>
                            <a:srgbClr val="262626"/>
                          </a:solidFill>
                          <a:latin typeface="Arial"/>
                        </a:rPr>
                        <a:t>Jul 15</a:t>
                      </a:r>
                    </a:p>
                  </a:txBody>
                  <a:tcPr>
                    <a:solidFill>
                      <a:srgbClr val="F2F2F2"/>
                    </a:solidFill>
                  </a:tcPr>
                </a:tc>
                <a:tc>
                  <a:txBody>
                    <a:bodyPr/>
                    <a:lstStyle/>
                    <a:p>
                      <a:pPr algn="ctr"/>
                      <a:r>
                        <a:rPr sz="1000" b="0" i="0">
                          <a:solidFill>
                            <a:srgbClr val="262626"/>
                          </a:solidFill>
                          <a:latin typeface="Arial"/>
                        </a:rPr>
                        <a:t>24.4°*</a:t>
                      </a:r>
                    </a:p>
                  </a:txBody>
                  <a:tcPr>
                    <a:solidFill>
                      <a:srgbClr val="F2F2F2"/>
                    </a:solidFill>
                  </a:tcPr>
                </a:tc>
                <a:tc>
                  <a:txBody>
                    <a:bodyPr/>
                    <a:lstStyle/>
                    <a:p>
                      <a:pPr algn="ctr"/>
                      <a:r>
                        <a:rPr sz="1000" b="0" i="0">
                          <a:solidFill>
                            <a:srgbClr val="262626"/>
                          </a:solidFill>
                          <a:latin typeface="Arial"/>
                        </a:rPr>
                        <a:t>54%</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extLst>
                  <a:ext uri="{0D108BD9-81ED-4DB2-BD59-A6C34878D82A}">
                    <a16:rowId xmlns:a16="http://schemas.microsoft.com/office/drawing/2014/main" val="10006"/>
                  </a:ext>
                </a:extLst>
              </a:tr>
              <a:tr h="274320">
                <a:tc>
                  <a:txBody>
                    <a:bodyPr/>
                    <a:lstStyle/>
                    <a:p>
                      <a:pPr algn="ctr"/>
                      <a:r>
                        <a:rPr sz="1000" b="0" i="0">
                          <a:solidFill>
                            <a:srgbClr val="262626"/>
                          </a:solidFill>
                          <a:latin typeface="Arial"/>
                        </a:rPr>
                        <a:t>2024</a:t>
                      </a:r>
                    </a:p>
                  </a:txBody>
                  <a:tcPr>
                    <a:solidFill>
                      <a:srgbClr val="FFFFFF"/>
                    </a:solidFill>
                  </a:tcPr>
                </a:tc>
                <a:tc>
                  <a:txBody>
                    <a:bodyPr/>
                    <a:lstStyle/>
                    <a:p>
                      <a:pPr algn="ctr"/>
                      <a:r>
                        <a:rPr sz="1000" b="0" i="0">
                          <a:solidFill>
                            <a:srgbClr val="262626"/>
                          </a:solidFill>
                          <a:latin typeface="Arial"/>
                        </a:rPr>
                        <a:t>Jul 13</a:t>
                      </a:r>
                    </a:p>
                  </a:txBody>
                  <a:tcPr>
                    <a:solidFill>
                      <a:srgbClr val="FFFFFF"/>
                    </a:solidFill>
                  </a:tcPr>
                </a:tc>
                <a:tc>
                  <a:txBody>
                    <a:bodyPr/>
                    <a:lstStyle/>
                    <a:p>
                      <a:pPr algn="ctr"/>
                      <a:r>
                        <a:rPr sz="1000" b="0" i="0">
                          <a:solidFill>
                            <a:srgbClr val="262626"/>
                          </a:solidFill>
                          <a:latin typeface="Arial"/>
                        </a:rPr>
                        <a:t>18.9</a:t>
                      </a:r>
                    </a:p>
                  </a:txBody>
                  <a:tcPr>
                    <a:solidFill>
                      <a:srgbClr val="FFFFFF"/>
                    </a:solidFill>
                  </a:tcPr>
                </a:tc>
                <a:tc>
                  <a:txBody>
                    <a:bodyPr/>
                    <a:lstStyle/>
                    <a:p>
                      <a:pPr algn="ctr"/>
                      <a:r>
                        <a:rPr sz="1000" b="0" i="0">
                          <a:solidFill>
                            <a:srgbClr val="262626"/>
                          </a:solidFill>
                          <a:latin typeface="Arial"/>
                        </a:rPr>
                        <a:t>79%</a:t>
                      </a:r>
                    </a:p>
                  </a:txBody>
                  <a:tcPr>
                    <a:solidFill>
                      <a:srgbClr val="FFFFFF"/>
                    </a:solidFill>
                  </a:tcPr>
                </a:tc>
                <a:tc>
                  <a:txBody>
                    <a:bodyPr/>
                    <a:lstStyle/>
                    <a:p>
                      <a:pPr algn="ctr"/>
                      <a:r>
                        <a:rPr sz="1000" b="0" i="0" dirty="0">
                          <a:solidFill>
                            <a:srgbClr val="262626"/>
                          </a:solidFill>
                          <a:latin typeface="Arial"/>
                        </a:rPr>
                        <a:t>22</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extLst>
                  <a:ext uri="{0D108BD9-81ED-4DB2-BD59-A6C34878D82A}">
                    <a16:rowId xmlns:a16="http://schemas.microsoft.com/office/drawing/2014/main" val="10007"/>
                  </a:ext>
                </a:extLst>
              </a:tr>
              <a:tr h="274320">
                <a:tc>
                  <a:txBody>
                    <a:bodyPr/>
                    <a:lstStyle/>
                    <a:p>
                      <a:pPr algn="ctr"/>
                      <a:r>
                        <a:rPr sz="1000" b="0" i="0">
                          <a:solidFill>
                            <a:srgbClr val="262626"/>
                          </a:solidFill>
                          <a:latin typeface="Arial"/>
                        </a:rPr>
                        <a:t>2025</a:t>
                      </a:r>
                    </a:p>
                  </a:txBody>
                  <a:tcPr>
                    <a:solidFill>
                      <a:srgbClr val="F2F2F2"/>
                    </a:solidFill>
                  </a:tcPr>
                </a:tc>
                <a:tc>
                  <a:txBody>
                    <a:bodyPr/>
                    <a:lstStyle/>
                    <a:p>
                      <a:pPr algn="ctr"/>
                      <a:r>
                        <a:rPr sz="1000" b="0" i="0">
                          <a:solidFill>
                            <a:srgbClr val="262626"/>
                          </a:solidFill>
                          <a:latin typeface="Arial"/>
                        </a:rPr>
                        <a:t>Jul 12</a:t>
                      </a:r>
                    </a:p>
                  </a:txBody>
                  <a:tcPr>
                    <a:solidFill>
                      <a:srgbClr val="F2F2F2"/>
                    </a:solidFill>
                  </a:tcPr>
                </a:tc>
                <a:tc>
                  <a:txBody>
                    <a:bodyPr/>
                    <a:lstStyle/>
                    <a:p>
                      <a:pPr algn="ctr"/>
                      <a:r>
                        <a:rPr sz="1000" b="0" i="0">
                          <a:solidFill>
                            <a:srgbClr val="262626"/>
                          </a:solidFill>
                          <a:latin typeface="Arial"/>
                        </a:rPr>
                        <a:t>23.6</a:t>
                      </a:r>
                    </a:p>
                  </a:txBody>
                  <a:tcPr>
                    <a:solidFill>
                      <a:srgbClr val="F2F2F2"/>
                    </a:solidFill>
                  </a:tcPr>
                </a:tc>
                <a:tc>
                  <a:txBody>
                    <a:bodyPr/>
                    <a:lstStyle/>
                    <a:p>
                      <a:pPr algn="ctr"/>
                      <a:r>
                        <a:rPr sz="1000" b="0" i="0">
                          <a:solidFill>
                            <a:srgbClr val="262626"/>
                          </a:solidFill>
                          <a:latin typeface="Arial"/>
                        </a:rPr>
                        <a:t>76%</a:t>
                      </a:r>
                    </a:p>
                  </a:txBody>
                  <a:tcPr>
                    <a:solidFill>
                      <a:srgbClr val="F2F2F2"/>
                    </a:solidFill>
                  </a:tcPr>
                </a:tc>
                <a:tc>
                  <a:txBody>
                    <a:bodyPr/>
                    <a:lstStyle/>
                    <a:p>
                      <a:pPr algn="ctr"/>
                      <a:r>
                        <a:rPr sz="1000" b="0" i="0">
                          <a:solidFill>
                            <a:srgbClr val="262626"/>
                          </a:solidFill>
                          <a:latin typeface="Arial"/>
                        </a:rPr>
                        <a:t>14</a:t>
                      </a:r>
                    </a:p>
                  </a:txBody>
                  <a:tcPr>
                    <a:solidFill>
                      <a:srgbClr val="F2F2F2"/>
                    </a:solidFill>
                  </a:tcPr>
                </a:tc>
                <a:tc>
                  <a:txBody>
                    <a:bodyPr/>
                    <a:lstStyle/>
                    <a:p>
                      <a:pPr algn="ctr"/>
                      <a:r>
                        <a:rPr sz="1000" b="0" i="0" dirty="0">
                          <a:solidFill>
                            <a:srgbClr val="262626"/>
                          </a:solidFill>
                          <a:latin typeface="Arial"/>
                        </a:rPr>
                        <a:t>0.2</a:t>
                      </a:r>
                    </a:p>
                  </a:txBody>
                  <a:tcPr>
                    <a:solidFill>
                      <a:srgbClr val="F2F2F2"/>
                    </a:solidFill>
                  </a:tcPr>
                </a:tc>
                <a:extLst>
                  <a:ext uri="{0D108BD9-81ED-4DB2-BD59-A6C34878D82A}">
                    <a16:rowId xmlns:a16="http://schemas.microsoft.com/office/drawing/2014/main" val="10008"/>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634135779"/>
              </p:ext>
            </p:extLst>
          </p:nvPr>
        </p:nvGraphicFramePr>
        <p:xfrm>
          <a:off x="5166360" y="1429227"/>
          <a:ext cx="4069078" cy="2468880"/>
        </p:xfrm>
        <a:graphic>
          <a:graphicData uri="http://schemas.openxmlformats.org/drawingml/2006/table">
            <a:tbl>
              <a:tblPr firstRow="1" bandRow="1">
                <a:tableStyleId>{5C22544A-7EE6-4342-B048-85BDC9FD1C3A}</a:tableStyleId>
              </a:tblPr>
              <a:tblGrid>
                <a:gridCol w="629738">
                  <a:extLst>
                    <a:ext uri="{9D8B030D-6E8A-4147-A177-3AD203B41FA5}">
                      <a16:colId xmlns:a16="http://schemas.microsoft.com/office/drawing/2014/main" val="20000"/>
                    </a:ext>
                  </a:extLst>
                </a:gridCol>
                <a:gridCol w="823504">
                  <a:extLst>
                    <a:ext uri="{9D8B030D-6E8A-4147-A177-3AD203B41FA5}">
                      <a16:colId xmlns:a16="http://schemas.microsoft.com/office/drawing/2014/main" val="20001"/>
                    </a:ext>
                  </a:extLst>
                </a:gridCol>
                <a:gridCol w="726621">
                  <a:extLst>
                    <a:ext uri="{9D8B030D-6E8A-4147-A177-3AD203B41FA5}">
                      <a16:colId xmlns:a16="http://schemas.microsoft.com/office/drawing/2014/main" val="20002"/>
                    </a:ext>
                  </a:extLst>
                </a:gridCol>
                <a:gridCol w="823504">
                  <a:extLst>
                    <a:ext uri="{9D8B030D-6E8A-4147-A177-3AD203B41FA5}">
                      <a16:colId xmlns:a16="http://schemas.microsoft.com/office/drawing/2014/main" val="20003"/>
                    </a:ext>
                  </a:extLst>
                </a:gridCol>
                <a:gridCol w="1065711">
                  <a:extLst>
                    <a:ext uri="{9D8B030D-6E8A-4147-A177-3AD203B41FA5}">
                      <a16:colId xmlns:a16="http://schemas.microsoft.com/office/drawing/2014/main" val="20004"/>
                    </a:ext>
                  </a:extLst>
                </a:gridCol>
              </a:tblGrid>
              <a:tr h="274320">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PM2.5</a:t>
                      </a:r>
                    </a:p>
                  </a:txBody>
                  <a:tcPr>
                    <a:solidFill>
                      <a:srgbClr val="002060"/>
                    </a:solidFill>
                  </a:tcPr>
                </a:tc>
                <a:tc>
                  <a:txBody>
                    <a:bodyPr/>
                    <a:lstStyle/>
                    <a:p>
                      <a:pPr algn="ctr"/>
                      <a:r>
                        <a:rPr sz="1000" b="1" i="0">
                          <a:solidFill>
                            <a:srgbClr val="FFFFFF"/>
                          </a:solidFill>
                          <a:latin typeface="Arial"/>
                        </a:rPr>
                        <a:t>EU AQI</a:t>
                      </a:r>
                    </a:p>
                  </a:txBody>
                  <a:tcPr>
                    <a:solidFill>
                      <a:srgbClr val="002060"/>
                    </a:solidFill>
                  </a:tcPr>
                </a:tc>
                <a:tc>
                  <a:txBody>
                    <a:bodyPr/>
                    <a:lstStyle/>
                    <a:p>
                      <a:pPr algn="ctr"/>
                      <a:r>
                        <a:rPr sz="1000" b="1" i="0">
                          <a:solidFill>
                            <a:srgbClr val="FFFFFF"/>
                          </a:solidFill>
                          <a:latin typeface="Arial"/>
                        </a:rPr>
                        <a:t>UV Index</a:t>
                      </a:r>
                    </a:p>
                  </a:txBody>
                  <a:tcPr>
                    <a:solidFill>
                      <a:srgbClr val="002060"/>
                    </a:solidFill>
                  </a:tcPr>
                </a:tc>
                <a:tc>
                  <a:txBody>
                    <a:bodyPr/>
                    <a:lstStyle/>
                    <a:p>
                      <a:pPr algn="ctr"/>
                      <a:r>
                        <a:rPr sz="1000" b="1" i="0">
                          <a:solidFill>
                            <a:srgbClr val="FFFFFF"/>
                          </a:solidFill>
                          <a:latin typeface="Arial"/>
                        </a:rPr>
                        <a:t>Risk</a:t>
                      </a:r>
                    </a:p>
                  </a:txBody>
                  <a:tcPr>
                    <a:solidFill>
                      <a:srgbClr val="002060"/>
                    </a:solidFill>
                  </a:tcPr>
                </a:tc>
                <a:extLst>
                  <a:ext uri="{0D108BD9-81ED-4DB2-BD59-A6C34878D82A}">
                    <a16:rowId xmlns:a16="http://schemas.microsoft.com/office/drawing/2014/main" val="10000"/>
                  </a:ext>
                </a:extLst>
              </a:tr>
              <a:tr h="274320">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2.5</a:t>
                      </a:r>
                    </a:p>
                  </a:txBody>
                  <a:tcPr>
                    <a:solidFill>
                      <a:srgbClr val="FFFFFF"/>
                    </a:solidFill>
                  </a:tcPr>
                </a:tc>
                <a:tc>
                  <a:txBody>
                    <a:bodyPr/>
                    <a:lstStyle/>
                    <a:p>
                      <a:pPr algn="ctr"/>
                      <a:r>
                        <a:rPr sz="1000" b="0" i="0">
                          <a:solidFill>
                            <a:srgbClr val="262626"/>
                          </a:solidFill>
                          <a:latin typeface="Arial"/>
                        </a:rPr>
                        <a:t>19</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Good</a:t>
                      </a:r>
                    </a:p>
                  </a:txBody>
                  <a:tcPr>
                    <a:solidFill>
                      <a:srgbClr val="FFFFFF"/>
                    </a:solidFill>
                  </a:tcPr>
                </a:tc>
                <a:extLst>
                  <a:ext uri="{0D108BD9-81ED-4DB2-BD59-A6C34878D82A}">
                    <a16:rowId xmlns:a16="http://schemas.microsoft.com/office/drawing/2014/main" val="10001"/>
                  </a:ext>
                </a:extLst>
              </a:tr>
              <a:tr h="274320">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6.2</a:t>
                      </a:r>
                    </a:p>
                  </a:txBody>
                  <a:tcPr>
                    <a:solidFill>
                      <a:srgbClr val="F2F2F2"/>
                    </a:solidFill>
                  </a:tcPr>
                </a:tc>
                <a:tc>
                  <a:txBody>
                    <a:bodyPr/>
                    <a:lstStyle/>
                    <a:p>
                      <a:pPr algn="ctr"/>
                      <a:r>
                        <a:rPr sz="1000" b="0" i="0">
                          <a:solidFill>
                            <a:srgbClr val="262626"/>
                          </a:solidFill>
                          <a:latin typeface="Arial"/>
                        </a:rPr>
                        <a:t>14</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Good</a:t>
                      </a:r>
                    </a:p>
                  </a:txBody>
                  <a:tcPr>
                    <a:solidFill>
                      <a:srgbClr val="F2F2F2"/>
                    </a:solidFill>
                  </a:tcPr>
                </a:tc>
                <a:extLst>
                  <a:ext uri="{0D108BD9-81ED-4DB2-BD59-A6C34878D82A}">
                    <a16:rowId xmlns:a16="http://schemas.microsoft.com/office/drawing/2014/main" val="10002"/>
                  </a:ext>
                </a:extLst>
              </a:tr>
              <a:tr h="274320">
                <a:tc>
                  <a:txBody>
                    <a:bodyPr/>
                    <a:lstStyle/>
                    <a:p>
                      <a:pPr algn="ctr"/>
                      <a:r>
                        <a:rPr sz="1000" b="0" i="0">
                          <a:solidFill>
                            <a:srgbClr val="262626"/>
                          </a:solidFill>
                          <a:latin typeface="Arial"/>
                        </a:rPr>
                        <a:t>2020</a:t>
                      </a:r>
                    </a:p>
                  </a:txBody>
                  <a:tcPr>
                    <a:solidFill>
                      <a:srgbClr val="FFFFFF"/>
                    </a:solidFill>
                  </a:tcPr>
                </a:tc>
                <a:tc>
                  <a:txBody>
                    <a:bodyPr/>
                    <a:lstStyle/>
                    <a:p>
                      <a:pPr algn="ctr"/>
                      <a:r>
                        <a:rPr sz="1000" b="0" i="0">
                          <a:solidFill>
                            <a:srgbClr val="262626"/>
                          </a:solidFill>
                          <a:latin typeface="Arial"/>
                        </a:rPr>
                        <a:t>4.8</a:t>
                      </a:r>
                    </a:p>
                  </a:txBody>
                  <a:tcPr>
                    <a:solidFill>
                      <a:srgbClr val="FFFFFF"/>
                    </a:solidFill>
                  </a:tcPr>
                </a:tc>
                <a:tc>
                  <a:txBody>
                    <a:bodyPr/>
                    <a:lstStyle/>
                    <a:p>
                      <a:pPr algn="ctr"/>
                      <a:r>
                        <a:rPr sz="1000" b="0" i="0">
                          <a:solidFill>
                            <a:srgbClr val="262626"/>
                          </a:solidFill>
                          <a:latin typeface="Arial"/>
                        </a:rPr>
                        <a:t>17</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Good</a:t>
                      </a:r>
                    </a:p>
                  </a:txBody>
                  <a:tcPr>
                    <a:solidFill>
                      <a:srgbClr val="FFFFFF"/>
                    </a:solidFill>
                  </a:tcPr>
                </a:tc>
                <a:extLst>
                  <a:ext uri="{0D108BD9-81ED-4DB2-BD59-A6C34878D82A}">
                    <a16:rowId xmlns:a16="http://schemas.microsoft.com/office/drawing/2014/main" val="10003"/>
                  </a:ext>
                </a:extLst>
              </a:tr>
              <a:tr h="274320">
                <a:tc>
                  <a:txBody>
                    <a:bodyPr/>
                    <a:lstStyle/>
                    <a:p>
                      <a:pPr algn="ctr"/>
                      <a:r>
                        <a:rPr sz="1000" b="0" i="0">
                          <a:solidFill>
                            <a:srgbClr val="262626"/>
                          </a:solidFill>
                          <a:latin typeface="Arial"/>
                        </a:rPr>
                        <a:t>2021</a:t>
                      </a:r>
                    </a:p>
                  </a:txBody>
                  <a:tcPr>
                    <a:solidFill>
                      <a:srgbClr val="F2F2F2"/>
                    </a:solidFill>
                  </a:tcPr>
                </a:tc>
                <a:tc>
                  <a:txBody>
                    <a:bodyPr/>
                    <a:lstStyle/>
                    <a:p>
                      <a:pPr algn="ctr"/>
                      <a:r>
                        <a:rPr sz="1000" b="0" i="0">
                          <a:solidFill>
                            <a:srgbClr val="262626"/>
                          </a:solidFill>
                          <a:latin typeface="Arial"/>
                        </a:rPr>
                        <a:t>3.8</a:t>
                      </a:r>
                    </a:p>
                  </a:txBody>
                  <a:tcPr>
                    <a:solidFill>
                      <a:srgbClr val="F2F2F2"/>
                    </a:solidFill>
                  </a:tcPr>
                </a:tc>
                <a:tc>
                  <a:txBody>
                    <a:bodyPr/>
                    <a:lstStyle/>
                    <a:p>
                      <a:pPr algn="ctr"/>
                      <a:r>
                        <a:rPr sz="1000" b="0" i="0">
                          <a:solidFill>
                            <a:srgbClr val="262626"/>
                          </a:solidFill>
                          <a:latin typeface="Arial"/>
                        </a:rPr>
                        <a:t>10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Good</a:t>
                      </a:r>
                    </a:p>
                  </a:txBody>
                  <a:tcPr>
                    <a:solidFill>
                      <a:srgbClr val="F2F2F2"/>
                    </a:solidFill>
                  </a:tcPr>
                </a:tc>
                <a:extLst>
                  <a:ext uri="{0D108BD9-81ED-4DB2-BD59-A6C34878D82A}">
                    <a16:rowId xmlns:a16="http://schemas.microsoft.com/office/drawing/2014/main" val="10004"/>
                  </a:ext>
                </a:extLst>
              </a:tr>
              <a:tr h="274320">
                <a:tc>
                  <a:txBody>
                    <a:bodyPr/>
                    <a:lstStyle/>
                    <a:p>
                      <a:pPr algn="ctr"/>
                      <a:r>
                        <a:rPr sz="1000" b="0" i="0">
                          <a:solidFill>
                            <a:srgbClr val="262626"/>
                          </a:solidFill>
                          <a:latin typeface="Arial"/>
                        </a:rPr>
                        <a:t>2022</a:t>
                      </a:r>
                    </a:p>
                  </a:txBody>
                  <a:tcPr>
                    <a:solidFill>
                      <a:srgbClr val="FFFFFF"/>
                    </a:solidFill>
                  </a:tcPr>
                </a:tc>
                <a:tc>
                  <a:txBody>
                    <a:bodyPr/>
                    <a:lstStyle/>
                    <a:p>
                      <a:pPr algn="ctr"/>
                      <a:r>
                        <a:rPr sz="1000" b="0" i="0">
                          <a:solidFill>
                            <a:srgbClr val="262626"/>
                          </a:solidFill>
                          <a:latin typeface="Arial"/>
                        </a:rPr>
                        <a:t>4.7</a:t>
                      </a:r>
                    </a:p>
                  </a:txBody>
                  <a:tcPr>
                    <a:solidFill>
                      <a:srgbClr val="FFFFFF"/>
                    </a:solidFill>
                  </a:tcPr>
                </a:tc>
                <a:tc>
                  <a:txBody>
                    <a:bodyPr/>
                    <a:lstStyle/>
                    <a:p>
                      <a:pPr algn="ctr"/>
                      <a:r>
                        <a:rPr sz="1000" b="0" i="0">
                          <a:solidFill>
                            <a:srgbClr val="262626"/>
                          </a:solidFill>
                          <a:latin typeface="Arial"/>
                        </a:rPr>
                        <a:t>15</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Good</a:t>
                      </a:r>
                    </a:p>
                  </a:txBody>
                  <a:tcPr>
                    <a:solidFill>
                      <a:srgbClr val="FFFFFF"/>
                    </a:solidFill>
                  </a:tcPr>
                </a:tc>
                <a:extLst>
                  <a:ext uri="{0D108BD9-81ED-4DB2-BD59-A6C34878D82A}">
                    <a16:rowId xmlns:a16="http://schemas.microsoft.com/office/drawing/2014/main" val="10005"/>
                  </a:ext>
                </a:extLst>
              </a:tr>
              <a:tr h="274320">
                <a:tc>
                  <a:txBody>
                    <a:bodyPr/>
                    <a:lstStyle/>
                    <a:p>
                      <a:pPr algn="ctr"/>
                      <a:r>
                        <a:rPr sz="1000" b="0" i="0">
                          <a:solidFill>
                            <a:srgbClr val="262626"/>
                          </a:solidFill>
                          <a:latin typeface="Arial"/>
                        </a:rPr>
                        <a:t>2023</a:t>
                      </a:r>
                    </a:p>
                  </a:txBody>
                  <a:tcPr>
                    <a:solidFill>
                      <a:srgbClr val="F2F2F2"/>
                    </a:solidFill>
                  </a:tcPr>
                </a:tc>
                <a:tc>
                  <a:txBody>
                    <a:bodyPr/>
                    <a:lstStyle/>
                    <a:p>
                      <a:pPr algn="ctr"/>
                      <a:r>
                        <a:rPr sz="1000" b="0" i="0">
                          <a:solidFill>
                            <a:srgbClr val="262626"/>
                          </a:solidFill>
                          <a:latin typeface="Arial"/>
                        </a:rPr>
                        <a:t>6.5</a:t>
                      </a:r>
                    </a:p>
                  </a:txBody>
                  <a:tcPr>
                    <a:solidFill>
                      <a:srgbClr val="F2F2F2"/>
                    </a:solidFill>
                  </a:tcPr>
                </a:tc>
                <a:tc>
                  <a:txBody>
                    <a:bodyPr/>
                    <a:lstStyle/>
                    <a:p>
                      <a:pPr algn="ctr"/>
                      <a:r>
                        <a:rPr sz="1000" b="0" i="0">
                          <a:solidFill>
                            <a:srgbClr val="262626"/>
                          </a:solidFill>
                          <a:latin typeface="Arial"/>
                        </a:rPr>
                        <a:t>35</a:t>
                      </a:r>
                    </a:p>
                  </a:txBody>
                  <a:tcPr>
                    <a:solidFill>
                      <a:srgbClr val="F2F2F2"/>
                    </a:solidFill>
                  </a:tcPr>
                </a:tc>
                <a:tc>
                  <a:txBody>
                    <a:bodyPr/>
                    <a:lstStyle/>
                    <a:p>
                      <a:pPr algn="ctr"/>
                      <a:r>
                        <a:rPr sz="1000" b="0" i="0">
                          <a:solidFill>
                            <a:srgbClr val="262626"/>
                          </a:solidFill>
                          <a:latin typeface="Arial"/>
                        </a:rPr>
                        <a:t>2.8</a:t>
                      </a:r>
                    </a:p>
                  </a:txBody>
                  <a:tcPr>
                    <a:solidFill>
                      <a:srgbClr val="F2F2F2"/>
                    </a:solidFill>
                  </a:tcPr>
                </a:tc>
                <a:tc>
                  <a:txBody>
                    <a:bodyPr/>
                    <a:lstStyle/>
                    <a:p>
                      <a:pPr algn="ctr"/>
                      <a:r>
                        <a:rPr sz="1000" b="0" i="0">
                          <a:solidFill>
                            <a:srgbClr val="262626"/>
                          </a:solidFill>
                          <a:latin typeface="Arial"/>
                        </a:rPr>
                        <a:t>Fair</a:t>
                      </a:r>
                    </a:p>
                  </a:txBody>
                  <a:tcPr>
                    <a:solidFill>
                      <a:srgbClr val="F2F2F2"/>
                    </a:solidFill>
                  </a:tcPr>
                </a:tc>
                <a:extLst>
                  <a:ext uri="{0D108BD9-81ED-4DB2-BD59-A6C34878D82A}">
                    <a16:rowId xmlns:a16="http://schemas.microsoft.com/office/drawing/2014/main" val="10006"/>
                  </a:ext>
                </a:extLst>
              </a:tr>
              <a:tr h="274320">
                <a:tc>
                  <a:txBody>
                    <a:bodyPr/>
                    <a:lstStyle/>
                    <a:p>
                      <a:pPr algn="ctr"/>
                      <a:r>
                        <a:rPr sz="1000" b="0" i="0">
                          <a:solidFill>
                            <a:srgbClr val="262626"/>
                          </a:solidFill>
                          <a:latin typeface="Arial"/>
                        </a:rPr>
                        <a:t>2024</a:t>
                      </a:r>
                    </a:p>
                  </a:txBody>
                  <a:tcPr>
                    <a:solidFill>
                      <a:srgbClr val="FFFFFF"/>
                    </a:solidFill>
                  </a:tcPr>
                </a:tc>
                <a:tc>
                  <a:txBody>
                    <a:bodyPr/>
                    <a:lstStyle/>
                    <a:p>
                      <a:pPr algn="ctr"/>
                      <a:r>
                        <a:rPr sz="1000" b="0" i="0">
                          <a:solidFill>
                            <a:srgbClr val="262626"/>
                          </a:solidFill>
                          <a:latin typeface="Arial"/>
                        </a:rPr>
                        <a:t>3.6</a:t>
                      </a:r>
                    </a:p>
                  </a:txBody>
                  <a:tcPr>
                    <a:solidFill>
                      <a:srgbClr val="FFFFFF"/>
                    </a:solidFill>
                  </a:tcPr>
                </a:tc>
                <a:tc>
                  <a:txBody>
                    <a:bodyPr/>
                    <a:lstStyle/>
                    <a:p>
                      <a:pPr algn="ctr"/>
                      <a:r>
                        <a:rPr sz="1000" b="0" i="0">
                          <a:solidFill>
                            <a:srgbClr val="262626"/>
                          </a:solidFill>
                          <a:latin typeface="Arial"/>
                        </a:rPr>
                        <a:t>21</a:t>
                      </a:r>
                    </a:p>
                  </a:txBody>
                  <a:tcPr>
                    <a:solidFill>
                      <a:srgbClr val="FFFFFF"/>
                    </a:solidFill>
                  </a:tcPr>
                </a:tc>
                <a:tc>
                  <a:txBody>
                    <a:bodyPr/>
                    <a:lstStyle/>
                    <a:p>
                      <a:pPr algn="ctr"/>
                      <a:r>
                        <a:rPr sz="1000" b="0" i="0">
                          <a:solidFill>
                            <a:srgbClr val="262626"/>
                          </a:solidFill>
                          <a:latin typeface="Arial"/>
                        </a:rPr>
                        <a:t>1.2</a:t>
                      </a:r>
                    </a:p>
                  </a:txBody>
                  <a:tcPr>
                    <a:solidFill>
                      <a:srgbClr val="FFFFFF"/>
                    </a:solidFill>
                  </a:tcPr>
                </a:tc>
                <a:tc>
                  <a:txBody>
                    <a:bodyPr/>
                    <a:lstStyle/>
                    <a:p>
                      <a:pPr algn="ctr"/>
                      <a:r>
                        <a:rPr sz="1000" b="0" i="0">
                          <a:solidFill>
                            <a:srgbClr val="262626"/>
                          </a:solidFill>
                          <a:latin typeface="Arial"/>
                        </a:rPr>
                        <a:t>Fair</a:t>
                      </a:r>
                    </a:p>
                  </a:txBody>
                  <a:tcPr>
                    <a:solidFill>
                      <a:srgbClr val="FFFFFF"/>
                    </a:solidFill>
                  </a:tcPr>
                </a:tc>
                <a:extLst>
                  <a:ext uri="{0D108BD9-81ED-4DB2-BD59-A6C34878D82A}">
                    <a16:rowId xmlns:a16="http://schemas.microsoft.com/office/drawing/2014/main" val="10007"/>
                  </a:ext>
                </a:extLst>
              </a:tr>
              <a:tr h="274320">
                <a:tc>
                  <a:txBody>
                    <a:bodyPr/>
                    <a:lstStyle/>
                    <a:p>
                      <a:pPr algn="ctr"/>
                      <a:r>
                        <a:rPr sz="1000" b="0" i="0">
                          <a:solidFill>
                            <a:srgbClr val="262626"/>
                          </a:solidFill>
                          <a:latin typeface="Arial"/>
                        </a:rPr>
                        <a:t>2025</a:t>
                      </a:r>
                    </a:p>
                  </a:txBody>
                  <a:tcPr>
                    <a:solidFill>
                      <a:srgbClr val="F2F2F2"/>
                    </a:solidFill>
                  </a:tcPr>
                </a:tc>
                <a:tc>
                  <a:txBody>
                    <a:bodyPr/>
                    <a:lstStyle/>
                    <a:p>
                      <a:pPr algn="ctr"/>
                      <a:r>
                        <a:rPr sz="1000" b="0" i="0">
                          <a:solidFill>
                            <a:srgbClr val="262626"/>
                          </a:solidFill>
                          <a:latin typeface="Arial"/>
                        </a:rPr>
                        <a:t>5.7</a:t>
                      </a:r>
                    </a:p>
                  </a:txBody>
                  <a:tcPr>
                    <a:solidFill>
                      <a:srgbClr val="F2F2F2"/>
                    </a:solidFill>
                  </a:tcPr>
                </a:tc>
                <a:tc>
                  <a:txBody>
                    <a:bodyPr/>
                    <a:lstStyle/>
                    <a:p>
                      <a:pPr algn="ctr"/>
                      <a:r>
                        <a:rPr sz="1000" b="0" i="0">
                          <a:solidFill>
                            <a:srgbClr val="262626"/>
                          </a:solidFill>
                          <a:latin typeface="Arial"/>
                        </a:rPr>
                        <a:t>21</a:t>
                      </a:r>
                    </a:p>
                  </a:txBody>
                  <a:tcPr>
                    <a:solidFill>
                      <a:srgbClr val="F2F2F2"/>
                    </a:solidFill>
                  </a:tcPr>
                </a:tc>
                <a:tc>
                  <a:txBody>
                    <a:bodyPr/>
                    <a:lstStyle/>
                    <a:p>
                      <a:pPr algn="ctr"/>
                      <a:r>
                        <a:rPr sz="1000" b="0" i="0">
                          <a:solidFill>
                            <a:srgbClr val="262626"/>
                          </a:solidFill>
                          <a:latin typeface="Arial"/>
                        </a:rPr>
                        <a:t>1.5</a:t>
                      </a:r>
                    </a:p>
                  </a:txBody>
                  <a:tcPr>
                    <a:solidFill>
                      <a:srgbClr val="F2F2F2"/>
                    </a:solidFill>
                  </a:tcPr>
                </a:tc>
                <a:tc>
                  <a:txBody>
                    <a:bodyPr/>
                    <a:lstStyle/>
                    <a:p>
                      <a:pPr algn="ctr"/>
                      <a:r>
                        <a:rPr sz="1000" b="0" i="0">
                          <a:solidFill>
                            <a:srgbClr val="262626"/>
                          </a:solidFill>
                          <a:latin typeface="Arial"/>
                        </a:rPr>
                        <a:t>Fair</a:t>
                      </a:r>
                    </a:p>
                  </a:txBody>
                  <a:tcPr>
                    <a:solidFill>
                      <a:srgbClr val="F2F2F2"/>
                    </a:solidFill>
                  </a:tcPr>
                </a:tc>
                <a:extLst>
                  <a:ext uri="{0D108BD9-81ED-4DB2-BD59-A6C34878D82A}">
                    <a16:rowId xmlns:a16="http://schemas.microsoft.com/office/drawing/2014/main" val="10008"/>
                  </a:ext>
                </a:extLst>
              </a:tr>
            </a:tbl>
          </a:graphicData>
        </a:graphic>
      </p:graphicFrame>
      <p:sp>
        <p:nvSpPr>
          <p:cNvPr id="12" name="TextBox 11"/>
          <p:cNvSpPr txBox="1"/>
          <p:nvPr/>
        </p:nvSpPr>
        <p:spPr>
          <a:xfrm>
            <a:off x="5212080" y="1088136"/>
            <a:ext cx="3931920" cy="238527"/>
          </a:xfrm>
          <a:prstGeom prst="rect">
            <a:avLst/>
          </a:prstGeom>
          <a:noFill/>
        </p:spPr>
        <p:txBody>
          <a:bodyPr wrap="square">
            <a:spAutoFit/>
          </a:bodyPr>
          <a:lstStyle/>
          <a:p>
            <a:pPr algn="l"/>
            <a:r>
              <a:rPr sz="950" b="1" i="0" dirty="0">
                <a:solidFill>
                  <a:schemeClr val="bg1"/>
                </a:solidFill>
                <a:latin typeface="Arial"/>
              </a:rPr>
              <a:t>AIR QUALITY (Open-</a:t>
            </a:r>
            <a:r>
              <a:rPr sz="950" b="1" i="0" dirty="0" err="1">
                <a:solidFill>
                  <a:schemeClr val="bg1"/>
                </a:solidFill>
                <a:latin typeface="Arial"/>
              </a:rPr>
              <a:t>Meteo</a:t>
            </a:r>
            <a:r>
              <a:rPr sz="950" b="1" i="0" dirty="0">
                <a:solidFill>
                  <a:schemeClr val="bg1"/>
                </a:solidFill>
                <a:latin typeface="Arial"/>
              </a:rPr>
              <a:t> archive)</a:t>
            </a:r>
          </a:p>
        </p:txBody>
      </p:sp>
      <p:sp>
        <p:nvSpPr>
          <p:cNvPr id="13" name="Rectangle 12"/>
          <p:cNvSpPr/>
          <p:nvPr/>
        </p:nvSpPr>
        <p:spPr>
          <a:xfrm>
            <a:off x="274320" y="4535028"/>
            <a:ext cx="11640312"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4564817"/>
            <a:ext cx="11155680" cy="274320"/>
          </a:xfrm>
          <a:prstGeom prst="rect">
            <a:avLst/>
          </a:prstGeom>
          <a:noFill/>
        </p:spPr>
        <p:txBody>
          <a:bodyPr wrap="square">
            <a:spAutoFit/>
          </a:bodyPr>
          <a:lstStyle/>
          <a:p>
            <a:pPr algn="l"/>
            <a:r>
              <a:rPr sz="1200" b="1" i="0">
                <a:solidFill>
                  <a:srgbClr val="FFFFFF"/>
                </a:solidFill>
                <a:latin typeface="Arial"/>
              </a:rPr>
              <a:t>HEALTH &amp; WATER QUALITY RISK FACTORS</a:t>
            </a:r>
          </a:p>
        </p:txBody>
      </p:sp>
      <p:sp>
        <p:nvSpPr>
          <p:cNvPr id="19" name="TextBox 18"/>
          <p:cNvSpPr txBox="1"/>
          <p:nvPr/>
        </p:nvSpPr>
        <p:spPr>
          <a:xfrm>
            <a:off x="274320" y="6565392"/>
            <a:ext cx="11640312" cy="201168"/>
          </a:xfrm>
          <a:prstGeom prst="rect">
            <a:avLst/>
          </a:prstGeom>
          <a:noFill/>
        </p:spPr>
        <p:txBody>
          <a:bodyPr wrap="square">
            <a:spAutoFit/>
          </a:bodyPr>
          <a:lstStyle/>
          <a:p>
            <a:pPr algn="l"/>
            <a:r>
              <a:rPr sz="800" b="0" i="1">
                <a:solidFill>
                  <a:srgbClr val="BFBFBF"/>
                </a:solidFill>
                <a:latin typeface="Arial"/>
              </a:rPr>
              <a:t>Weather and AQ data: Open-Meteo historical archive (archive-api.open-meteo.com). EU AQI: Good ≤20, Fair ≤40, Moderate ≤60, Poor ≤80, Very Poor &gt;80.</a:t>
            </a:r>
          </a:p>
        </p:txBody>
      </p:sp>
      <p:sp>
        <p:nvSpPr>
          <p:cNvPr id="21" name="TextBox 20">
            <a:extLst>
              <a:ext uri="{FF2B5EF4-FFF2-40B4-BE49-F238E27FC236}">
                <a16:creationId xmlns:a16="http://schemas.microsoft.com/office/drawing/2014/main" id="{C937A499-26A6-421E-9D5F-39B897F6C186}"/>
              </a:ext>
            </a:extLst>
          </p:cNvPr>
          <p:cNvSpPr txBox="1"/>
          <p:nvPr/>
        </p:nvSpPr>
        <p:spPr>
          <a:xfrm>
            <a:off x="274320" y="4987484"/>
            <a:ext cx="7311174" cy="307777"/>
          </a:xfrm>
          <a:prstGeom prst="rect">
            <a:avLst/>
          </a:prstGeom>
          <a:noFill/>
        </p:spPr>
        <p:txBody>
          <a:bodyPr wrap="square">
            <a:spAutoFit/>
          </a:bodyPr>
          <a:lstStyle/>
          <a:p>
            <a:r>
              <a:rPr sz="1400" b="0" i="0" dirty="0">
                <a:solidFill>
                  <a:srgbClr val="262626"/>
                </a:solidFill>
                <a:latin typeface="Arial"/>
              </a:rPr>
              <a:t>•  </a:t>
            </a:r>
            <a:r>
              <a:rPr lang="en-US" sz="1400" b="0" i="0" dirty="0">
                <a:solidFill>
                  <a:srgbClr val="262626"/>
                </a:solidFill>
                <a:latin typeface="Arial"/>
              </a:rPr>
              <a:t>Race Report Here -&gt; </a:t>
            </a:r>
            <a:r>
              <a:rPr lang="en-US" sz="1100" dirty="0">
                <a:hlinkClick r:id="rId3"/>
              </a:rPr>
              <a:t>Water Quality | 2026 World Triathlon Championship Series Hamburg</a:t>
            </a:r>
            <a:endParaRPr sz="1100" b="0" i="0" dirty="0">
              <a:solidFill>
                <a:srgbClr val="262626"/>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Who to Watch — Hamburg Race Week</a:t>
            </a:r>
          </a:p>
        </p:txBody>
      </p:sp>
      <p:sp>
        <p:nvSpPr>
          <p:cNvPr id="4" name="Rectangle 3"/>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6" name="Rectangle 5"/>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88720"/>
            <a:ext cx="5669280"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234440"/>
            <a:ext cx="5486400" cy="292608"/>
          </a:xfrm>
          <a:prstGeom prst="rect">
            <a:avLst/>
          </a:prstGeom>
          <a:noFill/>
        </p:spPr>
        <p:txBody>
          <a:bodyPr wrap="square">
            <a:spAutoFit/>
          </a:bodyPr>
          <a:lstStyle/>
          <a:p>
            <a:pPr algn="ctr"/>
            <a:r>
              <a:rPr sz="1400" b="1" i="0">
                <a:solidFill>
                  <a:srgbClr val="FFFFFF"/>
                </a:solidFill>
                <a:latin typeface="Arial"/>
              </a:rPr>
              <a:t>ELITE MEN</a:t>
            </a:r>
          </a:p>
        </p:txBody>
      </p:sp>
      <p:sp>
        <p:nvSpPr>
          <p:cNvPr id="9" name="Rectangle 8"/>
          <p:cNvSpPr/>
          <p:nvPr/>
        </p:nvSpPr>
        <p:spPr>
          <a:xfrm>
            <a:off x="274320" y="1645920"/>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664208"/>
            <a:ext cx="5486400" cy="237744"/>
          </a:xfrm>
          <a:prstGeom prst="rect">
            <a:avLst/>
          </a:prstGeom>
          <a:noFill/>
        </p:spPr>
        <p:txBody>
          <a:bodyPr wrap="square">
            <a:spAutoFit/>
          </a:bodyPr>
          <a:lstStyle/>
          <a:p>
            <a:pPr algn="l"/>
            <a:r>
              <a:rPr sz="1100" b="1" i="0">
                <a:solidFill>
                  <a:srgbClr val="FFFFFF"/>
                </a:solidFill>
                <a:latin typeface="Arial"/>
              </a:rPr>
              <a:t>Top 10 by World Ranking</a:t>
            </a:r>
          </a:p>
        </p:txBody>
      </p:sp>
      <p:graphicFrame>
        <p:nvGraphicFramePr>
          <p:cNvPr id="11" name="Table 10"/>
          <p:cNvGraphicFramePr>
            <a:graphicFrameLocks noGrp="1"/>
          </p:cNvGraphicFramePr>
          <p:nvPr/>
        </p:nvGraphicFramePr>
        <p:xfrm>
          <a:off x="274320" y="1965960"/>
          <a:ext cx="5486400" cy="2907792"/>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64344">
                <a:tc>
                  <a:txBody>
                    <a:bodyPr/>
                    <a:lstStyle/>
                    <a:p>
                      <a:pPr algn="ctr"/>
                      <a:r>
                        <a:rPr sz="1000" b="1" i="0">
                          <a:solidFill>
                            <a:srgbClr val="FFFFFF"/>
                          </a:solidFill>
                          <a:latin typeface="Arial"/>
                        </a:rPr>
                        <a:t>Rank</a:t>
                      </a:r>
                    </a:p>
                  </a:txBody>
                  <a:tcPr>
                    <a:solidFill>
                      <a:srgbClr val="002060"/>
                    </a:solidFill>
                  </a:tcPr>
                </a:tc>
                <a:tc>
                  <a:txBody>
                    <a:bodyPr/>
                    <a:lstStyle/>
                    <a:p>
                      <a:pPr algn="ctr"/>
                      <a:r>
                        <a:rPr sz="1000" b="1" i="0">
                          <a:solidFill>
                            <a:srgbClr val="FFFFFF"/>
                          </a:solidFill>
                          <a:latin typeface="Arial"/>
                        </a:rPr>
                        <a:t>Athlete</a:t>
                      </a:r>
                    </a:p>
                  </a:txBody>
                  <a:tcPr>
                    <a:solidFill>
                      <a:srgbClr val="002060"/>
                    </a:solidFill>
                  </a:tcPr>
                </a:tc>
                <a:tc>
                  <a:txBody>
                    <a:bodyPr/>
                    <a:lstStyle/>
                    <a:p>
                      <a:pPr algn="ctr"/>
                      <a:r>
                        <a:rPr sz="1000" b="1" i="0">
                          <a:solidFill>
                            <a:srgbClr val="FFFFFF"/>
                          </a:solidFill>
                          <a:latin typeface="Arial"/>
                        </a:rPr>
                        <a:t>Points</a:t>
                      </a:r>
                    </a:p>
                  </a:txBody>
                  <a:tcPr>
                    <a:solidFill>
                      <a:srgbClr val="002060"/>
                    </a:solidFill>
                  </a:tcPr>
                </a:tc>
                <a:extLst>
                  <a:ext uri="{0D108BD9-81ED-4DB2-BD59-A6C34878D82A}">
                    <a16:rowId xmlns:a16="http://schemas.microsoft.com/office/drawing/2014/main" val="10000"/>
                  </a:ext>
                </a:extLst>
              </a:tr>
              <a:tr h="264344">
                <a:tc>
                  <a:txBody>
                    <a:bodyPr/>
                    <a:lstStyle/>
                    <a:p>
                      <a:pPr algn="ctr"/>
                      <a:r>
                        <a:rPr sz="1000" b="1" i="0">
                          <a:solidFill>
                            <a:srgbClr val="262626"/>
                          </a:solidFill>
                          <a:latin typeface="Arial"/>
                        </a:rPr>
                        <a:t>1</a:t>
                      </a:r>
                    </a:p>
                  </a:txBody>
                  <a:tcPr>
                    <a:solidFill>
                      <a:srgbClr val="FFFFFF"/>
                    </a:solidFill>
                  </a:tcPr>
                </a:tc>
                <a:tc>
                  <a:txBody>
                    <a:bodyPr/>
                    <a:lstStyle/>
                    <a:p>
                      <a:pPr algn="l"/>
                      <a:r>
                        <a:rPr sz="1000" b="0" i="0">
                          <a:solidFill>
                            <a:srgbClr val="262626"/>
                          </a:solidFill>
                          <a:latin typeface="Arial"/>
                        </a:rPr>
                        <a:t>Vasco Vilaca</a:t>
                      </a:r>
                    </a:p>
                  </a:txBody>
                  <a:tcPr>
                    <a:solidFill>
                      <a:srgbClr val="FFFFFF"/>
                    </a:solidFill>
                  </a:tcPr>
                </a:tc>
                <a:tc>
                  <a:txBody>
                    <a:bodyPr/>
                    <a:lstStyle/>
                    <a:p>
                      <a:pPr algn="ctr"/>
                      <a:r>
                        <a:rPr sz="1000" b="0" i="0">
                          <a:solidFill>
                            <a:srgbClr val="262626"/>
                          </a:solidFill>
                          <a:latin typeface="Arial"/>
                        </a:rPr>
                        <a:t>6,789</a:t>
                      </a:r>
                    </a:p>
                  </a:txBody>
                  <a:tcPr>
                    <a:solidFill>
                      <a:srgbClr val="FFFFFF"/>
                    </a:solidFill>
                  </a:tcPr>
                </a:tc>
                <a:extLst>
                  <a:ext uri="{0D108BD9-81ED-4DB2-BD59-A6C34878D82A}">
                    <a16:rowId xmlns:a16="http://schemas.microsoft.com/office/drawing/2014/main" val="10001"/>
                  </a:ext>
                </a:extLst>
              </a:tr>
              <a:tr h="264344">
                <a:tc>
                  <a:txBody>
                    <a:bodyPr/>
                    <a:lstStyle/>
                    <a:p>
                      <a:pPr algn="ctr"/>
                      <a:r>
                        <a:rPr sz="1000" b="1" i="0">
                          <a:solidFill>
                            <a:srgbClr val="262626"/>
                          </a:solidFill>
                          <a:latin typeface="Arial"/>
                        </a:rPr>
                        <a:t>2</a:t>
                      </a:r>
                    </a:p>
                  </a:txBody>
                  <a:tcPr>
                    <a:solidFill>
                      <a:srgbClr val="F2F2F2"/>
                    </a:solidFill>
                  </a:tcPr>
                </a:tc>
                <a:tc>
                  <a:txBody>
                    <a:bodyPr/>
                    <a:lstStyle/>
                    <a:p>
                      <a:pPr algn="l"/>
                      <a:r>
                        <a:rPr sz="1000" b="0" i="0">
                          <a:solidFill>
                            <a:srgbClr val="262626"/>
                          </a:solidFill>
                          <a:latin typeface="Arial"/>
                        </a:rPr>
                        <a:t>Miguel Hidalgo</a:t>
                      </a:r>
                    </a:p>
                  </a:txBody>
                  <a:tcPr>
                    <a:solidFill>
                      <a:srgbClr val="F2F2F2"/>
                    </a:solidFill>
                  </a:tcPr>
                </a:tc>
                <a:tc>
                  <a:txBody>
                    <a:bodyPr/>
                    <a:lstStyle/>
                    <a:p>
                      <a:pPr algn="ctr"/>
                      <a:r>
                        <a:rPr sz="1000" b="0" i="0">
                          <a:solidFill>
                            <a:srgbClr val="262626"/>
                          </a:solidFill>
                          <a:latin typeface="Arial"/>
                        </a:rPr>
                        <a:t>6,703</a:t>
                      </a:r>
                    </a:p>
                  </a:txBody>
                  <a:tcPr>
                    <a:solidFill>
                      <a:srgbClr val="F2F2F2"/>
                    </a:solidFill>
                  </a:tcPr>
                </a:tc>
                <a:extLst>
                  <a:ext uri="{0D108BD9-81ED-4DB2-BD59-A6C34878D82A}">
                    <a16:rowId xmlns:a16="http://schemas.microsoft.com/office/drawing/2014/main" val="10002"/>
                  </a:ext>
                </a:extLst>
              </a:tr>
              <a:tr h="264344">
                <a:tc>
                  <a:txBody>
                    <a:bodyPr/>
                    <a:lstStyle/>
                    <a:p>
                      <a:pPr algn="ctr"/>
                      <a:r>
                        <a:rPr sz="1000" b="1" i="0">
                          <a:solidFill>
                            <a:srgbClr val="262626"/>
                          </a:solidFill>
                          <a:latin typeface="Arial"/>
                        </a:rPr>
                        <a:t>3</a:t>
                      </a:r>
                    </a:p>
                  </a:txBody>
                  <a:tcPr>
                    <a:solidFill>
                      <a:srgbClr val="FFFFFF"/>
                    </a:solidFill>
                  </a:tcPr>
                </a:tc>
                <a:tc>
                  <a:txBody>
                    <a:bodyPr/>
                    <a:lstStyle/>
                    <a:p>
                      <a:pPr algn="l"/>
                      <a:r>
                        <a:rPr sz="1000" b="0" i="0">
                          <a:solidFill>
                            <a:srgbClr val="262626"/>
                          </a:solidFill>
                          <a:latin typeface="Arial"/>
                        </a:rPr>
                        <a:t>Matthew Hauser</a:t>
                      </a:r>
                    </a:p>
                  </a:txBody>
                  <a:tcPr>
                    <a:solidFill>
                      <a:srgbClr val="FFFFFF"/>
                    </a:solidFill>
                  </a:tcPr>
                </a:tc>
                <a:tc>
                  <a:txBody>
                    <a:bodyPr/>
                    <a:lstStyle/>
                    <a:p>
                      <a:pPr algn="ctr"/>
                      <a:r>
                        <a:rPr sz="1000" b="0" i="0">
                          <a:solidFill>
                            <a:srgbClr val="262626"/>
                          </a:solidFill>
                          <a:latin typeface="Arial"/>
                        </a:rPr>
                        <a:t>6,341</a:t>
                      </a:r>
                    </a:p>
                  </a:txBody>
                  <a:tcPr>
                    <a:solidFill>
                      <a:srgbClr val="FFFFFF"/>
                    </a:solidFill>
                  </a:tcPr>
                </a:tc>
                <a:extLst>
                  <a:ext uri="{0D108BD9-81ED-4DB2-BD59-A6C34878D82A}">
                    <a16:rowId xmlns:a16="http://schemas.microsoft.com/office/drawing/2014/main" val="10003"/>
                  </a:ext>
                </a:extLst>
              </a:tr>
              <a:tr h="264344">
                <a:tc>
                  <a:txBody>
                    <a:bodyPr/>
                    <a:lstStyle/>
                    <a:p>
                      <a:pPr algn="ctr"/>
                      <a:r>
                        <a:rPr sz="1000" b="1" i="0">
                          <a:solidFill>
                            <a:srgbClr val="262626"/>
                          </a:solidFill>
                          <a:latin typeface="Arial"/>
                        </a:rPr>
                        <a:t>4</a:t>
                      </a:r>
                    </a:p>
                  </a:txBody>
                  <a:tcPr>
                    <a:solidFill>
                      <a:srgbClr val="F2F2F2"/>
                    </a:solidFill>
                  </a:tcPr>
                </a:tc>
                <a:tc>
                  <a:txBody>
                    <a:bodyPr/>
                    <a:lstStyle/>
                    <a:p>
                      <a:pPr algn="l"/>
                      <a:r>
                        <a:rPr sz="1000" b="0" i="0">
                          <a:solidFill>
                            <a:srgbClr val="262626"/>
                          </a:solidFill>
                          <a:latin typeface="Arial"/>
                        </a:rPr>
                        <a:t>Henry Graf</a:t>
                      </a:r>
                    </a:p>
                  </a:txBody>
                  <a:tcPr>
                    <a:solidFill>
                      <a:srgbClr val="F2F2F2"/>
                    </a:solidFill>
                  </a:tcPr>
                </a:tc>
                <a:tc>
                  <a:txBody>
                    <a:bodyPr/>
                    <a:lstStyle/>
                    <a:p>
                      <a:pPr algn="ctr"/>
                      <a:r>
                        <a:rPr sz="1000" b="0" i="0">
                          <a:solidFill>
                            <a:srgbClr val="262626"/>
                          </a:solidFill>
                          <a:latin typeface="Arial"/>
                        </a:rPr>
                        <a:t>5,726</a:t>
                      </a:r>
                    </a:p>
                  </a:txBody>
                  <a:tcPr>
                    <a:solidFill>
                      <a:srgbClr val="F2F2F2"/>
                    </a:solidFill>
                  </a:tcPr>
                </a:tc>
                <a:extLst>
                  <a:ext uri="{0D108BD9-81ED-4DB2-BD59-A6C34878D82A}">
                    <a16:rowId xmlns:a16="http://schemas.microsoft.com/office/drawing/2014/main" val="10004"/>
                  </a:ext>
                </a:extLst>
              </a:tr>
              <a:tr h="264344">
                <a:tc>
                  <a:txBody>
                    <a:bodyPr/>
                    <a:lstStyle/>
                    <a:p>
                      <a:pPr algn="ctr"/>
                      <a:r>
                        <a:rPr sz="1000" b="1" i="0">
                          <a:solidFill>
                            <a:srgbClr val="262626"/>
                          </a:solidFill>
                          <a:latin typeface="Arial"/>
                        </a:rPr>
                        <a:t>5</a:t>
                      </a:r>
                    </a:p>
                  </a:txBody>
                  <a:tcPr>
                    <a:solidFill>
                      <a:srgbClr val="FFFFFF"/>
                    </a:solidFill>
                  </a:tcPr>
                </a:tc>
                <a:tc>
                  <a:txBody>
                    <a:bodyPr/>
                    <a:lstStyle/>
                    <a:p>
                      <a:pPr algn="l"/>
                      <a:r>
                        <a:rPr sz="1000" b="0" i="0">
                          <a:solidFill>
                            <a:srgbClr val="262626"/>
                          </a:solidFill>
                          <a:latin typeface="Arial"/>
                        </a:rPr>
                        <a:t>David Cantero Del Campo</a:t>
                      </a:r>
                    </a:p>
                  </a:txBody>
                  <a:tcPr>
                    <a:solidFill>
                      <a:srgbClr val="FFFFFF"/>
                    </a:solidFill>
                  </a:tcPr>
                </a:tc>
                <a:tc>
                  <a:txBody>
                    <a:bodyPr/>
                    <a:lstStyle/>
                    <a:p>
                      <a:pPr algn="ctr"/>
                      <a:r>
                        <a:rPr sz="1000" b="0" i="0">
                          <a:solidFill>
                            <a:srgbClr val="262626"/>
                          </a:solidFill>
                          <a:latin typeface="Arial"/>
                        </a:rPr>
                        <a:t>5,062</a:t>
                      </a:r>
                    </a:p>
                  </a:txBody>
                  <a:tcPr>
                    <a:solidFill>
                      <a:srgbClr val="FFFFFF"/>
                    </a:solidFill>
                  </a:tcPr>
                </a:tc>
                <a:extLst>
                  <a:ext uri="{0D108BD9-81ED-4DB2-BD59-A6C34878D82A}">
                    <a16:rowId xmlns:a16="http://schemas.microsoft.com/office/drawing/2014/main" val="10005"/>
                  </a:ext>
                </a:extLst>
              </a:tr>
              <a:tr h="264344">
                <a:tc>
                  <a:txBody>
                    <a:bodyPr/>
                    <a:lstStyle/>
                    <a:p>
                      <a:pPr algn="ctr"/>
                      <a:r>
                        <a:rPr sz="1000" b="1" i="0">
                          <a:solidFill>
                            <a:srgbClr val="262626"/>
                          </a:solidFill>
                          <a:latin typeface="Arial"/>
                        </a:rPr>
                        <a:t>6</a:t>
                      </a:r>
                    </a:p>
                  </a:txBody>
                  <a:tcPr>
                    <a:solidFill>
                      <a:srgbClr val="F2F2F2"/>
                    </a:solidFill>
                  </a:tcPr>
                </a:tc>
                <a:tc>
                  <a:txBody>
                    <a:bodyPr/>
                    <a:lstStyle/>
                    <a:p>
                      <a:pPr algn="l"/>
                      <a:r>
                        <a:rPr sz="1000" b="0" i="0">
                          <a:solidFill>
                            <a:srgbClr val="262626"/>
                          </a:solidFill>
                          <a:latin typeface="Arial"/>
                        </a:rPr>
                        <a:t>Csongor Lehmann</a:t>
                      </a:r>
                    </a:p>
                  </a:txBody>
                  <a:tcPr>
                    <a:solidFill>
                      <a:srgbClr val="F2F2F2"/>
                    </a:solidFill>
                  </a:tcPr>
                </a:tc>
                <a:tc>
                  <a:txBody>
                    <a:bodyPr/>
                    <a:lstStyle/>
                    <a:p>
                      <a:pPr algn="ctr"/>
                      <a:r>
                        <a:rPr sz="1000" b="0" i="0">
                          <a:solidFill>
                            <a:srgbClr val="262626"/>
                          </a:solidFill>
                          <a:latin typeface="Arial"/>
                        </a:rPr>
                        <a:t>5,030</a:t>
                      </a:r>
                    </a:p>
                  </a:txBody>
                  <a:tcPr>
                    <a:solidFill>
                      <a:srgbClr val="F2F2F2"/>
                    </a:solidFill>
                  </a:tcPr>
                </a:tc>
                <a:extLst>
                  <a:ext uri="{0D108BD9-81ED-4DB2-BD59-A6C34878D82A}">
                    <a16:rowId xmlns:a16="http://schemas.microsoft.com/office/drawing/2014/main" val="10006"/>
                  </a:ext>
                </a:extLst>
              </a:tr>
              <a:tr h="264344">
                <a:tc>
                  <a:txBody>
                    <a:bodyPr/>
                    <a:lstStyle/>
                    <a:p>
                      <a:pPr algn="ctr"/>
                      <a:r>
                        <a:rPr sz="1000" b="1" i="0">
                          <a:solidFill>
                            <a:srgbClr val="262626"/>
                          </a:solidFill>
                          <a:latin typeface="Arial"/>
                        </a:rPr>
                        <a:t>7</a:t>
                      </a:r>
                    </a:p>
                  </a:txBody>
                  <a:tcPr>
                    <a:solidFill>
                      <a:srgbClr val="FFFFFF"/>
                    </a:solidFill>
                  </a:tcPr>
                </a:tc>
                <a:tc>
                  <a:txBody>
                    <a:bodyPr/>
                    <a:lstStyle/>
                    <a:p>
                      <a:pPr algn="l"/>
                      <a:r>
                        <a:rPr sz="1000" b="0" i="0">
                          <a:solidFill>
                            <a:srgbClr val="262626"/>
                          </a:solidFill>
                          <a:latin typeface="Arial"/>
                        </a:rPr>
                        <a:t>Dorian Coninx</a:t>
                      </a:r>
                    </a:p>
                  </a:txBody>
                  <a:tcPr>
                    <a:solidFill>
                      <a:srgbClr val="FFFFFF"/>
                    </a:solidFill>
                  </a:tcPr>
                </a:tc>
                <a:tc>
                  <a:txBody>
                    <a:bodyPr/>
                    <a:lstStyle/>
                    <a:p>
                      <a:pPr algn="ctr"/>
                      <a:r>
                        <a:rPr sz="1000" b="0" i="0">
                          <a:solidFill>
                            <a:srgbClr val="262626"/>
                          </a:solidFill>
                          <a:latin typeface="Arial"/>
                        </a:rPr>
                        <a:t>4,545</a:t>
                      </a:r>
                    </a:p>
                  </a:txBody>
                  <a:tcPr>
                    <a:solidFill>
                      <a:srgbClr val="FFFFFF"/>
                    </a:solidFill>
                  </a:tcPr>
                </a:tc>
                <a:extLst>
                  <a:ext uri="{0D108BD9-81ED-4DB2-BD59-A6C34878D82A}">
                    <a16:rowId xmlns:a16="http://schemas.microsoft.com/office/drawing/2014/main" val="10007"/>
                  </a:ext>
                </a:extLst>
              </a:tr>
              <a:tr h="264344">
                <a:tc>
                  <a:txBody>
                    <a:bodyPr/>
                    <a:lstStyle/>
                    <a:p>
                      <a:pPr algn="ctr"/>
                      <a:r>
                        <a:rPr sz="1000" b="1" i="0">
                          <a:solidFill>
                            <a:srgbClr val="262626"/>
                          </a:solidFill>
                          <a:latin typeface="Arial"/>
                        </a:rPr>
                        <a:t>8</a:t>
                      </a:r>
                    </a:p>
                  </a:txBody>
                  <a:tcPr>
                    <a:solidFill>
                      <a:srgbClr val="F2F2F2"/>
                    </a:solidFill>
                  </a:tcPr>
                </a:tc>
                <a:tc>
                  <a:txBody>
                    <a:bodyPr/>
                    <a:lstStyle/>
                    <a:p>
                      <a:pPr algn="l"/>
                      <a:r>
                        <a:rPr sz="1000" b="0" i="0">
                          <a:solidFill>
                            <a:srgbClr val="262626"/>
                          </a:solidFill>
                          <a:latin typeface="Arial"/>
                        </a:rPr>
                        <a:t>Luke Willian</a:t>
                      </a:r>
                    </a:p>
                  </a:txBody>
                  <a:tcPr>
                    <a:solidFill>
                      <a:srgbClr val="F2F2F2"/>
                    </a:solidFill>
                  </a:tcPr>
                </a:tc>
                <a:tc>
                  <a:txBody>
                    <a:bodyPr/>
                    <a:lstStyle/>
                    <a:p>
                      <a:pPr algn="ctr"/>
                      <a:r>
                        <a:rPr sz="1000" b="0" i="0">
                          <a:solidFill>
                            <a:srgbClr val="262626"/>
                          </a:solidFill>
                          <a:latin typeface="Arial"/>
                        </a:rPr>
                        <a:t>4,534</a:t>
                      </a:r>
                    </a:p>
                  </a:txBody>
                  <a:tcPr>
                    <a:solidFill>
                      <a:srgbClr val="F2F2F2"/>
                    </a:solidFill>
                  </a:tcPr>
                </a:tc>
                <a:extLst>
                  <a:ext uri="{0D108BD9-81ED-4DB2-BD59-A6C34878D82A}">
                    <a16:rowId xmlns:a16="http://schemas.microsoft.com/office/drawing/2014/main" val="10008"/>
                  </a:ext>
                </a:extLst>
              </a:tr>
              <a:tr h="264344">
                <a:tc>
                  <a:txBody>
                    <a:bodyPr/>
                    <a:lstStyle/>
                    <a:p>
                      <a:pPr algn="ctr"/>
                      <a:r>
                        <a:rPr sz="1000" b="1" i="0">
                          <a:solidFill>
                            <a:srgbClr val="262626"/>
                          </a:solidFill>
                          <a:latin typeface="Arial"/>
                        </a:rPr>
                        <a:t>9</a:t>
                      </a:r>
                    </a:p>
                  </a:txBody>
                  <a:tcPr>
                    <a:solidFill>
                      <a:srgbClr val="FFFFFF"/>
                    </a:solidFill>
                  </a:tcPr>
                </a:tc>
                <a:tc>
                  <a:txBody>
                    <a:bodyPr/>
                    <a:lstStyle/>
                    <a:p>
                      <a:pPr algn="l"/>
                      <a:r>
                        <a:rPr sz="1000" b="0" i="0">
                          <a:solidFill>
                            <a:srgbClr val="262626"/>
                          </a:solidFill>
                          <a:latin typeface="Arial"/>
                        </a:rPr>
                        <a:t>Ricardo Batista</a:t>
                      </a:r>
                    </a:p>
                  </a:txBody>
                  <a:tcPr>
                    <a:solidFill>
                      <a:srgbClr val="FFFFFF"/>
                    </a:solidFill>
                  </a:tcPr>
                </a:tc>
                <a:tc>
                  <a:txBody>
                    <a:bodyPr/>
                    <a:lstStyle/>
                    <a:p>
                      <a:pPr algn="ctr"/>
                      <a:r>
                        <a:rPr sz="1000" b="0" i="0">
                          <a:solidFill>
                            <a:srgbClr val="262626"/>
                          </a:solidFill>
                          <a:latin typeface="Arial"/>
                        </a:rPr>
                        <a:t>4,458</a:t>
                      </a:r>
                    </a:p>
                  </a:txBody>
                  <a:tcPr>
                    <a:solidFill>
                      <a:srgbClr val="FFFFFF"/>
                    </a:solidFill>
                  </a:tcPr>
                </a:tc>
                <a:extLst>
                  <a:ext uri="{0D108BD9-81ED-4DB2-BD59-A6C34878D82A}">
                    <a16:rowId xmlns:a16="http://schemas.microsoft.com/office/drawing/2014/main" val="10009"/>
                  </a:ext>
                </a:extLst>
              </a:tr>
              <a:tr h="264352">
                <a:tc>
                  <a:txBody>
                    <a:bodyPr/>
                    <a:lstStyle/>
                    <a:p>
                      <a:pPr algn="ctr"/>
                      <a:r>
                        <a:rPr sz="1000" b="1" i="0">
                          <a:solidFill>
                            <a:srgbClr val="262626"/>
                          </a:solidFill>
                          <a:latin typeface="Arial"/>
                        </a:rPr>
                        <a:t>10</a:t>
                      </a:r>
                    </a:p>
                  </a:txBody>
                  <a:tcPr>
                    <a:solidFill>
                      <a:srgbClr val="F2F2F2"/>
                    </a:solidFill>
                  </a:tcPr>
                </a:tc>
                <a:tc>
                  <a:txBody>
                    <a:bodyPr/>
                    <a:lstStyle/>
                    <a:p>
                      <a:pPr algn="l"/>
                      <a:r>
                        <a:rPr sz="1000" b="0" i="0">
                          <a:solidFill>
                            <a:srgbClr val="262626"/>
                          </a:solidFill>
                          <a:latin typeface="Arial"/>
                        </a:rPr>
                        <a:t>Alessio Crociani</a:t>
                      </a:r>
                    </a:p>
                  </a:txBody>
                  <a:tcPr>
                    <a:solidFill>
                      <a:srgbClr val="F2F2F2"/>
                    </a:solidFill>
                  </a:tcPr>
                </a:tc>
                <a:tc>
                  <a:txBody>
                    <a:bodyPr/>
                    <a:lstStyle/>
                    <a:p>
                      <a:pPr algn="ctr"/>
                      <a:r>
                        <a:rPr sz="1000" b="0" i="0">
                          <a:solidFill>
                            <a:srgbClr val="262626"/>
                          </a:solidFill>
                          <a:latin typeface="Arial"/>
                        </a:rPr>
                        <a:t>3,921</a:t>
                      </a:r>
                    </a:p>
                  </a:txBody>
                  <a:tcPr>
                    <a:solidFill>
                      <a:srgbClr val="F2F2F2"/>
                    </a:solidFill>
                  </a:tcPr>
                </a:tc>
                <a:extLst>
                  <a:ext uri="{0D108BD9-81ED-4DB2-BD59-A6C34878D82A}">
                    <a16:rowId xmlns:a16="http://schemas.microsoft.com/office/drawing/2014/main" val="10010"/>
                  </a:ext>
                </a:extLst>
              </a:tr>
            </a:tbl>
          </a:graphicData>
        </a:graphic>
      </p:graphicFrame>
      <p:sp>
        <p:nvSpPr>
          <p:cNvPr id="12" name="Rectangle 11"/>
          <p:cNvSpPr/>
          <p:nvPr/>
        </p:nvSpPr>
        <p:spPr>
          <a:xfrm>
            <a:off x="274320" y="5056632"/>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5074920"/>
            <a:ext cx="5486400" cy="237744"/>
          </a:xfrm>
          <a:prstGeom prst="rect">
            <a:avLst/>
          </a:prstGeom>
          <a:noFill/>
        </p:spPr>
        <p:txBody>
          <a:bodyPr wrap="square">
            <a:spAutoFit/>
          </a:bodyPr>
          <a:lstStyle/>
          <a:p>
            <a:pPr algn="l"/>
            <a:r>
              <a:rPr sz="1100" b="1" i="0">
                <a:solidFill>
                  <a:srgbClr val="FFFFFF"/>
                </a:solidFill>
                <a:latin typeface="Arial"/>
              </a:rPr>
              <a:t>Last Year's Podium at Hamburg</a:t>
            </a:r>
          </a:p>
        </p:txBody>
      </p:sp>
      <p:sp>
        <p:nvSpPr>
          <p:cNvPr id="14" name="TextBox 13"/>
          <p:cNvSpPr txBox="1"/>
          <p:nvPr/>
        </p:nvSpPr>
        <p:spPr>
          <a:xfrm>
            <a:off x="411480" y="5422392"/>
            <a:ext cx="5394960" cy="292608"/>
          </a:xfrm>
          <a:prstGeom prst="rect">
            <a:avLst/>
          </a:prstGeom>
          <a:noFill/>
        </p:spPr>
        <p:txBody>
          <a:bodyPr wrap="square">
            <a:spAutoFit/>
          </a:bodyPr>
          <a:lstStyle/>
          <a:p>
            <a:pPr algn="l"/>
            <a:r>
              <a:rPr sz="1100" b="1" i="0">
                <a:solidFill>
                  <a:srgbClr val="262626"/>
                </a:solidFill>
                <a:latin typeface="Arial"/>
              </a:rPr>
              <a:t>1.  Matthew Hauser   (00:50:07)</a:t>
            </a:r>
          </a:p>
        </p:txBody>
      </p:sp>
      <p:sp>
        <p:nvSpPr>
          <p:cNvPr id="15" name="TextBox 14"/>
          <p:cNvSpPr txBox="1"/>
          <p:nvPr/>
        </p:nvSpPr>
        <p:spPr>
          <a:xfrm>
            <a:off x="411480" y="5715000"/>
            <a:ext cx="5394960" cy="292608"/>
          </a:xfrm>
          <a:prstGeom prst="rect">
            <a:avLst/>
          </a:prstGeom>
          <a:noFill/>
        </p:spPr>
        <p:txBody>
          <a:bodyPr wrap="square">
            <a:spAutoFit/>
          </a:bodyPr>
          <a:lstStyle/>
          <a:p>
            <a:pPr algn="l"/>
            <a:r>
              <a:rPr sz="1100" b="0" i="0">
                <a:solidFill>
                  <a:srgbClr val="262626"/>
                </a:solidFill>
                <a:latin typeface="Arial"/>
              </a:rPr>
              <a:t>2.  Vasco Vilaca   (00:50:14)</a:t>
            </a:r>
          </a:p>
        </p:txBody>
      </p:sp>
      <p:sp>
        <p:nvSpPr>
          <p:cNvPr id="16" name="TextBox 15"/>
          <p:cNvSpPr txBox="1"/>
          <p:nvPr/>
        </p:nvSpPr>
        <p:spPr>
          <a:xfrm>
            <a:off x="411480" y="6007608"/>
            <a:ext cx="5394960" cy="292608"/>
          </a:xfrm>
          <a:prstGeom prst="rect">
            <a:avLst/>
          </a:prstGeom>
          <a:noFill/>
        </p:spPr>
        <p:txBody>
          <a:bodyPr wrap="square">
            <a:spAutoFit/>
          </a:bodyPr>
          <a:lstStyle/>
          <a:p>
            <a:pPr algn="l"/>
            <a:r>
              <a:rPr sz="1100" b="0" i="0">
                <a:solidFill>
                  <a:srgbClr val="262626"/>
                </a:solidFill>
                <a:latin typeface="Arial"/>
              </a:rPr>
              <a:t>3.  Alessio Crociani   (00:50:36)</a:t>
            </a:r>
          </a:p>
        </p:txBody>
      </p:sp>
      <p:sp>
        <p:nvSpPr>
          <p:cNvPr id="17" name="Rectangle 16"/>
          <p:cNvSpPr/>
          <p:nvPr/>
        </p:nvSpPr>
        <p:spPr>
          <a:xfrm>
            <a:off x="6217920" y="1188720"/>
            <a:ext cx="5669280"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1234440"/>
            <a:ext cx="5486400" cy="292608"/>
          </a:xfrm>
          <a:prstGeom prst="rect">
            <a:avLst/>
          </a:prstGeom>
          <a:noFill/>
        </p:spPr>
        <p:txBody>
          <a:bodyPr wrap="square">
            <a:spAutoFit/>
          </a:bodyPr>
          <a:lstStyle/>
          <a:p>
            <a:pPr algn="ctr"/>
            <a:r>
              <a:rPr sz="1400" b="1" i="0">
                <a:solidFill>
                  <a:srgbClr val="FFFFFF"/>
                </a:solidFill>
                <a:latin typeface="Arial"/>
              </a:rPr>
              <a:t>ELITE WOMEN</a:t>
            </a:r>
          </a:p>
        </p:txBody>
      </p:sp>
      <p:sp>
        <p:nvSpPr>
          <p:cNvPr id="19" name="Rectangle 18"/>
          <p:cNvSpPr/>
          <p:nvPr/>
        </p:nvSpPr>
        <p:spPr>
          <a:xfrm>
            <a:off x="6217920" y="1645920"/>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0" y="1664208"/>
            <a:ext cx="5486400" cy="237744"/>
          </a:xfrm>
          <a:prstGeom prst="rect">
            <a:avLst/>
          </a:prstGeom>
          <a:noFill/>
        </p:spPr>
        <p:txBody>
          <a:bodyPr wrap="square">
            <a:spAutoFit/>
          </a:bodyPr>
          <a:lstStyle/>
          <a:p>
            <a:pPr algn="l"/>
            <a:r>
              <a:rPr sz="1100" b="1" i="0">
                <a:solidFill>
                  <a:srgbClr val="FFFFFF"/>
                </a:solidFill>
                <a:latin typeface="Arial"/>
              </a:rPr>
              <a:t>Top 10 by World Ranking</a:t>
            </a:r>
          </a:p>
        </p:txBody>
      </p:sp>
      <p:graphicFrame>
        <p:nvGraphicFramePr>
          <p:cNvPr id="21" name="Table 20"/>
          <p:cNvGraphicFramePr>
            <a:graphicFrameLocks noGrp="1"/>
          </p:cNvGraphicFramePr>
          <p:nvPr/>
        </p:nvGraphicFramePr>
        <p:xfrm>
          <a:off x="6217920" y="1965960"/>
          <a:ext cx="5486400" cy="2907792"/>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64344">
                <a:tc>
                  <a:txBody>
                    <a:bodyPr/>
                    <a:lstStyle/>
                    <a:p>
                      <a:pPr algn="ctr"/>
                      <a:r>
                        <a:rPr sz="1000" b="1" i="0">
                          <a:solidFill>
                            <a:srgbClr val="FFFFFF"/>
                          </a:solidFill>
                          <a:latin typeface="Arial"/>
                        </a:rPr>
                        <a:t>Rank</a:t>
                      </a:r>
                    </a:p>
                  </a:txBody>
                  <a:tcPr>
                    <a:solidFill>
                      <a:srgbClr val="002060"/>
                    </a:solidFill>
                  </a:tcPr>
                </a:tc>
                <a:tc>
                  <a:txBody>
                    <a:bodyPr/>
                    <a:lstStyle/>
                    <a:p>
                      <a:pPr algn="ctr"/>
                      <a:r>
                        <a:rPr sz="1000" b="1" i="0">
                          <a:solidFill>
                            <a:srgbClr val="FFFFFF"/>
                          </a:solidFill>
                          <a:latin typeface="Arial"/>
                        </a:rPr>
                        <a:t>Athlete</a:t>
                      </a:r>
                    </a:p>
                  </a:txBody>
                  <a:tcPr>
                    <a:solidFill>
                      <a:srgbClr val="002060"/>
                    </a:solidFill>
                  </a:tcPr>
                </a:tc>
                <a:tc>
                  <a:txBody>
                    <a:bodyPr/>
                    <a:lstStyle/>
                    <a:p>
                      <a:pPr algn="ctr"/>
                      <a:r>
                        <a:rPr sz="1000" b="1" i="0">
                          <a:solidFill>
                            <a:srgbClr val="FFFFFF"/>
                          </a:solidFill>
                          <a:latin typeface="Arial"/>
                        </a:rPr>
                        <a:t>Points</a:t>
                      </a:r>
                    </a:p>
                  </a:txBody>
                  <a:tcPr>
                    <a:solidFill>
                      <a:srgbClr val="002060"/>
                    </a:solidFill>
                  </a:tcPr>
                </a:tc>
                <a:extLst>
                  <a:ext uri="{0D108BD9-81ED-4DB2-BD59-A6C34878D82A}">
                    <a16:rowId xmlns:a16="http://schemas.microsoft.com/office/drawing/2014/main" val="10000"/>
                  </a:ext>
                </a:extLst>
              </a:tr>
              <a:tr h="264344">
                <a:tc>
                  <a:txBody>
                    <a:bodyPr/>
                    <a:lstStyle/>
                    <a:p>
                      <a:pPr algn="ctr"/>
                      <a:r>
                        <a:rPr sz="1000" b="1" i="0">
                          <a:solidFill>
                            <a:srgbClr val="262626"/>
                          </a:solidFill>
                          <a:latin typeface="Arial"/>
                        </a:rPr>
                        <a:t>1</a:t>
                      </a:r>
                    </a:p>
                  </a:txBody>
                  <a:tcPr>
                    <a:solidFill>
                      <a:srgbClr val="FFFFFF"/>
                    </a:solidFill>
                  </a:tcPr>
                </a:tc>
                <a:tc>
                  <a:txBody>
                    <a:bodyPr/>
                    <a:lstStyle/>
                    <a:p>
                      <a:pPr algn="l"/>
                      <a:r>
                        <a:rPr sz="1000" b="0" i="0">
                          <a:solidFill>
                            <a:srgbClr val="262626"/>
                          </a:solidFill>
                          <a:latin typeface="Arial"/>
                        </a:rPr>
                        <a:t>Beth Potter</a:t>
                      </a:r>
                    </a:p>
                  </a:txBody>
                  <a:tcPr>
                    <a:solidFill>
                      <a:srgbClr val="FFFFFF"/>
                    </a:solidFill>
                  </a:tcPr>
                </a:tc>
                <a:tc>
                  <a:txBody>
                    <a:bodyPr/>
                    <a:lstStyle/>
                    <a:p>
                      <a:pPr algn="ctr"/>
                      <a:r>
                        <a:rPr sz="1000" b="0" i="0">
                          <a:solidFill>
                            <a:srgbClr val="262626"/>
                          </a:solidFill>
                          <a:latin typeface="Arial"/>
                        </a:rPr>
                        <a:t>7,399</a:t>
                      </a:r>
                    </a:p>
                  </a:txBody>
                  <a:tcPr>
                    <a:solidFill>
                      <a:srgbClr val="FFFFFF"/>
                    </a:solidFill>
                  </a:tcPr>
                </a:tc>
                <a:extLst>
                  <a:ext uri="{0D108BD9-81ED-4DB2-BD59-A6C34878D82A}">
                    <a16:rowId xmlns:a16="http://schemas.microsoft.com/office/drawing/2014/main" val="10001"/>
                  </a:ext>
                </a:extLst>
              </a:tr>
              <a:tr h="264344">
                <a:tc>
                  <a:txBody>
                    <a:bodyPr/>
                    <a:lstStyle/>
                    <a:p>
                      <a:pPr algn="ctr"/>
                      <a:r>
                        <a:rPr sz="1000" b="1" i="0">
                          <a:solidFill>
                            <a:srgbClr val="262626"/>
                          </a:solidFill>
                          <a:latin typeface="Arial"/>
                        </a:rPr>
                        <a:t>2</a:t>
                      </a:r>
                    </a:p>
                  </a:txBody>
                  <a:tcPr>
                    <a:solidFill>
                      <a:srgbClr val="F2F2F2"/>
                    </a:solidFill>
                  </a:tcPr>
                </a:tc>
                <a:tc>
                  <a:txBody>
                    <a:bodyPr/>
                    <a:lstStyle/>
                    <a:p>
                      <a:pPr algn="l"/>
                      <a:r>
                        <a:rPr sz="1000" b="0" i="0">
                          <a:solidFill>
                            <a:srgbClr val="262626"/>
                          </a:solidFill>
                          <a:latin typeface="Arial"/>
                        </a:rPr>
                        <a:t>Lisa Tertsch</a:t>
                      </a:r>
                    </a:p>
                  </a:txBody>
                  <a:tcPr>
                    <a:solidFill>
                      <a:srgbClr val="F2F2F2"/>
                    </a:solidFill>
                  </a:tcPr>
                </a:tc>
                <a:tc>
                  <a:txBody>
                    <a:bodyPr/>
                    <a:lstStyle/>
                    <a:p>
                      <a:pPr algn="ctr"/>
                      <a:r>
                        <a:rPr sz="1000" b="0" i="0">
                          <a:solidFill>
                            <a:srgbClr val="262626"/>
                          </a:solidFill>
                          <a:latin typeface="Arial"/>
                        </a:rPr>
                        <a:t>6,914</a:t>
                      </a:r>
                    </a:p>
                  </a:txBody>
                  <a:tcPr>
                    <a:solidFill>
                      <a:srgbClr val="F2F2F2"/>
                    </a:solidFill>
                  </a:tcPr>
                </a:tc>
                <a:extLst>
                  <a:ext uri="{0D108BD9-81ED-4DB2-BD59-A6C34878D82A}">
                    <a16:rowId xmlns:a16="http://schemas.microsoft.com/office/drawing/2014/main" val="10002"/>
                  </a:ext>
                </a:extLst>
              </a:tr>
              <a:tr h="264344">
                <a:tc>
                  <a:txBody>
                    <a:bodyPr/>
                    <a:lstStyle/>
                    <a:p>
                      <a:pPr algn="ctr"/>
                      <a:r>
                        <a:rPr sz="1000" b="1" i="0">
                          <a:solidFill>
                            <a:srgbClr val="262626"/>
                          </a:solidFill>
                          <a:latin typeface="Arial"/>
                        </a:rPr>
                        <a:t>3</a:t>
                      </a:r>
                    </a:p>
                  </a:txBody>
                  <a:tcPr>
                    <a:solidFill>
                      <a:srgbClr val="FFFFFF"/>
                    </a:solidFill>
                  </a:tcPr>
                </a:tc>
                <a:tc>
                  <a:txBody>
                    <a:bodyPr/>
                    <a:lstStyle/>
                    <a:p>
                      <a:pPr algn="l"/>
                      <a:r>
                        <a:rPr sz="1000" b="0" i="0">
                          <a:solidFill>
                            <a:srgbClr val="262626"/>
                          </a:solidFill>
                          <a:latin typeface="Arial"/>
                        </a:rPr>
                        <a:t>Jeanne Lehair</a:t>
                      </a:r>
                    </a:p>
                  </a:txBody>
                  <a:tcPr>
                    <a:solidFill>
                      <a:srgbClr val="FFFFFF"/>
                    </a:solidFill>
                  </a:tcPr>
                </a:tc>
                <a:tc>
                  <a:txBody>
                    <a:bodyPr/>
                    <a:lstStyle/>
                    <a:p>
                      <a:pPr algn="ctr"/>
                      <a:r>
                        <a:rPr sz="1000" b="0" i="0">
                          <a:solidFill>
                            <a:srgbClr val="262626"/>
                          </a:solidFill>
                          <a:latin typeface="Arial"/>
                        </a:rPr>
                        <a:t>6,295</a:t>
                      </a:r>
                    </a:p>
                  </a:txBody>
                  <a:tcPr>
                    <a:solidFill>
                      <a:srgbClr val="FFFFFF"/>
                    </a:solidFill>
                  </a:tcPr>
                </a:tc>
                <a:extLst>
                  <a:ext uri="{0D108BD9-81ED-4DB2-BD59-A6C34878D82A}">
                    <a16:rowId xmlns:a16="http://schemas.microsoft.com/office/drawing/2014/main" val="10003"/>
                  </a:ext>
                </a:extLst>
              </a:tr>
              <a:tr h="264344">
                <a:tc>
                  <a:txBody>
                    <a:bodyPr/>
                    <a:lstStyle/>
                    <a:p>
                      <a:pPr algn="ctr"/>
                      <a:r>
                        <a:rPr sz="1000" b="1" i="0">
                          <a:solidFill>
                            <a:srgbClr val="262626"/>
                          </a:solidFill>
                          <a:latin typeface="Arial"/>
                        </a:rPr>
                        <a:t>4</a:t>
                      </a:r>
                    </a:p>
                  </a:txBody>
                  <a:tcPr>
                    <a:solidFill>
                      <a:srgbClr val="F2F2F2"/>
                    </a:solidFill>
                  </a:tcPr>
                </a:tc>
                <a:tc>
                  <a:txBody>
                    <a:bodyPr/>
                    <a:lstStyle/>
                    <a:p>
                      <a:pPr algn="l"/>
                      <a:r>
                        <a:rPr sz="1000" b="0" i="0">
                          <a:solidFill>
                            <a:srgbClr val="262626"/>
                          </a:solidFill>
                          <a:latin typeface="Arial"/>
                        </a:rPr>
                        <a:t>Leonie Periault</a:t>
                      </a:r>
                    </a:p>
                  </a:txBody>
                  <a:tcPr>
                    <a:solidFill>
                      <a:srgbClr val="F2F2F2"/>
                    </a:solidFill>
                  </a:tcPr>
                </a:tc>
                <a:tc>
                  <a:txBody>
                    <a:bodyPr/>
                    <a:lstStyle/>
                    <a:p>
                      <a:pPr algn="ctr"/>
                      <a:r>
                        <a:rPr sz="1000" b="0" i="0">
                          <a:solidFill>
                            <a:srgbClr val="262626"/>
                          </a:solidFill>
                          <a:latin typeface="Arial"/>
                        </a:rPr>
                        <a:t>6,170</a:t>
                      </a:r>
                    </a:p>
                  </a:txBody>
                  <a:tcPr>
                    <a:solidFill>
                      <a:srgbClr val="F2F2F2"/>
                    </a:solidFill>
                  </a:tcPr>
                </a:tc>
                <a:extLst>
                  <a:ext uri="{0D108BD9-81ED-4DB2-BD59-A6C34878D82A}">
                    <a16:rowId xmlns:a16="http://schemas.microsoft.com/office/drawing/2014/main" val="10004"/>
                  </a:ext>
                </a:extLst>
              </a:tr>
              <a:tr h="264344">
                <a:tc>
                  <a:txBody>
                    <a:bodyPr/>
                    <a:lstStyle/>
                    <a:p>
                      <a:pPr algn="ctr"/>
                      <a:r>
                        <a:rPr sz="1000" b="1" i="0">
                          <a:solidFill>
                            <a:srgbClr val="262626"/>
                          </a:solidFill>
                          <a:latin typeface="Arial"/>
                        </a:rPr>
                        <a:t>5</a:t>
                      </a:r>
                    </a:p>
                  </a:txBody>
                  <a:tcPr>
                    <a:solidFill>
                      <a:srgbClr val="FFFFFF"/>
                    </a:solidFill>
                  </a:tcPr>
                </a:tc>
                <a:tc>
                  <a:txBody>
                    <a:bodyPr/>
                    <a:lstStyle/>
                    <a:p>
                      <a:pPr algn="l"/>
                      <a:r>
                        <a:rPr sz="1000" b="0" i="0">
                          <a:solidFill>
                            <a:srgbClr val="262626"/>
                          </a:solidFill>
                          <a:latin typeface="Arial"/>
                        </a:rPr>
                        <a:t>Cassandre Beaugrand</a:t>
                      </a:r>
                    </a:p>
                  </a:txBody>
                  <a:tcPr>
                    <a:solidFill>
                      <a:srgbClr val="FFFFFF"/>
                    </a:solidFill>
                  </a:tcPr>
                </a:tc>
                <a:tc>
                  <a:txBody>
                    <a:bodyPr/>
                    <a:lstStyle/>
                    <a:p>
                      <a:pPr algn="ctr"/>
                      <a:r>
                        <a:rPr sz="1000" b="0" i="0">
                          <a:solidFill>
                            <a:srgbClr val="262626"/>
                          </a:solidFill>
                          <a:latin typeface="Arial"/>
                        </a:rPr>
                        <a:t>5,591</a:t>
                      </a:r>
                    </a:p>
                  </a:txBody>
                  <a:tcPr>
                    <a:solidFill>
                      <a:srgbClr val="FFFFFF"/>
                    </a:solidFill>
                  </a:tcPr>
                </a:tc>
                <a:extLst>
                  <a:ext uri="{0D108BD9-81ED-4DB2-BD59-A6C34878D82A}">
                    <a16:rowId xmlns:a16="http://schemas.microsoft.com/office/drawing/2014/main" val="10005"/>
                  </a:ext>
                </a:extLst>
              </a:tr>
              <a:tr h="264344">
                <a:tc>
                  <a:txBody>
                    <a:bodyPr/>
                    <a:lstStyle/>
                    <a:p>
                      <a:pPr algn="ctr"/>
                      <a:r>
                        <a:rPr sz="1000" b="1" i="0">
                          <a:solidFill>
                            <a:srgbClr val="262626"/>
                          </a:solidFill>
                          <a:latin typeface="Arial"/>
                        </a:rPr>
                        <a:t>6</a:t>
                      </a:r>
                    </a:p>
                  </a:txBody>
                  <a:tcPr>
                    <a:solidFill>
                      <a:srgbClr val="F2F2F2"/>
                    </a:solidFill>
                  </a:tcPr>
                </a:tc>
                <a:tc>
                  <a:txBody>
                    <a:bodyPr/>
                    <a:lstStyle/>
                    <a:p>
                      <a:pPr algn="l"/>
                      <a:r>
                        <a:rPr sz="1000" b="0" i="0">
                          <a:solidFill>
                            <a:srgbClr val="262626"/>
                          </a:solidFill>
                          <a:latin typeface="Arial"/>
                        </a:rPr>
                        <a:t>Jolien Vermeylen</a:t>
                      </a:r>
                    </a:p>
                  </a:txBody>
                  <a:tcPr>
                    <a:solidFill>
                      <a:srgbClr val="F2F2F2"/>
                    </a:solidFill>
                  </a:tcPr>
                </a:tc>
                <a:tc>
                  <a:txBody>
                    <a:bodyPr/>
                    <a:lstStyle/>
                    <a:p>
                      <a:pPr algn="ctr"/>
                      <a:r>
                        <a:rPr sz="1000" b="0" i="0">
                          <a:solidFill>
                            <a:srgbClr val="262626"/>
                          </a:solidFill>
                          <a:latin typeface="Arial"/>
                        </a:rPr>
                        <a:t>5,111</a:t>
                      </a:r>
                    </a:p>
                  </a:txBody>
                  <a:tcPr>
                    <a:solidFill>
                      <a:srgbClr val="F2F2F2"/>
                    </a:solidFill>
                  </a:tcPr>
                </a:tc>
                <a:extLst>
                  <a:ext uri="{0D108BD9-81ED-4DB2-BD59-A6C34878D82A}">
                    <a16:rowId xmlns:a16="http://schemas.microsoft.com/office/drawing/2014/main" val="10006"/>
                  </a:ext>
                </a:extLst>
              </a:tr>
              <a:tr h="264344">
                <a:tc>
                  <a:txBody>
                    <a:bodyPr/>
                    <a:lstStyle/>
                    <a:p>
                      <a:pPr algn="ctr"/>
                      <a:r>
                        <a:rPr sz="1000" b="1" i="0">
                          <a:solidFill>
                            <a:srgbClr val="262626"/>
                          </a:solidFill>
                          <a:latin typeface="Arial"/>
                        </a:rPr>
                        <a:t>7</a:t>
                      </a:r>
                    </a:p>
                  </a:txBody>
                  <a:tcPr>
                    <a:solidFill>
                      <a:srgbClr val="FFFFFF"/>
                    </a:solidFill>
                  </a:tcPr>
                </a:tc>
                <a:tc>
                  <a:txBody>
                    <a:bodyPr/>
                    <a:lstStyle/>
                    <a:p>
                      <a:pPr algn="l"/>
                      <a:r>
                        <a:rPr sz="1000" b="0" i="0">
                          <a:solidFill>
                            <a:srgbClr val="262626"/>
                          </a:solidFill>
                          <a:latin typeface="Arial"/>
                        </a:rPr>
                        <a:t>Taylor Spivey</a:t>
                      </a:r>
                    </a:p>
                  </a:txBody>
                  <a:tcPr>
                    <a:solidFill>
                      <a:srgbClr val="FFFFFF"/>
                    </a:solidFill>
                  </a:tcPr>
                </a:tc>
                <a:tc>
                  <a:txBody>
                    <a:bodyPr/>
                    <a:lstStyle/>
                    <a:p>
                      <a:pPr algn="ctr"/>
                      <a:r>
                        <a:rPr sz="1000" b="0" i="0">
                          <a:solidFill>
                            <a:srgbClr val="262626"/>
                          </a:solidFill>
                          <a:latin typeface="Arial"/>
                        </a:rPr>
                        <a:t>4,879</a:t>
                      </a:r>
                    </a:p>
                  </a:txBody>
                  <a:tcPr>
                    <a:solidFill>
                      <a:srgbClr val="FFFFFF"/>
                    </a:solidFill>
                  </a:tcPr>
                </a:tc>
                <a:extLst>
                  <a:ext uri="{0D108BD9-81ED-4DB2-BD59-A6C34878D82A}">
                    <a16:rowId xmlns:a16="http://schemas.microsoft.com/office/drawing/2014/main" val="10007"/>
                  </a:ext>
                </a:extLst>
              </a:tr>
              <a:tr h="264344">
                <a:tc>
                  <a:txBody>
                    <a:bodyPr/>
                    <a:lstStyle/>
                    <a:p>
                      <a:pPr algn="ctr"/>
                      <a:r>
                        <a:rPr sz="1000" b="1" i="0">
                          <a:solidFill>
                            <a:srgbClr val="262626"/>
                          </a:solidFill>
                          <a:latin typeface="Arial"/>
                        </a:rPr>
                        <a:t>8</a:t>
                      </a:r>
                    </a:p>
                  </a:txBody>
                  <a:tcPr>
                    <a:solidFill>
                      <a:srgbClr val="F2F2F2"/>
                    </a:solidFill>
                  </a:tcPr>
                </a:tc>
                <a:tc>
                  <a:txBody>
                    <a:bodyPr/>
                    <a:lstStyle/>
                    <a:p>
                      <a:pPr algn="l"/>
                      <a:r>
                        <a:rPr sz="1000" b="0" i="0">
                          <a:solidFill>
                            <a:srgbClr val="262626"/>
                          </a:solidFill>
                          <a:latin typeface="Arial"/>
                        </a:rPr>
                        <a:t>Emma Lombardi</a:t>
                      </a:r>
                    </a:p>
                  </a:txBody>
                  <a:tcPr>
                    <a:solidFill>
                      <a:srgbClr val="F2F2F2"/>
                    </a:solidFill>
                  </a:tcPr>
                </a:tc>
                <a:tc>
                  <a:txBody>
                    <a:bodyPr/>
                    <a:lstStyle/>
                    <a:p>
                      <a:pPr algn="ctr"/>
                      <a:r>
                        <a:rPr sz="1000" b="0" i="0">
                          <a:solidFill>
                            <a:srgbClr val="262626"/>
                          </a:solidFill>
                          <a:latin typeface="Arial"/>
                        </a:rPr>
                        <a:t>4,767</a:t>
                      </a:r>
                    </a:p>
                  </a:txBody>
                  <a:tcPr>
                    <a:solidFill>
                      <a:srgbClr val="F2F2F2"/>
                    </a:solidFill>
                  </a:tcPr>
                </a:tc>
                <a:extLst>
                  <a:ext uri="{0D108BD9-81ED-4DB2-BD59-A6C34878D82A}">
                    <a16:rowId xmlns:a16="http://schemas.microsoft.com/office/drawing/2014/main" val="10008"/>
                  </a:ext>
                </a:extLst>
              </a:tr>
              <a:tr h="264344">
                <a:tc>
                  <a:txBody>
                    <a:bodyPr/>
                    <a:lstStyle/>
                    <a:p>
                      <a:pPr algn="ctr"/>
                      <a:r>
                        <a:rPr sz="1000" b="1" i="0">
                          <a:solidFill>
                            <a:srgbClr val="262626"/>
                          </a:solidFill>
                          <a:latin typeface="Arial"/>
                        </a:rPr>
                        <a:t>9</a:t>
                      </a:r>
                    </a:p>
                  </a:txBody>
                  <a:tcPr>
                    <a:solidFill>
                      <a:srgbClr val="FFFFFF"/>
                    </a:solidFill>
                  </a:tcPr>
                </a:tc>
                <a:tc>
                  <a:txBody>
                    <a:bodyPr/>
                    <a:lstStyle/>
                    <a:p>
                      <a:pPr algn="l"/>
                      <a:r>
                        <a:rPr sz="1000" b="0" i="0">
                          <a:solidFill>
                            <a:srgbClr val="262626"/>
                          </a:solidFill>
                          <a:latin typeface="Arial"/>
                        </a:rPr>
                        <a:t>Diana Isakova</a:t>
                      </a:r>
                    </a:p>
                  </a:txBody>
                  <a:tcPr>
                    <a:solidFill>
                      <a:srgbClr val="FFFFFF"/>
                    </a:solidFill>
                  </a:tcPr>
                </a:tc>
                <a:tc>
                  <a:txBody>
                    <a:bodyPr/>
                    <a:lstStyle/>
                    <a:p>
                      <a:pPr algn="ctr"/>
                      <a:r>
                        <a:rPr sz="1000" b="0" i="0">
                          <a:solidFill>
                            <a:srgbClr val="262626"/>
                          </a:solidFill>
                          <a:latin typeface="Arial"/>
                        </a:rPr>
                        <a:t>4,677</a:t>
                      </a:r>
                    </a:p>
                  </a:txBody>
                  <a:tcPr>
                    <a:solidFill>
                      <a:srgbClr val="FFFFFF"/>
                    </a:solidFill>
                  </a:tcPr>
                </a:tc>
                <a:extLst>
                  <a:ext uri="{0D108BD9-81ED-4DB2-BD59-A6C34878D82A}">
                    <a16:rowId xmlns:a16="http://schemas.microsoft.com/office/drawing/2014/main" val="10009"/>
                  </a:ext>
                </a:extLst>
              </a:tr>
              <a:tr h="264352">
                <a:tc>
                  <a:txBody>
                    <a:bodyPr/>
                    <a:lstStyle/>
                    <a:p>
                      <a:pPr algn="ctr"/>
                      <a:r>
                        <a:rPr sz="1000" b="1" i="0">
                          <a:solidFill>
                            <a:srgbClr val="262626"/>
                          </a:solidFill>
                          <a:latin typeface="Arial"/>
                        </a:rPr>
                        <a:t>10</a:t>
                      </a:r>
                    </a:p>
                  </a:txBody>
                  <a:tcPr>
                    <a:solidFill>
                      <a:srgbClr val="F2F2F2"/>
                    </a:solidFill>
                  </a:tcPr>
                </a:tc>
                <a:tc>
                  <a:txBody>
                    <a:bodyPr/>
                    <a:lstStyle/>
                    <a:p>
                      <a:pPr algn="l"/>
                      <a:r>
                        <a:rPr sz="1000" b="0" i="0">
                          <a:solidFill>
                            <a:srgbClr val="262626"/>
                          </a:solidFill>
                          <a:latin typeface="Arial"/>
                        </a:rPr>
                        <a:t>Bianca Seregni</a:t>
                      </a:r>
                    </a:p>
                  </a:txBody>
                  <a:tcPr>
                    <a:solidFill>
                      <a:srgbClr val="F2F2F2"/>
                    </a:solidFill>
                  </a:tcPr>
                </a:tc>
                <a:tc>
                  <a:txBody>
                    <a:bodyPr/>
                    <a:lstStyle/>
                    <a:p>
                      <a:pPr algn="ctr"/>
                      <a:r>
                        <a:rPr sz="1000" b="0" i="0">
                          <a:solidFill>
                            <a:srgbClr val="262626"/>
                          </a:solidFill>
                          <a:latin typeface="Arial"/>
                        </a:rPr>
                        <a:t>4,659</a:t>
                      </a:r>
                    </a:p>
                  </a:txBody>
                  <a:tcPr>
                    <a:solidFill>
                      <a:srgbClr val="F2F2F2"/>
                    </a:solidFill>
                  </a:tcPr>
                </a:tc>
                <a:extLst>
                  <a:ext uri="{0D108BD9-81ED-4DB2-BD59-A6C34878D82A}">
                    <a16:rowId xmlns:a16="http://schemas.microsoft.com/office/drawing/2014/main" val="10010"/>
                  </a:ext>
                </a:extLst>
              </a:tr>
            </a:tbl>
          </a:graphicData>
        </a:graphic>
      </p:graphicFrame>
      <p:sp>
        <p:nvSpPr>
          <p:cNvPr id="22" name="Rectangle 21"/>
          <p:cNvSpPr/>
          <p:nvPr/>
        </p:nvSpPr>
        <p:spPr>
          <a:xfrm>
            <a:off x="6217920" y="5056632"/>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9360" y="5074920"/>
            <a:ext cx="5486400" cy="237744"/>
          </a:xfrm>
          <a:prstGeom prst="rect">
            <a:avLst/>
          </a:prstGeom>
          <a:noFill/>
        </p:spPr>
        <p:txBody>
          <a:bodyPr wrap="square">
            <a:spAutoFit/>
          </a:bodyPr>
          <a:lstStyle/>
          <a:p>
            <a:pPr algn="l"/>
            <a:r>
              <a:rPr sz="1100" b="1" i="0">
                <a:solidFill>
                  <a:srgbClr val="FFFFFF"/>
                </a:solidFill>
                <a:latin typeface="Arial"/>
              </a:rPr>
              <a:t>Last Year's Podium at Hamburg</a:t>
            </a:r>
          </a:p>
        </p:txBody>
      </p:sp>
      <p:sp>
        <p:nvSpPr>
          <p:cNvPr id="24" name="TextBox 23"/>
          <p:cNvSpPr txBox="1"/>
          <p:nvPr/>
        </p:nvSpPr>
        <p:spPr>
          <a:xfrm>
            <a:off x="6355080" y="5422392"/>
            <a:ext cx="5394960" cy="292608"/>
          </a:xfrm>
          <a:prstGeom prst="rect">
            <a:avLst/>
          </a:prstGeom>
          <a:noFill/>
        </p:spPr>
        <p:txBody>
          <a:bodyPr wrap="square">
            <a:spAutoFit/>
          </a:bodyPr>
          <a:lstStyle/>
          <a:p>
            <a:pPr algn="l"/>
            <a:r>
              <a:rPr sz="1100" b="1" i="0">
                <a:solidFill>
                  <a:srgbClr val="262626"/>
                </a:solidFill>
                <a:latin typeface="Arial"/>
              </a:rPr>
              <a:t>1.  Leonie Periault   (00:56:25)</a:t>
            </a:r>
          </a:p>
        </p:txBody>
      </p:sp>
      <p:sp>
        <p:nvSpPr>
          <p:cNvPr id="25" name="TextBox 24"/>
          <p:cNvSpPr txBox="1"/>
          <p:nvPr/>
        </p:nvSpPr>
        <p:spPr>
          <a:xfrm>
            <a:off x="6355080" y="5715000"/>
            <a:ext cx="5394960" cy="292608"/>
          </a:xfrm>
          <a:prstGeom prst="rect">
            <a:avLst/>
          </a:prstGeom>
          <a:noFill/>
        </p:spPr>
        <p:txBody>
          <a:bodyPr wrap="square">
            <a:spAutoFit/>
          </a:bodyPr>
          <a:lstStyle/>
          <a:p>
            <a:pPr algn="l"/>
            <a:r>
              <a:rPr sz="1100" b="0" i="0">
                <a:solidFill>
                  <a:srgbClr val="262626"/>
                </a:solidFill>
                <a:latin typeface="Arial"/>
              </a:rPr>
              <a:t>2.  Cassandre Beaugrand   (00:56:29)</a:t>
            </a:r>
          </a:p>
        </p:txBody>
      </p:sp>
      <p:sp>
        <p:nvSpPr>
          <p:cNvPr id="26" name="TextBox 25"/>
          <p:cNvSpPr txBox="1"/>
          <p:nvPr/>
        </p:nvSpPr>
        <p:spPr>
          <a:xfrm>
            <a:off x="6355080" y="6007608"/>
            <a:ext cx="5394960" cy="292608"/>
          </a:xfrm>
          <a:prstGeom prst="rect">
            <a:avLst/>
          </a:prstGeom>
          <a:noFill/>
        </p:spPr>
        <p:txBody>
          <a:bodyPr wrap="square">
            <a:spAutoFit/>
          </a:bodyPr>
          <a:lstStyle/>
          <a:p>
            <a:pPr algn="l"/>
            <a:r>
              <a:rPr sz="1100" b="0" i="0">
                <a:solidFill>
                  <a:srgbClr val="262626"/>
                </a:solidFill>
                <a:latin typeface="Arial"/>
              </a:rPr>
              <a:t>3.  Beth Potter   (00:56:32)</a:t>
            </a:r>
          </a:p>
        </p:txBody>
      </p:sp>
      <p:sp>
        <p:nvSpPr>
          <p:cNvPr id="27" name="TextBox 26"/>
          <p:cNvSpPr txBox="1"/>
          <p:nvPr/>
        </p:nvSpPr>
        <p:spPr>
          <a:xfrm>
            <a:off x="274320" y="6446520"/>
            <a:ext cx="11640312" cy="228600"/>
          </a:xfrm>
          <a:prstGeom prst="rect">
            <a:avLst/>
          </a:prstGeom>
          <a:noFill/>
        </p:spPr>
        <p:txBody>
          <a:bodyPr wrap="square">
            <a:spAutoFit/>
          </a:bodyPr>
          <a:lstStyle/>
          <a:p>
            <a:pPr algn="ctr"/>
            <a:r>
              <a:rPr sz="900" b="0" i="1">
                <a:solidFill>
                  <a:srgbClr val="BFBFBF"/>
                </a:solidFill>
                <a:latin typeface="Arial"/>
              </a:rPr>
              <a:t>Rankings = current World Triathlon rankings snapshot; startlist intersect uses program_entries when available.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Top Swim Threats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78992"/>
            <a:ext cx="11640312" cy="32004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15568"/>
            <a:ext cx="11430000" cy="246888"/>
          </a:xfrm>
          <a:prstGeom prst="rect">
            <a:avLst/>
          </a:prstGeom>
          <a:noFill/>
        </p:spPr>
        <p:txBody>
          <a:bodyPr wrap="square">
            <a:spAutoFit/>
          </a:bodyPr>
          <a:lstStyle/>
          <a:p>
            <a:pPr algn="ctr"/>
            <a:r>
              <a:rPr sz="1050" b="1" i="0">
                <a:solidFill>
                  <a:srgbClr val="002060"/>
                </a:solidFill>
                <a:latin typeface="Arial"/>
              </a:rPr>
              <a:t>Ranked by EWMA swim split (span-5, most recent)   •   Lead Pack % = within 15 s of swim leader   •   WTCS / Championship Finals</a:t>
            </a:r>
          </a:p>
        </p:txBody>
      </p:sp>
      <p:sp>
        <p:nvSpPr>
          <p:cNvPr id="10" name="Rectangle 9"/>
          <p:cNvSpPr/>
          <p:nvPr/>
        </p:nvSpPr>
        <p:spPr>
          <a:xfrm>
            <a:off x="274320" y="150876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1536192"/>
            <a:ext cx="5806440" cy="219456"/>
          </a:xfrm>
          <a:prstGeom prst="rect">
            <a:avLst/>
          </a:prstGeom>
          <a:noFill/>
        </p:spPr>
        <p:txBody>
          <a:bodyPr wrap="square">
            <a:spAutoFit/>
          </a:bodyPr>
          <a:lstStyle/>
          <a:p>
            <a:pPr algn="ctr"/>
            <a:r>
              <a:rPr sz="1100" b="1" i="0">
                <a:solidFill>
                  <a:srgbClr val="FFFFFF"/>
                </a:solidFill>
                <a:latin typeface="Arial"/>
              </a:rPr>
              <a:t>ELITE MEN</a:t>
            </a:r>
          </a:p>
        </p:txBody>
      </p:sp>
      <p:graphicFrame>
        <p:nvGraphicFramePr>
          <p:cNvPr id="12" name="Table 11"/>
          <p:cNvGraphicFramePr>
            <a:graphicFrameLocks noGrp="1"/>
          </p:cNvGraphicFramePr>
          <p:nvPr/>
        </p:nvGraphicFramePr>
        <p:xfrm>
          <a:off x="274320" y="1828800"/>
          <a:ext cx="5807351" cy="2048256"/>
        </p:xfrm>
        <a:graphic>
          <a:graphicData uri="http://schemas.openxmlformats.org/drawingml/2006/table">
            <a:tbl>
              <a:tblPr firstRow="1" bandRow="1">
                <a:tableStyleId>{5C22544A-7EE6-4342-B048-85BDC9FD1C3A}</a:tableStyleId>
              </a:tblPr>
              <a:tblGrid>
                <a:gridCol w="341985">
                  <a:extLst>
                    <a:ext uri="{9D8B030D-6E8A-4147-A177-3AD203B41FA5}">
                      <a16:colId xmlns:a16="http://schemas.microsoft.com/office/drawing/2014/main" val="20000"/>
                    </a:ext>
                  </a:extLst>
                </a:gridCol>
                <a:gridCol w="1902866">
                  <a:extLst>
                    <a:ext uri="{9D8B030D-6E8A-4147-A177-3AD203B41FA5}">
                      <a16:colId xmlns:a16="http://schemas.microsoft.com/office/drawing/2014/main" val="20001"/>
                    </a:ext>
                  </a:extLst>
                </a:gridCol>
                <a:gridCol w="1025042">
                  <a:extLst>
                    <a:ext uri="{9D8B030D-6E8A-4147-A177-3AD203B41FA5}">
                      <a16:colId xmlns:a16="http://schemas.microsoft.com/office/drawing/2014/main" val="20002"/>
                    </a:ext>
                  </a:extLst>
                </a:gridCol>
                <a:gridCol w="1025042">
                  <a:extLst>
                    <a:ext uri="{9D8B030D-6E8A-4147-A177-3AD203B41FA5}">
                      <a16:colId xmlns:a16="http://schemas.microsoft.com/office/drawing/2014/main" val="20003"/>
                    </a:ext>
                  </a:extLst>
                </a:gridCol>
                <a:gridCol w="975664">
                  <a:extLst>
                    <a:ext uri="{9D8B030D-6E8A-4147-A177-3AD203B41FA5}">
                      <a16:colId xmlns:a16="http://schemas.microsoft.com/office/drawing/2014/main" val="20004"/>
                    </a:ext>
                  </a:extLst>
                </a:gridCol>
                <a:gridCol w="536752">
                  <a:extLst>
                    <a:ext uri="{9D8B030D-6E8A-4147-A177-3AD203B41FA5}">
                      <a16:colId xmlns:a16="http://schemas.microsoft.com/office/drawing/2014/main" val="20005"/>
                    </a:ext>
                  </a:extLst>
                </a:gridCol>
              </a:tblGrid>
              <a:tr h="256032">
                <a:tc>
                  <a:txBody>
                    <a:bodyPr/>
                    <a:lstStyle/>
                    <a:p>
                      <a:pPr algn="ctr"/>
                      <a:r>
                        <a:rPr sz="900" b="1" i="0">
                          <a:solidFill>
                            <a:srgbClr val="FFFFFF"/>
                          </a:solidFill>
                          <a:latin typeface="Arial"/>
                        </a:rPr>
                        <a:t>#</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Lead Pack %</a:t>
                      </a:r>
                    </a:p>
                  </a:txBody>
                  <a:tcPr>
                    <a:solidFill>
                      <a:srgbClr val="002060"/>
                    </a:solidFill>
                  </a:tcPr>
                </a:tc>
                <a:tc>
                  <a:txBody>
                    <a:bodyPr/>
                    <a:lstStyle/>
                    <a:p>
                      <a:pPr algn="ctr"/>
                      <a:r>
                        <a:rPr sz="900" b="1" i="0">
                          <a:solidFill>
                            <a:srgbClr val="FFFFFF"/>
                          </a:solidFill>
                          <a:latin typeface="Arial"/>
                        </a:rPr>
                        <a:t>Avg Gap (s)</a:t>
                      </a:r>
                    </a:p>
                  </a:txBody>
                  <a:tcPr>
                    <a:solidFill>
                      <a:srgbClr val="002060"/>
                    </a:solidFill>
                  </a:tcPr>
                </a:tc>
                <a:tc>
                  <a:txBody>
                    <a:bodyPr/>
                    <a:lstStyle/>
                    <a:p>
                      <a:pPr algn="ctr"/>
                      <a:r>
                        <a:rPr sz="900" b="1" i="0">
                          <a:solidFill>
                            <a:srgbClr val="FFFFFF"/>
                          </a:solidFill>
                          <a:latin typeface="Arial"/>
                        </a:rPr>
                        <a:t>EWMA Swim</a:t>
                      </a:r>
                    </a:p>
                  </a:txBody>
                  <a:tcPr>
                    <a:solidFill>
                      <a:srgbClr val="002060"/>
                    </a:solidFill>
                  </a:tcPr>
                </a:tc>
                <a:tc>
                  <a:txBody>
                    <a:bodyPr/>
                    <a:lstStyle/>
                    <a:p>
                      <a:pPr algn="ctr"/>
                      <a:r>
                        <a:rPr sz="900" b="1" i="0">
                          <a:solidFill>
                            <a:srgbClr val="FFFFFF"/>
                          </a:solidFill>
                          <a:latin typeface="Arial"/>
                        </a:rPr>
                        <a:t>Races</a:t>
                      </a:r>
                    </a:p>
                  </a:txBody>
                  <a:tcPr>
                    <a:solidFill>
                      <a:srgbClr val="002060"/>
                    </a:solidFill>
                  </a:tcPr>
                </a:tc>
                <a:extLst>
                  <a:ext uri="{0D108BD9-81ED-4DB2-BD59-A6C34878D82A}">
                    <a16:rowId xmlns:a16="http://schemas.microsoft.com/office/drawing/2014/main" val="10000"/>
                  </a:ext>
                </a:extLst>
              </a:tr>
              <a:tr h="256032">
                <a:tc>
                  <a:txBody>
                    <a:bodyPr/>
                    <a:lstStyle/>
                    <a:p>
                      <a:pPr algn="ctr"/>
                      <a:r>
                        <a:rPr sz="850" b="1" i="0">
                          <a:solidFill>
                            <a:srgbClr val="002060"/>
                          </a:solidFill>
                          <a:latin typeface="Arial"/>
                        </a:rPr>
                        <a:t>1</a:t>
                      </a:r>
                    </a:p>
                  </a:txBody>
                  <a:tcPr>
                    <a:solidFill>
                      <a:srgbClr val="FFFFFF"/>
                    </a:solidFill>
                  </a:tcPr>
                </a:tc>
                <a:tc>
                  <a:txBody>
                    <a:bodyPr/>
                    <a:lstStyle/>
                    <a:p>
                      <a:pPr algn="l"/>
                      <a:r>
                        <a:rPr sz="850" b="0" i="0">
                          <a:solidFill>
                            <a:srgbClr val="262626"/>
                          </a:solidFill>
                          <a:latin typeface="Arial"/>
                        </a:rPr>
                        <a:t>Jan Diener</a:t>
                      </a:r>
                    </a:p>
                  </a:txBody>
                  <a:tcPr>
                    <a:solidFill>
                      <a:srgbClr val="FFFFFF"/>
                    </a:solidFill>
                  </a:tcPr>
                </a:tc>
                <a:tc>
                  <a:txBody>
                    <a:bodyPr/>
                    <a:lstStyle/>
                    <a:p>
                      <a:pPr algn="ctr"/>
                      <a:r>
                        <a:rPr sz="850" b="1" i="0">
                          <a:solidFill>
                            <a:srgbClr val="262626"/>
                          </a:solidFill>
                          <a:latin typeface="Arial"/>
                        </a:rPr>
                        <a:t>50%</a:t>
                      </a:r>
                    </a:p>
                  </a:txBody>
                  <a:tcPr>
                    <a:solidFill>
                      <a:srgbClr val="FFFFFF"/>
                    </a:solidFill>
                  </a:tcPr>
                </a:tc>
                <a:tc>
                  <a:txBody>
                    <a:bodyPr/>
                    <a:lstStyle/>
                    <a:p>
                      <a:pPr algn="ctr"/>
                      <a:r>
                        <a:rPr sz="850" b="0" i="0">
                          <a:solidFill>
                            <a:srgbClr val="262626"/>
                          </a:solidFill>
                          <a:latin typeface="Arial"/>
                        </a:rPr>
                        <a:t>+13.5</a:t>
                      </a:r>
                    </a:p>
                  </a:txBody>
                  <a:tcPr>
                    <a:solidFill>
                      <a:srgbClr val="FFFFFF"/>
                    </a:solidFill>
                  </a:tcPr>
                </a:tc>
                <a:tc>
                  <a:txBody>
                    <a:bodyPr/>
                    <a:lstStyle/>
                    <a:p>
                      <a:pPr algn="ctr"/>
                      <a:r>
                        <a:rPr sz="850" b="0" i="0">
                          <a:solidFill>
                            <a:srgbClr val="262626"/>
                          </a:solidFill>
                          <a:latin typeface="Arial"/>
                        </a:rPr>
                        <a:t>8:38</a:t>
                      </a:r>
                    </a:p>
                  </a:txBody>
                  <a:tcPr>
                    <a:solidFill>
                      <a:srgbClr val="FFFFFF"/>
                    </a:solidFill>
                  </a:tcPr>
                </a:tc>
                <a:tc>
                  <a:txBody>
                    <a:bodyPr/>
                    <a:lstStyle/>
                    <a:p>
                      <a:pPr algn="ctr"/>
                      <a:r>
                        <a:rPr sz="850" b="0" i="0">
                          <a:solidFill>
                            <a:srgbClr val="BFBFBF"/>
                          </a:solidFill>
                          <a:latin typeface="Arial"/>
                        </a:rPr>
                        <a:t>2</a:t>
                      </a:r>
                    </a:p>
                  </a:txBody>
                  <a:tcPr>
                    <a:solidFill>
                      <a:srgbClr val="FFFFFF"/>
                    </a:solidFill>
                  </a:tcPr>
                </a:tc>
                <a:extLst>
                  <a:ext uri="{0D108BD9-81ED-4DB2-BD59-A6C34878D82A}">
                    <a16:rowId xmlns:a16="http://schemas.microsoft.com/office/drawing/2014/main" val="10001"/>
                  </a:ext>
                </a:extLst>
              </a:tr>
              <a:tr h="256032">
                <a:tc>
                  <a:txBody>
                    <a:bodyPr/>
                    <a:lstStyle/>
                    <a:p>
                      <a:pPr algn="ctr"/>
                      <a:r>
                        <a:rPr sz="850" b="1" i="0">
                          <a:solidFill>
                            <a:srgbClr val="002060"/>
                          </a:solidFill>
                          <a:latin typeface="Arial"/>
                        </a:rPr>
                        <a:t>2</a:t>
                      </a:r>
                    </a:p>
                  </a:txBody>
                  <a:tcPr>
                    <a:solidFill>
                      <a:srgbClr val="F2F2F2"/>
                    </a:solidFill>
                  </a:tcPr>
                </a:tc>
                <a:tc>
                  <a:txBody>
                    <a:bodyPr/>
                    <a:lstStyle/>
                    <a:p>
                      <a:pPr algn="l"/>
                      <a:r>
                        <a:rPr sz="850" b="0" i="0">
                          <a:solidFill>
                            <a:srgbClr val="262626"/>
                          </a:solidFill>
                          <a:latin typeface="Arial"/>
                        </a:rPr>
                        <a:t>Kauê Willy</a:t>
                      </a:r>
                    </a:p>
                  </a:txBody>
                  <a:tcPr>
                    <a:solidFill>
                      <a:srgbClr val="F2F2F2"/>
                    </a:solidFill>
                  </a:tcPr>
                </a:tc>
                <a:tc>
                  <a:txBody>
                    <a:bodyPr/>
                    <a:lstStyle/>
                    <a:p>
                      <a:pPr algn="ctr"/>
                      <a:r>
                        <a:rPr sz="850" b="1" i="0">
                          <a:solidFill>
                            <a:srgbClr val="262626"/>
                          </a:solidFill>
                          <a:latin typeface="Arial"/>
                        </a:rPr>
                        <a:t>50%</a:t>
                      </a:r>
                    </a:p>
                  </a:txBody>
                  <a:tcPr>
                    <a:solidFill>
                      <a:srgbClr val="F2F2F2"/>
                    </a:solidFill>
                  </a:tcPr>
                </a:tc>
                <a:tc>
                  <a:txBody>
                    <a:bodyPr/>
                    <a:lstStyle/>
                    <a:p>
                      <a:pPr algn="ctr"/>
                      <a:r>
                        <a:rPr sz="850" b="0" i="0">
                          <a:solidFill>
                            <a:srgbClr val="262626"/>
                          </a:solidFill>
                          <a:latin typeface="Arial"/>
                        </a:rPr>
                        <a:t>+21.5</a:t>
                      </a:r>
                    </a:p>
                  </a:txBody>
                  <a:tcPr>
                    <a:solidFill>
                      <a:srgbClr val="F2F2F2"/>
                    </a:solidFill>
                  </a:tcPr>
                </a:tc>
                <a:tc>
                  <a:txBody>
                    <a:bodyPr/>
                    <a:lstStyle/>
                    <a:p>
                      <a:pPr algn="ctr"/>
                      <a:r>
                        <a:rPr sz="850" b="0" i="0">
                          <a:solidFill>
                            <a:srgbClr val="262626"/>
                          </a:solidFill>
                          <a:latin typeface="Arial"/>
                        </a:rPr>
                        <a:t>8:43</a:t>
                      </a:r>
                    </a:p>
                  </a:txBody>
                  <a:tcPr>
                    <a:solidFill>
                      <a:srgbClr val="F2F2F2"/>
                    </a:solidFill>
                  </a:tcPr>
                </a:tc>
                <a:tc>
                  <a:txBody>
                    <a:bodyPr/>
                    <a:lstStyle/>
                    <a:p>
                      <a:pPr algn="ctr"/>
                      <a:r>
                        <a:rPr sz="850" b="0" i="0">
                          <a:solidFill>
                            <a:srgbClr val="BFBFBF"/>
                          </a:solidFill>
                          <a:latin typeface="Arial"/>
                        </a:rPr>
                        <a:t>2</a:t>
                      </a:r>
                    </a:p>
                  </a:txBody>
                  <a:tcPr>
                    <a:solidFill>
                      <a:srgbClr val="F2F2F2"/>
                    </a:solidFill>
                  </a:tcPr>
                </a:tc>
                <a:extLst>
                  <a:ext uri="{0D108BD9-81ED-4DB2-BD59-A6C34878D82A}">
                    <a16:rowId xmlns:a16="http://schemas.microsoft.com/office/drawing/2014/main" val="10002"/>
                  </a:ext>
                </a:extLst>
              </a:tr>
              <a:tr h="256032">
                <a:tc>
                  <a:txBody>
                    <a:bodyPr/>
                    <a:lstStyle/>
                    <a:p>
                      <a:pPr algn="ctr"/>
                      <a:r>
                        <a:rPr sz="850" b="1" i="0">
                          <a:solidFill>
                            <a:srgbClr val="002060"/>
                          </a:solidFill>
                          <a:latin typeface="Arial"/>
                        </a:rPr>
                        <a:t>3</a:t>
                      </a:r>
                    </a:p>
                  </a:txBody>
                  <a:tcPr>
                    <a:solidFill>
                      <a:srgbClr val="FFFFFF"/>
                    </a:solidFill>
                  </a:tcPr>
                </a:tc>
                <a:tc>
                  <a:txBody>
                    <a:bodyPr/>
                    <a:lstStyle/>
                    <a:p>
                      <a:pPr algn="l"/>
                      <a:r>
                        <a:rPr sz="850" b="0" i="0">
                          <a:solidFill>
                            <a:srgbClr val="262626"/>
                          </a:solidFill>
                          <a:latin typeface="Arial"/>
                        </a:rPr>
                        <a:t>Gjalt Panjer</a:t>
                      </a:r>
                    </a:p>
                  </a:txBody>
                  <a:tcPr>
                    <a:solidFill>
                      <a:srgbClr val="FFFFFF"/>
                    </a:solidFill>
                  </a:tcPr>
                </a:tc>
                <a:tc>
                  <a:txBody>
                    <a:bodyPr/>
                    <a:lstStyle/>
                    <a:p>
                      <a:pPr algn="ctr"/>
                      <a:r>
                        <a:rPr sz="850" b="1" i="0">
                          <a:solidFill>
                            <a:srgbClr val="262626"/>
                          </a:solidFill>
                          <a:latin typeface="Arial"/>
                        </a:rPr>
                        <a:t>50%</a:t>
                      </a:r>
                    </a:p>
                  </a:txBody>
                  <a:tcPr>
                    <a:solidFill>
                      <a:srgbClr val="FFFFFF"/>
                    </a:solidFill>
                  </a:tcPr>
                </a:tc>
                <a:tc>
                  <a:txBody>
                    <a:bodyPr/>
                    <a:lstStyle/>
                    <a:p>
                      <a:pPr algn="ctr"/>
                      <a:r>
                        <a:rPr sz="850" b="0" i="0">
                          <a:solidFill>
                            <a:srgbClr val="262626"/>
                          </a:solidFill>
                          <a:latin typeface="Arial"/>
                        </a:rPr>
                        <a:t>+14.0</a:t>
                      </a:r>
                    </a:p>
                  </a:txBody>
                  <a:tcPr>
                    <a:solidFill>
                      <a:srgbClr val="FFFFFF"/>
                    </a:solidFill>
                  </a:tcPr>
                </a:tc>
                <a:tc>
                  <a:txBody>
                    <a:bodyPr/>
                    <a:lstStyle/>
                    <a:p>
                      <a:pPr algn="ctr"/>
                      <a:r>
                        <a:rPr sz="850" b="0" i="0">
                          <a:solidFill>
                            <a:srgbClr val="262626"/>
                          </a:solidFill>
                          <a:latin typeface="Arial"/>
                        </a:rPr>
                        <a:t>8:51</a:t>
                      </a:r>
                    </a:p>
                  </a:txBody>
                  <a:tcPr>
                    <a:solidFill>
                      <a:srgbClr val="FFFFFF"/>
                    </a:solidFill>
                  </a:tcPr>
                </a:tc>
                <a:tc>
                  <a:txBody>
                    <a:bodyPr/>
                    <a:lstStyle/>
                    <a:p>
                      <a:pPr algn="ctr"/>
                      <a:r>
                        <a:rPr sz="850" b="0" i="0">
                          <a:solidFill>
                            <a:srgbClr val="BFBFBF"/>
                          </a:solidFill>
                          <a:latin typeface="Arial"/>
                        </a:rPr>
                        <a:t>2</a:t>
                      </a:r>
                    </a:p>
                  </a:txBody>
                  <a:tcPr>
                    <a:solidFill>
                      <a:srgbClr val="FFFFFF"/>
                    </a:solidFill>
                  </a:tcPr>
                </a:tc>
                <a:extLst>
                  <a:ext uri="{0D108BD9-81ED-4DB2-BD59-A6C34878D82A}">
                    <a16:rowId xmlns:a16="http://schemas.microsoft.com/office/drawing/2014/main" val="10003"/>
                  </a:ext>
                </a:extLst>
              </a:tr>
              <a:tr h="256032">
                <a:tc>
                  <a:txBody>
                    <a:bodyPr/>
                    <a:lstStyle/>
                    <a:p>
                      <a:pPr algn="ctr"/>
                      <a:r>
                        <a:rPr sz="850" b="1" i="0">
                          <a:solidFill>
                            <a:srgbClr val="002060"/>
                          </a:solidFill>
                          <a:latin typeface="Arial"/>
                        </a:rPr>
                        <a:t>4</a:t>
                      </a:r>
                    </a:p>
                  </a:txBody>
                  <a:tcPr>
                    <a:solidFill>
                      <a:srgbClr val="F2F2F2"/>
                    </a:solidFill>
                  </a:tcPr>
                </a:tc>
                <a:tc>
                  <a:txBody>
                    <a:bodyPr/>
                    <a:lstStyle/>
                    <a:p>
                      <a:pPr algn="l"/>
                      <a:r>
                        <a:rPr sz="850" b="0" i="0">
                          <a:solidFill>
                            <a:srgbClr val="262626"/>
                          </a:solidFill>
                          <a:latin typeface="Arial"/>
                        </a:rPr>
                        <a:t>Kyle Smith</a:t>
                      </a:r>
                    </a:p>
                  </a:txBody>
                  <a:tcPr>
                    <a:solidFill>
                      <a:srgbClr val="F2F2F2"/>
                    </a:solidFill>
                  </a:tcPr>
                </a:tc>
                <a:tc>
                  <a:txBody>
                    <a:bodyPr/>
                    <a:lstStyle/>
                    <a:p>
                      <a:pPr algn="ctr"/>
                      <a:r>
                        <a:rPr sz="850" b="1"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+28.0</a:t>
                      </a:r>
                    </a:p>
                  </a:txBody>
                  <a:tcPr>
                    <a:solidFill>
                      <a:srgbClr val="F2F2F2"/>
                    </a:solidFill>
                  </a:tcPr>
                </a:tc>
                <a:tc>
                  <a:txBody>
                    <a:bodyPr/>
                    <a:lstStyle/>
                    <a:p>
                      <a:pPr algn="ctr"/>
                      <a:r>
                        <a:rPr sz="850" b="0" i="0">
                          <a:solidFill>
                            <a:srgbClr val="262626"/>
                          </a:solidFill>
                          <a:latin typeface="Arial"/>
                        </a:rPr>
                        <a:t>8:53</a:t>
                      </a:r>
                    </a:p>
                  </a:txBody>
                  <a:tcPr>
                    <a:solidFill>
                      <a:srgbClr val="F2F2F2"/>
                    </a:solidFill>
                  </a:tcPr>
                </a:tc>
                <a:tc>
                  <a:txBody>
                    <a:bodyPr/>
                    <a:lstStyle/>
                    <a:p>
                      <a:pPr algn="ctr"/>
                      <a:r>
                        <a:rPr sz="850" b="0" i="0">
                          <a:solidFill>
                            <a:srgbClr val="BFBFBF"/>
                          </a:solidFill>
                          <a:latin typeface="Arial"/>
                        </a:rPr>
                        <a:t>2</a:t>
                      </a:r>
                    </a:p>
                  </a:txBody>
                  <a:tcPr>
                    <a:solidFill>
                      <a:srgbClr val="F2F2F2"/>
                    </a:solidFill>
                  </a:tcPr>
                </a:tc>
                <a:extLst>
                  <a:ext uri="{0D108BD9-81ED-4DB2-BD59-A6C34878D82A}">
                    <a16:rowId xmlns:a16="http://schemas.microsoft.com/office/drawing/2014/main" val="10004"/>
                  </a:ext>
                </a:extLst>
              </a:tr>
              <a:tr h="256032">
                <a:tc>
                  <a:txBody>
                    <a:bodyPr/>
                    <a:lstStyle/>
                    <a:p>
                      <a:pPr algn="ctr"/>
                      <a:r>
                        <a:rPr sz="850" b="1" i="0">
                          <a:solidFill>
                            <a:srgbClr val="002060"/>
                          </a:solidFill>
                          <a:latin typeface="Arial"/>
                        </a:rPr>
                        <a:t>5</a:t>
                      </a:r>
                    </a:p>
                  </a:txBody>
                  <a:tcPr>
                    <a:solidFill>
                      <a:srgbClr val="FFFFFF"/>
                    </a:solidFill>
                  </a:tcPr>
                </a:tc>
                <a:tc>
                  <a:txBody>
                    <a:bodyPr/>
                    <a:lstStyle/>
                    <a:p>
                      <a:pPr algn="l"/>
                      <a:r>
                        <a:rPr sz="850" b="0" i="0">
                          <a:solidFill>
                            <a:srgbClr val="262626"/>
                          </a:solidFill>
                          <a:latin typeface="Arial"/>
                        </a:rPr>
                        <a:t>Jannik Schaufler</a:t>
                      </a:r>
                    </a:p>
                  </a:txBody>
                  <a:tcPr>
                    <a:solidFill>
                      <a:srgbClr val="FFFFFF"/>
                    </a:solidFill>
                  </a:tcPr>
                </a:tc>
                <a:tc>
                  <a:txBody>
                    <a:bodyPr/>
                    <a:lstStyle/>
                    <a:p>
                      <a:pPr algn="ctr"/>
                      <a:r>
                        <a:rPr sz="850" b="1"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+19.7</a:t>
                      </a:r>
                    </a:p>
                  </a:txBody>
                  <a:tcPr>
                    <a:solidFill>
                      <a:srgbClr val="FFFFFF"/>
                    </a:solidFill>
                  </a:tcPr>
                </a:tc>
                <a:tc>
                  <a:txBody>
                    <a:bodyPr/>
                    <a:lstStyle/>
                    <a:p>
                      <a:pPr algn="ctr"/>
                      <a:r>
                        <a:rPr sz="850" b="0" i="0">
                          <a:solidFill>
                            <a:srgbClr val="262626"/>
                          </a:solidFill>
                          <a:latin typeface="Arial"/>
                        </a:rPr>
                        <a:t>9:01</a:t>
                      </a:r>
                    </a:p>
                  </a:txBody>
                  <a:tcPr>
                    <a:solidFill>
                      <a:srgbClr val="FFFFFF"/>
                    </a:solidFill>
                  </a:tcPr>
                </a:tc>
                <a:tc>
                  <a:txBody>
                    <a:bodyPr/>
                    <a:lstStyle/>
                    <a:p>
                      <a:pPr algn="ctr"/>
                      <a:r>
                        <a:rPr sz="850" b="0" i="0">
                          <a:solidFill>
                            <a:srgbClr val="BFBFBF"/>
                          </a:solidFill>
                          <a:latin typeface="Arial"/>
                        </a:rPr>
                        <a:t>3</a:t>
                      </a:r>
                    </a:p>
                  </a:txBody>
                  <a:tcPr>
                    <a:solidFill>
                      <a:srgbClr val="FFFFFF"/>
                    </a:solidFill>
                  </a:tcPr>
                </a:tc>
                <a:extLst>
                  <a:ext uri="{0D108BD9-81ED-4DB2-BD59-A6C34878D82A}">
                    <a16:rowId xmlns:a16="http://schemas.microsoft.com/office/drawing/2014/main" val="10005"/>
                  </a:ext>
                </a:extLst>
              </a:tr>
              <a:tr h="256032">
                <a:tc>
                  <a:txBody>
                    <a:bodyPr/>
                    <a:lstStyle/>
                    <a:p>
                      <a:pPr algn="ctr"/>
                      <a:r>
                        <a:rPr sz="850" b="1" i="0">
                          <a:solidFill>
                            <a:srgbClr val="002060"/>
                          </a:solidFill>
                          <a:latin typeface="Arial"/>
                        </a:rPr>
                        <a:t>6</a:t>
                      </a:r>
                    </a:p>
                  </a:txBody>
                  <a:tcPr>
                    <a:solidFill>
                      <a:srgbClr val="F2F2F2"/>
                    </a:solidFill>
                  </a:tcPr>
                </a:tc>
                <a:tc>
                  <a:txBody>
                    <a:bodyPr/>
                    <a:lstStyle/>
                    <a:p>
                      <a:pPr algn="l"/>
                      <a:r>
                        <a:rPr sz="850" b="0" i="0">
                          <a:solidFill>
                            <a:srgbClr val="262626"/>
                          </a:solidFill>
                          <a:latin typeface="Arial"/>
                        </a:rPr>
                        <a:t>Brayden Mercer</a:t>
                      </a:r>
                    </a:p>
                  </a:txBody>
                  <a:tcPr>
                    <a:solidFill>
                      <a:srgbClr val="F2F2F2"/>
                    </a:solidFill>
                  </a:tcPr>
                </a:tc>
                <a:tc>
                  <a:txBody>
                    <a:bodyPr/>
                    <a:lstStyle/>
                    <a:p>
                      <a:pPr algn="ctr"/>
                      <a:r>
                        <a:rPr sz="850" b="1" i="0">
                          <a:solidFill>
                            <a:srgbClr val="262626"/>
                          </a:solidFill>
                          <a:latin typeface="Arial"/>
                        </a:rPr>
                        <a:t>100%</a:t>
                      </a:r>
                    </a:p>
                  </a:txBody>
                  <a:tcPr>
                    <a:solidFill>
                      <a:srgbClr val="F2F2F2"/>
                    </a:solidFill>
                  </a:tcPr>
                </a:tc>
                <a:tc>
                  <a:txBody>
                    <a:bodyPr/>
                    <a:lstStyle/>
                    <a:p>
                      <a:pPr algn="ctr"/>
                      <a:r>
                        <a:rPr sz="850" b="0" i="0">
                          <a:solidFill>
                            <a:srgbClr val="262626"/>
                          </a:solidFill>
                          <a:latin typeface="Arial"/>
                        </a:rPr>
                        <a:t>+10.5</a:t>
                      </a:r>
                    </a:p>
                  </a:txBody>
                  <a:tcPr>
                    <a:solidFill>
                      <a:srgbClr val="F2F2F2"/>
                    </a:solidFill>
                  </a:tcPr>
                </a:tc>
                <a:tc>
                  <a:txBody>
                    <a:bodyPr/>
                    <a:lstStyle/>
                    <a:p>
                      <a:pPr algn="ctr"/>
                      <a:r>
                        <a:rPr sz="850" b="0" i="0">
                          <a:solidFill>
                            <a:srgbClr val="262626"/>
                          </a:solidFill>
                          <a:latin typeface="Arial"/>
                        </a:rPr>
                        <a:t>9:01</a:t>
                      </a:r>
                    </a:p>
                  </a:txBody>
                  <a:tcPr>
                    <a:solidFill>
                      <a:srgbClr val="F2F2F2"/>
                    </a:solidFill>
                  </a:tcPr>
                </a:tc>
                <a:tc>
                  <a:txBody>
                    <a:bodyPr/>
                    <a:lstStyle/>
                    <a:p>
                      <a:pPr algn="ctr"/>
                      <a:r>
                        <a:rPr sz="850" b="0" i="0">
                          <a:solidFill>
                            <a:srgbClr val="BFBFBF"/>
                          </a:solidFill>
                          <a:latin typeface="Arial"/>
                        </a:rPr>
                        <a:t>2</a:t>
                      </a:r>
                    </a:p>
                  </a:txBody>
                  <a:tcPr>
                    <a:solidFill>
                      <a:srgbClr val="F2F2F2"/>
                    </a:solidFill>
                  </a:tcPr>
                </a:tc>
                <a:extLst>
                  <a:ext uri="{0D108BD9-81ED-4DB2-BD59-A6C34878D82A}">
                    <a16:rowId xmlns:a16="http://schemas.microsoft.com/office/drawing/2014/main" val="10006"/>
                  </a:ext>
                </a:extLst>
              </a:tr>
              <a:tr h="256032">
                <a:tc>
                  <a:txBody>
                    <a:bodyPr/>
                    <a:lstStyle/>
                    <a:p>
                      <a:pPr algn="ctr"/>
                      <a:r>
                        <a:rPr sz="850" b="1" i="0">
                          <a:solidFill>
                            <a:srgbClr val="002060"/>
                          </a:solidFill>
                          <a:latin typeface="Arial"/>
                        </a:rPr>
                        <a:t>7</a:t>
                      </a:r>
                    </a:p>
                  </a:txBody>
                  <a:tcPr>
                    <a:solidFill>
                      <a:srgbClr val="FFFFFF"/>
                    </a:solidFill>
                  </a:tcPr>
                </a:tc>
                <a:tc>
                  <a:txBody>
                    <a:bodyPr/>
                    <a:lstStyle/>
                    <a:p>
                      <a:pPr algn="l"/>
                      <a:r>
                        <a:rPr sz="850" b="0" i="0">
                          <a:solidFill>
                            <a:srgbClr val="262626"/>
                          </a:solidFill>
                          <a:latin typeface="Arial"/>
                        </a:rPr>
                        <a:t>James Edgar</a:t>
                      </a:r>
                    </a:p>
                  </a:txBody>
                  <a:tcPr>
                    <a:solidFill>
                      <a:srgbClr val="FFFFFF"/>
                    </a:solidFill>
                  </a:tcPr>
                </a:tc>
                <a:tc>
                  <a:txBody>
                    <a:bodyPr/>
                    <a:lstStyle/>
                    <a:p>
                      <a:pPr algn="ctr"/>
                      <a:r>
                        <a:rPr sz="850" b="1"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+27.5</a:t>
                      </a:r>
                    </a:p>
                  </a:txBody>
                  <a:tcPr>
                    <a:solidFill>
                      <a:srgbClr val="FFFFFF"/>
                    </a:solidFill>
                  </a:tcPr>
                </a:tc>
                <a:tc>
                  <a:txBody>
                    <a:bodyPr/>
                    <a:lstStyle/>
                    <a:p>
                      <a:pPr algn="ctr"/>
                      <a:r>
                        <a:rPr sz="850" b="0" i="0">
                          <a:solidFill>
                            <a:srgbClr val="262626"/>
                          </a:solidFill>
                          <a:latin typeface="Arial"/>
                        </a:rPr>
                        <a:t>9:10</a:t>
                      </a:r>
                    </a:p>
                  </a:txBody>
                  <a:tcPr>
                    <a:solidFill>
                      <a:srgbClr val="FFFFFF"/>
                    </a:solidFill>
                  </a:tcPr>
                </a:tc>
                <a:tc>
                  <a:txBody>
                    <a:bodyPr/>
                    <a:lstStyle/>
                    <a:p>
                      <a:pPr algn="ctr"/>
                      <a:r>
                        <a:rPr sz="850" b="0" i="0">
                          <a:solidFill>
                            <a:srgbClr val="BFBFBF"/>
                          </a:solidFill>
                          <a:latin typeface="Arial"/>
                        </a:rPr>
                        <a:t>4</a:t>
                      </a:r>
                    </a:p>
                  </a:txBody>
                  <a:tcPr>
                    <a:solidFill>
                      <a:srgbClr val="FFFFFF"/>
                    </a:solidFill>
                  </a:tcPr>
                </a:tc>
                <a:extLst>
                  <a:ext uri="{0D108BD9-81ED-4DB2-BD59-A6C34878D82A}">
                    <a16:rowId xmlns:a16="http://schemas.microsoft.com/office/drawing/2014/main" val="10007"/>
                  </a:ext>
                </a:extLst>
              </a:tr>
            </a:tbl>
          </a:graphicData>
        </a:graphic>
      </p:graphicFrame>
      <p:sp>
        <p:nvSpPr>
          <p:cNvPr id="13" name="Rectangle 12"/>
          <p:cNvSpPr/>
          <p:nvPr/>
        </p:nvSpPr>
        <p:spPr>
          <a:xfrm>
            <a:off x="6126480" y="150876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536192"/>
            <a:ext cx="5806440" cy="219456"/>
          </a:xfrm>
          <a:prstGeom prst="rect">
            <a:avLst/>
          </a:prstGeom>
          <a:noFill/>
        </p:spPr>
        <p:txBody>
          <a:bodyPr wrap="square">
            <a:spAutoFit/>
          </a:bodyPr>
          <a:lstStyle/>
          <a:p>
            <a:pPr algn="ctr"/>
            <a:r>
              <a:rPr sz="1100" b="1" i="0">
                <a:solidFill>
                  <a:srgbClr val="FFFFFF"/>
                </a:solidFill>
                <a:latin typeface="Arial"/>
              </a:rPr>
              <a:t>ELITE WOMEN</a:t>
            </a:r>
          </a:p>
        </p:txBody>
      </p:sp>
      <p:graphicFrame>
        <p:nvGraphicFramePr>
          <p:cNvPr id="15" name="Table 14"/>
          <p:cNvGraphicFramePr>
            <a:graphicFrameLocks noGrp="1"/>
          </p:cNvGraphicFramePr>
          <p:nvPr/>
        </p:nvGraphicFramePr>
        <p:xfrm>
          <a:off x="6126480" y="1828800"/>
          <a:ext cx="5807351" cy="2048256"/>
        </p:xfrm>
        <a:graphic>
          <a:graphicData uri="http://schemas.openxmlformats.org/drawingml/2006/table">
            <a:tbl>
              <a:tblPr firstRow="1" bandRow="1">
                <a:tableStyleId>{5C22544A-7EE6-4342-B048-85BDC9FD1C3A}</a:tableStyleId>
              </a:tblPr>
              <a:tblGrid>
                <a:gridCol w="341985">
                  <a:extLst>
                    <a:ext uri="{9D8B030D-6E8A-4147-A177-3AD203B41FA5}">
                      <a16:colId xmlns:a16="http://schemas.microsoft.com/office/drawing/2014/main" val="20000"/>
                    </a:ext>
                  </a:extLst>
                </a:gridCol>
                <a:gridCol w="1902866">
                  <a:extLst>
                    <a:ext uri="{9D8B030D-6E8A-4147-A177-3AD203B41FA5}">
                      <a16:colId xmlns:a16="http://schemas.microsoft.com/office/drawing/2014/main" val="20001"/>
                    </a:ext>
                  </a:extLst>
                </a:gridCol>
                <a:gridCol w="1025042">
                  <a:extLst>
                    <a:ext uri="{9D8B030D-6E8A-4147-A177-3AD203B41FA5}">
                      <a16:colId xmlns:a16="http://schemas.microsoft.com/office/drawing/2014/main" val="20002"/>
                    </a:ext>
                  </a:extLst>
                </a:gridCol>
                <a:gridCol w="1025042">
                  <a:extLst>
                    <a:ext uri="{9D8B030D-6E8A-4147-A177-3AD203B41FA5}">
                      <a16:colId xmlns:a16="http://schemas.microsoft.com/office/drawing/2014/main" val="20003"/>
                    </a:ext>
                  </a:extLst>
                </a:gridCol>
                <a:gridCol w="975664">
                  <a:extLst>
                    <a:ext uri="{9D8B030D-6E8A-4147-A177-3AD203B41FA5}">
                      <a16:colId xmlns:a16="http://schemas.microsoft.com/office/drawing/2014/main" val="20004"/>
                    </a:ext>
                  </a:extLst>
                </a:gridCol>
                <a:gridCol w="536752">
                  <a:extLst>
                    <a:ext uri="{9D8B030D-6E8A-4147-A177-3AD203B41FA5}">
                      <a16:colId xmlns:a16="http://schemas.microsoft.com/office/drawing/2014/main" val="20005"/>
                    </a:ext>
                  </a:extLst>
                </a:gridCol>
              </a:tblGrid>
              <a:tr h="256032">
                <a:tc>
                  <a:txBody>
                    <a:bodyPr/>
                    <a:lstStyle/>
                    <a:p>
                      <a:pPr algn="ctr"/>
                      <a:r>
                        <a:rPr sz="900" b="1" i="0">
                          <a:solidFill>
                            <a:srgbClr val="FFFFFF"/>
                          </a:solidFill>
                          <a:latin typeface="Arial"/>
                        </a:rPr>
                        <a:t>#</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Lead Pack %</a:t>
                      </a:r>
                    </a:p>
                  </a:txBody>
                  <a:tcPr>
                    <a:solidFill>
                      <a:srgbClr val="002060"/>
                    </a:solidFill>
                  </a:tcPr>
                </a:tc>
                <a:tc>
                  <a:txBody>
                    <a:bodyPr/>
                    <a:lstStyle/>
                    <a:p>
                      <a:pPr algn="ctr"/>
                      <a:r>
                        <a:rPr sz="900" b="1" i="0">
                          <a:solidFill>
                            <a:srgbClr val="FFFFFF"/>
                          </a:solidFill>
                          <a:latin typeface="Arial"/>
                        </a:rPr>
                        <a:t>Avg Gap (s)</a:t>
                      </a:r>
                    </a:p>
                  </a:txBody>
                  <a:tcPr>
                    <a:solidFill>
                      <a:srgbClr val="002060"/>
                    </a:solidFill>
                  </a:tcPr>
                </a:tc>
                <a:tc>
                  <a:txBody>
                    <a:bodyPr/>
                    <a:lstStyle/>
                    <a:p>
                      <a:pPr algn="ctr"/>
                      <a:r>
                        <a:rPr sz="900" b="1" i="0">
                          <a:solidFill>
                            <a:srgbClr val="FFFFFF"/>
                          </a:solidFill>
                          <a:latin typeface="Arial"/>
                        </a:rPr>
                        <a:t>EWMA Swim</a:t>
                      </a:r>
                    </a:p>
                  </a:txBody>
                  <a:tcPr>
                    <a:solidFill>
                      <a:srgbClr val="002060"/>
                    </a:solidFill>
                  </a:tcPr>
                </a:tc>
                <a:tc>
                  <a:txBody>
                    <a:bodyPr/>
                    <a:lstStyle/>
                    <a:p>
                      <a:pPr algn="ctr"/>
                      <a:r>
                        <a:rPr sz="900" b="1" i="0">
                          <a:solidFill>
                            <a:srgbClr val="FFFFFF"/>
                          </a:solidFill>
                          <a:latin typeface="Arial"/>
                        </a:rPr>
                        <a:t>Races</a:t>
                      </a:r>
                    </a:p>
                  </a:txBody>
                  <a:tcPr>
                    <a:solidFill>
                      <a:srgbClr val="002060"/>
                    </a:solidFill>
                  </a:tcPr>
                </a:tc>
                <a:extLst>
                  <a:ext uri="{0D108BD9-81ED-4DB2-BD59-A6C34878D82A}">
                    <a16:rowId xmlns:a16="http://schemas.microsoft.com/office/drawing/2014/main" val="10000"/>
                  </a:ext>
                </a:extLst>
              </a:tr>
              <a:tr h="256032">
                <a:tc>
                  <a:txBody>
                    <a:bodyPr/>
                    <a:lstStyle/>
                    <a:p>
                      <a:pPr algn="ctr"/>
                      <a:r>
                        <a:rPr sz="850" b="1" i="0">
                          <a:solidFill>
                            <a:srgbClr val="002060"/>
                          </a:solidFill>
                          <a:latin typeface="Arial"/>
                        </a:rPr>
                        <a:t>1</a:t>
                      </a:r>
                    </a:p>
                  </a:txBody>
                  <a:tcPr>
                    <a:solidFill>
                      <a:srgbClr val="FFFFFF"/>
                    </a:solidFill>
                  </a:tcPr>
                </a:tc>
                <a:tc>
                  <a:txBody>
                    <a:bodyPr/>
                    <a:lstStyle/>
                    <a:p>
                      <a:pPr algn="l"/>
                      <a:r>
                        <a:rPr sz="850" b="0" i="0">
                          <a:solidFill>
                            <a:srgbClr val="262626"/>
                          </a:solidFill>
                          <a:latin typeface="Arial"/>
                        </a:rPr>
                        <a:t>Cecilia Perez</a:t>
                      </a:r>
                    </a:p>
                  </a:txBody>
                  <a:tcPr>
                    <a:solidFill>
                      <a:srgbClr val="FFFFFF"/>
                    </a:solidFill>
                  </a:tcPr>
                </a:tc>
                <a:tc>
                  <a:txBody>
                    <a:bodyPr/>
                    <a:lstStyle/>
                    <a:p>
                      <a:pPr algn="ctr"/>
                      <a:r>
                        <a:rPr sz="850" b="1"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+33.0</a:t>
                      </a:r>
                    </a:p>
                  </a:txBody>
                  <a:tcPr>
                    <a:solidFill>
                      <a:srgbClr val="FFFFFF"/>
                    </a:solidFill>
                  </a:tcPr>
                </a:tc>
                <a:tc>
                  <a:txBody>
                    <a:bodyPr/>
                    <a:lstStyle/>
                    <a:p>
                      <a:pPr algn="ctr"/>
                      <a:r>
                        <a:rPr sz="850" b="0" i="0">
                          <a:solidFill>
                            <a:srgbClr val="262626"/>
                          </a:solidFill>
                          <a:latin typeface="Arial"/>
                        </a:rPr>
                        <a:t>9:36</a:t>
                      </a:r>
                    </a:p>
                  </a:txBody>
                  <a:tcPr>
                    <a:solidFill>
                      <a:srgbClr val="FFFFFF"/>
                    </a:solidFill>
                  </a:tcPr>
                </a:tc>
                <a:tc>
                  <a:txBody>
                    <a:bodyPr/>
                    <a:lstStyle/>
                    <a:p>
                      <a:pPr algn="ctr"/>
                      <a:r>
                        <a:rPr sz="850" b="0" i="0">
                          <a:solidFill>
                            <a:srgbClr val="BFBFBF"/>
                          </a:solidFill>
                          <a:latin typeface="Arial"/>
                        </a:rPr>
                        <a:t>2</a:t>
                      </a:r>
                    </a:p>
                  </a:txBody>
                  <a:tcPr>
                    <a:solidFill>
                      <a:srgbClr val="FFFFFF"/>
                    </a:solidFill>
                  </a:tcPr>
                </a:tc>
                <a:extLst>
                  <a:ext uri="{0D108BD9-81ED-4DB2-BD59-A6C34878D82A}">
                    <a16:rowId xmlns:a16="http://schemas.microsoft.com/office/drawing/2014/main" val="10001"/>
                  </a:ext>
                </a:extLst>
              </a:tr>
              <a:tr h="256032">
                <a:tc>
                  <a:txBody>
                    <a:bodyPr/>
                    <a:lstStyle/>
                    <a:p>
                      <a:pPr algn="ctr"/>
                      <a:r>
                        <a:rPr sz="850" b="1" i="0">
                          <a:solidFill>
                            <a:srgbClr val="002060"/>
                          </a:solidFill>
                          <a:latin typeface="Arial"/>
                        </a:rPr>
                        <a:t>2</a:t>
                      </a:r>
                    </a:p>
                  </a:txBody>
                  <a:tcPr>
                    <a:solidFill>
                      <a:srgbClr val="F2F2F2"/>
                    </a:solidFill>
                  </a:tcPr>
                </a:tc>
                <a:tc>
                  <a:txBody>
                    <a:bodyPr/>
                    <a:lstStyle/>
                    <a:p>
                      <a:pPr algn="l"/>
                      <a:r>
                        <a:rPr sz="850" b="0" i="0">
                          <a:solidFill>
                            <a:srgbClr val="262626"/>
                          </a:solidFill>
                          <a:latin typeface="Arial"/>
                        </a:rPr>
                        <a:t>Carlotta Missaglia</a:t>
                      </a:r>
                    </a:p>
                  </a:txBody>
                  <a:tcPr>
                    <a:solidFill>
                      <a:srgbClr val="F2F2F2"/>
                    </a:solidFill>
                  </a:tcPr>
                </a:tc>
                <a:tc>
                  <a:txBody>
                    <a:bodyPr/>
                    <a:lstStyle/>
                    <a:p>
                      <a:pPr algn="ctr"/>
                      <a:r>
                        <a:rPr sz="850" b="1"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+44.0</a:t>
                      </a:r>
                    </a:p>
                  </a:txBody>
                  <a:tcPr>
                    <a:solidFill>
                      <a:srgbClr val="F2F2F2"/>
                    </a:solidFill>
                  </a:tcPr>
                </a:tc>
                <a:tc>
                  <a:txBody>
                    <a:bodyPr/>
                    <a:lstStyle/>
                    <a:p>
                      <a:pPr algn="ctr"/>
                      <a:r>
                        <a:rPr sz="850" b="0" i="0">
                          <a:solidFill>
                            <a:srgbClr val="262626"/>
                          </a:solidFill>
                          <a:latin typeface="Arial"/>
                        </a:rPr>
                        <a:t>9:49</a:t>
                      </a:r>
                    </a:p>
                  </a:txBody>
                  <a:tcPr>
                    <a:solidFill>
                      <a:srgbClr val="F2F2F2"/>
                    </a:solidFill>
                  </a:tcPr>
                </a:tc>
                <a:tc>
                  <a:txBody>
                    <a:bodyPr/>
                    <a:lstStyle/>
                    <a:p>
                      <a:pPr algn="ctr"/>
                      <a:r>
                        <a:rPr sz="850" b="0" i="0">
                          <a:solidFill>
                            <a:srgbClr val="BFBFBF"/>
                          </a:solidFill>
                          <a:latin typeface="Arial"/>
                        </a:rPr>
                        <a:t>2</a:t>
                      </a:r>
                    </a:p>
                  </a:txBody>
                  <a:tcPr>
                    <a:solidFill>
                      <a:srgbClr val="F2F2F2"/>
                    </a:solidFill>
                  </a:tcPr>
                </a:tc>
                <a:extLst>
                  <a:ext uri="{0D108BD9-81ED-4DB2-BD59-A6C34878D82A}">
                    <a16:rowId xmlns:a16="http://schemas.microsoft.com/office/drawing/2014/main" val="10002"/>
                  </a:ext>
                </a:extLst>
              </a:tr>
              <a:tr h="256032">
                <a:tc>
                  <a:txBody>
                    <a:bodyPr/>
                    <a:lstStyle/>
                    <a:p>
                      <a:pPr algn="ctr"/>
                      <a:r>
                        <a:rPr sz="850" b="1" i="0">
                          <a:solidFill>
                            <a:srgbClr val="002060"/>
                          </a:solidFill>
                          <a:latin typeface="Arial"/>
                        </a:rPr>
                        <a:t>3</a:t>
                      </a:r>
                    </a:p>
                  </a:txBody>
                  <a:tcPr>
                    <a:solidFill>
                      <a:srgbClr val="FFFFFF"/>
                    </a:solidFill>
                  </a:tcPr>
                </a:tc>
                <a:tc>
                  <a:txBody>
                    <a:bodyPr/>
                    <a:lstStyle/>
                    <a:p>
                      <a:pPr algn="l"/>
                      <a:r>
                        <a:rPr sz="850" b="0" i="0">
                          <a:solidFill>
                            <a:srgbClr val="262626"/>
                          </a:solidFill>
                          <a:latin typeface="Arial"/>
                        </a:rPr>
                        <a:t>Karolina Helga Horváth</a:t>
                      </a:r>
                    </a:p>
                  </a:txBody>
                  <a:tcPr>
                    <a:solidFill>
                      <a:srgbClr val="FFFFFF"/>
                    </a:solidFill>
                  </a:tcPr>
                </a:tc>
                <a:tc>
                  <a:txBody>
                    <a:bodyPr/>
                    <a:lstStyle/>
                    <a:p>
                      <a:pPr algn="ctr"/>
                      <a:r>
                        <a:rPr sz="850" b="1"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+23.5</a:t>
                      </a:r>
                    </a:p>
                  </a:txBody>
                  <a:tcPr>
                    <a:solidFill>
                      <a:srgbClr val="FFFFFF"/>
                    </a:solidFill>
                  </a:tcPr>
                </a:tc>
                <a:tc>
                  <a:txBody>
                    <a:bodyPr/>
                    <a:lstStyle/>
                    <a:p>
                      <a:pPr algn="ctr"/>
                      <a:r>
                        <a:rPr sz="850" b="0" i="0">
                          <a:solidFill>
                            <a:srgbClr val="262626"/>
                          </a:solidFill>
                          <a:latin typeface="Arial"/>
                        </a:rPr>
                        <a:t>9:50</a:t>
                      </a:r>
                    </a:p>
                  </a:txBody>
                  <a:tcPr>
                    <a:solidFill>
                      <a:srgbClr val="FFFFFF"/>
                    </a:solidFill>
                  </a:tcPr>
                </a:tc>
                <a:tc>
                  <a:txBody>
                    <a:bodyPr/>
                    <a:lstStyle/>
                    <a:p>
                      <a:pPr algn="ctr"/>
                      <a:r>
                        <a:rPr sz="850" b="0" i="0">
                          <a:solidFill>
                            <a:srgbClr val="BFBFBF"/>
                          </a:solidFill>
                          <a:latin typeface="Arial"/>
                        </a:rPr>
                        <a:t>2</a:t>
                      </a:r>
                    </a:p>
                  </a:txBody>
                  <a:tcPr>
                    <a:solidFill>
                      <a:srgbClr val="FFFFFF"/>
                    </a:solidFill>
                  </a:tcPr>
                </a:tc>
                <a:extLst>
                  <a:ext uri="{0D108BD9-81ED-4DB2-BD59-A6C34878D82A}">
                    <a16:rowId xmlns:a16="http://schemas.microsoft.com/office/drawing/2014/main" val="10003"/>
                  </a:ext>
                </a:extLst>
              </a:tr>
              <a:tr h="256032">
                <a:tc>
                  <a:txBody>
                    <a:bodyPr/>
                    <a:lstStyle/>
                    <a:p>
                      <a:pPr algn="ctr"/>
                      <a:r>
                        <a:rPr sz="850" b="1" i="0">
                          <a:solidFill>
                            <a:srgbClr val="002060"/>
                          </a:solidFill>
                          <a:latin typeface="Arial"/>
                        </a:rPr>
                        <a:t>4</a:t>
                      </a:r>
                    </a:p>
                  </a:txBody>
                  <a:tcPr>
                    <a:solidFill>
                      <a:srgbClr val="F2F2F2"/>
                    </a:solidFill>
                  </a:tcPr>
                </a:tc>
                <a:tc>
                  <a:txBody>
                    <a:bodyPr/>
                    <a:lstStyle/>
                    <a:p>
                      <a:pPr algn="l"/>
                      <a:r>
                        <a:rPr sz="850" b="0" i="0">
                          <a:solidFill>
                            <a:srgbClr val="262626"/>
                          </a:solidFill>
                          <a:latin typeface="Arial"/>
                        </a:rPr>
                        <a:t>Sandra Dodet</a:t>
                      </a:r>
                    </a:p>
                  </a:txBody>
                  <a:tcPr>
                    <a:solidFill>
                      <a:srgbClr val="F2F2F2"/>
                    </a:solidFill>
                  </a:tcPr>
                </a:tc>
                <a:tc>
                  <a:txBody>
                    <a:bodyPr/>
                    <a:lstStyle/>
                    <a:p>
                      <a:pPr algn="ctr"/>
                      <a:r>
                        <a:rPr sz="850" b="1"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+40.5</a:t>
                      </a:r>
                    </a:p>
                  </a:txBody>
                  <a:tcPr>
                    <a:solidFill>
                      <a:srgbClr val="F2F2F2"/>
                    </a:solidFill>
                  </a:tcPr>
                </a:tc>
                <a:tc>
                  <a:txBody>
                    <a:bodyPr/>
                    <a:lstStyle/>
                    <a:p>
                      <a:pPr algn="ctr"/>
                      <a:r>
                        <a:rPr sz="850" b="0" i="0">
                          <a:solidFill>
                            <a:srgbClr val="262626"/>
                          </a:solidFill>
                          <a:latin typeface="Arial"/>
                        </a:rPr>
                        <a:t>9:50</a:t>
                      </a:r>
                    </a:p>
                  </a:txBody>
                  <a:tcPr>
                    <a:solidFill>
                      <a:srgbClr val="F2F2F2"/>
                    </a:solidFill>
                  </a:tcPr>
                </a:tc>
                <a:tc>
                  <a:txBody>
                    <a:bodyPr/>
                    <a:lstStyle/>
                    <a:p>
                      <a:pPr algn="ctr"/>
                      <a:r>
                        <a:rPr sz="850" b="0" i="0">
                          <a:solidFill>
                            <a:srgbClr val="BFBFBF"/>
                          </a:solidFill>
                          <a:latin typeface="Arial"/>
                        </a:rPr>
                        <a:t>2</a:t>
                      </a:r>
                    </a:p>
                  </a:txBody>
                  <a:tcPr>
                    <a:solidFill>
                      <a:srgbClr val="F2F2F2"/>
                    </a:solidFill>
                  </a:tcPr>
                </a:tc>
                <a:extLst>
                  <a:ext uri="{0D108BD9-81ED-4DB2-BD59-A6C34878D82A}">
                    <a16:rowId xmlns:a16="http://schemas.microsoft.com/office/drawing/2014/main" val="10004"/>
                  </a:ext>
                </a:extLst>
              </a:tr>
              <a:tr h="256032">
                <a:tc>
                  <a:txBody>
                    <a:bodyPr/>
                    <a:lstStyle/>
                    <a:p>
                      <a:pPr algn="ctr"/>
                      <a:r>
                        <a:rPr sz="850" b="1" i="0">
                          <a:solidFill>
                            <a:srgbClr val="002060"/>
                          </a:solidFill>
                          <a:latin typeface="Arial"/>
                        </a:rPr>
                        <a:t>5</a:t>
                      </a:r>
                    </a:p>
                  </a:txBody>
                  <a:tcPr>
                    <a:solidFill>
                      <a:srgbClr val="FFFFFF"/>
                    </a:solidFill>
                  </a:tcPr>
                </a:tc>
                <a:tc>
                  <a:txBody>
                    <a:bodyPr/>
                    <a:lstStyle/>
                    <a:p>
                      <a:pPr algn="l"/>
                      <a:r>
                        <a:rPr sz="850" b="0" i="0">
                          <a:solidFill>
                            <a:srgbClr val="262626"/>
                          </a:solidFill>
                          <a:latin typeface="Arial"/>
                        </a:rPr>
                        <a:t>Nele Dequae</a:t>
                      </a:r>
                    </a:p>
                  </a:txBody>
                  <a:tcPr>
                    <a:solidFill>
                      <a:srgbClr val="FFFFFF"/>
                    </a:solidFill>
                  </a:tcPr>
                </a:tc>
                <a:tc>
                  <a:txBody>
                    <a:bodyPr/>
                    <a:lstStyle/>
                    <a:p>
                      <a:pPr algn="ctr"/>
                      <a:r>
                        <a:rPr sz="850" b="1"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+50.0</a:t>
                      </a:r>
                    </a:p>
                  </a:txBody>
                  <a:tcPr>
                    <a:solidFill>
                      <a:srgbClr val="FFFFFF"/>
                    </a:solidFill>
                  </a:tcPr>
                </a:tc>
                <a:tc>
                  <a:txBody>
                    <a:bodyPr/>
                    <a:lstStyle/>
                    <a:p>
                      <a:pPr algn="ctr"/>
                      <a:r>
                        <a:rPr sz="850" b="0" i="0">
                          <a:solidFill>
                            <a:srgbClr val="262626"/>
                          </a:solidFill>
                          <a:latin typeface="Arial"/>
                        </a:rPr>
                        <a:t>9:56</a:t>
                      </a:r>
                    </a:p>
                  </a:txBody>
                  <a:tcPr>
                    <a:solidFill>
                      <a:srgbClr val="FFFFFF"/>
                    </a:solidFill>
                  </a:tcPr>
                </a:tc>
                <a:tc>
                  <a:txBody>
                    <a:bodyPr/>
                    <a:lstStyle/>
                    <a:p>
                      <a:pPr algn="ctr"/>
                      <a:r>
                        <a:rPr sz="850" b="0" i="0">
                          <a:solidFill>
                            <a:srgbClr val="BFBFBF"/>
                          </a:solidFill>
                          <a:latin typeface="Arial"/>
                        </a:rPr>
                        <a:t>2</a:t>
                      </a:r>
                    </a:p>
                  </a:txBody>
                  <a:tcPr>
                    <a:solidFill>
                      <a:srgbClr val="FFFFFF"/>
                    </a:solidFill>
                  </a:tcPr>
                </a:tc>
                <a:extLst>
                  <a:ext uri="{0D108BD9-81ED-4DB2-BD59-A6C34878D82A}">
                    <a16:rowId xmlns:a16="http://schemas.microsoft.com/office/drawing/2014/main" val="10005"/>
                  </a:ext>
                </a:extLst>
              </a:tr>
              <a:tr h="256032">
                <a:tc>
                  <a:txBody>
                    <a:bodyPr/>
                    <a:lstStyle/>
                    <a:p>
                      <a:pPr algn="ctr"/>
                      <a:r>
                        <a:rPr sz="850" b="1" i="0">
                          <a:solidFill>
                            <a:srgbClr val="002060"/>
                          </a:solidFill>
                          <a:latin typeface="Arial"/>
                        </a:rPr>
                        <a:t>6</a:t>
                      </a:r>
                    </a:p>
                  </a:txBody>
                  <a:tcPr>
                    <a:solidFill>
                      <a:srgbClr val="F2F2F2"/>
                    </a:solidFill>
                  </a:tcPr>
                </a:tc>
                <a:tc>
                  <a:txBody>
                    <a:bodyPr/>
                    <a:lstStyle/>
                    <a:p>
                      <a:pPr algn="l"/>
                      <a:r>
                        <a:rPr sz="850" b="0" i="0">
                          <a:solidFill>
                            <a:srgbClr val="262626"/>
                          </a:solidFill>
                          <a:latin typeface="Arial"/>
                        </a:rPr>
                        <a:t>Margot Garabedian</a:t>
                      </a:r>
                    </a:p>
                  </a:txBody>
                  <a:tcPr>
                    <a:solidFill>
                      <a:srgbClr val="F2F2F2"/>
                    </a:solidFill>
                  </a:tcPr>
                </a:tc>
                <a:tc>
                  <a:txBody>
                    <a:bodyPr/>
                    <a:lstStyle/>
                    <a:p>
                      <a:pPr algn="ctr"/>
                      <a:r>
                        <a:rPr sz="850" b="1"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+25.5</a:t>
                      </a:r>
                    </a:p>
                  </a:txBody>
                  <a:tcPr>
                    <a:solidFill>
                      <a:srgbClr val="F2F2F2"/>
                    </a:solidFill>
                  </a:tcPr>
                </a:tc>
                <a:tc>
                  <a:txBody>
                    <a:bodyPr/>
                    <a:lstStyle/>
                    <a:p>
                      <a:pPr algn="ctr"/>
                      <a:r>
                        <a:rPr sz="850" b="0" i="0">
                          <a:solidFill>
                            <a:srgbClr val="262626"/>
                          </a:solidFill>
                          <a:latin typeface="Arial"/>
                        </a:rPr>
                        <a:t>10:01</a:t>
                      </a:r>
                    </a:p>
                  </a:txBody>
                  <a:tcPr>
                    <a:solidFill>
                      <a:srgbClr val="F2F2F2"/>
                    </a:solidFill>
                  </a:tcPr>
                </a:tc>
                <a:tc>
                  <a:txBody>
                    <a:bodyPr/>
                    <a:lstStyle/>
                    <a:p>
                      <a:pPr algn="ctr"/>
                      <a:r>
                        <a:rPr sz="850" b="0" i="0">
                          <a:solidFill>
                            <a:srgbClr val="BFBFBF"/>
                          </a:solidFill>
                          <a:latin typeface="Arial"/>
                        </a:rPr>
                        <a:t>2</a:t>
                      </a:r>
                    </a:p>
                  </a:txBody>
                  <a:tcPr>
                    <a:solidFill>
                      <a:srgbClr val="F2F2F2"/>
                    </a:solidFill>
                  </a:tcPr>
                </a:tc>
                <a:extLst>
                  <a:ext uri="{0D108BD9-81ED-4DB2-BD59-A6C34878D82A}">
                    <a16:rowId xmlns:a16="http://schemas.microsoft.com/office/drawing/2014/main" val="10006"/>
                  </a:ext>
                </a:extLst>
              </a:tr>
              <a:tr h="256032">
                <a:tc>
                  <a:txBody>
                    <a:bodyPr/>
                    <a:lstStyle/>
                    <a:p>
                      <a:pPr algn="ctr"/>
                      <a:r>
                        <a:rPr sz="850" b="1" i="0">
                          <a:solidFill>
                            <a:srgbClr val="002060"/>
                          </a:solidFill>
                          <a:latin typeface="Arial"/>
                        </a:rPr>
                        <a:t>7</a:t>
                      </a:r>
                    </a:p>
                  </a:txBody>
                  <a:tcPr>
                    <a:solidFill>
                      <a:srgbClr val="FFFFFF"/>
                    </a:solidFill>
                  </a:tcPr>
                </a:tc>
                <a:tc>
                  <a:txBody>
                    <a:bodyPr/>
                    <a:lstStyle/>
                    <a:p>
                      <a:pPr algn="l"/>
                      <a:r>
                        <a:rPr sz="850" b="0" i="0">
                          <a:solidFill>
                            <a:srgbClr val="262626"/>
                          </a:solidFill>
                          <a:latin typeface="Arial"/>
                        </a:rPr>
                        <a:t>Julia Bröcker</a:t>
                      </a:r>
                    </a:p>
                  </a:txBody>
                  <a:tcPr>
                    <a:solidFill>
                      <a:srgbClr val="FFFFFF"/>
                    </a:solidFill>
                  </a:tcPr>
                </a:tc>
                <a:tc>
                  <a:txBody>
                    <a:bodyPr/>
                    <a:lstStyle/>
                    <a:p>
                      <a:pPr algn="ctr"/>
                      <a:r>
                        <a:rPr sz="850" b="1"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+34.7</a:t>
                      </a:r>
                    </a:p>
                  </a:txBody>
                  <a:tcPr>
                    <a:solidFill>
                      <a:srgbClr val="FFFFFF"/>
                    </a:solidFill>
                  </a:tcPr>
                </a:tc>
                <a:tc>
                  <a:txBody>
                    <a:bodyPr/>
                    <a:lstStyle/>
                    <a:p>
                      <a:pPr algn="ctr"/>
                      <a:r>
                        <a:rPr sz="850" b="0" i="0">
                          <a:solidFill>
                            <a:srgbClr val="262626"/>
                          </a:solidFill>
                          <a:latin typeface="Arial"/>
                        </a:rPr>
                        <a:t>10:09</a:t>
                      </a:r>
                    </a:p>
                  </a:txBody>
                  <a:tcPr>
                    <a:solidFill>
                      <a:srgbClr val="FFFFFF"/>
                    </a:solidFill>
                  </a:tcPr>
                </a:tc>
                <a:tc>
                  <a:txBody>
                    <a:bodyPr/>
                    <a:lstStyle/>
                    <a:p>
                      <a:pPr algn="ctr"/>
                      <a:r>
                        <a:rPr sz="850" b="0" i="0">
                          <a:solidFill>
                            <a:srgbClr val="BFBFBF"/>
                          </a:solidFill>
                          <a:latin typeface="Arial"/>
                        </a:rPr>
                        <a:t>3</a:t>
                      </a:r>
                    </a:p>
                  </a:txBody>
                  <a:tcPr>
                    <a:solidFill>
                      <a:srgbClr val="FFFFFF"/>
                    </a:solidFill>
                  </a:tcPr>
                </a:tc>
                <a:extLst>
                  <a:ext uri="{0D108BD9-81ED-4DB2-BD59-A6C34878D82A}">
                    <a16:rowId xmlns:a16="http://schemas.microsoft.com/office/drawing/2014/main" val="10007"/>
                  </a:ext>
                </a:extLst>
              </a:tr>
            </a:tbl>
          </a:graphicData>
        </a:graphic>
      </p:graphicFrame>
      <p:sp>
        <p:nvSpPr>
          <p:cNvPr id="16" name="Rectangle 15"/>
          <p:cNvSpPr/>
          <p:nvPr/>
        </p:nvSpPr>
        <p:spPr>
          <a:xfrm>
            <a:off x="274320" y="406908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4320" y="4096512"/>
            <a:ext cx="5806440" cy="219456"/>
          </a:xfrm>
          <a:prstGeom prst="rect">
            <a:avLst/>
          </a:prstGeom>
          <a:noFill/>
        </p:spPr>
        <p:txBody>
          <a:bodyPr wrap="square">
            <a:spAutoFit/>
          </a:bodyPr>
          <a:lstStyle/>
          <a:p>
            <a:pPr algn="ctr"/>
            <a:r>
              <a:rPr sz="1100" b="1" i="0">
                <a:solidFill>
                  <a:srgbClr val="FFFFFF"/>
                </a:solidFill>
                <a:latin typeface="Arial"/>
              </a:rPr>
              <a:t>U23 MEN</a:t>
            </a:r>
          </a:p>
        </p:txBody>
      </p:sp>
      <p:graphicFrame>
        <p:nvGraphicFramePr>
          <p:cNvPr id="18" name="Table 17"/>
          <p:cNvGraphicFramePr>
            <a:graphicFrameLocks noGrp="1"/>
          </p:cNvGraphicFramePr>
          <p:nvPr/>
        </p:nvGraphicFramePr>
        <p:xfrm>
          <a:off x="274320" y="4389120"/>
          <a:ext cx="5807351" cy="2048256"/>
        </p:xfrm>
        <a:graphic>
          <a:graphicData uri="http://schemas.openxmlformats.org/drawingml/2006/table">
            <a:tbl>
              <a:tblPr firstRow="1" bandRow="1">
                <a:tableStyleId>{5C22544A-7EE6-4342-B048-85BDC9FD1C3A}</a:tableStyleId>
              </a:tblPr>
              <a:tblGrid>
                <a:gridCol w="341985">
                  <a:extLst>
                    <a:ext uri="{9D8B030D-6E8A-4147-A177-3AD203B41FA5}">
                      <a16:colId xmlns:a16="http://schemas.microsoft.com/office/drawing/2014/main" val="20000"/>
                    </a:ext>
                  </a:extLst>
                </a:gridCol>
                <a:gridCol w="1902866">
                  <a:extLst>
                    <a:ext uri="{9D8B030D-6E8A-4147-A177-3AD203B41FA5}">
                      <a16:colId xmlns:a16="http://schemas.microsoft.com/office/drawing/2014/main" val="20001"/>
                    </a:ext>
                  </a:extLst>
                </a:gridCol>
                <a:gridCol w="1025042">
                  <a:extLst>
                    <a:ext uri="{9D8B030D-6E8A-4147-A177-3AD203B41FA5}">
                      <a16:colId xmlns:a16="http://schemas.microsoft.com/office/drawing/2014/main" val="20002"/>
                    </a:ext>
                  </a:extLst>
                </a:gridCol>
                <a:gridCol w="1025042">
                  <a:extLst>
                    <a:ext uri="{9D8B030D-6E8A-4147-A177-3AD203B41FA5}">
                      <a16:colId xmlns:a16="http://schemas.microsoft.com/office/drawing/2014/main" val="20003"/>
                    </a:ext>
                  </a:extLst>
                </a:gridCol>
                <a:gridCol w="975664">
                  <a:extLst>
                    <a:ext uri="{9D8B030D-6E8A-4147-A177-3AD203B41FA5}">
                      <a16:colId xmlns:a16="http://schemas.microsoft.com/office/drawing/2014/main" val="20004"/>
                    </a:ext>
                  </a:extLst>
                </a:gridCol>
                <a:gridCol w="536752">
                  <a:extLst>
                    <a:ext uri="{9D8B030D-6E8A-4147-A177-3AD203B41FA5}">
                      <a16:colId xmlns:a16="http://schemas.microsoft.com/office/drawing/2014/main" val="20005"/>
                    </a:ext>
                  </a:extLst>
                </a:gridCol>
              </a:tblGrid>
              <a:tr h="256032">
                <a:tc>
                  <a:txBody>
                    <a:bodyPr/>
                    <a:lstStyle/>
                    <a:p>
                      <a:pPr algn="ctr"/>
                      <a:r>
                        <a:rPr sz="900" b="1" i="0">
                          <a:solidFill>
                            <a:srgbClr val="FFFFFF"/>
                          </a:solidFill>
                          <a:latin typeface="Arial"/>
                        </a:rPr>
                        <a:t>#</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Lead Pack %</a:t>
                      </a:r>
                    </a:p>
                  </a:txBody>
                  <a:tcPr>
                    <a:solidFill>
                      <a:srgbClr val="002060"/>
                    </a:solidFill>
                  </a:tcPr>
                </a:tc>
                <a:tc>
                  <a:txBody>
                    <a:bodyPr/>
                    <a:lstStyle/>
                    <a:p>
                      <a:pPr algn="ctr"/>
                      <a:r>
                        <a:rPr sz="900" b="1" i="0">
                          <a:solidFill>
                            <a:srgbClr val="FFFFFF"/>
                          </a:solidFill>
                          <a:latin typeface="Arial"/>
                        </a:rPr>
                        <a:t>Avg Gap (s)</a:t>
                      </a:r>
                    </a:p>
                  </a:txBody>
                  <a:tcPr>
                    <a:solidFill>
                      <a:srgbClr val="002060"/>
                    </a:solidFill>
                  </a:tcPr>
                </a:tc>
                <a:tc>
                  <a:txBody>
                    <a:bodyPr/>
                    <a:lstStyle/>
                    <a:p>
                      <a:pPr algn="ctr"/>
                      <a:r>
                        <a:rPr sz="900" b="1" i="0">
                          <a:solidFill>
                            <a:srgbClr val="FFFFFF"/>
                          </a:solidFill>
                          <a:latin typeface="Arial"/>
                        </a:rPr>
                        <a:t>EWMA Swim</a:t>
                      </a:r>
                    </a:p>
                  </a:txBody>
                  <a:tcPr>
                    <a:solidFill>
                      <a:srgbClr val="002060"/>
                    </a:solidFill>
                  </a:tcPr>
                </a:tc>
                <a:tc>
                  <a:txBody>
                    <a:bodyPr/>
                    <a:lstStyle/>
                    <a:p>
                      <a:pPr algn="ctr"/>
                      <a:r>
                        <a:rPr sz="900" b="1" i="0">
                          <a:solidFill>
                            <a:srgbClr val="FFFFFF"/>
                          </a:solidFill>
                          <a:latin typeface="Arial"/>
                        </a:rPr>
                        <a:t>Races</a:t>
                      </a:r>
                    </a:p>
                  </a:txBody>
                  <a:tcPr>
                    <a:solidFill>
                      <a:srgbClr val="002060"/>
                    </a:solidFill>
                  </a:tcPr>
                </a:tc>
                <a:extLst>
                  <a:ext uri="{0D108BD9-81ED-4DB2-BD59-A6C34878D82A}">
                    <a16:rowId xmlns:a16="http://schemas.microsoft.com/office/drawing/2014/main" val="10000"/>
                  </a:ext>
                </a:extLst>
              </a:tr>
              <a:tr h="256032">
                <a:tc>
                  <a:txBody>
                    <a:bodyPr/>
                    <a:lstStyle/>
                    <a:p>
                      <a:pPr algn="ctr"/>
                      <a:r>
                        <a:rPr sz="850" b="1" i="0">
                          <a:solidFill>
                            <a:srgbClr val="002060"/>
                          </a:solidFill>
                          <a:latin typeface="Arial"/>
                        </a:rPr>
                        <a:t>1</a:t>
                      </a:r>
                    </a:p>
                  </a:txBody>
                  <a:tcPr>
                    <a:solidFill>
                      <a:srgbClr val="FFFFFF"/>
                    </a:solidFill>
                  </a:tcPr>
                </a:tc>
                <a:tc>
                  <a:txBody>
                    <a:bodyPr/>
                    <a:lstStyle/>
                    <a:p>
                      <a:pPr algn="l"/>
                      <a:r>
                        <a:rPr sz="850" b="0" i="0">
                          <a:solidFill>
                            <a:srgbClr val="262626"/>
                          </a:solidFill>
                          <a:latin typeface="Arial"/>
                        </a:rPr>
                        <a:t>Pavel Sorokin</a:t>
                      </a:r>
                    </a:p>
                  </a:txBody>
                  <a:tcPr>
                    <a:solidFill>
                      <a:srgbClr val="FFFFFF"/>
                    </a:solidFill>
                  </a:tcPr>
                </a:tc>
                <a:tc>
                  <a:txBody>
                    <a:bodyPr/>
                    <a:lstStyle/>
                    <a:p>
                      <a:pPr algn="ctr"/>
                      <a:r>
                        <a:rPr sz="850" b="1" i="0">
                          <a:solidFill>
                            <a:srgbClr val="262626"/>
                          </a:solidFill>
                          <a:latin typeface="Arial"/>
                        </a:rPr>
                        <a:t>100%</a:t>
                      </a:r>
                    </a:p>
                  </a:txBody>
                  <a:tcPr>
                    <a:solidFill>
                      <a:srgbClr val="FFFFFF"/>
                    </a:solidFill>
                  </a:tcPr>
                </a:tc>
                <a:tc>
                  <a:txBody>
                    <a:bodyPr/>
                    <a:lstStyle/>
                    <a:p>
                      <a:pPr algn="ctr"/>
                      <a:r>
                        <a:rPr sz="850" b="0" i="0">
                          <a:solidFill>
                            <a:srgbClr val="262626"/>
                          </a:solidFill>
                          <a:latin typeface="Arial"/>
                        </a:rPr>
                        <a:t>+11.0</a:t>
                      </a:r>
                    </a:p>
                  </a:txBody>
                  <a:tcPr>
                    <a:solidFill>
                      <a:srgbClr val="FFFFFF"/>
                    </a:solidFill>
                  </a:tcPr>
                </a:tc>
                <a:tc>
                  <a:txBody>
                    <a:bodyPr/>
                    <a:lstStyle/>
                    <a:p>
                      <a:pPr algn="ctr"/>
                      <a:r>
                        <a:rPr sz="850" b="0" i="0">
                          <a:solidFill>
                            <a:srgbClr val="262626"/>
                          </a:solidFill>
                          <a:latin typeface="Arial"/>
                        </a:rPr>
                        <a:t>17:41</a:t>
                      </a:r>
                    </a:p>
                  </a:txBody>
                  <a:tcPr>
                    <a:solidFill>
                      <a:srgbClr val="FFFFFF"/>
                    </a:solidFill>
                  </a:tcPr>
                </a:tc>
                <a:tc>
                  <a:txBody>
                    <a:bodyPr/>
                    <a:lstStyle/>
                    <a:p>
                      <a:pPr algn="ctr"/>
                      <a:r>
                        <a:rPr sz="850" b="0" i="0">
                          <a:solidFill>
                            <a:srgbClr val="BFBFBF"/>
                          </a:solidFill>
                          <a:latin typeface="Arial"/>
                        </a:rPr>
                        <a:t>2</a:t>
                      </a:r>
                    </a:p>
                  </a:txBody>
                  <a:tcPr>
                    <a:solidFill>
                      <a:srgbClr val="FFFFFF"/>
                    </a:solidFill>
                  </a:tcPr>
                </a:tc>
                <a:extLst>
                  <a:ext uri="{0D108BD9-81ED-4DB2-BD59-A6C34878D82A}">
                    <a16:rowId xmlns:a16="http://schemas.microsoft.com/office/drawing/2014/main" val="10001"/>
                  </a:ext>
                </a:extLst>
              </a:tr>
              <a:tr h="256032">
                <a:tc>
                  <a:txBody>
                    <a:bodyPr/>
                    <a:lstStyle/>
                    <a:p>
                      <a:pPr algn="ctr"/>
                      <a:r>
                        <a:rPr sz="850" b="1" i="0">
                          <a:solidFill>
                            <a:srgbClr val="002060"/>
                          </a:solidFill>
                          <a:latin typeface="Arial"/>
                        </a:rPr>
                        <a:t>2</a:t>
                      </a:r>
                    </a:p>
                  </a:txBody>
                  <a:tcPr>
                    <a:solidFill>
                      <a:srgbClr val="F2F2F2"/>
                    </a:solidFill>
                  </a:tcPr>
                </a:tc>
                <a:tc>
                  <a:txBody>
                    <a:bodyPr/>
                    <a:lstStyle/>
                    <a:p>
                      <a:pPr algn="l"/>
                      <a:r>
                        <a:rPr sz="850" b="0" i="0">
                          <a:solidFill>
                            <a:srgbClr val="262626"/>
                          </a:solidFill>
                          <a:latin typeface="Arial"/>
                        </a:rPr>
                        <a:t>Jules Rethoret</a:t>
                      </a:r>
                    </a:p>
                  </a:txBody>
                  <a:tcPr>
                    <a:solidFill>
                      <a:srgbClr val="F2F2F2"/>
                    </a:solidFill>
                  </a:tcPr>
                </a:tc>
                <a:tc>
                  <a:txBody>
                    <a:bodyPr/>
                    <a:lstStyle/>
                    <a:p>
                      <a:pPr algn="ctr"/>
                      <a:r>
                        <a:rPr sz="850" b="1" i="0">
                          <a:solidFill>
                            <a:srgbClr val="262626"/>
                          </a:solidFill>
                          <a:latin typeface="Arial"/>
                        </a:rPr>
                        <a:t>100%</a:t>
                      </a:r>
                    </a:p>
                  </a:txBody>
                  <a:tcPr>
                    <a:solidFill>
                      <a:srgbClr val="F2F2F2"/>
                    </a:solidFill>
                  </a:tcPr>
                </a:tc>
                <a:tc>
                  <a:txBody>
                    <a:bodyPr/>
                    <a:lstStyle/>
                    <a:p>
                      <a:pPr algn="ctr"/>
                      <a:r>
                        <a:rPr sz="850" b="0" i="0">
                          <a:solidFill>
                            <a:srgbClr val="262626"/>
                          </a:solidFill>
                          <a:latin typeface="Arial"/>
                        </a:rPr>
                        <a:t>+11.5</a:t>
                      </a:r>
                    </a:p>
                  </a:txBody>
                  <a:tcPr>
                    <a:solidFill>
                      <a:srgbClr val="F2F2F2"/>
                    </a:solidFill>
                  </a:tcPr>
                </a:tc>
                <a:tc>
                  <a:txBody>
                    <a:bodyPr/>
                    <a:lstStyle/>
                    <a:p>
                      <a:pPr algn="ctr"/>
                      <a:r>
                        <a:rPr sz="850" b="0" i="0">
                          <a:solidFill>
                            <a:srgbClr val="262626"/>
                          </a:solidFill>
                          <a:latin typeface="Arial"/>
                        </a:rPr>
                        <a:t>17:41</a:t>
                      </a:r>
                    </a:p>
                  </a:txBody>
                  <a:tcPr>
                    <a:solidFill>
                      <a:srgbClr val="F2F2F2"/>
                    </a:solidFill>
                  </a:tcPr>
                </a:tc>
                <a:tc>
                  <a:txBody>
                    <a:bodyPr/>
                    <a:lstStyle/>
                    <a:p>
                      <a:pPr algn="ctr"/>
                      <a:r>
                        <a:rPr sz="850" b="0" i="0">
                          <a:solidFill>
                            <a:srgbClr val="BFBFBF"/>
                          </a:solidFill>
                          <a:latin typeface="Arial"/>
                        </a:rPr>
                        <a:t>2</a:t>
                      </a:r>
                    </a:p>
                  </a:txBody>
                  <a:tcPr>
                    <a:solidFill>
                      <a:srgbClr val="F2F2F2"/>
                    </a:solidFill>
                  </a:tcPr>
                </a:tc>
                <a:extLst>
                  <a:ext uri="{0D108BD9-81ED-4DB2-BD59-A6C34878D82A}">
                    <a16:rowId xmlns:a16="http://schemas.microsoft.com/office/drawing/2014/main" val="10002"/>
                  </a:ext>
                </a:extLst>
              </a:tr>
              <a:tr h="256032">
                <a:tc>
                  <a:txBody>
                    <a:bodyPr/>
                    <a:lstStyle/>
                    <a:p>
                      <a:pPr algn="ctr"/>
                      <a:r>
                        <a:rPr sz="850" b="1" i="0">
                          <a:solidFill>
                            <a:srgbClr val="002060"/>
                          </a:solidFill>
                          <a:latin typeface="Arial"/>
                        </a:rPr>
                        <a:t>3</a:t>
                      </a:r>
                    </a:p>
                  </a:txBody>
                  <a:tcPr>
                    <a:solidFill>
                      <a:srgbClr val="FFFFFF"/>
                    </a:solidFill>
                  </a:tcPr>
                </a:tc>
                <a:tc>
                  <a:txBody>
                    <a:bodyPr/>
                    <a:lstStyle/>
                    <a:p>
                      <a:pPr algn="l"/>
                      <a:r>
                        <a:rPr sz="850" b="0" i="0">
                          <a:solidFill>
                            <a:srgbClr val="262626"/>
                          </a:solidFill>
                          <a:latin typeface="Arial"/>
                        </a:rPr>
                        <a:t>Esteban Basanta Fouz</a:t>
                      </a:r>
                    </a:p>
                  </a:txBody>
                  <a:tcPr>
                    <a:solidFill>
                      <a:srgbClr val="FFFFFF"/>
                    </a:solidFill>
                  </a:tcPr>
                </a:tc>
                <a:tc>
                  <a:txBody>
                    <a:bodyPr/>
                    <a:lstStyle/>
                    <a:p>
                      <a:pPr algn="ctr"/>
                      <a:r>
                        <a:rPr sz="850" b="1" i="0">
                          <a:solidFill>
                            <a:srgbClr val="262626"/>
                          </a:solidFill>
                          <a:latin typeface="Arial"/>
                        </a:rPr>
                        <a:t>50%</a:t>
                      </a:r>
                    </a:p>
                  </a:txBody>
                  <a:tcPr>
                    <a:solidFill>
                      <a:srgbClr val="FFFFFF"/>
                    </a:solidFill>
                  </a:tcPr>
                </a:tc>
                <a:tc>
                  <a:txBody>
                    <a:bodyPr/>
                    <a:lstStyle/>
                    <a:p>
                      <a:pPr algn="ctr"/>
                      <a:r>
                        <a:rPr sz="850" b="0" i="0">
                          <a:solidFill>
                            <a:srgbClr val="262626"/>
                          </a:solidFill>
                          <a:latin typeface="Arial"/>
                        </a:rPr>
                        <a:t>+14.0</a:t>
                      </a:r>
                    </a:p>
                  </a:txBody>
                  <a:tcPr>
                    <a:solidFill>
                      <a:srgbClr val="FFFFFF"/>
                    </a:solidFill>
                  </a:tcPr>
                </a:tc>
                <a:tc>
                  <a:txBody>
                    <a:bodyPr/>
                    <a:lstStyle/>
                    <a:p>
                      <a:pPr algn="ctr"/>
                      <a:r>
                        <a:rPr sz="850" b="0" i="0">
                          <a:solidFill>
                            <a:srgbClr val="262626"/>
                          </a:solidFill>
                          <a:latin typeface="Arial"/>
                        </a:rPr>
                        <a:t>17:43</a:t>
                      </a:r>
                    </a:p>
                  </a:txBody>
                  <a:tcPr>
                    <a:solidFill>
                      <a:srgbClr val="FFFFFF"/>
                    </a:solidFill>
                  </a:tcPr>
                </a:tc>
                <a:tc>
                  <a:txBody>
                    <a:bodyPr/>
                    <a:lstStyle/>
                    <a:p>
                      <a:pPr algn="ctr"/>
                      <a:r>
                        <a:rPr sz="850" b="0" i="0">
                          <a:solidFill>
                            <a:srgbClr val="BFBFBF"/>
                          </a:solidFill>
                          <a:latin typeface="Arial"/>
                        </a:rPr>
                        <a:t>2</a:t>
                      </a:r>
                    </a:p>
                  </a:txBody>
                  <a:tcPr>
                    <a:solidFill>
                      <a:srgbClr val="FFFFFF"/>
                    </a:solidFill>
                  </a:tcPr>
                </a:tc>
                <a:extLst>
                  <a:ext uri="{0D108BD9-81ED-4DB2-BD59-A6C34878D82A}">
                    <a16:rowId xmlns:a16="http://schemas.microsoft.com/office/drawing/2014/main" val="10003"/>
                  </a:ext>
                </a:extLst>
              </a:tr>
              <a:tr h="256032">
                <a:tc>
                  <a:txBody>
                    <a:bodyPr/>
                    <a:lstStyle/>
                    <a:p>
                      <a:pPr algn="ctr"/>
                      <a:r>
                        <a:rPr sz="850" b="1" i="0">
                          <a:solidFill>
                            <a:srgbClr val="002060"/>
                          </a:solidFill>
                          <a:latin typeface="Arial"/>
                        </a:rPr>
                        <a:t>4</a:t>
                      </a:r>
                    </a:p>
                  </a:txBody>
                  <a:tcPr>
                    <a:solidFill>
                      <a:srgbClr val="F2F2F2"/>
                    </a:solidFill>
                  </a:tcPr>
                </a:tc>
                <a:tc>
                  <a:txBody>
                    <a:bodyPr/>
                    <a:lstStyle/>
                    <a:p>
                      <a:pPr algn="l"/>
                      <a:r>
                        <a:rPr sz="850" b="0" i="0">
                          <a:solidFill>
                            <a:srgbClr val="262626"/>
                          </a:solidFill>
                          <a:latin typeface="Arial"/>
                        </a:rPr>
                        <a:t>Mitch Kolkman</a:t>
                      </a:r>
                    </a:p>
                  </a:txBody>
                  <a:tcPr>
                    <a:solidFill>
                      <a:srgbClr val="F2F2F2"/>
                    </a:solidFill>
                  </a:tcPr>
                </a:tc>
                <a:tc>
                  <a:txBody>
                    <a:bodyPr/>
                    <a:lstStyle/>
                    <a:p>
                      <a:pPr algn="ctr"/>
                      <a:r>
                        <a:rPr sz="850" b="1" i="0">
                          <a:solidFill>
                            <a:srgbClr val="262626"/>
                          </a:solidFill>
                          <a:latin typeface="Arial"/>
                        </a:rPr>
                        <a:t>100%</a:t>
                      </a:r>
                    </a:p>
                  </a:txBody>
                  <a:tcPr>
                    <a:solidFill>
                      <a:srgbClr val="F2F2F2"/>
                    </a:solidFill>
                  </a:tcPr>
                </a:tc>
                <a:tc>
                  <a:txBody>
                    <a:bodyPr/>
                    <a:lstStyle/>
                    <a:p>
                      <a:pPr algn="ctr"/>
                      <a:r>
                        <a:rPr sz="850" b="0" i="0">
                          <a:solidFill>
                            <a:srgbClr val="262626"/>
                          </a:solidFill>
                          <a:latin typeface="Arial"/>
                        </a:rPr>
                        <a:t>+10.8</a:t>
                      </a:r>
                    </a:p>
                  </a:txBody>
                  <a:tcPr>
                    <a:solidFill>
                      <a:srgbClr val="F2F2F2"/>
                    </a:solidFill>
                  </a:tcPr>
                </a:tc>
                <a:tc>
                  <a:txBody>
                    <a:bodyPr/>
                    <a:lstStyle/>
                    <a:p>
                      <a:pPr algn="ctr"/>
                      <a:r>
                        <a:rPr sz="850" b="0" i="0">
                          <a:solidFill>
                            <a:srgbClr val="262626"/>
                          </a:solidFill>
                          <a:latin typeface="Arial"/>
                        </a:rPr>
                        <a:t>17:50</a:t>
                      </a:r>
                    </a:p>
                  </a:txBody>
                  <a:tcPr>
                    <a:solidFill>
                      <a:srgbClr val="F2F2F2"/>
                    </a:solidFill>
                  </a:tcPr>
                </a:tc>
                <a:tc>
                  <a:txBody>
                    <a:bodyPr/>
                    <a:lstStyle/>
                    <a:p>
                      <a:pPr algn="ctr"/>
                      <a:r>
                        <a:rPr sz="850" b="0" i="0">
                          <a:solidFill>
                            <a:srgbClr val="BFBFBF"/>
                          </a:solidFill>
                          <a:latin typeface="Arial"/>
                        </a:rPr>
                        <a:t>4</a:t>
                      </a:r>
                    </a:p>
                  </a:txBody>
                  <a:tcPr>
                    <a:solidFill>
                      <a:srgbClr val="F2F2F2"/>
                    </a:solidFill>
                  </a:tcPr>
                </a:tc>
                <a:extLst>
                  <a:ext uri="{0D108BD9-81ED-4DB2-BD59-A6C34878D82A}">
                    <a16:rowId xmlns:a16="http://schemas.microsoft.com/office/drawing/2014/main" val="10004"/>
                  </a:ext>
                </a:extLst>
              </a:tr>
              <a:tr h="256032">
                <a:tc>
                  <a:txBody>
                    <a:bodyPr/>
                    <a:lstStyle/>
                    <a:p>
                      <a:pPr algn="ctr"/>
                      <a:r>
                        <a:rPr sz="850" b="1" i="0">
                          <a:solidFill>
                            <a:srgbClr val="002060"/>
                          </a:solidFill>
                          <a:latin typeface="Arial"/>
                        </a:rPr>
                        <a:t>5</a:t>
                      </a:r>
                    </a:p>
                  </a:txBody>
                  <a:tcPr>
                    <a:solidFill>
                      <a:srgbClr val="FFFFFF"/>
                    </a:solidFill>
                  </a:tcPr>
                </a:tc>
                <a:tc>
                  <a:txBody>
                    <a:bodyPr/>
                    <a:lstStyle/>
                    <a:p>
                      <a:pPr algn="l"/>
                      <a:r>
                        <a:rPr sz="850" b="0" i="0">
                          <a:solidFill>
                            <a:srgbClr val="262626"/>
                          </a:solidFill>
                          <a:latin typeface="Arial"/>
                        </a:rPr>
                        <a:t>Nicolas Probert Vargas</a:t>
                      </a:r>
                    </a:p>
                  </a:txBody>
                  <a:tcPr>
                    <a:solidFill>
                      <a:srgbClr val="FFFFFF"/>
                    </a:solidFill>
                  </a:tcPr>
                </a:tc>
                <a:tc>
                  <a:txBody>
                    <a:bodyPr/>
                    <a:lstStyle/>
                    <a:p>
                      <a:pPr algn="ctr"/>
                      <a:r>
                        <a:rPr sz="850" b="1" i="0">
                          <a:solidFill>
                            <a:srgbClr val="262626"/>
                          </a:solidFill>
                          <a:latin typeface="Arial"/>
                        </a:rPr>
                        <a:t>50%</a:t>
                      </a:r>
                    </a:p>
                  </a:txBody>
                  <a:tcPr>
                    <a:solidFill>
                      <a:srgbClr val="FFFFFF"/>
                    </a:solidFill>
                  </a:tcPr>
                </a:tc>
                <a:tc>
                  <a:txBody>
                    <a:bodyPr/>
                    <a:lstStyle/>
                    <a:p>
                      <a:pPr algn="ctr"/>
                      <a:r>
                        <a:rPr sz="850" b="0" i="0">
                          <a:solidFill>
                            <a:srgbClr val="262626"/>
                          </a:solidFill>
                          <a:latin typeface="Arial"/>
                        </a:rPr>
                        <a:t>+27.5</a:t>
                      </a:r>
                    </a:p>
                  </a:txBody>
                  <a:tcPr>
                    <a:solidFill>
                      <a:srgbClr val="FFFFFF"/>
                    </a:solidFill>
                  </a:tcPr>
                </a:tc>
                <a:tc>
                  <a:txBody>
                    <a:bodyPr/>
                    <a:lstStyle/>
                    <a:p>
                      <a:pPr algn="ctr"/>
                      <a:r>
                        <a:rPr sz="850" b="0" i="0">
                          <a:solidFill>
                            <a:srgbClr val="262626"/>
                          </a:solidFill>
                          <a:latin typeface="Arial"/>
                        </a:rPr>
                        <a:t>17:54</a:t>
                      </a:r>
                    </a:p>
                  </a:txBody>
                  <a:tcPr>
                    <a:solidFill>
                      <a:srgbClr val="FFFFFF"/>
                    </a:solidFill>
                  </a:tcPr>
                </a:tc>
                <a:tc>
                  <a:txBody>
                    <a:bodyPr/>
                    <a:lstStyle/>
                    <a:p>
                      <a:pPr algn="ctr"/>
                      <a:r>
                        <a:rPr sz="850" b="0" i="0">
                          <a:solidFill>
                            <a:srgbClr val="BFBFBF"/>
                          </a:solidFill>
                          <a:latin typeface="Arial"/>
                        </a:rPr>
                        <a:t>2</a:t>
                      </a:r>
                    </a:p>
                  </a:txBody>
                  <a:tcPr>
                    <a:solidFill>
                      <a:srgbClr val="FFFFFF"/>
                    </a:solidFill>
                  </a:tcPr>
                </a:tc>
                <a:extLst>
                  <a:ext uri="{0D108BD9-81ED-4DB2-BD59-A6C34878D82A}">
                    <a16:rowId xmlns:a16="http://schemas.microsoft.com/office/drawing/2014/main" val="10005"/>
                  </a:ext>
                </a:extLst>
              </a:tr>
              <a:tr h="256032">
                <a:tc>
                  <a:txBody>
                    <a:bodyPr/>
                    <a:lstStyle/>
                    <a:p>
                      <a:pPr algn="ctr"/>
                      <a:r>
                        <a:rPr sz="850" b="1" i="0">
                          <a:solidFill>
                            <a:srgbClr val="002060"/>
                          </a:solidFill>
                          <a:latin typeface="Arial"/>
                        </a:rPr>
                        <a:t>6</a:t>
                      </a:r>
                    </a:p>
                  </a:txBody>
                  <a:tcPr>
                    <a:solidFill>
                      <a:srgbClr val="F2F2F2"/>
                    </a:solidFill>
                  </a:tcPr>
                </a:tc>
                <a:tc>
                  <a:txBody>
                    <a:bodyPr/>
                    <a:lstStyle/>
                    <a:p>
                      <a:pPr algn="l"/>
                      <a:r>
                        <a:rPr sz="850" b="0" i="0">
                          <a:solidFill>
                            <a:srgbClr val="262626"/>
                          </a:solidFill>
                          <a:latin typeface="Arial"/>
                        </a:rPr>
                        <a:t>Sebastian Wernersen</a:t>
                      </a:r>
                    </a:p>
                  </a:txBody>
                  <a:tcPr>
                    <a:solidFill>
                      <a:srgbClr val="F2F2F2"/>
                    </a:solidFill>
                  </a:tcPr>
                </a:tc>
                <a:tc>
                  <a:txBody>
                    <a:bodyPr/>
                    <a:lstStyle/>
                    <a:p>
                      <a:pPr algn="ctr"/>
                      <a:r>
                        <a:rPr sz="850" b="1" i="0">
                          <a:solidFill>
                            <a:srgbClr val="262626"/>
                          </a:solidFill>
                          <a:latin typeface="Arial"/>
                        </a:rPr>
                        <a:t>25%</a:t>
                      </a:r>
                    </a:p>
                  </a:txBody>
                  <a:tcPr>
                    <a:solidFill>
                      <a:srgbClr val="F2F2F2"/>
                    </a:solidFill>
                  </a:tcPr>
                </a:tc>
                <a:tc>
                  <a:txBody>
                    <a:bodyPr/>
                    <a:lstStyle/>
                    <a:p>
                      <a:pPr algn="ctr"/>
                      <a:r>
                        <a:rPr sz="850" b="0" i="0">
                          <a:solidFill>
                            <a:srgbClr val="262626"/>
                          </a:solidFill>
                          <a:latin typeface="Arial"/>
                        </a:rPr>
                        <a:t>+22.0</a:t>
                      </a:r>
                    </a:p>
                  </a:txBody>
                  <a:tcPr>
                    <a:solidFill>
                      <a:srgbClr val="F2F2F2"/>
                    </a:solidFill>
                  </a:tcPr>
                </a:tc>
                <a:tc>
                  <a:txBody>
                    <a:bodyPr/>
                    <a:lstStyle/>
                    <a:p>
                      <a:pPr algn="ctr"/>
                      <a:r>
                        <a:rPr sz="850" b="0" i="0">
                          <a:solidFill>
                            <a:srgbClr val="262626"/>
                          </a:solidFill>
                          <a:latin typeface="Arial"/>
                        </a:rPr>
                        <a:t>18:00</a:t>
                      </a:r>
                    </a:p>
                  </a:txBody>
                  <a:tcPr>
                    <a:solidFill>
                      <a:srgbClr val="F2F2F2"/>
                    </a:solidFill>
                  </a:tcPr>
                </a:tc>
                <a:tc>
                  <a:txBody>
                    <a:bodyPr/>
                    <a:lstStyle/>
                    <a:p>
                      <a:pPr algn="ctr"/>
                      <a:r>
                        <a:rPr sz="850" b="0" i="0">
                          <a:solidFill>
                            <a:srgbClr val="BFBFBF"/>
                          </a:solidFill>
                          <a:latin typeface="Arial"/>
                        </a:rPr>
                        <a:t>4</a:t>
                      </a:r>
                    </a:p>
                  </a:txBody>
                  <a:tcPr>
                    <a:solidFill>
                      <a:srgbClr val="F2F2F2"/>
                    </a:solidFill>
                  </a:tcPr>
                </a:tc>
                <a:extLst>
                  <a:ext uri="{0D108BD9-81ED-4DB2-BD59-A6C34878D82A}">
                    <a16:rowId xmlns:a16="http://schemas.microsoft.com/office/drawing/2014/main" val="10006"/>
                  </a:ext>
                </a:extLst>
              </a:tr>
              <a:tr h="256032">
                <a:tc>
                  <a:txBody>
                    <a:bodyPr/>
                    <a:lstStyle/>
                    <a:p>
                      <a:pPr algn="ctr"/>
                      <a:r>
                        <a:rPr sz="850" b="1" i="0">
                          <a:solidFill>
                            <a:srgbClr val="002060"/>
                          </a:solidFill>
                          <a:latin typeface="Arial"/>
                        </a:rPr>
                        <a:t>7</a:t>
                      </a:r>
                    </a:p>
                  </a:txBody>
                  <a:tcPr>
                    <a:solidFill>
                      <a:srgbClr val="FFFFFF"/>
                    </a:solidFill>
                  </a:tcPr>
                </a:tc>
                <a:tc>
                  <a:txBody>
                    <a:bodyPr/>
                    <a:lstStyle/>
                    <a:p>
                      <a:pPr algn="l"/>
                      <a:r>
                        <a:rPr sz="850" b="0" i="0">
                          <a:solidFill>
                            <a:srgbClr val="262626"/>
                          </a:solidFill>
                          <a:latin typeface="Arial"/>
                        </a:rPr>
                        <a:t>Alessio Crociani</a:t>
                      </a:r>
                    </a:p>
                  </a:txBody>
                  <a:tcPr>
                    <a:solidFill>
                      <a:srgbClr val="FFFFFF"/>
                    </a:solidFill>
                  </a:tcPr>
                </a:tc>
                <a:tc>
                  <a:txBody>
                    <a:bodyPr/>
                    <a:lstStyle/>
                    <a:p>
                      <a:pPr algn="ctr"/>
                      <a:r>
                        <a:rPr sz="850" b="1" i="0">
                          <a:solidFill>
                            <a:srgbClr val="262626"/>
                          </a:solidFill>
                          <a:latin typeface="Arial"/>
                        </a:rPr>
                        <a:t>100%</a:t>
                      </a:r>
                    </a:p>
                  </a:txBody>
                  <a:tcPr>
                    <a:solidFill>
                      <a:srgbClr val="FFFFFF"/>
                    </a:solidFill>
                  </a:tcPr>
                </a:tc>
                <a:tc>
                  <a:txBody>
                    <a:bodyPr/>
                    <a:lstStyle/>
                    <a:p>
                      <a:pPr algn="ctr"/>
                      <a:r>
                        <a:rPr sz="850" b="0" i="0">
                          <a:solidFill>
                            <a:srgbClr val="262626"/>
                          </a:solidFill>
                          <a:latin typeface="Arial"/>
                        </a:rPr>
                        <a:t>+0.0</a:t>
                      </a:r>
                    </a:p>
                  </a:txBody>
                  <a:tcPr>
                    <a:solidFill>
                      <a:srgbClr val="FFFFFF"/>
                    </a:solidFill>
                  </a:tcPr>
                </a:tc>
                <a:tc>
                  <a:txBody>
                    <a:bodyPr/>
                    <a:lstStyle/>
                    <a:p>
                      <a:pPr algn="ctr"/>
                      <a:r>
                        <a:rPr sz="850" b="0" i="0">
                          <a:solidFill>
                            <a:srgbClr val="262626"/>
                          </a:solidFill>
                          <a:latin typeface="Arial"/>
                        </a:rPr>
                        <a:t>18:06</a:t>
                      </a:r>
                    </a:p>
                  </a:txBody>
                  <a:tcPr>
                    <a:solidFill>
                      <a:srgbClr val="FFFFFF"/>
                    </a:solidFill>
                  </a:tcPr>
                </a:tc>
                <a:tc>
                  <a:txBody>
                    <a:bodyPr/>
                    <a:lstStyle/>
                    <a:p>
                      <a:pPr algn="ctr"/>
                      <a:r>
                        <a:rPr sz="850" b="0" i="0">
                          <a:solidFill>
                            <a:srgbClr val="BFBFBF"/>
                          </a:solidFill>
                          <a:latin typeface="Arial"/>
                        </a:rPr>
                        <a:t>2</a:t>
                      </a:r>
                    </a:p>
                  </a:txBody>
                  <a:tcPr>
                    <a:solidFill>
                      <a:srgbClr val="FFFFFF"/>
                    </a:solidFill>
                  </a:tcPr>
                </a:tc>
                <a:extLst>
                  <a:ext uri="{0D108BD9-81ED-4DB2-BD59-A6C34878D82A}">
                    <a16:rowId xmlns:a16="http://schemas.microsoft.com/office/drawing/2014/main" val="10007"/>
                  </a:ext>
                </a:extLst>
              </a:tr>
            </a:tbl>
          </a:graphicData>
        </a:graphic>
      </p:graphicFrame>
      <p:sp>
        <p:nvSpPr>
          <p:cNvPr id="19" name="Rectangle 18"/>
          <p:cNvSpPr/>
          <p:nvPr/>
        </p:nvSpPr>
        <p:spPr>
          <a:xfrm>
            <a:off x="6126480" y="406908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0" y="4096512"/>
            <a:ext cx="5806440" cy="219456"/>
          </a:xfrm>
          <a:prstGeom prst="rect">
            <a:avLst/>
          </a:prstGeom>
          <a:noFill/>
        </p:spPr>
        <p:txBody>
          <a:bodyPr wrap="square">
            <a:spAutoFit/>
          </a:bodyPr>
          <a:lstStyle/>
          <a:p>
            <a:pPr algn="ctr"/>
            <a:r>
              <a:rPr sz="1100" b="1" i="0">
                <a:solidFill>
                  <a:srgbClr val="FFFFFF"/>
                </a:solidFill>
                <a:latin typeface="Arial"/>
              </a:rPr>
              <a:t>U23 WOMEN</a:t>
            </a:r>
          </a:p>
        </p:txBody>
      </p:sp>
      <p:graphicFrame>
        <p:nvGraphicFramePr>
          <p:cNvPr id="21" name="Table 20"/>
          <p:cNvGraphicFramePr>
            <a:graphicFrameLocks noGrp="1"/>
          </p:cNvGraphicFramePr>
          <p:nvPr/>
        </p:nvGraphicFramePr>
        <p:xfrm>
          <a:off x="6126480" y="4389120"/>
          <a:ext cx="5807351" cy="2048256"/>
        </p:xfrm>
        <a:graphic>
          <a:graphicData uri="http://schemas.openxmlformats.org/drawingml/2006/table">
            <a:tbl>
              <a:tblPr firstRow="1" bandRow="1">
                <a:tableStyleId>{5C22544A-7EE6-4342-B048-85BDC9FD1C3A}</a:tableStyleId>
              </a:tblPr>
              <a:tblGrid>
                <a:gridCol w="341985">
                  <a:extLst>
                    <a:ext uri="{9D8B030D-6E8A-4147-A177-3AD203B41FA5}">
                      <a16:colId xmlns:a16="http://schemas.microsoft.com/office/drawing/2014/main" val="20000"/>
                    </a:ext>
                  </a:extLst>
                </a:gridCol>
                <a:gridCol w="1902866">
                  <a:extLst>
                    <a:ext uri="{9D8B030D-6E8A-4147-A177-3AD203B41FA5}">
                      <a16:colId xmlns:a16="http://schemas.microsoft.com/office/drawing/2014/main" val="20001"/>
                    </a:ext>
                  </a:extLst>
                </a:gridCol>
                <a:gridCol w="1025042">
                  <a:extLst>
                    <a:ext uri="{9D8B030D-6E8A-4147-A177-3AD203B41FA5}">
                      <a16:colId xmlns:a16="http://schemas.microsoft.com/office/drawing/2014/main" val="20002"/>
                    </a:ext>
                  </a:extLst>
                </a:gridCol>
                <a:gridCol w="1025042">
                  <a:extLst>
                    <a:ext uri="{9D8B030D-6E8A-4147-A177-3AD203B41FA5}">
                      <a16:colId xmlns:a16="http://schemas.microsoft.com/office/drawing/2014/main" val="20003"/>
                    </a:ext>
                  </a:extLst>
                </a:gridCol>
                <a:gridCol w="975664">
                  <a:extLst>
                    <a:ext uri="{9D8B030D-6E8A-4147-A177-3AD203B41FA5}">
                      <a16:colId xmlns:a16="http://schemas.microsoft.com/office/drawing/2014/main" val="20004"/>
                    </a:ext>
                  </a:extLst>
                </a:gridCol>
                <a:gridCol w="536752">
                  <a:extLst>
                    <a:ext uri="{9D8B030D-6E8A-4147-A177-3AD203B41FA5}">
                      <a16:colId xmlns:a16="http://schemas.microsoft.com/office/drawing/2014/main" val="20005"/>
                    </a:ext>
                  </a:extLst>
                </a:gridCol>
              </a:tblGrid>
              <a:tr h="256032">
                <a:tc>
                  <a:txBody>
                    <a:bodyPr/>
                    <a:lstStyle/>
                    <a:p>
                      <a:pPr algn="ctr"/>
                      <a:r>
                        <a:rPr sz="900" b="1" i="0">
                          <a:solidFill>
                            <a:srgbClr val="FFFFFF"/>
                          </a:solidFill>
                          <a:latin typeface="Arial"/>
                        </a:rPr>
                        <a:t>#</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Lead Pack %</a:t>
                      </a:r>
                    </a:p>
                  </a:txBody>
                  <a:tcPr>
                    <a:solidFill>
                      <a:srgbClr val="002060"/>
                    </a:solidFill>
                  </a:tcPr>
                </a:tc>
                <a:tc>
                  <a:txBody>
                    <a:bodyPr/>
                    <a:lstStyle/>
                    <a:p>
                      <a:pPr algn="ctr"/>
                      <a:r>
                        <a:rPr sz="900" b="1" i="0">
                          <a:solidFill>
                            <a:srgbClr val="FFFFFF"/>
                          </a:solidFill>
                          <a:latin typeface="Arial"/>
                        </a:rPr>
                        <a:t>Avg Gap (s)</a:t>
                      </a:r>
                    </a:p>
                  </a:txBody>
                  <a:tcPr>
                    <a:solidFill>
                      <a:srgbClr val="002060"/>
                    </a:solidFill>
                  </a:tcPr>
                </a:tc>
                <a:tc>
                  <a:txBody>
                    <a:bodyPr/>
                    <a:lstStyle/>
                    <a:p>
                      <a:pPr algn="ctr"/>
                      <a:r>
                        <a:rPr sz="900" b="1" i="0">
                          <a:solidFill>
                            <a:srgbClr val="FFFFFF"/>
                          </a:solidFill>
                          <a:latin typeface="Arial"/>
                        </a:rPr>
                        <a:t>EWMA Swim</a:t>
                      </a:r>
                    </a:p>
                  </a:txBody>
                  <a:tcPr>
                    <a:solidFill>
                      <a:srgbClr val="002060"/>
                    </a:solidFill>
                  </a:tcPr>
                </a:tc>
                <a:tc>
                  <a:txBody>
                    <a:bodyPr/>
                    <a:lstStyle/>
                    <a:p>
                      <a:pPr algn="ctr"/>
                      <a:r>
                        <a:rPr sz="900" b="1" i="0">
                          <a:solidFill>
                            <a:srgbClr val="FFFFFF"/>
                          </a:solidFill>
                          <a:latin typeface="Arial"/>
                        </a:rPr>
                        <a:t>Races</a:t>
                      </a:r>
                    </a:p>
                  </a:txBody>
                  <a:tcPr>
                    <a:solidFill>
                      <a:srgbClr val="002060"/>
                    </a:solidFill>
                  </a:tcPr>
                </a:tc>
                <a:extLst>
                  <a:ext uri="{0D108BD9-81ED-4DB2-BD59-A6C34878D82A}">
                    <a16:rowId xmlns:a16="http://schemas.microsoft.com/office/drawing/2014/main" val="10000"/>
                  </a:ext>
                </a:extLst>
              </a:tr>
              <a:tr h="256032">
                <a:tc>
                  <a:txBody>
                    <a:bodyPr/>
                    <a:lstStyle/>
                    <a:p>
                      <a:pPr algn="ctr"/>
                      <a:r>
                        <a:rPr sz="850" b="1" i="0">
                          <a:solidFill>
                            <a:srgbClr val="002060"/>
                          </a:solidFill>
                          <a:latin typeface="Arial"/>
                        </a:rPr>
                        <a:t>1</a:t>
                      </a:r>
                    </a:p>
                  </a:txBody>
                  <a:tcPr>
                    <a:solidFill>
                      <a:srgbClr val="FFFFFF"/>
                    </a:solidFill>
                  </a:tcPr>
                </a:tc>
                <a:tc>
                  <a:txBody>
                    <a:bodyPr/>
                    <a:lstStyle/>
                    <a:p>
                      <a:pPr algn="l"/>
                      <a:r>
                        <a:rPr sz="850" b="0" i="0">
                          <a:solidFill>
                            <a:srgbClr val="262626"/>
                          </a:solidFill>
                          <a:latin typeface="Arial"/>
                        </a:rPr>
                        <a:t>Tara Sosinski</a:t>
                      </a:r>
                    </a:p>
                  </a:txBody>
                  <a:tcPr>
                    <a:solidFill>
                      <a:srgbClr val="FFFFFF"/>
                    </a:solidFill>
                  </a:tcPr>
                </a:tc>
                <a:tc>
                  <a:txBody>
                    <a:bodyPr/>
                    <a:lstStyle/>
                    <a:p>
                      <a:pPr algn="ctr"/>
                      <a:r>
                        <a:rPr sz="850" b="1" i="0">
                          <a:solidFill>
                            <a:srgbClr val="262626"/>
                          </a:solidFill>
                          <a:latin typeface="Arial"/>
                        </a:rPr>
                        <a:t>100%</a:t>
                      </a:r>
                    </a:p>
                  </a:txBody>
                  <a:tcPr>
                    <a:solidFill>
                      <a:srgbClr val="FFFFFF"/>
                    </a:solidFill>
                  </a:tcPr>
                </a:tc>
                <a:tc>
                  <a:txBody>
                    <a:bodyPr/>
                    <a:lstStyle/>
                    <a:p>
                      <a:pPr algn="ctr"/>
                      <a:r>
                        <a:rPr sz="850" b="0" i="0">
                          <a:solidFill>
                            <a:srgbClr val="262626"/>
                          </a:solidFill>
                          <a:latin typeface="Arial"/>
                        </a:rPr>
                        <a:t>+6.5</a:t>
                      </a:r>
                    </a:p>
                  </a:txBody>
                  <a:tcPr>
                    <a:solidFill>
                      <a:srgbClr val="FFFFFF"/>
                    </a:solidFill>
                  </a:tcPr>
                </a:tc>
                <a:tc>
                  <a:txBody>
                    <a:bodyPr/>
                    <a:lstStyle/>
                    <a:p>
                      <a:pPr algn="ctr"/>
                      <a:r>
                        <a:rPr sz="850" b="0" i="0">
                          <a:solidFill>
                            <a:srgbClr val="262626"/>
                          </a:solidFill>
                          <a:latin typeface="Arial"/>
                        </a:rPr>
                        <a:t>18:45</a:t>
                      </a:r>
                    </a:p>
                  </a:txBody>
                  <a:tcPr>
                    <a:solidFill>
                      <a:srgbClr val="FFFFFF"/>
                    </a:solidFill>
                  </a:tcPr>
                </a:tc>
                <a:tc>
                  <a:txBody>
                    <a:bodyPr/>
                    <a:lstStyle/>
                    <a:p>
                      <a:pPr algn="ctr"/>
                      <a:r>
                        <a:rPr sz="850" b="0" i="0">
                          <a:solidFill>
                            <a:srgbClr val="BFBFBF"/>
                          </a:solidFill>
                          <a:latin typeface="Arial"/>
                        </a:rPr>
                        <a:t>2</a:t>
                      </a:r>
                    </a:p>
                  </a:txBody>
                  <a:tcPr>
                    <a:solidFill>
                      <a:srgbClr val="FFFFFF"/>
                    </a:solidFill>
                  </a:tcPr>
                </a:tc>
                <a:extLst>
                  <a:ext uri="{0D108BD9-81ED-4DB2-BD59-A6C34878D82A}">
                    <a16:rowId xmlns:a16="http://schemas.microsoft.com/office/drawing/2014/main" val="10001"/>
                  </a:ext>
                </a:extLst>
              </a:tr>
              <a:tr h="256032">
                <a:tc>
                  <a:txBody>
                    <a:bodyPr/>
                    <a:lstStyle/>
                    <a:p>
                      <a:pPr algn="ctr"/>
                      <a:r>
                        <a:rPr sz="850" b="1" i="0">
                          <a:solidFill>
                            <a:srgbClr val="002060"/>
                          </a:solidFill>
                          <a:latin typeface="Arial"/>
                        </a:rPr>
                        <a:t>2</a:t>
                      </a:r>
                    </a:p>
                  </a:txBody>
                  <a:tcPr>
                    <a:solidFill>
                      <a:srgbClr val="F2F2F2"/>
                    </a:solidFill>
                  </a:tcPr>
                </a:tc>
                <a:tc>
                  <a:txBody>
                    <a:bodyPr/>
                    <a:lstStyle/>
                    <a:p>
                      <a:pPr algn="l"/>
                      <a:r>
                        <a:rPr sz="850" b="0" i="0">
                          <a:solidFill>
                            <a:srgbClr val="262626"/>
                          </a:solidFill>
                          <a:latin typeface="Arial"/>
                        </a:rPr>
                        <a:t>Angelica Prestia</a:t>
                      </a:r>
                    </a:p>
                  </a:txBody>
                  <a:tcPr>
                    <a:solidFill>
                      <a:srgbClr val="F2F2F2"/>
                    </a:solidFill>
                  </a:tcPr>
                </a:tc>
                <a:tc>
                  <a:txBody>
                    <a:bodyPr/>
                    <a:lstStyle/>
                    <a:p>
                      <a:pPr algn="ctr"/>
                      <a:r>
                        <a:rPr sz="850" b="1" i="0">
                          <a:solidFill>
                            <a:srgbClr val="262626"/>
                          </a:solidFill>
                          <a:latin typeface="Arial"/>
                        </a:rPr>
                        <a:t>100%</a:t>
                      </a:r>
                    </a:p>
                  </a:txBody>
                  <a:tcPr>
                    <a:solidFill>
                      <a:srgbClr val="F2F2F2"/>
                    </a:solidFill>
                  </a:tcPr>
                </a:tc>
                <a:tc>
                  <a:txBody>
                    <a:bodyPr/>
                    <a:lstStyle/>
                    <a:p>
                      <a:pPr algn="ctr"/>
                      <a:r>
                        <a:rPr sz="850" b="0" i="0">
                          <a:solidFill>
                            <a:srgbClr val="262626"/>
                          </a:solidFill>
                          <a:latin typeface="Arial"/>
                        </a:rPr>
                        <a:t>+9.5</a:t>
                      </a:r>
                    </a:p>
                  </a:txBody>
                  <a:tcPr>
                    <a:solidFill>
                      <a:srgbClr val="F2F2F2"/>
                    </a:solidFill>
                  </a:tcPr>
                </a:tc>
                <a:tc>
                  <a:txBody>
                    <a:bodyPr/>
                    <a:lstStyle/>
                    <a:p>
                      <a:pPr algn="ctr"/>
                      <a:r>
                        <a:rPr sz="850" b="0" i="0">
                          <a:solidFill>
                            <a:srgbClr val="262626"/>
                          </a:solidFill>
                          <a:latin typeface="Arial"/>
                        </a:rPr>
                        <a:t>18:48</a:t>
                      </a:r>
                    </a:p>
                  </a:txBody>
                  <a:tcPr>
                    <a:solidFill>
                      <a:srgbClr val="F2F2F2"/>
                    </a:solidFill>
                  </a:tcPr>
                </a:tc>
                <a:tc>
                  <a:txBody>
                    <a:bodyPr/>
                    <a:lstStyle/>
                    <a:p>
                      <a:pPr algn="ctr"/>
                      <a:r>
                        <a:rPr sz="850" b="0" i="0">
                          <a:solidFill>
                            <a:srgbClr val="BFBFBF"/>
                          </a:solidFill>
                          <a:latin typeface="Arial"/>
                        </a:rPr>
                        <a:t>2</a:t>
                      </a:r>
                    </a:p>
                  </a:txBody>
                  <a:tcPr>
                    <a:solidFill>
                      <a:srgbClr val="F2F2F2"/>
                    </a:solidFill>
                  </a:tcPr>
                </a:tc>
                <a:extLst>
                  <a:ext uri="{0D108BD9-81ED-4DB2-BD59-A6C34878D82A}">
                    <a16:rowId xmlns:a16="http://schemas.microsoft.com/office/drawing/2014/main" val="10002"/>
                  </a:ext>
                </a:extLst>
              </a:tr>
              <a:tr h="256032">
                <a:tc>
                  <a:txBody>
                    <a:bodyPr/>
                    <a:lstStyle/>
                    <a:p>
                      <a:pPr algn="ctr"/>
                      <a:r>
                        <a:rPr sz="850" b="1" i="0">
                          <a:solidFill>
                            <a:srgbClr val="002060"/>
                          </a:solidFill>
                          <a:latin typeface="Arial"/>
                        </a:rPr>
                        <a:t>3</a:t>
                      </a:r>
                    </a:p>
                  </a:txBody>
                  <a:tcPr>
                    <a:solidFill>
                      <a:srgbClr val="FFFFFF"/>
                    </a:solidFill>
                  </a:tcPr>
                </a:tc>
                <a:tc>
                  <a:txBody>
                    <a:bodyPr/>
                    <a:lstStyle/>
                    <a:p>
                      <a:pPr algn="l"/>
                      <a:r>
                        <a:rPr sz="850" b="0" i="0">
                          <a:solidFill>
                            <a:srgbClr val="262626"/>
                          </a:solidFill>
                          <a:latin typeface="Arial"/>
                        </a:rPr>
                        <a:t>Sophia Howell</a:t>
                      </a:r>
                    </a:p>
                  </a:txBody>
                  <a:tcPr>
                    <a:solidFill>
                      <a:srgbClr val="FFFFFF"/>
                    </a:solidFill>
                  </a:tcPr>
                </a:tc>
                <a:tc>
                  <a:txBody>
                    <a:bodyPr/>
                    <a:lstStyle/>
                    <a:p>
                      <a:pPr algn="ctr"/>
                      <a:r>
                        <a:rPr sz="850" b="1" i="0">
                          <a:solidFill>
                            <a:srgbClr val="262626"/>
                          </a:solidFill>
                          <a:latin typeface="Arial"/>
                        </a:rPr>
                        <a:t>100%</a:t>
                      </a:r>
                    </a:p>
                  </a:txBody>
                  <a:tcPr>
                    <a:solidFill>
                      <a:srgbClr val="FFFFFF"/>
                    </a:solidFill>
                  </a:tcPr>
                </a:tc>
                <a:tc>
                  <a:txBody>
                    <a:bodyPr/>
                    <a:lstStyle/>
                    <a:p>
                      <a:pPr algn="ctr"/>
                      <a:r>
                        <a:rPr sz="850" b="0" i="0">
                          <a:solidFill>
                            <a:srgbClr val="262626"/>
                          </a:solidFill>
                          <a:latin typeface="Arial"/>
                        </a:rPr>
                        <a:t>+1.0</a:t>
                      </a:r>
                    </a:p>
                  </a:txBody>
                  <a:tcPr>
                    <a:solidFill>
                      <a:srgbClr val="FFFFFF"/>
                    </a:solidFill>
                  </a:tcPr>
                </a:tc>
                <a:tc>
                  <a:txBody>
                    <a:bodyPr/>
                    <a:lstStyle/>
                    <a:p>
                      <a:pPr algn="ctr"/>
                      <a:r>
                        <a:rPr sz="850" b="0" i="0">
                          <a:solidFill>
                            <a:srgbClr val="262626"/>
                          </a:solidFill>
                          <a:latin typeface="Arial"/>
                        </a:rPr>
                        <a:t>19:03</a:t>
                      </a:r>
                    </a:p>
                  </a:txBody>
                  <a:tcPr>
                    <a:solidFill>
                      <a:srgbClr val="FFFFFF"/>
                    </a:solidFill>
                  </a:tcPr>
                </a:tc>
                <a:tc>
                  <a:txBody>
                    <a:bodyPr/>
                    <a:lstStyle/>
                    <a:p>
                      <a:pPr algn="ctr"/>
                      <a:r>
                        <a:rPr sz="850" b="0" i="0">
                          <a:solidFill>
                            <a:srgbClr val="BFBFBF"/>
                          </a:solidFill>
                          <a:latin typeface="Arial"/>
                        </a:rPr>
                        <a:t>3</a:t>
                      </a:r>
                    </a:p>
                  </a:txBody>
                  <a:tcPr>
                    <a:solidFill>
                      <a:srgbClr val="FFFFFF"/>
                    </a:solidFill>
                  </a:tcPr>
                </a:tc>
                <a:extLst>
                  <a:ext uri="{0D108BD9-81ED-4DB2-BD59-A6C34878D82A}">
                    <a16:rowId xmlns:a16="http://schemas.microsoft.com/office/drawing/2014/main" val="10003"/>
                  </a:ext>
                </a:extLst>
              </a:tr>
              <a:tr h="256032">
                <a:tc>
                  <a:txBody>
                    <a:bodyPr/>
                    <a:lstStyle/>
                    <a:p>
                      <a:pPr algn="ctr"/>
                      <a:r>
                        <a:rPr sz="850" b="1" i="0">
                          <a:solidFill>
                            <a:srgbClr val="002060"/>
                          </a:solidFill>
                          <a:latin typeface="Arial"/>
                        </a:rPr>
                        <a:t>4</a:t>
                      </a:r>
                    </a:p>
                  </a:txBody>
                  <a:tcPr>
                    <a:solidFill>
                      <a:srgbClr val="F2F2F2"/>
                    </a:solidFill>
                  </a:tcPr>
                </a:tc>
                <a:tc>
                  <a:txBody>
                    <a:bodyPr/>
                    <a:lstStyle/>
                    <a:p>
                      <a:pPr algn="l"/>
                      <a:r>
                        <a:rPr sz="850" b="0" i="0">
                          <a:solidFill>
                            <a:srgbClr val="262626"/>
                          </a:solidFill>
                          <a:latin typeface="Arial"/>
                        </a:rPr>
                        <a:t>Selina Klamt</a:t>
                      </a:r>
                    </a:p>
                  </a:txBody>
                  <a:tcPr>
                    <a:solidFill>
                      <a:srgbClr val="F2F2F2"/>
                    </a:solidFill>
                  </a:tcPr>
                </a:tc>
                <a:tc>
                  <a:txBody>
                    <a:bodyPr/>
                    <a:lstStyle/>
                    <a:p>
                      <a:pPr algn="ctr"/>
                      <a:r>
                        <a:rPr sz="850" b="1" i="0">
                          <a:solidFill>
                            <a:srgbClr val="262626"/>
                          </a:solidFill>
                          <a:latin typeface="Arial"/>
                        </a:rPr>
                        <a:t>50%</a:t>
                      </a:r>
                    </a:p>
                  </a:txBody>
                  <a:tcPr>
                    <a:solidFill>
                      <a:srgbClr val="F2F2F2"/>
                    </a:solidFill>
                  </a:tcPr>
                </a:tc>
                <a:tc>
                  <a:txBody>
                    <a:bodyPr/>
                    <a:lstStyle/>
                    <a:p>
                      <a:pPr algn="ctr"/>
                      <a:r>
                        <a:rPr sz="850" b="0" i="0">
                          <a:solidFill>
                            <a:srgbClr val="262626"/>
                          </a:solidFill>
                          <a:latin typeface="Arial"/>
                        </a:rPr>
                        <a:t>+19.5</a:t>
                      </a:r>
                    </a:p>
                  </a:txBody>
                  <a:tcPr>
                    <a:solidFill>
                      <a:srgbClr val="F2F2F2"/>
                    </a:solidFill>
                  </a:tcPr>
                </a:tc>
                <a:tc>
                  <a:txBody>
                    <a:bodyPr/>
                    <a:lstStyle/>
                    <a:p>
                      <a:pPr algn="ctr"/>
                      <a:r>
                        <a:rPr sz="850" b="0" i="0">
                          <a:solidFill>
                            <a:srgbClr val="262626"/>
                          </a:solidFill>
                          <a:latin typeface="Arial"/>
                        </a:rPr>
                        <a:t>19:04</a:t>
                      </a:r>
                    </a:p>
                  </a:txBody>
                  <a:tcPr>
                    <a:solidFill>
                      <a:srgbClr val="F2F2F2"/>
                    </a:solidFill>
                  </a:tcPr>
                </a:tc>
                <a:tc>
                  <a:txBody>
                    <a:bodyPr/>
                    <a:lstStyle/>
                    <a:p>
                      <a:pPr algn="ctr"/>
                      <a:r>
                        <a:rPr sz="850" b="0" i="0">
                          <a:solidFill>
                            <a:srgbClr val="BFBFBF"/>
                          </a:solidFill>
                          <a:latin typeface="Arial"/>
                        </a:rPr>
                        <a:t>2</a:t>
                      </a:r>
                    </a:p>
                  </a:txBody>
                  <a:tcPr>
                    <a:solidFill>
                      <a:srgbClr val="F2F2F2"/>
                    </a:solidFill>
                  </a:tcPr>
                </a:tc>
                <a:extLst>
                  <a:ext uri="{0D108BD9-81ED-4DB2-BD59-A6C34878D82A}">
                    <a16:rowId xmlns:a16="http://schemas.microsoft.com/office/drawing/2014/main" val="10004"/>
                  </a:ext>
                </a:extLst>
              </a:tr>
              <a:tr h="256032">
                <a:tc>
                  <a:txBody>
                    <a:bodyPr/>
                    <a:lstStyle/>
                    <a:p>
                      <a:pPr algn="ctr"/>
                      <a:r>
                        <a:rPr sz="850" b="1" i="0">
                          <a:solidFill>
                            <a:srgbClr val="002060"/>
                          </a:solidFill>
                          <a:latin typeface="Arial"/>
                        </a:rPr>
                        <a:t>5</a:t>
                      </a:r>
                    </a:p>
                  </a:txBody>
                  <a:tcPr>
                    <a:solidFill>
                      <a:srgbClr val="FFFFFF"/>
                    </a:solidFill>
                  </a:tcPr>
                </a:tc>
                <a:tc>
                  <a:txBody>
                    <a:bodyPr/>
                    <a:lstStyle/>
                    <a:p>
                      <a:pPr algn="l"/>
                      <a:r>
                        <a:rPr sz="850" b="0" i="0">
                          <a:solidFill>
                            <a:srgbClr val="262626"/>
                          </a:solidFill>
                          <a:latin typeface="Arial"/>
                        </a:rPr>
                        <a:t>Jessica Fullagar</a:t>
                      </a:r>
                    </a:p>
                  </a:txBody>
                  <a:tcPr>
                    <a:solidFill>
                      <a:srgbClr val="FFFFFF"/>
                    </a:solidFill>
                  </a:tcPr>
                </a:tc>
                <a:tc>
                  <a:txBody>
                    <a:bodyPr/>
                    <a:lstStyle/>
                    <a:p>
                      <a:pPr algn="ctr"/>
                      <a:r>
                        <a:rPr sz="850" b="1" i="0">
                          <a:solidFill>
                            <a:srgbClr val="262626"/>
                          </a:solidFill>
                          <a:latin typeface="Arial"/>
                        </a:rPr>
                        <a:t>50%</a:t>
                      </a:r>
                    </a:p>
                  </a:txBody>
                  <a:tcPr>
                    <a:solidFill>
                      <a:srgbClr val="FFFFFF"/>
                    </a:solidFill>
                  </a:tcPr>
                </a:tc>
                <a:tc>
                  <a:txBody>
                    <a:bodyPr/>
                    <a:lstStyle/>
                    <a:p>
                      <a:pPr algn="ctr"/>
                      <a:r>
                        <a:rPr sz="850" b="0" i="0">
                          <a:solidFill>
                            <a:srgbClr val="262626"/>
                          </a:solidFill>
                          <a:latin typeface="Arial"/>
                        </a:rPr>
                        <a:t>+20.0</a:t>
                      </a:r>
                    </a:p>
                  </a:txBody>
                  <a:tcPr>
                    <a:solidFill>
                      <a:srgbClr val="FFFFFF"/>
                    </a:solidFill>
                  </a:tcPr>
                </a:tc>
                <a:tc>
                  <a:txBody>
                    <a:bodyPr/>
                    <a:lstStyle/>
                    <a:p>
                      <a:pPr algn="ctr"/>
                      <a:r>
                        <a:rPr sz="850" b="0" i="0">
                          <a:solidFill>
                            <a:srgbClr val="262626"/>
                          </a:solidFill>
                          <a:latin typeface="Arial"/>
                        </a:rPr>
                        <a:t>19:05</a:t>
                      </a:r>
                    </a:p>
                  </a:txBody>
                  <a:tcPr>
                    <a:solidFill>
                      <a:srgbClr val="FFFFFF"/>
                    </a:solidFill>
                  </a:tcPr>
                </a:tc>
                <a:tc>
                  <a:txBody>
                    <a:bodyPr/>
                    <a:lstStyle/>
                    <a:p>
                      <a:pPr algn="ctr"/>
                      <a:r>
                        <a:rPr sz="850" b="0" i="0">
                          <a:solidFill>
                            <a:srgbClr val="BFBFBF"/>
                          </a:solidFill>
                          <a:latin typeface="Arial"/>
                        </a:rPr>
                        <a:t>2</a:t>
                      </a:r>
                    </a:p>
                  </a:txBody>
                  <a:tcPr>
                    <a:solidFill>
                      <a:srgbClr val="FFFFFF"/>
                    </a:solidFill>
                  </a:tcPr>
                </a:tc>
                <a:extLst>
                  <a:ext uri="{0D108BD9-81ED-4DB2-BD59-A6C34878D82A}">
                    <a16:rowId xmlns:a16="http://schemas.microsoft.com/office/drawing/2014/main" val="10005"/>
                  </a:ext>
                </a:extLst>
              </a:tr>
              <a:tr h="256032">
                <a:tc>
                  <a:txBody>
                    <a:bodyPr/>
                    <a:lstStyle/>
                    <a:p>
                      <a:pPr algn="ctr"/>
                      <a:r>
                        <a:rPr sz="850" b="1" i="0">
                          <a:solidFill>
                            <a:srgbClr val="002060"/>
                          </a:solidFill>
                          <a:latin typeface="Arial"/>
                        </a:rPr>
                        <a:t>6</a:t>
                      </a:r>
                    </a:p>
                  </a:txBody>
                  <a:tcPr>
                    <a:solidFill>
                      <a:srgbClr val="F2F2F2"/>
                    </a:solidFill>
                  </a:tcPr>
                </a:tc>
                <a:tc>
                  <a:txBody>
                    <a:bodyPr/>
                    <a:lstStyle/>
                    <a:p>
                      <a:pPr algn="l"/>
                      <a:r>
                        <a:rPr sz="850" b="0" i="0">
                          <a:solidFill>
                            <a:srgbClr val="262626"/>
                          </a:solidFill>
                          <a:latin typeface="Arial"/>
                        </a:rPr>
                        <a:t>Ilona Hadhoum</a:t>
                      </a:r>
                    </a:p>
                  </a:txBody>
                  <a:tcPr>
                    <a:solidFill>
                      <a:srgbClr val="F2F2F2"/>
                    </a:solidFill>
                  </a:tcPr>
                </a:tc>
                <a:tc>
                  <a:txBody>
                    <a:bodyPr/>
                    <a:lstStyle/>
                    <a:p>
                      <a:pPr algn="ctr"/>
                      <a:r>
                        <a:rPr sz="850" b="1" i="0">
                          <a:solidFill>
                            <a:srgbClr val="262626"/>
                          </a:solidFill>
                          <a:latin typeface="Arial"/>
                        </a:rPr>
                        <a:t>100%</a:t>
                      </a:r>
                    </a:p>
                  </a:txBody>
                  <a:tcPr>
                    <a:solidFill>
                      <a:srgbClr val="F2F2F2"/>
                    </a:solidFill>
                  </a:tcPr>
                </a:tc>
                <a:tc>
                  <a:txBody>
                    <a:bodyPr/>
                    <a:lstStyle/>
                    <a:p>
                      <a:pPr algn="ctr"/>
                      <a:r>
                        <a:rPr sz="850" b="0" i="0">
                          <a:solidFill>
                            <a:srgbClr val="262626"/>
                          </a:solidFill>
                          <a:latin typeface="Arial"/>
                        </a:rPr>
                        <a:t>+4.0</a:t>
                      </a:r>
                    </a:p>
                  </a:txBody>
                  <a:tcPr>
                    <a:solidFill>
                      <a:srgbClr val="F2F2F2"/>
                    </a:solidFill>
                  </a:tcPr>
                </a:tc>
                <a:tc>
                  <a:txBody>
                    <a:bodyPr/>
                    <a:lstStyle/>
                    <a:p>
                      <a:pPr algn="ctr"/>
                      <a:r>
                        <a:rPr sz="850" b="0" i="0">
                          <a:solidFill>
                            <a:srgbClr val="262626"/>
                          </a:solidFill>
                          <a:latin typeface="Arial"/>
                        </a:rPr>
                        <a:t>19:13</a:t>
                      </a:r>
                    </a:p>
                  </a:txBody>
                  <a:tcPr>
                    <a:solidFill>
                      <a:srgbClr val="F2F2F2"/>
                    </a:solidFill>
                  </a:tcPr>
                </a:tc>
                <a:tc>
                  <a:txBody>
                    <a:bodyPr/>
                    <a:lstStyle/>
                    <a:p>
                      <a:pPr algn="ctr"/>
                      <a:r>
                        <a:rPr sz="850" b="0" i="0">
                          <a:solidFill>
                            <a:srgbClr val="BFBFBF"/>
                          </a:solidFill>
                          <a:latin typeface="Arial"/>
                        </a:rPr>
                        <a:t>2</a:t>
                      </a:r>
                    </a:p>
                  </a:txBody>
                  <a:tcPr>
                    <a:solidFill>
                      <a:srgbClr val="F2F2F2"/>
                    </a:solidFill>
                  </a:tcPr>
                </a:tc>
                <a:extLst>
                  <a:ext uri="{0D108BD9-81ED-4DB2-BD59-A6C34878D82A}">
                    <a16:rowId xmlns:a16="http://schemas.microsoft.com/office/drawing/2014/main" val="10006"/>
                  </a:ext>
                </a:extLst>
              </a:tr>
              <a:tr h="256032">
                <a:tc>
                  <a:txBody>
                    <a:bodyPr/>
                    <a:lstStyle/>
                    <a:p>
                      <a:pPr algn="ctr"/>
                      <a:r>
                        <a:rPr sz="850" b="1" i="0">
                          <a:solidFill>
                            <a:srgbClr val="002060"/>
                          </a:solidFill>
                          <a:latin typeface="Arial"/>
                        </a:rPr>
                        <a:t>7</a:t>
                      </a:r>
                    </a:p>
                  </a:txBody>
                  <a:tcPr>
                    <a:solidFill>
                      <a:srgbClr val="FFFFFF"/>
                    </a:solidFill>
                  </a:tcPr>
                </a:tc>
                <a:tc>
                  <a:txBody>
                    <a:bodyPr/>
                    <a:lstStyle/>
                    <a:p>
                      <a:pPr algn="l"/>
                      <a:r>
                        <a:rPr sz="850" b="0" i="0">
                          <a:solidFill>
                            <a:srgbClr val="262626"/>
                          </a:solidFill>
                          <a:latin typeface="Arial"/>
                        </a:rPr>
                        <a:t>Heidi Juránková</a:t>
                      </a:r>
                    </a:p>
                  </a:txBody>
                  <a:tcPr>
                    <a:solidFill>
                      <a:srgbClr val="FFFFFF"/>
                    </a:solidFill>
                  </a:tcPr>
                </a:tc>
                <a:tc>
                  <a:txBody>
                    <a:bodyPr/>
                    <a:lstStyle/>
                    <a:p>
                      <a:pPr algn="ctr"/>
                      <a:r>
                        <a:rPr sz="850" b="1"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+45.5</a:t>
                      </a:r>
                    </a:p>
                  </a:txBody>
                  <a:tcPr>
                    <a:solidFill>
                      <a:srgbClr val="FFFFFF"/>
                    </a:solidFill>
                  </a:tcPr>
                </a:tc>
                <a:tc>
                  <a:txBody>
                    <a:bodyPr/>
                    <a:lstStyle/>
                    <a:p>
                      <a:pPr algn="ctr"/>
                      <a:r>
                        <a:rPr sz="850" b="0" i="0">
                          <a:solidFill>
                            <a:srgbClr val="262626"/>
                          </a:solidFill>
                          <a:latin typeface="Arial"/>
                        </a:rPr>
                        <a:t>19:19</a:t>
                      </a:r>
                    </a:p>
                  </a:txBody>
                  <a:tcPr>
                    <a:solidFill>
                      <a:srgbClr val="FFFFFF"/>
                    </a:solidFill>
                  </a:tcPr>
                </a:tc>
                <a:tc>
                  <a:txBody>
                    <a:bodyPr/>
                    <a:lstStyle/>
                    <a:p>
                      <a:pPr algn="ctr"/>
                      <a:r>
                        <a:rPr sz="850" b="0" i="0">
                          <a:solidFill>
                            <a:srgbClr val="BFBFBF"/>
                          </a:solidFill>
                          <a:latin typeface="Arial"/>
                        </a:rPr>
                        <a:t>2</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USA World Rankings Snapshot</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70432"/>
            <a:ext cx="11430000" cy="256032"/>
          </a:xfrm>
          <a:prstGeom prst="rect">
            <a:avLst/>
          </a:prstGeom>
          <a:noFill/>
        </p:spPr>
        <p:txBody>
          <a:bodyPr wrap="square">
            <a:spAutoFit/>
          </a:bodyPr>
          <a:lstStyle/>
          <a:p>
            <a:pPr algn="ctr"/>
            <a:r>
              <a:rPr sz="1200" b="1" i="0">
                <a:solidFill>
                  <a:srgbClr val="002060"/>
                </a:solidFill>
                <a:latin typeface="Arial"/>
              </a:rPr>
              <a:t>As of 2026-07-06   •   World Triathlon Rankings   •   Heading into Hamburg   •   Race tier: WTCS</a:t>
            </a:r>
          </a:p>
        </p:txBody>
      </p:sp>
      <p:sp>
        <p:nvSpPr>
          <p:cNvPr id="10" name="Rectangle 9"/>
          <p:cNvSpPr/>
          <p:nvPr/>
        </p:nvSpPr>
        <p:spPr>
          <a:xfrm>
            <a:off x="274320" y="1600200"/>
            <a:ext cx="11640312" cy="2926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627632"/>
            <a:ext cx="11430000" cy="246888"/>
          </a:xfrm>
          <a:prstGeom prst="rect">
            <a:avLst/>
          </a:prstGeom>
          <a:noFill/>
        </p:spPr>
        <p:txBody>
          <a:bodyPr wrap="square">
            <a:spAutoFit/>
          </a:bodyPr>
          <a:lstStyle/>
          <a:p>
            <a:pPr algn="l"/>
            <a:r>
              <a:rPr sz="1200" b="1" i="0">
                <a:solidFill>
                  <a:srgbClr val="FFFFFF"/>
                </a:solidFill>
                <a:latin typeface="Arial"/>
              </a:rPr>
              <a:t>Max Points Available at this Race</a:t>
            </a:r>
          </a:p>
        </p:txBody>
      </p:sp>
      <p:sp>
        <p:nvSpPr>
          <p:cNvPr id="12" name="Rectangle 11"/>
          <p:cNvSpPr/>
          <p:nvPr/>
        </p:nvSpPr>
        <p:spPr>
          <a:xfrm>
            <a:off x="274320" y="1984248"/>
            <a:ext cx="1803196" cy="502920"/>
          </a:xfrm>
          <a:prstGeom prst="rect">
            <a:avLst/>
          </a:prstGeom>
          <a:solidFill>
            <a:srgbClr val="F2F2F2"/>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 y="2011680"/>
            <a:ext cx="1803196" cy="182880"/>
          </a:xfrm>
          <a:prstGeom prst="rect">
            <a:avLst/>
          </a:prstGeom>
          <a:noFill/>
        </p:spPr>
        <p:txBody>
          <a:bodyPr wrap="square">
            <a:spAutoFit/>
          </a:bodyPr>
          <a:lstStyle/>
          <a:p>
            <a:pPr algn="ctr"/>
            <a:r>
              <a:rPr sz="900" b="1" i="0">
                <a:solidFill>
                  <a:srgbClr val="002060"/>
                </a:solidFill>
                <a:latin typeface="Arial"/>
              </a:rPr>
              <a:t>Win</a:t>
            </a:r>
          </a:p>
        </p:txBody>
      </p:sp>
      <p:sp>
        <p:nvSpPr>
          <p:cNvPr id="14" name="TextBox 13"/>
          <p:cNvSpPr txBox="1"/>
          <p:nvPr/>
        </p:nvSpPr>
        <p:spPr>
          <a:xfrm>
            <a:off x="274320" y="2185416"/>
            <a:ext cx="1803196" cy="292608"/>
          </a:xfrm>
          <a:prstGeom prst="rect">
            <a:avLst/>
          </a:prstGeom>
          <a:noFill/>
        </p:spPr>
        <p:txBody>
          <a:bodyPr wrap="square">
            <a:spAutoFit/>
          </a:bodyPr>
          <a:lstStyle/>
          <a:p>
            <a:pPr algn="ctr"/>
            <a:r>
              <a:rPr sz="1400" b="1" i="0">
                <a:solidFill>
                  <a:srgbClr val="C00000"/>
                </a:solidFill>
                <a:latin typeface="Arial"/>
              </a:rPr>
              <a:t>1,000 pts</a:t>
            </a:r>
          </a:p>
        </p:txBody>
      </p:sp>
      <p:sp>
        <p:nvSpPr>
          <p:cNvPr id="15" name="Rectangle 14"/>
          <p:cNvSpPr/>
          <p:nvPr/>
        </p:nvSpPr>
        <p:spPr>
          <a:xfrm>
            <a:off x="2242108"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42108" y="2011680"/>
            <a:ext cx="1803196" cy="182880"/>
          </a:xfrm>
          <a:prstGeom prst="rect">
            <a:avLst/>
          </a:prstGeom>
          <a:noFill/>
        </p:spPr>
        <p:txBody>
          <a:bodyPr wrap="square">
            <a:spAutoFit/>
          </a:bodyPr>
          <a:lstStyle/>
          <a:p>
            <a:pPr algn="ctr"/>
            <a:r>
              <a:rPr sz="900" b="1" i="0">
                <a:solidFill>
                  <a:srgbClr val="002060"/>
                </a:solidFill>
                <a:latin typeface="Arial"/>
              </a:rPr>
              <a:t>Podium</a:t>
            </a:r>
          </a:p>
        </p:txBody>
      </p:sp>
      <p:sp>
        <p:nvSpPr>
          <p:cNvPr id="17" name="TextBox 16"/>
          <p:cNvSpPr txBox="1"/>
          <p:nvPr/>
        </p:nvSpPr>
        <p:spPr>
          <a:xfrm>
            <a:off x="2242108" y="2185416"/>
            <a:ext cx="1803196" cy="292608"/>
          </a:xfrm>
          <a:prstGeom prst="rect">
            <a:avLst/>
          </a:prstGeom>
          <a:noFill/>
        </p:spPr>
        <p:txBody>
          <a:bodyPr wrap="square">
            <a:spAutoFit/>
          </a:bodyPr>
          <a:lstStyle/>
          <a:p>
            <a:pPr algn="ctr"/>
            <a:r>
              <a:rPr sz="1400" b="1" i="0">
                <a:solidFill>
                  <a:srgbClr val="002060"/>
                </a:solidFill>
                <a:latin typeface="Arial"/>
              </a:rPr>
              <a:t>855 pts</a:t>
            </a:r>
          </a:p>
        </p:txBody>
      </p:sp>
      <p:sp>
        <p:nvSpPr>
          <p:cNvPr id="18" name="Rectangle 17"/>
          <p:cNvSpPr/>
          <p:nvPr/>
        </p:nvSpPr>
        <p:spPr>
          <a:xfrm>
            <a:off x="4209896"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09896" y="2011680"/>
            <a:ext cx="1803196" cy="182880"/>
          </a:xfrm>
          <a:prstGeom prst="rect">
            <a:avLst/>
          </a:prstGeom>
          <a:noFill/>
        </p:spPr>
        <p:txBody>
          <a:bodyPr wrap="square">
            <a:spAutoFit/>
          </a:bodyPr>
          <a:lstStyle/>
          <a:p>
            <a:pPr algn="ctr"/>
            <a:r>
              <a:rPr sz="900" b="1" i="0">
                <a:solidFill>
                  <a:srgbClr val="002060"/>
                </a:solidFill>
                <a:latin typeface="Arial"/>
              </a:rPr>
              <a:t>Top 5</a:t>
            </a:r>
          </a:p>
        </p:txBody>
      </p:sp>
      <p:sp>
        <p:nvSpPr>
          <p:cNvPr id="20" name="TextBox 19"/>
          <p:cNvSpPr txBox="1"/>
          <p:nvPr/>
        </p:nvSpPr>
        <p:spPr>
          <a:xfrm>
            <a:off x="4209896" y="2185416"/>
            <a:ext cx="1803196" cy="292608"/>
          </a:xfrm>
          <a:prstGeom prst="rect">
            <a:avLst/>
          </a:prstGeom>
          <a:noFill/>
        </p:spPr>
        <p:txBody>
          <a:bodyPr wrap="square">
            <a:spAutoFit/>
          </a:bodyPr>
          <a:lstStyle/>
          <a:p>
            <a:pPr algn="ctr"/>
            <a:r>
              <a:rPr sz="1400" b="1" i="0">
                <a:solidFill>
                  <a:srgbClr val="002060"/>
                </a:solidFill>
                <a:latin typeface="Arial"/>
              </a:rPr>
              <a:t>732 pts</a:t>
            </a:r>
          </a:p>
        </p:txBody>
      </p:sp>
      <p:sp>
        <p:nvSpPr>
          <p:cNvPr id="21" name="Rectangle 20"/>
          <p:cNvSpPr/>
          <p:nvPr/>
        </p:nvSpPr>
        <p:spPr>
          <a:xfrm>
            <a:off x="6177684"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77684" y="2011680"/>
            <a:ext cx="1803196" cy="182880"/>
          </a:xfrm>
          <a:prstGeom prst="rect">
            <a:avLst/>
          </a:prstGeom>
          <a:noFill/>
        </p:spPr>
        <p:txBody>
          <a:bodyPr wrap="square">
            <a:spAutoFit/>
          </a:bodyPr>
          <a:lstStyle/>
          <a:p>
            <a:pPr algn="ctr"/>
            <a:r>
              <a:rPr sz="900" b="1" i="0">
                <a:solidFill>
                  <a:srgbClr val="002060"/>
                </a:solidFill>
                <a:latin typeface="Arial"/>
              </a:rPr>
              <a:t>Top 10</a:t>
            </a:r>
          </a:p>
        </p:txBody>
      </p:sp>
      <p:sp>
        <p:nvSpPr>
          <p:cNvPr id="23" name="TextBox 22"/>
          <p:cNvSpPr txBox="1"/>
          <p:nvPr/>
        </p:nvSpPr>
        <p:spPr>
          <a:xfrm>
            <a:off x="6177684" y="2185416"/>
            <a:ext cx="1803196" cy="292608"/>
          </a:xfrm>
          <a:prstGeom prst="rect">
            <a:avLst/>
          </a:prstGeom>
          <a:noFill/>
        </p:spPr>
        <p:txBody>
          <a:bodyPr wrap="square">
            <a:spAutoFit/>
          </a:bodyPr>
          <a:lstStyle/>
          <a:p>
            <a:pPr algn="ctr"/>
            <a:r>
              <a:rPr sz="1400" b="1" i="0">
                <a:solidFill>
                  <a:srgbClr val="002060"/>
                </a:solidFill>
                <a:latin typeface="Arial"/>
              </a:rPr>
              <a:t>495 pts</a:t>
            </a:r>
          </a:p>
        </p:txBody>
      </p:sp>
      <p:sp>
        <p:nvSpPr>
          <p:cNvPr id="24" name="Rectangle 23"/>
          <p:cNvSpPr/>
          <p:nvPr/>
        </p:nvSpPr>
        <p:spPr>
          <a:xfrm>
            <a:off x="8145472"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45472" y="2011680"/>
            <a:ext cx="1803196" cy="182880"/>
          </a:xfrm>
          <a:prstGeom prst="rect">
            <a:avLst/>
          </a:prstGeom>
          <a:noFill/>
        </p:spPr>
        <p:txBody>
          <a:bodyPr wrap="square">
            <a:spAutoFit/>
          </a:bodyPr>
          <a:lstStyle/>
          <a:p>
            <a:pPr algn="ctr"/>
            <a:r>
              <a:rPr sz="900" b="1" i="0">
                <a:solidFill>
                  <a:srgbClr val="002060"/>
                </a:solidFill>
                <a:latin typeface="Arial"/>
              </a:rPr>
              <a:t>Top 15</a:t>
            </a:r>
          </a:p>
        </p:txBody>
      </p:sp>
      <p:sp>
        <p:nvSpPr>
          <p:cNvPr id="26" name="TextBox 25"/>
          <p:cNvSpPr txBox="1"/>
          <p:nvPr/>
        </p:nvSpPr>
        <p:spPr>
          <a:xfrm>
            <a:off x="8145472" y="2185416"/>
            <a:ext cx="1803196" cy="292608"/>
          </a:xfrm>
          <a:prstGeom prst="rect">
            <a:avLst/>
          </a:prstGeom>
          <a:noFill/>
        </p:spPr>
        <p:txBody>
          <a:bodyPr wrap="square">
            <a:spAutoFit/>
          </a:bodyPr>
          <a:lstStyle/>
          <a:p>
            <a:pPr algn="ctr"/>
            <a:r>
              <a:rPr sz="1400" b="1" i="0">
                <a:solidFill>
                  <a:srgbClr val="002060"/>
                </a:solidFill>
                <a:latin typeface="Arial"/>
              </a:rPr>
              <a:t>335 pts</a:t>
            </a:r>
          </a:p>
        </p:txBody>
      </p:sp>
      <p:sp>
        <p:nvSpPr>
          <p:cNvPr id="27" name="Rectangle 26"/>
          <p:cNvSpPr/>
          <p:nvPr/>
        </p:nvSpPr>
        <p:spPr>
          <a:xfrm>
            <a:off x="10113260" y="1984248"/>
            <a:ext cx="1803196" cy="502920"/>
          </a:xfrm>
          <a:prstGeom prst="rect">
            <a:avLst/>
          </a:prstGeom>
          <a:solidFill>
            <a:srgbClr val="F2F2F2"/>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113260" y="2011680"/>
            <a:ext cx="1803196" cy="182880"/>
          </a:xfrm>
          <a:prstGeom prst="rect">
            <a:avLst/>
          </a:prstGeom>
          <a:noFill/>
        </p:spPr>
        <p:txBody>
          <a:bodyPr wrap="square">
            <a:spAutoFit/>
          </a:bodyPr>
          <a:lstStyle/>
          <a:p>
            <a:pPr algn="ctr"/>
            <a:r>
              <a:rPr sz="900" b="1" i="0">
                <a:solidFill>
                  <a:srgbClr val="002060"/>
                </a:solidFill>
                <a:latin typeface="Arial"/>
              </a:rPr>
              <a:t>Top 20</a:t>
            </a:r>
          </a:p>
        </p:txBody>
      </p:sp>
      <p:sp>
        <p:nvSpPr>
          <p:cNvPr id="29" name="TextBox 28"/>
          <p:cNvSpPr txBox="1"/>
          <p:nvPr/>
        </p:nvSpPr>
        <p:spPr>
          <a:xfrm>
            <a:off x="10113260" y="2185416"/>
            <a:ext cx="1803196" cy="292608"/>
          </a:xfrm>
          <a:prstGeom prst="rect">
            <a:avLst/>
          </a:prstGeom>
          <a:noFill/>
        </p:spPr>
        <p:txBody>
          <a:bodyPr wrap="square">
            <a:spAutoFit/>
          </a:bodyPr>
          <a:lstStyle/>
          <a:p>
            <a:pPr algn="ctr"/>
            <a:r>
              <a:rPr sz="1400" b="1" i="0">
                <a:solidFill>
                  <a:srgbClr val="BFBFBF"/>
                </a:solidFill>
                <a:latin typeface="Arial"/>
              </a:rPr>
              <a:t>227 pts</a:t>
            </a:r>
          </a:p>
        </p:txBody>
      </p:sp>
      <p:sp>
        <p:nvSpPr>
          <p:cNvPr id="30" name="Rectangle 29"/>
          <p:cNvSpPr/>
          <p:nvPr/>
        </p:nvSpPr>
        <p:spPr>
          <a:xfrm>
            <a:off x="274320" y="26060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 y="2633472"/>
            <a:ext cx="5788152" cy="237744"/>
          </a:xfrm>
          <a:prstGeom prst="rect">
            <a:avLst/>
          </a:prstGeom>
          <a:noFill/>
        </p:spPr>
        <p:txBody>
          <a:bodyPr wrap="square">
            <a:spAutoFit/>
          </a:bodyPr>
          <a:lstStyle/>
          <a:p>
            <a:pPr algn="ctr"/>
            <a:r>
              <a:rPr sz="1100" b="1" i="0">
                <a:solidFill>
                  <a:srgbClr val="FFFFFF"/>
                </a:solidFill>
                <a:latin typeface="Arial"/>
              </a:rPr>
              <a:t>ELITE MEN</a:t>
            </a:r>
          </a:p>
        </p:txBody>
      </p:sp>
      <p:graphicFrame>
        <p:nvGraphicFramePr>
          <p:cNvPr id="32" name="Table 31"/>
          <p:cNvGraphicFramePr>
            <a:graphicFrameLocks noGrp="1"/>
          </p:cNvGraphicFramePr>
          <p:nvPr/>
        </p:nvGraphicFramePr>
        <p:xfrm>
          <a:off x="274320" y="2935224"/>
          <a:ext cx="5787236" cy="3589020"/>
        </p:xfrm>
        <a:graphic>
          <a:graphicData uri="http://schemas.openxmlformats.org/drawingml/2006/table">
            <a:tbl>
              <a:tblPr firstRow="1" bandRow="1">
                <a:tableStyleId>{5C22544A-7EE6-4342-B048-85BDC9FD1C3A}</a:tableStyleId>
              </a:tblPr>
              <a:tblGrid>
                <a:gridCol w="783640">
                  <a:extLst>
                    <a:ext uri="{9D8B030D-6E8A-4147-A177-3AD203B41FA5}">
                      <a16:colId xmlns:a16="http://schemas.microsoft.com/office/drawing/2014/main" val="20000"/>
                    </a:ext>
                  </a:extLst>
                </a:gridCol>
                <a:gridCol w="2531973">
                  <a:extLst>
                    <a:ext uri="{9D8B030D-6E8A-4147-A177-3AD203B41FA5}">
                      <a16:colId xmlns:a16="http://schemas.microsoft.com/office/drawing/2014/main" val="20001"/>
                    </a:ext>
                  </a:extLst>
                </a:gridCol>
                <a:gridCol w="1145743">
                  <a:extLst>
                    <a:ext uri="{9D8B030D-6E8A-4147-A177-3AD203B41FA5}">
                      <a16:colId xmlns:a16="http://schemas.microsoft.com/office/drawing/2014/main" val="20002"/>
                    </a:ext>
                  </a:extLst>
                </a:gridCol>
                <a:gridCol w="662940">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tblGrid>
              <a:tr h="224028">
                <a:tc>
                  <a:txBody>
                    <a:bodyPr/>
                    <a:lstStyle/>
                    <a:p>
                      <a:pPr algn="ctr"/>
                      <a:r>
                        <a:rPr sz="900" b="1" i="0">
                          <a:solidFill>
                            <a:srgbClr val="FFFFFF"/>
                          </a:solidFill>
                          <a:latin typeface="Arial"/>
                        </a:rPr>
                        <a:t>Rank</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Points</a:t>
                      </a:r>
                    </a:p>
                  </a:txBody>
                  <a:tcPr>
                    <a:solidFill>
                      <a:srgbClr val="002060"/>
                    </a:solidFill>
                  </a:tcPr>
                </a:tc>
                <a:tc>
                  <a:txBody>
                    <a:bodyPr/>
                    <a:lstStyle/>
                    <a:p>
                      <a:pPr algn="ctr"/>
                      <a:r>
                        <a:rPr sz="900" b="1" i="0">
                          <a:solidFill>
                            <a:srgbClr val="FFFFFF"/>
                          </a:solidFill>
                          <a:latin typeface="Arial"/>
                        </a:rPr>
                        <a:t>Curr</a:t>
                      </a:r>
                    </a:p>
                  </a:txBody>
                  <a:tcPr>
                    <a:solidFill>
                      <a:srgbClr val="002060"/>
                    </a:solidFill>
                  </a:tcPr>
                </a:tc>
                <a:tc>
                  <a:txBody>
                    <a:bodyPr/>
                    <a:lstStyle/>
                    <a:p>
                      <a:pPr algn="ctr"/>
                      <a:r>
                        <a:rPr sz="900" b="1" i="0">
                          <a:solidFill>
                            <a:srgbClr val="FFFFFF"/>
                          </a:solidFill>
                          <a:latin typeface="Arial"/>
                        </a:rPr>
                        <a:t>Prev</a:t>
                      </a:r>
                    </a:p>
                  </a:txBody>
                  <a:tcPr>
                    <a:solidFill>
                      <a:srgbClr val="002060"/>
                    </a:solidFill>
                  </a:tcPr>
                </a:tc>
                <a:extLst>
                  <a:ext uri="{0D108BD9-81ED-4DB2-BD59-A6C34878D82A}">
                    <a16:rowId xmlns:a16="http://schemas.microsoft.com/office/drawing/2014/main" val="10000"/>
                  </a:ext>
                </a:extLst>
              </a:tr>
              <a:tr h="224028">
                <a:tc>
                  <a:txBody>
                    <a:bodyPr/>
                    <a:lstStyle/>
                    <a:p>
                      <a:pPr algn="ctr"/>
                      <a:r>
                        <a:rPr sz="850" b="1" i="0">
                          <a:solidFill>
                            <a:srgbClr val="262626"/>
                          </a:solidFill>
                          <a:latin typeface="Arial"/>
                        </a:rPr>
                        <a:t>16</a:t>
                      </a:r>
                    </a:p>
                  </a:txBody>
                  <a:tcPr>
                    <a:solidFill>
                      <a:srgbClr val="FFFFFF"/>
                    </a:solidFill>
                  </a:tcPr>
                </a:tc>
                <a:tc>
                  <a:txBody>
                    <a:bodyPr/>
                    <a:lstStyle/>
                    <a:p>
                      <a:pPr algn="l"/>
                      <a:r>
                        <a:rPr sz="850" b="0" i="0">
                          <a:solidFill>
                            <a:srgbClr val="262626"/>
                          </a:solidFill>
                          <a:latin typeface="Arial"/>
                        </a:rPr>
                        <a:t>John Reed</a:t>
                      </a:r>
                    </a:p>
                  </a:txBody>
                  <a:tcPr>
                    <a:solidFill>
                      <a:srgbClr val="FFFFFF"/>
                    </a:solidFill>
                  </a:tcPr>
                </a:tc>
                <a:tc>
                  <a:txBody>
                    <a:bodyPr/>
                    <a:lstStyle/>
                    <a:p>
                      <a:pPr algn="ctr"/>
                      <a:r>
                        <a:rPr sz="850" b="0" i="0">
                          <a:solidFill>
                            <a:srgbClr val="262626"/>
                          </a:solidFill>
                          <a:latin typeface="Arial"/>
                        </a:rPr>
                        <a:t>3,147</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1"/>
                  </a:ext>
                </a:extLst>
              </a:tr>
              <a:tr h="224028">
                <a:tc>
                  <a:txBody>
                    <a:bodyPr/>
                    <a:lstStyle/>
                    <a:p>
                      <a:pPr algn="ctr"/>
                      <a:r>
                        <a:rPr sz="850" b="1" i="0">
                          <a:solidFill>
                            <a:srgbClr val="262626"/>
                          </a:solidFill>
                          <a:latin typeface="Arial"/>
                        </a:rPr>
                        <a:t>26</a:t>
                      </a:r>
                    </a:p>
                  </a:txBody>
                  <a:tcPr>
                    <a:solidFill>
                      <a:srgbClr val="F2F2F2"/>
                    </a:solidFill>
                  </a:tcPr>
                </a:tc>
                <a:tc>
                  <a:txBody>
                    <a:bodyPr/>
                    <a:lstStyle/>
                    <a:p>
                      <a:pPr algn="l"/>
                      <a:r>
                        <a:rPr sz="850" b="0" i="0">
                          <a:solidFill>
                            <a:srgbClr val="262626"/>
                          </a:solidFill>
                          <a:latin typeface="Arial"/>
                        </a:rPr>
                        <a:t>Reese Vannerson</a:t>
                      </a:r>
                    </a:p>
                  </a:txBody>
                  <a:tcPr>
                    <a:solidFill>
                      <a:srgbClr val="F2F2F2"/>
                    </a:solidFill>
                  </a:tcPr>
                </a:tc>
                <a:tc>
                  <a:txBody>
                    <a:bodyPr/>
                    <a:lstStyle/>
                    <a:p>
                      <a:pPr algn="ctr"/>
                      <a:r>
                        <a:rPr sz="850" b="0" i="0">
                          <a:solidFill>
                            <a:srgbClr val="262626"/>
                          </a:solidFill>
                          <a:latin typeface="Arial"/>
                        </a:rPr>
                        <a:t>2,628</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2"/>
                  </a:ext>
                </a:extLst>
              </a:tr>
              <a:tr h="224028">
                <a:tc>
                  <a:txBody>
                    <a:bodyPr/>
                    <a:lstStyle/>
                    <a:p>
                      <a:pPr algn="ctr"/>
                      <a:r>
                        <a:rPr sz="850" b="1" i="0">
                          <a:solidFill>
                            <a:srgbClr val="262626"/>
                          </a:solidFill>
                          <a:latin typeface="Arial"/>
                        </a:rPr>
                        <a:t>49</a:t>
                      </a:r>
                    </a:p>
                  </a:txBody>
                  <a:tcPr>
                    <a:solidFill>
                      <a:srgbClr val="FFFFFF"/>
                    </a:solidFill>
                  </a:tcPr>
                </a:tc>
                <a:tc>
                  <a:txBody>
                    <a:bodyPr/>
                    <a:lstStyle/>
                    <a:p>
                      <a:pPr algn="l"/>
                      <a:r>
                        <a:rPr sz="850" b="0" i="0">
                          <a:solidFill>
                            <a:srgbClr val="262626"/>
                          </a:solidFill>
                          <a:latin typeface="Arial"/>
                        </a:rPr>
                        <a:t>Braxton Legg</a:t>
                      </a:r>
                    </a:p>
                  </a:txBody>
                  <a:tcPr>
                    <a:solidFill>
                      <a:srgbClr val="FFFFFF"/>
                    </a:solidFill>
                  </a:tcPr>
                </a:tc>
                <a:tc>
                  <a:txBody>
                    <a:bodyPr/>
                    <a:lstStyle/>
                    <a:p>
                      <a:pPr algn="ctr"/>
                      <a:r>
                        <a:rPr sz="850" b="0" i="0">
                          <a:solidFill>
                            <a:srgbClr val="262626"/>
                          </a:solidFill>
                          <a:latin typeface="Arial"/>
                        </a:rPr>
                        <a:t>2,088</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3"/>
                  </a:ext>
                </a:extLst>
              </a:tr>
              <a:tr h="224028">
                <a:tc>
                  <a:txBody>
                    <a:bodyPr/>
                    <a:lstStyle/>
                    <a:p>
                      <a:pPr algn="ctr"/>
                      <a:r>
                        <a:rPr sz="850" b="1" i="0">
                          <a:solidFill>
                            <a:srgbClr val="262626"/>
                          </a:solidFill>
                          <a:latin typeface="Arial"/>
                        </a:rPr>
                        <a:t>55</a:t>
                      </a:r>
                    </a:p>
                  </a:txBody>
                  <a:tcPr>
                    <a:solidFill>
                      <a:srgbClr val="F2F2F2"/>
                    </a:solidFill>
                  </a:tcPr>
                </a:tc>
                <a:tc>
                  <a:txBody>
                    <a:bodyPr/>
                    <a:lstStyle/>
                    <a:p>
                      <a:pPr algn="l"/>
                      <a:r>
                        <a:rPr sz="850" b="0" i="0">
                          <a:solidFill>
                            <a:srgbClr val="262626"/>
                          </a:solidFill>
                          <a:latin typeface="Arial"/>
                        </a:rPr>
                        <a:t>Morgan Pearson</a:t>
                      </a:r>
                    </a:p>
                  </a:txBody>
                  <a:tcPr>
                    <a:solidFill>
                      <a:srgbClr val="F2F2F2"/>
                    </a:solidFill>
                  </a:tcPr>
                </a:tc>
                <a:tc>
                  <a:txBody>
                    <a:bodyPr/>
                    <a:lstStyle/>
                    <a:p>
                      <a:pPr algn="ctr"/>
                      <a:r>
                        <a:rPr sz="850" b="0" i="0">
                          <a:solidFill>
                            <a:srgbClr val="262626"/>
                          </a:solidFill>
                          <a:latin typeface="Arial"/>
                        </a:rPr>
                        <a:t>2,026</a:t>
                      </a:r>
                    </a:p>
                  </a:txBody>
                  <a:tcPr>
                    <a:solidFill>
                      <a:srgbClr val="F2F2F2"/>
                    </a:solidFill>
                  </a:tcPr>
                </a:tc>
                <a:tc>
                  <a:txBody>
                    <a:bodyPr/>
                    <a:lstStyle/>
                    <a:p>
                      <a:pPr algn="ctr"/>
                      <a:r>
                        <a:rPr sz="850" b="0" i="0">
                          <a:solidFill>
                            <a:srgbClr val="262626"/>
                          </a:solidFill>
                          <a:latin typeface="Arial"/>
                        </a:rPr>
                        <a:t>4</a:t>
                      </a:r>
                    </a:p>
                  </a:txBody>
                  <a:tcPr>
                    <a:solidFill>
                      <a:srgbClr val="F2F2F2"/>
                    </a:solidFill>
                  </a:tcPr>
                </a:tc>
                <a:tc>
                  <a:txBody>
                    <a:bodyPr/>
                    <a:lstStyle/>
                    <a:p>
                      <a:pPr algn="ctr"/>
                      <a:r>
                        <a:rPr sz="850" b="0" i="0">
                          <a:solidFill>
                            <a:srgbClr val="262626"/>
                          </a:solidFill>
                          <a:latin typeface="Arial"/>
                        </a:rPr>
                        <a:t>5</a:t>
                      </a:r>
                    </a:p>
                  </a:txBody>
                  <a:tcPr>
                    <a:solidFill>
                      <a:srgbClr val="F2F2F2"/>
                    </a:solidFill>
                  </a:tcPr>
                </a:tc>
                <a:extLst>
                  <a:ext uri="{0D108BD9-81ED-4DB2-BD59-A6C34878D82A}">
                    <a16:rowId xmlns:a16="http://schemas.microsoft.com/office/drawing/2014/main" val="10004"/>
                  </a:ext>
                </a:extLst>
              </a:tr>
              <a:tr h="224028">
                <a:tc>
                  <a:txBody>
                    <a:bodyPr/>
                    <a:lstStyle/>
                    <a:p>
                      <a:pPr algn="ctr"/>
                      <a:r>
                        <a:rPr sz="850" b="1" i="0">
                          <a:solidFill>
                            <a:srgbClr val="262626"/>
                          </a:solidFill>
                          <a:latin typeface="Arial"/>
                        </a:rPr>
                        <a:t>64</a:t>
                      </a:r>
                    </a:p>
                  </a:txBody>
                  <a:tcPr>
                    <a:solidFill>
                      <a:srgbClr val="FFFFFF"/>
                    </a:solidFill>
                  </a:tcPr>
                </a:tc>
                <a:tc>
                  <a:txBody>
                    <a:bodyPr/>
                    <a:lstStyle/>
                    <a:p>
                      <a:pPr algn="l"/>
                      <a:r>
                        <a:rPr sz="850" b="0" i="0">
                          <a:solidFill>
                            <a:srgbClr val="262626"/>
                          </a:solidFill>
                          <a:latin typeface="Arial"/>
                        </a:rPr>
                        <a:t>Sullivan Middaugh</a:t>
                      </a:r>
                    </a:p>
                  </a:txBody>
                  <a:tcPr>
                    <a:solidFill>
                      <a:srgbClr val="FFFFFF"/>
                    </a:solidFill>
                  </a:tcPr>
                </a:tc>
                <a:tc>
                  <a:txBody>
                    <a:bodyPr/>
                    <a:lstStyle/>
                    <a:p>
                      <a:pPr algn="ctr"/>
                      <a:r>
                        <a:rPr sz="850" b="0" i="0">
                          <a:solidFill>
                            <a:srgbClr val="262626"/>
                          </a:solidFill>
                          <a:latin typeface="Arial"/>
                        </a:rPr>
                        <a:t>1,910</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5"/>
                  </a:ext>
                </a:extLst>
              </a:tr>
              <a:tr h="224028">
                <a:tc>
                  <a:txBody>
                    <a:bodyPr/>
                    <a:lstStyle/>
                    <a:p>
                      <a:pPr algn="ctr"/>
                      <a:r>
                        <a:rPr sz="850" b="1" i="0">
                          <a:solidFill>
                            <a:srgbClr val="262626"/>
                          </a:solidFill>
                          <a:latin typeface="Arial"/>
                        </a:rPr>
                        <a:t>67</a:t>
                      </a:r>
                    </a:p>
                  </a:txBody>
                  <a:tcPr>
                    <a:solidFill>
                      <a:srgbClr val="F2F2F2"/>
                    </a:solidFill>
                  </a:tcPr>
                </a:tc>
                <a:tc>
                  <a:txBody>
                    <a:bodyPr/>
                    <a:lstStyle/>
                    <a:p>
                      <a:pPr algn="l"/>
                      <a:r>
                        <a:rPr sz="850" b="0" i="0">
                          <a:solidFill>
                            <a:srgbClr val="262626"/>
                          </a:solidFill>
                          <a:latin typeface="Arial"/>
                        </a:rPr>
                        <a:t>Chase McQueen</a:t>
                      </a:r>
                    </a:p>
                  </a:txBody>
                  <a:tcPr>
                    <a:solidFill>
                      <a:srgbClr val="F2F2F2"/>
                    </a:solidFill>
                  </a:tcPr>
                </a:tc>
                <a:tc>
                  <a:txBody>
                    <a:bodyPr/>
                    <a:lstStyle/>
                    <a:p>
                      <a:pPr algn="ctr"/>
                      <a:r>
                        <a:rPr sz="850" b="0" i="0">
                          <a:solidFill>
                            <a:srgbClr val="262626"/>
                          </a:solidFill>
                          <a:latin typeface="Arial"/>
                        </a:rPr>
                        <a:t>1,839</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6"/>
                  </a:ext>
                </a:extLst>
              </a:tr>
              <a:tr h="224028">
                <a:tc>
                  <a:txBody>
                    <a:bodyPr/>
                    <a:lstStyle/>
                    <a:p>
                      <a:pPr algn="ctr"/>
                      <a:r>
                        <a:rPr sz="850" b="1" i="0">
                          <a:solidFill>
                            <a:srgbClr val="262626"/>
                          </a:solidFill>
                          <a:latin typeface="Arial"/>
                        </a:rPr>
                        <a:t>68</a:t>
                      </a:r>
                    </a:p>
                  </a:txBody>
                  <a:tcPr>
                    <a:solidFill>
                      <a:srgbClr val="FFFFFF"/>
                    </a:solidFill>
                  </a:tcPr>
                </a:tc>
                <a:tc>
                  <a:txBody>
                    <a:bodyPr/>
                    <a:lstStyle/>
                    <a:p>
                      <a:pPr algn="l"/>
                      <a:r>
                        <a:rPr sz="850" b="0" i="0">
                          <a:solidFill>
                            <a:srgbClr val="262626"/>
                          </a:solidFill>
                          <a:latin typeface="Arial"/>
                        </a:rPr>
                        <a:t>Keller Norland</a:t>
                      </a:r>
                    </a:p>
                  </a:txBody>
                  <a:tcPr>
                    <a:solidFill>
                      <a:srgbClr val="FFFFFF"/>
                    </a:solidFill>
                  </a:tcPr>
                </a:tc>
                <a:tc>
                  <a:txBody>
                    <a:bodyPr/>
                    <a:lstStyle/>
                    <a:p>
                      <a:pPr algn="ctr"/>
                      <a:r>
                        <a:rPr sz="850" b="0" i="0">
                          <a:solidFill>
                            <a:srgbClr val="262626"/>
                          </a:solidFill>
                          <a:latin typeface="Arial"/>
                        </a:rPr>
                        <a:t>1,835</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7"/>
                  </a:ext>
                </a:extLst>
              </a:tr>
              <a:tr h="224028">
                <a:tc>
                  <a:txBody>
                    <a:bodyPr/>
                    <a:lstStyle/>
                    <a:p>
                      <a:pPr algn="ctr"/>
                      <a:r>
                        <a:rPr sz="850" b="1" i="0">
                          <a:solidFill>
                            <a:srgbClr val="262626"/>
                          </a:solidFill>
                          <a:latin typeface="Arial"/>
                        </a:rPr>
                        <a:t>75</a:t>
                      </a:r>
                    </a:p>
                  </a:txBody>
                  <a:tcPr>
                    <a:solidFill>
                      <a:srgbClr val="F2F2F2"/>
                    </a:solidFill>
                  </a:tcPr>
                </a:tc>
                <a:tc>
                  <a:txBody>
                    <a:bodyPr/>
                    <a:lstStyle/>
                    <a:p>
                      <a:pPr algn="l"/>
                      <a:r>
                        <a:rPr sz="850" b="0" i="0">
                          <a:solidFill>
                            <a:srgbClr val="262626"/>
                          </a:solidFill>
                          <a:latin typeface="Arial"/>
                        </a:rPr>
                        <a:t>Seth Rider</a:t>
                      </a:r>
                    </a:p>
                  </a:txBody>
                  <a:tcPr>
                    <a:solidFill>
                      <a:srgbClr val="F2F2F2"/>
                    </a:solidFill>
                  </a:tcPr>
                </a:tc>
                <a:tc>
                  <a:txBody>
                    <a:bodyPr/>
                    <a:lstStyle/>
                    <a:p>
                      <a:pPr algn="ctr"/>
                      <a:r>
                        <a:rPr sz="850" b="0" i="0">
                          <a:solidFill>
                            <a:srgbClr val="262626"/>
                          </a:solidFill>
                          <a:latin typeface="Arial"/>
                        </a:rPr>
                        <a:t>1,748</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5</a:t>
                      </a:r>
                    </a:p>
                  </a:txBody>
                  <a:tcPr>
                    <a:solidFill>
                      <a:srgbClr val="F2F2F2"/>
                    </a:solidFill>
                  </a:tcPr>
                </a:tc>
                <a:extLst>
                  <a:ext uri="{0D108BD9-81ED-4DB2-BD59-A6C34878D82A}">
                    <a16:rowId xmlns:a16="http://schemas.microsoft.com/office/drawing/2014/main" val="10008"/>
                  </a:ext>
                </a:extLst>
              </a:tr>
              <a:tr h="224028">
                <a:tc>
                  <a:txBody>
                    <a:bodyPr/>
                    <a:lstStyle/>
                    <a:p>
                      <a:pPr algn="ctr"/>
                      <a:r>
                        <a:rPr sz="850" b="1" i="0">
                          <a:solidFill>
                            <a:srgbClr val="262626"/>
                          </a:solidFill>
                          <a:latin typeface="Arial"/>
                        </a:rPr>
                        <a:t>83</a:t>
                      </a:r>
                    </a:p>
                  </a:txBody>
                  <a:tcPr>
                    <a:solidFill>
                      <a:srgbClr val="FFFFFF"/>
                    </a:solidFill>
                  </a:tcPr>
                </a:tc>
                <a:tc>
                  <a:txBody>
                    <a:bodyPr/>
                    <a:lstStyle/>
                    <a:p>
                      <a:pPr algn="l"/>
                      <a:r>
                        <a:rPr sz="850" b="0" i="0">
                          <a:solidFill>
                            <a:srgbClr val="262626"/>
                          </a:solidFill>
                          <a:latin typeface="Arial"/>
                        </a:rPr>
                        <a:t>Blake Bullard</a:t>
                      </a:r>
                    </a:p>
                  </a:txBody>
                  <a:tcPr>
                    <a:solidFill>
                      <a:srgbClr val="FFFFFF"/>
                    </a:solidFill>
                  </a:tcPr>
                </a:tc>
                <a:tc>
                  <a:txBody>
                    <a:bodyPr/>
                    <a:lstStyle/>
                    <a:p>
                      <a:pPr algn="ctr"/>
                      <a:r>
                        <a:rPr sz="850" b="0" i="0">
                          <a:solidFill>
                            <a:srgbClr val="262626"/>
                          </a:solidFill>
                          <a:latin typeface="Arial"/>
                        </a:rPr>
                        <a:t>1,696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9"/>
                  </a:ext>
                </a:extLst>
              </a:tr>
              <a:tr h="224028">
                <a:tc>
                  <a:txBody>
                    <a:bodyPr/>
                    <a:lstStyle/>
                    <a:p>
                      <a:pPr algn="ctr"/>
                      <a:r>
                        <a:rPr sz="850" b="1" i="0">
                          <a:solidFill>
                            <a:srgbClr val="262626"/>
                          </a:solidFill>
                          <a:latin typeface="Arial"/>
                        </a:rPr>
                        <a:t>100</a:t>
                      </a:r>
                    </a:p>
                  </a:txBody>
                  <a:tcPr>
                    <a:solidFill>
                      <a:srgbClr val="F2F2F2"/>
                    </a:solidFill>
                  </a:tcPr>
                </a:tc>
                <a:tc>
                  <a:txBody>
                    <a:bodyPr/>
                    <a:lstStyle/>
                    <a:p>
                      <a:pPr algn="l"/>
                      <a:r>
                        <a:rPr sz="850" b="0" i="0">
                          <a:solidFill>
                            <a:srgbClr val="262626"/>
                          </a:solidFill>
                          <a:latin typeface="Arial"/>
                        </a:rPr>
                        <a:t>Darr Smith</a:t>
                      </a:r>
                    </a:p>
                  </a:txBody>
                  <a:tcPr>
                    <a:solidFill>
                      <a:srgbClr val="F2F2F2"/>
                    </a:solidFill>
                  </a:tcPr>
                </a:tc>
                <a:tc>
                  <a:txBody>
                    <a:bodyPr/>
                    <a:lstStyle/>
                    <a:p>
                      <a:pPr algn="ctr"/>
                      <a:r>
                        <a:rPr sz="850" b="0" i="0">
                          <a:solidFill>
                            <a:srgbClr val="262626"/>
                          </a:solidFill>
                          <a:latin typeface="Arial"/>
                        </a:rPr>
                        <a:t>1,544</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10"/>
                  </a:ext>
                </a:extLst>
              </a:tr>
              <a:tr h="224028">
                <a:tc>
                  <a:txBody>
                    <a:bodyPr/>
                    <a:lstStyle/>
                    <a:p>
                      <a:pPr algn="ctr"/>
                      <a:r>
                        <a:rPr sz="850" b="1" i="0">
                          <a:solidFill>
                            <a:srgbClr val="262626"/>
                          </a:solidFill>
                          <a:latin typeface="Arial"/>
                        </a:rPr>
                        <a:t>117</a:t>
                      </a:r>
                    </a:p>
                  </a:txBody>
                  <a:tcPr>
                    <a:solidFill>
                      <a:srgbClr val="FFFFFF"/>
                    </a:solidFill>
                  </a:tcPr>
                </a:tc>
                <a:tc>
                  <a:txBody>
                    <a:bodyPr/>
                    <a:lstStyle/>
                    <a:p>
                      <a:pPr algn="l"/>
                      <a:r>
                        <a:rPr sz="850" b="0" i="0">
                          <a:solidFill>
                            <a:srgbClr val="262626"/>
                          </a:solidFill>
                          <a:latin typeface="Arial"/>
                        </a:rPr>
                        <a:t>Porter Middaugh</a:t>
                      </a:r>
                    </a:p>
                  </a:txBody>
                  <a:tcPr>
                    <a:solidFill>
                      <a:srgbClr val="FFFFFF"/>
                    </a:solidFill>
                  </a:tcPr>
                </a:tc>
                <a:tc>
                  <a:txBody>
                    <a:bodyPr/>
                    <a:lstStyle/>
                    <a:p>
                      <a:pPr algn="ctr"/>
                      <a:r>
                        <a:rPr sz="850" b="0" i="0">
                          <a:solidFill>
                            <a:srgbClr val="262626"/>
                          </a:solidFill>
                          <a:latin typeface="Arial"/>
                        </a:rPr>
                        <a:t>1,335</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4</a:t>
                      </a:r>
                    </a:p>
                  </a:txBody>
                  <a:tcPr>
                    <a:solidFill>
                      <a:srgbClr val="FFFFFF"/>
                    </a:solidFill>
                  </a:tcPr>
                </a:tc>
                <a:extLst>
                  <a:ext uri="{0D108BD9-81ED-4DB2-BD59-A6C34878D82A}">
                    <a16:rowId xmlns:a16="http://schemas.microsoft.com/office/drawing/2014/main" val="10011"/>
                  </a:ext>
                </a:extLst>
              </a:tr>
              <a:tr h="224028">
                <a:tc>
                  <a:txBody>
                    <a:bodyPr/>
                    <a:lstStyle/>
                    <a:p>
                      <a:pPr algn="ctr"/>
                      <a:r>
                        <a:rPr sz="850" b="1" i="0">
                          <a:solidFill>
                            <a:srgbClr val="262626"/>
                          </a:solidFill>
                          <a:latin typeface="Arial"/>
                        </a:rPr>
                        <a:t>119</a:t>
                      </a:r>
                    </a:p>
                  </a:txBody>
                  <a:tcPr>
                    <a:solidFill>
                      <a:srgbClr val="F2F2F2"/>
                    </a:solidFill>
                  </a:tcPr>
                </a:tc>
                <a:tc>
                  <a:txBody>
                    <a:bodyPr/>
                    <a:lstStyle/>
                    <a:p>
                      <a:pPr algn="l"/>
                      <a:r>
                        <a:rPr sz="850" b="0" i="0">
                          <a:solidFill>
                            <a:srgbClr val="262626"/>
                          </a:solidFill>
                          <a:latin typeface="Arial"/>
                        </a:rPr>
                        <a:t>Zach Leachman</a:t>
                      </a:r>
                    </a:p>
                  </a:txBody>
                  <a:tcPr>
                    <a:solidFill>
                      <a:srgbClr val="F2F2F2"/>
                    </a:solidFill>
                  </a:tcPr>
                </a:tc>
                <a:tc>
                  <a:txBody>
                    <a:bodyPr/>
                    <a:lstStyle/>
                    <a:p>
                      <a:pPr algn="ctr"/>
                      <a:r>
                        <a:rPr sz="850" b="0" i="0">
                          <a:solidFill>
                            <a:srgbClr val="262626"/>
                          </a:solidFill>
                          <a:latin typeface="Arial"/>
                        </a:rPr>
                        <a:t>1,330</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12"/>
                  </a:ext>
                </a:extLst>
              </a:tr>
              <a:tr h="224028">
                <a:tc>
                  <a:txBody>
                    <a:bodyPr/>
                    <a:lstStyle/>
                    <a:p>
                      <a:pPr algn="ctr"/>
                      <a:r>
                        <a:rPr sz="850" b="1" i="0">
                          <a:solidFill>
                            <a:srgbClr val="262626"/>
                          </a:solidFill>
                          <a:latin typeface="Arial"/>
                        </a:rPr>
                        <a:t>166</a:t>
                      </a:r>
                    </a:p>
                  </a:txBody>
                  <a:tcPr>
                    <a:solidFill>
                      <a:srgbClr val="FFFFFF"/>
                    </a:solidFill>
                  </a:tcPr>
                </a:tc>
                <a:tc>
                  <a:txBody>
                    <a:bodyPr/>
                    <a:lstStyle/>
                    <a:p>
                      <a:pPr algn="l"/>
                      <a:r>
                        <a:rPr sz="850" b="0" i="0">
                          <a:solidFill>
                            <a:srgbClr val="262626"/>
                          </a:solidFill>
                          <a:latin typeface="Arial"/>
                        </a:rPr>
                        <a:t>Carter Stuhlmacher</a:t>
                      </a:r>
                    </a:p>
                  </a:txBody>
                  <a:tcPr>
                    <a:solidFill>
                      <a:srgbClr val="FFFFFF"/>
                    </a:solidFill>
                  </a:tcPr>
                </a:tc>
                <a:tc>
                  <a:txBody>
                    <a:bodyPr/>
                    <a:lstStyle/>
                    <a:p>
                      <a:pPr algn="ctr"/>
                      <a:r>
                        <a:rPr sz="850" b="0" i="0">
                          <a:solidFill>
                            <a:srgbClr val="262626"/>
                          </a:solidFill>
                          <a:latin typeface="Arial"/>
                        </a:rPr>
                        <a:t>1,044</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3</a:t>
                      </a:r>
                    </a:p>
                  </a:txBody>
                  <a:tcPr>
                    <a:solidFill>
                      <a:srgbClr val="FFFFFF"/>
                    </a:solidFill>
                  </a:tcPr>
                </a:tc>
                <a:extLst>
                  <a:ext uri="{0D108BD9-81ED-4DB2-BD59-A6C34878D82A}">
                    <a16:rowId xmlns:a16="http://schemas.microsoft.com/office/drawing/2014/main" val="10013"/>
                  </a:ext>
                </a:extLst>
              </a:tr>
              <a:tr h="224028">
                <a:tc>
                  <a:txBody>
                    <a:bodyPr/>
                    <a:lstStyle/>
                    <a:p>
                      <a:pPr algn="ctr"/>
                      <a:r>
                        <a:rPr sz="850" b="1" i="0">
                          <a:solidFill>
                            <a:srgbClr val="262626"/>
                          </a:solidFill>
                          <a:latin typeface="Arial"/>
                        </a:rPr>
                        <a:t>309</a:t>
                      </a:r>
                    </a:p>
                  </a:txBody>
                  <a:tcPr>
                    <a:solidFill>
                      <a:srgbClr val="F2F2F2"/>
                    </a:solidFill>
                  </a:tcPr>
                </a:tc>
                <a:tc>
                  <a:txBody>
                    <a:bodyPr/>
                    <a:lstStyle/>
                    <a:p>
                      <a:pPr algn="l"/>
                      <a:r>
                        <a:rPr sz="850" b="0" i="0">
                          <a:solidFill>
                            <a:srgbClr val="262626"/>
                          </a:solidFill>
                          <a:latin typeface="Arial"/>
                        </a:rPr>
                        <a:t>Luke Anthony</a:t>
                      </a:r>
                    </a:p>
                  </a:txBody>
                  <a:tcPr>
                    <a:solidFill>
                      <a:srgbClr val="F2F2F2"/>
                    </a:solidFill>
                  </a:tcPr>
                </a:tc>
                <a:tc>
                  <a:txBody>
                    <a:bodyPr/>
                    <a:lstStyle/>
                    <a:p>
                      <a:pPr algn="ctr"/>
                      <a:r>
                        <a:rPr sz="850" b="0" i="0">
                          <a:solidFill>
                            <a:srgbClr val="262626"/>
                          </a:solidFill>
                          <a:latin typeface="Arial"/>
                        </a:rPr>
                        <a:t>520</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14"/>
                  </a:ext>
                </a:extLst>
              </a:tr>
              <a:tr h="224028">
                <a:tc>
                  <a:txBody>
                    <a:bodyPr/>
                    <a:lstStyle/>
                    <a:p>
                      <a:pPr algn="ctr"/>
                      <a:r>
                        <a:rPr sz="850" b="1" i="0">
                          <a:solidFill>
                            <a:srgbClr val="262626"/>
                          </a:solidFill>
                          <a:latin typeface="Arial"/>
                        </a:rPr>
                        <a:t>333</a:t>
                      </a:r>
                    </a:p>
                  </a:txBody>
                  <a:tcPr>
                    <a:solidFill>
                      <a:srgbClr val="FFFFFF"/>
                    </a:solidFill>
                  </a:tcPr>
                </a:tc>
                <a:tc>
                  <a:txBody>
                    <a:bodyPr/>
                    <a:lstStyle/>
                    <a:p>
                      <a:pPr algn="l"/>
                      <a:r>
                        <a:rPr sz="850" b="0" i="0">
                          <a:solidFill>
                            <a:srgbClr val="262626"/>
                          </a:solidFill>
                          <a:latin typeface="Arial"/>
                        </a:rPr>
                        <a:t>Matthew McGoey</a:t>
                      </a:r>
                    </a:p>
                  </a:txBody>
                  <a:tcPr>
                    <a:solidFill>
                      <a:srgbClr val="FFFFFF"/>
                    </a:solidFill>
                  </a:tcPr>
                </a:tc>
                <a:tc>
                  <a:txBody>
                    <a:bodyPr/>
                    <a:lstStyle/>
                    <a:p>
                      <a:pPr algn="ctr"/>
                      <a:r>
                        <a:rPr sz="850" b="0" i="0">
                          <a:solidFill>
                            <a:srgbClr val="262626"/>
                          </a:solidFill>
                          <a:latin typeface="Arial"/>
                        </a:rPr>
                        <a:t>466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5</a:t>
                      </a:r>
                    </a:p>
                  </a:txBody>
                  <a:tcPr>
                    <a:solidFill>
                      <a:srgbClr val="FFFFFF"/>
                    </a:solidFill>
                  </a:tcPr>
                </a:tc>
                <a:extLst>
                  <a:ext uri="{0D108BD9-81ED-4DB2-BD59-A6C34878D82A}">
                    <a16:rowId xmlns:a16="http://schemas.microsoft.com/office/drawing/2014/main" val="10015"/>
                  </a:ext>
                </a:extLst>
              </a:tr>
            </a:tbl>
          </a:graphicData>
        </a:graphic>
      </p:graphicFrame>
      <p:sp>
        <p:nvSpPr>
          <p:cNvPr id="33" name="Rectangle 32"/>
          <p:cNvSpPr/>
          <p:nvPr/>
        </p:nvSpPr>
        <p:spPr>
          <a:xfrm>
            <a:off x="6126480" y="26060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26480" y="2633472"/>
            <a:ext cx="5788152" cy="237744"/>
          </a:xfrm>
          <a:prstGeom prst="rect">
            <a:avLst/>
          </a:prstGeom>
          <a:noFill/>
        </p:spPr>
        <p:txBody>
          <a:bodyPr wrap="square">
            <a:spAutoFit/>
          </a:bodyPr>
          <a:lstStyle/>
          <a:p>
            <a:pPr algn="ctr"/>
            <a:r>
              <a:rPr sz="1100" b="1" i="0">
                <a:solidFill>
                  <a:srgbClr val="FFFFFF"/>
                </a:solidFill>
                <a:latin typeface="Arial"/>
              </a:rPr>
              <a:t>ELITE WOMEN</a:t>
            </a:r>
          </a:p>
        </p:txBody>
      </p:sp>
      <p:graphicFrame>
        <p:nvGraphicFramePr>
          <p:cNvPr id="35" name="Table 34"/>
          <p:cNvGraphicFramePr>
            <a:graphicFrameLocks noGrp="1"/>
          </p:cNvGraphicFramePr>
          <p:nvPr/>
        </p:nvGraphicFramePr>
        <p:xfrm>
          <a:off x="6126480" y="2935224"/>
          <a:ext cx="5787236" cy="3589020"/>
        </p:xfrm>
        <a:graphic>
          <a:graphicData uri="http://schemas.openxmlformats.org/drawingml/2006/table">
            <a:tbl>
              <a:tblPr firstRow="1" bandRow="1">
                <a:tableStyleId>{5C22544A-7EE6-4342-B048-85BDC9FD1C3A}</a:tableStyleId>
              </a:tblPr>
              <a:tblGrid>
                <a:gridCol w="783640">
                  <a:extLst>
                    <a:ext uri="{9D8B030D-6E8A-4147-A177-3AD203B41FA5}">
                      <a16:colId xmlns:a16="http://schemas.microsoft.com/office/drawing/2014/main" val="20000"/>
                    </a:ext>
                  </a:extLst>
                </a:gridCol>
                <a:gridCol w="2531973">
                  <a:extLst>
                    <a:ext uri="{9D8B030D-6E8A-4147-A177-3AD203B41FA5}">
                      <a16:colId xmlns:a16="http://schemas.microsoft.com/office/drawing/2014/main" val="20001"/>
                    </a:ext>
                  </a:extLst>
                </a:gridCol>
                <a:gridCol w="1145743">
                  <a:extLst>
                    <a:ext uri="{9D8B030D-6E8A-4147-A177-3AD203B41FA5}">
                      <a16:colId xmlns:a16="http://schemas.microsoft.com/office/drawing/2014/main" val="20002"/>
                    </a:ext>
                  </a:extLst>
                </a:gridCol>
                <a:gridCol w="662940">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tblGrid>
              <a:tr h="224028">
                <a:tc>
                  <a:txBody>
                    <a:bodyPr/>
                    <a:lstStyle/>
                    <a:p>
                      <a:pPr algn="ctr"/>
                      <a:r>
                        <a:rPr sz="900" b="1" i="0">
                          <a:solidFill>
                            <a:srgbClr val="FFFFFF"/>
                          </a:solidFill>
                          <a:latin typeface="Arial"/>
                        </a:rPr>
                        <a:t>Rank</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Points</a:t>
                      </a:r>
                    </a:p>
                  </a:txBody>
                  <a:tcPr>
                    <a:solidFill>
                      <a:srgbClr val="002060"/>
                    </a:solidFill>
                  </a:tcPr>
                </a:tc>
                <a:tc>
                  <a:txBody>
                    <a:bodyPr/>
                    <a:lstStyle/>
                    <a:p>
                      <a:pPr algn="ctr"/>
                      <a:r>
                        <a:rPr sz="900" b="1" i="0">
                          <a:solidFill>
                            <a:srgbClr val="FFFFFF"/>
                          </a:solidFill>
                          <a:latin typeface="Arial"/>
                        </a:rPr>
                        <a:t>Curr</a:t>
                      </a:r>
                    </a:p>
                  </a:txBody>
                  <a:tcPr>
                    <a:solidFill>
                      <a:srgbClr val="002060"/>
                    </a:solidFill>
                  </a:tcPr>
                </a:tc>
                <a:tc>
                  <a:txBody>
                    <a:bodyPr/>
                    <a:lstStyle/>
                    <a:p>
                      <a:pPr algn="ctr"/>
                      <a:r>
                        <a:rPr sz="900" b="1" i="0">
                          <a:solidFill>
                            <a:srgbClr val="FFFFFF"/>
                          </a:solidFill>
                          <a:latin typeface="Arial"/>
                        </a:rPr>
                        <a:t>Prev</a:t>
                      </a:r>
                    </a:p>
                  </a:txBody>
                  <a:tcPr>
                    <a:solidFill>
                      <a:srgbClr val="002060"/>
                    </a:solidFill>
                  </a:tcPr>
                </a:tc>
                <a:extLst>
                  <a:ext uri="{0D108BD9-81ED-4DB2-BD59-A6C34878D82A}">
                    <a16:rowId xmlns:a16="http://schemas.microsoft.com/office/drawing/2014/main" val="10000"/>
                  </a:ext>
                </a:extLst>
              </a:tr>
              <a:tr h="224028">
                <a:tc>
                  <a:txBody>
                    <a:bodyPr/>
                    <a:lstStyle/>
                    <a:p>
                      <a:pPr algn="ctr"/>
                      <a:r>
                        <a:rPr sz="850" b="1" i="0">
                          <a:solidFill>
                            <a:srgbClr val="262626"/>
                          </a:solidFill>
                          <a:latin typeface="Arial"/>
                        </a:rPr>
                        <a:t>7</a:t>
                      </a:r>
                    </a:p>
                  </a:txBody>
                  <a:tcPr>
                    <a:solidFill>
                      <a:srgbClr val="FFFFFF"/>
                    </a:solidFill>
                  </a:tcPr>
                </a:tc>
                <a:tc>
                  <a:txBody>
                    <a:bodyPr/>
                    <a:lstStyle/>
                    <a:p>
                      <a:pPr algn="l"/>
                      <a:r>
                        <a:rPr sz="850" b="0" i="0">
                          <a:solidFill>
                            <a:srgbClr val="262626"/>
                          </a:solidFill>
                          <a:latin typeface="Arial"/>
                        </a:rPr>
                        <a:t>Taylor Spivey</a:t>
                      </a:r>
                    </a:p>
                  </a:txBody>
                  <a:tcPr>
                    <a:solidFill>
                      <a:srgbClr val="FFFFFF"/>
                    </a:solidFill>
                  </a:tcPr>
                </a:tc>
                <a:tc>
                  <a:txBody>
                    <a:bodyPr/>
                    <a:lstStyle/>
                    <a:p>
                      <a:pPr algn="ctr"/>
                      <a:r>
                        <a:rPr sz="850" b="0" i="0">
                          <a:solidFill>
                            <a:srgbClr val="262626"/>
                          </a:solidFill>
                          <a:latin typeface="Arial"/>
                        </a:rPr>
                        <a:t>4,879</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3</a:t>
                      </a:r>
                    </a:p>
                  </a:txBody>
                  <a:tcPr>
                    <a:solidFill>
                      <a:srgbClr val="FFFFFF"/>
                    </a:solidFill>
                  </a:tcPr>
                </a:tc>
                <a:extLst>
                  <a:ext uri="{0D108BD9-81ED-4DB2-BD59-A6C34878D82A}">
                    <a16:rowId xmlns:a16="http://schemas.microsoft.com/office/drawing/2014/main" val="10001"/>
                  </a:ext>
                </a:extLst>
              </a:tr>
              <a:tr h="224028">
                <a:tc>
                  <a:txBody>
                    <a:bodyPr/>
                    <a:lstStyle/>
                    <a:p>
                      <a:pPr algn="ctr"/>
                      <a:r>
                        <a:rPr sz="850" b="1" i="0">
                          <a:solidFill>
                            <a:srgbClr val="262626"/>
                          </a:solidFill>
                          <a:latin typeface="Arial"/>
                        </a:rPr>
                        <a:t>26</a:t>
                      </a:r>
                    </a:p>
                  </a:txBody>
                  <a:tcPr>
                    <a:solidFill>
                      <a:srgbClr val="F2F2F2"/>
                    </a:solidFill>
                  </a:tcPr>
                </a:tc>
                <a:tc>
                  <a:txBody>
                    <a:bodyPr/>
                    <a:lstStyle/>
                    <a:p>
                      <a:pPr algn="l"/>
                      <a:r>
                        <a:rPr sz="850" b="0" i="0">
                          <a:solidFill>
                            <a:srgbClr val="262626"/>
                          </a:solidFill>
                          <a:latin typeface="Arial"/>
                        </a:rPr>
                        <a:t>Gwen Jorgensen</a:t>
                      </a:r>
                    </a:p>
                  </a:txBody>
                  <a:tcPr>
                    <a:solidFill>
                      <a:srgbClr val="F2F2F2"/>
                    </a:solidFill>
                  </a:tcPr>
                </a:tc>
                <a:tc>
                  <a:txBody>
                    <a:bodyPr/>
                    <a:lstStyle/>
                    <a:p>
                      <a:pPr algn="ctr"/>
                      <a:r>
                        <a:rPr sz="850" b="0" i="0">
                          <a:solidFill>
                            <a:srgbClr val="262626"/>
                          </a:solidFill>
                          <a:latin typeface="Arial"/>
                        </a:rPr>
                        <a:t>2,674</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2"/>
                  </a:ext>
                </a:extLst>
              </a:tr>
              <a:tr h="224028">
                <a:tc>
                  <a:txBody>
                    <a:bodyPr/>
                    <a:lstStyle/>
                    <a:p>
                      <a:pPr algn="ctr"/>
                      <a:r>
                        <a:rPr sz="850" b="1" i="0">
                          <a:solidFill>
                            <a:srgbClr val="262626"/>
                          </a:solidFill>
                          <a:latin typeface="Arial"/>
                        </a:rPr>
                        <a:t>28</a:t>
                      </a:r>
                    </a:p>
                  </a:txBody>
                  <a:tcPr>
                    <a:solidFill>
                      <a:srgbClr val="FFFFFF"/>
                    </a:solidFill>
                  </a:tcPr>
                </a:tc>
                <a:tc>
                  <a:txBody>
                    <a:bodyPr/>
                    <a:lstStyle/>
                    <a:p>
                      <a:pPr algn="l"/>
                      <a:r>
                        <a:rPr sz="850" b="0" i="0">
                          <a:solidFill>
                            <a:srgbClr val="262626"/>
                          </a:solidFill>
                          <a:latin typeface="Arial"/>
                        </a:rPr>
                        <a:t>Gina Sereno</a:t>
                      </a:r>
                    </a:p>
                  </a:txBody>
                  <a:tcPr>
                    <a:solidFill>
                      <a:srgbClr val="FFFFFF"/>
                    </a:solidFill>
                  </a:tcPr>
                </a:tc>
                <a:tc>
                  <a:txBody>
                    <a:bodyPr/>
                    <a:lstStyle/>
                    <a:p>
                      <a:pPr algn="ctr"/>
                      <a:r>
                        <a:rPr sz="850" b="0" i="0">
                          <a:solidFill>
                            <a:srgbClr val="262626"/>
                          </a:solidFill>
                          <a:latin typeface="Arial"/>
                        </a:rPr>
                        <a:t>2,667</a:t>
                      </a:r>
                    </a:p>
                  </a:txBody>
                  <a:tcPr>
                    <a:solidFill>
                      <a:srgbClr val="FFFFFF"/>
                    </a:solidFill>
                  </a:tcPr>
                </a:tc>
                <a:tc>
                  <a:txBody>
                    <a:bodyPr/>
                    <a:lstStyle/>
                    <a:p>
                      <a:pPr algn="ctr"/>
                      <a:r>
                        <a:rPr sz="850" b="0" i="0">
                          <a:solidFill>
                            <a:srgbClr val="262626"/>
                          </a:solidFill>
                          <a:latin typeface="Arial"/>
                        </a:rPr>
                        <a:t>5</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3"/>
                  </a:ext>
                </a:extLst>
              </a:tr>
              <a:tr h="224028">
                <a:tc>
                  <a:txBody>
                    <a:bodyPr/>
                    <a:lstStyle/>
                    <a:p>
                      <a:pPr algn="ctr"/>
                      <a:r>
                        <a:rPr sz="850" b="1" i="0">
                          <a:solidFill>
                            <a:srgbClr val="262626"/>
                          </a:solidFill>
                          <a:latin typeface="Arial"/>
                        </a:rPr>
                        <a:t>35</a:t>
                      </a:r>
                    </a:p>
                  </a:txBody>
                  <a:tcPr>
                    <a:solidFill>
                      <a:srgbClr val="F2F2F2"/>
                    </a:solidFill>
                  </a:tcPr>
                </a:tc>
                <a:tc>
                  <a:txBody>
                    <a:bodyPr/>
                    <a:lstStyle/>
                    <a:p>
                      <a:pPr algn="l"/>
                      <a:r>
                        <a:rPr sz="850" b="0" i="0">
                          <a:solidFill>
                            <a:srgbClr val="262626"/>
                          </a:solidFill>
                          <a:latin typeface="Arial"/>
                        </a:rPr>
                        <a:t>Danielle Orie</a:t>
                      </a:r>
                    </a:p>
                  </a:txBody>
                  <a:tcPr>
                    <a:solidFill>
                      <a:srgbClr val="F2F2F2"/>
                    </a:solidFill>
                  </a:tcPr>
                </a:tc>
                <a:tc>
                  <a:txBody>
                    <a:bodyPr/>
                    <a:lstStyle/>
                    <a:p>
                      <a:pPr algn="ctr"/>
                      <a:r>
                        <a:rPr sz="850" b="0" i="0">
                          <a:solidFill>
                            <a:srgbClr val="262626"/>
                          </a:solidFill>
                          <a:latin typeface="Arial"/>
                        </a:rPr>
                        <a:t>2,432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4"/>
                  </a:ext>
                </a:extLst>
              </a:tr>
              <a:tr h="224028">
                <a:tc>
                  <a:txBody>
                    <a:bodyPr/>
                    <a:lstStyle/>
                    <a:p>
                      <a:pPr algn="ctr"/>
                      <a:r>
                        <a:rPr sz="850" b="1" i="0">
                          <a:solidFill>
                            <a:srgbClr val="262626"/>
                          </a:solidFill>
                          <a:latin typeface="Arial"/>
                        </a:rPr>
                        <a:t>47</a:t>
                      </a:r>
                    </a:p>
                  </a:txBody>
                  <a:tcPr>
                    <a:solidFill>
                      <a:srgbClr val="FFFFFF"/>
                    </a:solidFill>
                  </a:tcPr>
                </a:tc>
                <a:tc>
                  <a:txBody>
                    <a:bodyPr/>
                    <a:lstStyle/>
                    <a:p>
                      <a:pPr algn="l"/>
                      <a:r>
                        <a:rPr sz="850" b="0" i="0">
                          <a:solidFill>
                            <a:srgbClr val="262626"/>
                          </a:solidFill>
                          <a:latin typeface="Arial"/>
                        </a:rPr>
                        <a:t>Erika Ackerlund</a:t>
                      </a:r>
                    </a:p>
                  </a:txBody>
                  <a:tcPr>
                    <a:solidFill>
                      <a:srgbClr val="FFFFFF"/>
                    </a:solidFill>
                  </a:tcPr>
                </a:tc>
                <a:tc>
                  <a:txBody>
                    <a:bodyPr/>
                    <a:lstStyle/>
                    <a:p>
                      <a:pPr algn="ctr"/>
                      <a:r>
                        <a:rPr sz="850" b="0" i="0">
                          <a:solidFill>
                            <a:srgbClr val="262626"/>
                          </a:solidFill>
                          <a:latin typeface="Arial"/>
                        </a:rPr>
                        <a:t>2,055</a:t>
                      </a:r>
                    </a:p>
                  </a:txBody>
                  <a:tcPr>
                    <a:solidFill>
                      <a:srgbClr val="FFFFFF"/>
                    </a:solidFill>
                  </a:tcPr>
                </a:tc>
                <a:tc>
                  <a:txBody>
                    <a:bodyPr/>
                    <a:lstStyle/>
                    <a:p>
                      <a:pPr algn="ctr"/>
                      <a:r>
                        <a:rPr sz="850" b="0" i="0">
                          <a:solidFill>
                            <a:srgbClr val="262626"/>
                          </a:solidFill>
                          <a:latin typeface="Arial"/>
                        </a:rPr>
                        <a:t>5</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5"/>
                  </a:ext>
                </a:extLst>
              </a:tr>
              <a:tr h="224028">
                <a:tc>
                  <a:txBody>
                    <a:bodyPr/>
                    <a:lstStyle/>
                    <a:p>
                      <a:pPr algn="ctr"/>
                      <a:r>
                        <a:rPr sz="850" b="1" i="0">
                          <a:solidFill>
                            <a:srgbClr val="262626"/>
                          </a:solidFill>
                          <a:latin typeface="Arial"/>
                        </a:rPr>
                        <a:t>53</a:t>
                      </a:r>
                    </a:p>
                  </a:txBody>
                  <a:tcPr>
                    <a:solidFill>
                      <a:srgbClr val="F2F2F2"/>
                    </a:solidFill>
                  </a:tcPr>
                </a:tc>
                <a:tc>
                  <a:txBody>
                    <a:bodyPr/>
                    <a:lstStyle/>
                    <a:p>
                      <a:pPr algn="l"/>
                      <a:r>
                        <a:rPr sz="850" b="0" i="0">
                          <a:solidFill>
                            <a:srgbClr val="262626"/>
                          </a:solidFill>
                          <a:latin typeface="Arial"/>
                        </a:rPr>
                        <a:t>Naomi Ruff</a:t>
                      </a:r>
                    </a:p>
                  </a:txBody>
                  <a:tcPr>
                    <a:solidFill>
                      <a:srgbClr val="F2F2F2"/>
                    </a:solidFill>
                  </a:tcPr>
                </a:tc>
                <a:tc>
                  <a:txBody>
                    <a:bodyPr/>
                    <a:lstStyle/>
                    <a:p>
                      <a:pPr algn="ctr"/>
                      <a:r>
                        <a:rPr sz="850" b="0" i="0">
                          <a:solidFill>
                            <a:srgbClr val="262626"/>
                          </a:solidFill>
                          <a:latin typeface="Arial"/>
                        </a:rPr>
                        <a:t>1,988</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6"/>
                  </a:ext>
                </a:extLst>
              </a:tr>
              <a:tr h="224028">
                <a:tc>
                  <a:txBody>
                    <a:bodyPr/>
                    <a:lstStyle/>
                    <a:p>
                      <a:pPr algn="ctr"/>
                      <a:r>
                        <a:rPr sz="850" b="1" i="0">
                          <a:solidFill>
                            <a:srgbClr val="262626"/>
                          </a:solidFill>
                          <a:latin typeface="Arial"/>
                        </a:rPr>
                        <a:t>58</a:t>
                      </a:r>
                    </a:p>
                  </a:txBody>
                  <a:tcPr>
                    <a:solidFill>
                      <a:srgbClr val="FFFFFF"/>
                    </a:solidFill>
                  </a:tcPr>
                </a:tc>
                <a:tc>
                  <a:txBody>
                    <a:bodyPr/>
                    <a:lstStyle/>
                    <a:p>
                      <a:pPr algn="l"/>
                      <a:r>
                        <a:rPr sz="850" b="0" i="0">
                          <a:solidFill>
                            <a:srgbClr val="262626"/>
                          </a:solidFill>
                          <a:latin typeface="Arial"/>
                        </a:rPr>
                        <a:t>Kelly Wetteland</a:t>
                      </a:r>
                    </a:p>
                  </a:txBody>
                  <a:tcPr>
                    <a:solidFill>
                      <a:srgbClr val="FFFFFF"/>
                    </a:solidFill>
                  </a:tcPr>
                </a:tc>
                <a:tc>
                  <a:txBody>
                    <a:bodyPr/>
                    <a:lstStyle/>
                    <a:p>
                      <a:pPr algn="ctr"/>
                      <a:r>
                        <a:rPr sz="850" b="0" i="0">
                          <a:solidFill>
                            <a:srgbClr val="262626"/>
                          </a:solidFill>
                          <a:latin typeface="Arial"/>
                        </a:rPr>
                        <a:t>1,858</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4</a:t>
                      </a:r>
                    </a:p>
                  </a:txBody>
                  <a:tcPr>
                    <a:solidFill>
                      <a:srgbClr val="FFFFFF"/>
                    </a:solidFill>
                  </a:tcPr>
                </a:tc>
                <a:extLst>
                  <a:ext uri="{0D108BD9-81ED-4DB2-BD59-A6C34878D82A}">
                    <a16:rowId xmlns:a16="http://schemas.microsoft.com/office/drawing/2014/main" val="10007"/>
                  </a:ext>
                </a:extLst>
              </a:tr>
              <a:tr h="224028">
                <a:tc>
                  <a:txBody>
                    <a:bodyPr/>
                    <a:lstStyle/>
                    <a:p>
                      <a:pPr algn="ctr"/>
                      <a:r>
                        <a:rPr sz="850" b="1" i="0">
                          <a:solidFill>
                            <a:srgbClr val="262626"/>
                          </a:solidFill>
                          <a:latin typeface="Arial"/>
                        </a:rPr>
                        <a:t>84</a:t>
                      </a:r>
                    </a:p>
                  </a:txBody>
                  <a:tcPr>
                    <a:solidFill>
                      <a:srgbClr val="F2F2F2"/>
                    </a:solidFill>
                  </a:tcPr>
                </a:tc>
                <a:tc>
                  <a:txBody>
                    <a:bodyPr/>
                    <a:lstStyle/>
                    <a:p>
                      <a:pPr algn="l"/>
                      <a:r>
                        <a:rPr sz="850" b="0" i="0">
                          <a:solidFill>
                            <a:srgbClr val="262626"/>
                          </a:solidFill>
                          <a:latin typeface="Arial"/>
                        </a:rPr>
                        <a:t>Kirsten Kasper</a:t>
                      </a:r>
                    </a:p>
                  </a:txBody>
                  <a:tcPr>
                    <a:solidFill>
                      <a:srgbClr val="F2F2F2"/>
                    </a:solidFill>
                  </a:tcPr>
                </a:tc>
                <a:tc>
                  <a:txBody>
                    <a:bodyPr/>
                    <a:lstStyle/>
                    <a:p>
                      <a:pPr algn="ctr"/>
                      <a:r>
                        <a:rPr sz="850" b="0" i="0">
                          <a:solidFill>
                            <a:srgbClr val="262626"/>
                          </a:solidFill>
                          <a:latin typeface="Arial"/>
                        </a:rPr>
                        <a:t>1,551</a:t>
                      </a:r>
                    </a:p>
                  </a:txBody>
                  <a:tcPr>
                    <a:solidFill>
                      <a:srgbClr val="F2F2F2"/>
                    </a:solidFill>
                  </a:tcPr>
                </a:tc>
                <a:tc>
                  <a:txBody>
                    <a:bodyPr/>
                    <a:lstStyle/>
                    <a:p>
                      <a:pPr algn="ctr"/>
                      <a:r>
                        <a:rPr sz="850" b="0" i="0">
                          <a:solidFill>
                            <a:srgbClr val="262626"/>
                          </a:solidFill>
                          <a:latin typeface="Arial"/>
                        </a:rPr>
                        <a:t>5</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extLst>
                  <a:ext uri="{0D108BD9-81ED-4DB2-BD59-A6C34878D82A}">
                    <a16:rowId xmlns:a16="http://schemas.microsoft.com/office/drawing/2014/main" val="10008"/>
                  </a:ext>
                </a:extLst>
              </a:tr>
              <a:tr h="224028">
                <a:tc>
                  <a:txBody>
                    <a:bodyPr/>
                    <a:lstStyle/>
                    <a:p>
                      <a:pPr algn="ctr"/>
                      <a:r>
                        <a:rPr sz="850" b="1" i="0">
                          <a:solidFill>
                            <a:srgbClr val="262626"/>
                          </a:solidFill>
                          <a:latin typeface="Arial"/>
                        </a:rPr>
                        <a:t>85</a:t>
                      </a:r>
                    </a:p>
                  </a:txBody>
                  <a:tcPr>
                    <a:solidFill>
                      <a:srgbClr val="FFFFFF"/>
                    </a:solidFill>
                  </a:tcPr>
                </a:tc>
                <a:tc>
                  <a:txBody>
                    <a:bodyPr/>
                    <a:lstStyle/>
                    <a:p>
                      <a:pPr algn="l"/>
                      <a:r>
                        <a:rPr sz="850" b="0" i="0">
                          <a:solidFill>
                            <a:srgbClr val="262626"/>
                          </a:solidFill>
                          <a:latin typeface="Arial"/>
                        </a:rPr>
                        <a:t>Eleanor Beveridge</a:t>
                      </a:r>
                    </a:p>
                  </a:txBody>
                  <a:tcPr>
                    <a:solidFill>
                      <a:srgbClr val="FFFFFF"/>
                    </a:solidFill>
                  </a:tcPr>
                </a:tc>
                <a:tc>
                  <a:txBody>
                    <a:bodyPr/>
                    <a:lstStyle/>
                    <a:p>
                      <a:pPr algn="ctr"/>
                      <a:r>
                        <a:rPr sz="850" b="0" i="0">
                          <a:solidFill>
                            <a:srgbClr val="262626"/>
                          </a:solidFill>
                          <a:latin typeface="Arial"/>
                        </a:rPr>
                        <a:t>1,544</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9"/>
                  </a:ext>
                </a:extLst>
              </a:tr>
              <a:tr h="224028">
                <a:tc>
                  <a:txBody>
                    <a:bodyPr/>
                    <a:lstStyle/>
                    <a:p>
                      <a:pPr algn="ctr"/>
                      <a:r>
                        <a:rPr sz="850" b="1" i="0">
                          <a:solidFill>
                            <a:srgbClr val="262626"/>
                          </a:solidFill>
                          <a:latin typeface="Arial"/>
                        </a:rPr>
                        <a:t>94</a:t>
                      </a:r>
                    </a:p>
                  </a:txBody>
                  <a:tcPr>
                    <a:solidFill>
                      <a:srgbClr val="F2F2F2"/>
                    </a:solidFill>
                  </a:tcPr>
                </a:tc>
                <a:tc>
                  <a:txBody>
                    <a:bodyPr/>
                    <a:lstStyle/>
                    <a:p>
                      <a:pPr algn="l"/>
                      <a:r>
                        <a:rPr sz="850" b="0" i="0">
                          <a:solidFill>
                            <a:srgbClr val="262626"/>
                          </a:solidFill>
                          <a:latin typeface="Arial"/>
                        </a:rPr>
                        <a:t>Joy Gill</a:t>
                      </a:r>
                    </a:p>
                  </a:txBody>
                  <a:tcPr>
                    <a:solidFill>
                      <a:srgbClr val="F2F2F2"/>
                    </a:solidFill>
                  </a:tcPr>
                </a:tc>
                <a:tc>
                  <a:txBody>
                    <a:bodyPr/>
                    <a:lstStyle/>
                    <a:p>
                      <a:pPr algn="ctr"/>
                      <a:r>
                        <a:rPr sz="850" b="0" i="0">
                          <a:solidFill>
                            <a:srgbClr val="262626"/>
                          </a:solidFill>
                          <a:latin typeface="Arial"/>
                        </a:rPr>
                        <a:t>1,479</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3</a:t>
                      </a:r>
                    </a:p>
                  </a:txBody>
                  <a:tcPr>
                    <a:solidFill>
                      <a:srgbClr val="F2F2F2"/>
                    </a:solidFill>
                  </a:tcPr>
                </a:tc>
                <a:extLst>
                  <a:ext uri="{0D108BD9-81ED-4DB2-BD59-A6C34878D82A}">
                    <a16:rowId xmlns:a16="http://schemas.microsoft.com/office/drawing/2014/main" val="10010"/>
                  </a:ext>
                </a:extLst>
              </a:tr>
              <a:tr h="224028">
                <a:tc>
                  <a:txBody>
                    <a:bodyPr/>
                    <a:lstStyle/>
                    <a:p>
                      <a:pPr algn="ctr"/>
                      <a:r>
                        <a:rPr sz="850" b="1" i="0">
                          <a:solidFill>
                            <a:srgbClr val="262626"/>
                          </a:solidFill>
                          <a:latin typeface="Arial"/>
                        </a:rPr>
                        <a:t>102</a:t>
                      </a:r>
                    </a:p>
                  </a:txBody>
                  <a:tcPr>
                    <a:solidFill>
                      <a:srgbClr val="FFFFFF"/>
                    </a:solidFill>
                  </a:tcPr>
                </a:tc>
                <a:tc>
                  <a:txBody>
                    <a:bodyPr/>
                    <a:lstStyle/>
                    <a:p>
                      <a:pPr algn="l"/>
                      <a:r>
                        <a:rPr sz="850" b="0" i="0">
                          <a:solidFill>
                            <a:srgbClr val="262626"/>
                          </a:solidFill>
                          <a:latin typeface="Arial"/>
                        </a:rPr>
                        <a:t>Michelle Magnani</a:t>
                      </a:r>
                    </a:p>
                  </a:txBody>
                  <a:tcPr>
                    <a:solidFill>
                      <a:srgbClr val="FFFFFF"/>
                    </a:solidFill>
                  </a:tcPr>
                </a:tc>
                <a:tc>
                  <a:txBody>
                    <a:bodyPr/>
                    <a:lstStyle/>
                    <a:p>
                      <a:pPr algn="ctr"/>
                      <a:r>
                        <a:rPr sz="850" b="0" i="0">
                          <a:solidFill>
                            <a:srgbClr val="262626"/>
                          </a:solidFill>
                          <a:latin typeface="Arial"/>
                        </a:rPr>
                        <a:t>1,365</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11"/>
                  </a:ext>
                </a:extLst>
              </a:tr>
              <a:tr h="224028">
                <a:tc>
                  <a:txBody>
                    <a:bodyPr/>
                    <a:lstStyle/>
                    <a:p>
                      <a:pPr algn="ctr"/>
                      <a:r>
                        <a:rPr sz="850" b="1" i="0">
                          <a:solidFill>
                            <a:srgbClr val="262626"/>
                          </a:solidFill>
                          <a:latin typeface="Arial"/>
                        </a:rPr>
                        <a:t>115</a:t>
                      </a:r>
                    </a:p>
                  </a:txBody>
                  <a:tcPr>
                    <a:solidFill>
                      <a:srgbClr val="F2F2F2"/>
                    </a:solidFill>
                  </a:tcPr>
                </a:tc>
                <a:tc>
                  <a:txBody>
                    <a:bodyPr/>
                    <a:lstStyle/>
                    <a:p>
                      <a:pPr algn="l"/>
                      <a:r>
                        <a:rPr sz="850" b="0" i="0">
                          <a:solidFill>
                            <a:srgbClr val="262626"/>
                          </a:solidFill>
                          <a:latin typeface="Arial"/>
                        </a:rPr>
                        <a:t>Rachel Werking</a:t>
                      </a:r>
                    </a:p>
                  </a:txBody>
                  <a:tcPr>
                    <a:solidFill>
                      <a:srgbClr val="F2F2F2"/>
                    </a:solidFill>
                  </a:tcPr>
                </a:tc>
                <a:tc>
                  <a:txBody>
                    <a:bodyPr/>
                    <a:lstStyle/>
                    <a:p>
                      <a:pPr algn="ctr"/>
                      <a:r>
                        <a:rPr sz="850" b="0" i="0">
                          <a:solidFill>
                            <a:srgbClr val="262626"/>
                          </a:solidFill>
                          <a:latin typeface="Arial"/>
                        </a:rPr>
                        <a:t>1,253</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12"/>
                  </a:ext>
                </a:extLst>
              </a:tr>
              <a:tr h="224028">
                <a:tc>
                  <a:txBody>
                    <a:bodyPr/>
                    <a:lstStyle/>
                    <a:p>
                      <a:pPr algn="ctr"/>
                      <a:r>
                        <a:rPr sz="850" b="1" i="0">
                          <a:solidFill>
                            <a:srgbClr val="262626"/>
                          </a:solidFill>
                          <a:latin typeface="Arial"/>
                        </a:rPr>
                        <a:t>142</a:t>
                      </a:r>
                    </a:p>
                  </a:txBody>
                  <a:tcPr>
                    <a:solidFill>
                      <a:srgbClr val="FFFFFF"/>
                    </a:solidFill>
                  </a:tcPr>
                </a:tc>
                <a:tc>
                  <a:txBody>
                    <a:bodyPr/>
                    <a:lstStyle/>
                    <a:p>
                      <a:pPr algn="l"/>
                      <a:r>
                        <a:rPr sz="850" b="0" i="0">
                          <a:solidFill>
                            <a:srgbClr val="262626"/>
                          </a:solidFill>
                          <a:latin typeface="Arial"/>
                        </a:rPr>
                        <a:t>Ellison Wolfe</a:t>
                      </a:r>
                    </a:p>
                  </a:txBody>
                  <a:tcPr>
                    <a:solidFill>
                      <a:srgbClr val="FFFFFF"/>
                    </a:solidFill>
                  </a:tcPr>
                </a:tc>
                <a:tc>
                  <a:txBody>
                    <a:bodyPr/>
                    <a:lstStyle/>
                    <a:p>
                      <a:pPr algn="ctr"/>
                      <a:r>
                        <a:rPr sz="850" b="0" i="0">
                          <a:solidFill>
                            <a:srgbClr val="262626"/>
                          </a:solidFill>
                          <a:latin typeface="Arial"/>
                        </a:rPr>
                        <a:t>1,085</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13"/>
                  </a:ext>
                </a:extLst>
              </a:tr>
              <a:tr h="224028">
                <a:tc>
                  <a:txBody>
                    <a:bodyPr/>
                    <a:lstStyle/>
                    <a:p>
                      <a:pPr algn="ctr"/>
                      <a:r>
                        <a:rPr sz="850" b="1" i="0">
                          <a:solidFill>
                            <a:srgbClr val="262626"/>
                          </a:solidFill>
                          <a:latin typeface="Arial"/>
                        </a:rPr>
                        <a:t>151</a:t>
                      </a:r>
                    </a:p>
                  </a:txBody>
                  <a:tcPr>
                    <a:solidFill>
                      <a:srgbClr val="F2F2F2"/>
                    </a:solidFill>
                  </a:tcPr>
                </a:tc>
                <a:tc>
                  <a:txBody>
                    <a:bodyPr/>
                    <a:lstStyle/>
                    <a:p>
                      <a:pPr algn="l"/>
                      <a:r>
                        <a:rPr sz="850" b="0" i="0">
                          <a:solidFill>
                            <a:srgbClr val="262626"/>
                          </a:solidFill>
                          <a:latin typeface="Arial"/>
                        </a:rPr>
                        <a:t>Katie McCune</a:t>
                      </a:r>
                    </a:p>
                  </a:txBody>
                  <a:tcPr>
                    <a:solidFill>
                      <a:srgbClr val="F2F2F2"/>
                    </a:solidFill>
                  </a:tcPr>
                </a:tc>
                <a:tc>
                  <a:txBody>
                    <a:bodyPr/>
                    <a:lstStyle/>
                    <a:p>
                      <a:pPr algn="ctr"/>
                      <a:r>
                        <a:rPr sz="850" b="0" i="0">
                          <a:solidFill>
                            <a:srgbClr val="262626"/>
                          </a:solidFill>
                          <a:latin typeface="Arial"/>
                        </a:rPr>
                        <a:t>1,042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14"/>
                  </a:ext>
                </a:extLst>
              </a:tr>
              <a:tr h="224028">
                <a:tc>
                  <a:txBody>
                    <a:bodyPr/>
                    <a:lstStyle/>
                    <a:p>
                      <a:pPr algn="ctr"/>
                      <a:r>
                        <a:rPr sz="850" b="1" i="0">
                          <a:solidFill>
                            <a:srgbClr val="262626"/>
                          </a:solidFill>
                          <a:latin typeface="Arial"/>
                        </a:rPr>
                        <a:t>160</a:t>
                      </a:r>
                    </a:p>
                  </a:txBody>
                  <a:tcPr>
                    <a:solidFill>
                      <a:srgbClr val="FFFFFF"/>
                    </a:solidFill>
                  </a:tcPr>
                </a:tc>
                <a:tc>
                  <a:txBody>
                    <a:bodyPr/>
                    <a:lstStyle/>
                    <a:p>
                      <a:pPr algn="l"/>
                      <a:r>
                        <a:rPr sz="850" b="0" i="0">
                          <a:solidFill>
                            <a:srgbClr val="262626"/>
                          </a:solidFill>
                          <a:latin typeface="Arial"/>
                        </a:rPr>
                        <a:t>Taylor Knibb</a:t>
                      </a:r>
                    </a:p>
                  </a:txBody>
                  <a:tcPr>
                    <a:solidFill>
                      <a:srgbClr val="FFFFFF"/>
                    </a:solidFill>
                  </a:tcPr>
                </a:tc>
                <a:tc>
                  <a:txBody>
                    <a:bodyPr/>
                    <a:lstStyle/>
                    <a:p>
                      <a:pPr algn="ctr"/>
                      <a:r>
                        <a:rPr sz="850" b="0" i="0">
                          <a:solidFill>
                            <a:srgbClr val="262626"/>
                          </a:solidFill>
                          <a:latin typeface="Arial"/>
                        </a:rPr>
                        <a:t>1,003</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Olympic Qualification Pace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664768"/>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88720"/>
            <a:ext cx="11430000" cy="329184"/>
          </a:xfrm>
          <a:prstGeom prst="rect">
            <a:avLst/>
          </a:prstGeom>
          <a:noFill/>
        </p:spPr>
        <p:txBody>
          <a:bodyPr wrap="square">
            <a:spAutoFit/>
          </a:bodyPr>
          <a:lstStyle/>
          <a:p>
            <a:pPr algn="ctr"/>
            <a:r>
              <a:rPr sz="1500" b="1" i="0">
                <a:solidFill>
                  <a:srgbClr val="FFFFFF"/>
                </a:solidFill>
                <a:latin typeface="Arial"/>
              </a:rPr>
              <a:t>Paris 2024 OQR cutoff (30th): 3,626.69 pts   ÷   12-event cap =   302 pts / event on pace</a:t>
            </a:r>
          </a:p>
        </p:txBody>
      </p:sp>
      <p:sp>
        <p:nvSpPr>
          <p:cNvPr id="10" name="TextBox 9"/>
          <p:cNvSpPr txBox="1"/>
          <p:nvPr/>
        </p:nvSpPr>
        <p:spPr>
          <a:xfrm>
            <a:off x="365760" y="1458468"/>
            <a:ext cx="11430000" cy="329184"/>
          </a:xfrm>
          <a:prstGeom prst="rect">
            <a:avLst/>
          </a:prstGeom>
          <a:noFill/>
        </p:spPr>
        <p:txBody>
          <a:bodyPr wrap="square">
            <a:spAutoFit/>
          </a:bodyPr>
          <a:lstStyle/>
          <a:p>
            <a:pPr algn="ctr"/>
            <a:r>
              <a:rPr sz="1100" b="0" i="1">
                <a:solidFill>
                  <a:srgbClr val="AABBDD"/>
                </a:solidFill>
                <a:latin typeface="Arial"/>
              </a:rPr>
              <a:t>An athlete who averages ~302 pts per event across their best 12 events is on pace to clear the LA 2028 qualifying threshold.</a:t>
            </a:r>
          </a:p>
        </p:txBody>
      </p:sp>
      <p:sp>
        <p:nvSpPr>
          <p:cNvPr id="11" name="Rectangle 10"/>
          <p:cNvSpPr/>
          <p:nvPr/>
        </p:nvSpPr>
        <p:spPr>
          <a:xfrm>
            <a:off x="274320" y="1812340"/>
            <a:ext cx="11640312" cy="2926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839772"/>
            <a:ext cx="11430000" cy="237744"/>
          </a:xfrm>
          <a:prstGeom prst="rect">
            <a:avLst/>
          </a:prstGeom>
          <a:noFill/>
        </p:spPr>
        <p:txBody>
          <a:bodyPr wrap="square">
            <a:spAutoFit/>
          </a:bodyPr>
          <a:lstStyle/>
          <a:p>
            <a:pPr algn="ctr"/>
            <a:r>
              <a:rPr sz="1100" b="1" i="0">
                <a:solidFill>
                  <a:srgbClr val="FFFFFF"/>
                </a:solidFill>
                <a:latin typeface="Arial"/>
              </a:rPr>
              <a:t>FINISH POSITION AT EACH TIER THAT HITS 302-PT PACE</a:t>
            </a:r>
          </a:p>
        </p:txBody>
      </p:sp>
      <p:graphicFrame>
        <p:nvGraphicFramePr>
          <p:cNvPr id="13" name="Table 12"/>
          <p:cNvGraphicFramePr>
            <a:graphicFrameLocks noGrp="1"/>
          </p:cNvGraphicFramePr>
          <p:nvPr>
            <p:extLst>
              <p:ext uri="{D42A27DB-BD31-4B8C-83A1-F6EECF244321}">
                <p14:modId xmlns:p14="http://schemas.microsoft.com/office/powerpoint/2010/main" val="1552865755"/>
              </p:ext>
            </p:extLst>
          </p:nvPr>
        </p:nvGraphicFramePr>
        <p:xfrm>
          <a:off x="274320" y="2196388"/>
          <a:ext cx="11640309" cy="1098195"/>
        </p:xfrm>
        <a:graphic>
          <a:graphicData uri="http://schemas.openxmlformats.org/drawingml/2006/table">
            <a:tbl>
              <a:tblPr firstRow="1" bandRow="1">
                <a:tableStyleId>{5C22544A-7EE6-4342-B048-85BDC9FD1C3A}</a:tableStyleId>
              </a:tblPr>
              <a:tblGrid>
                <a:gridCol w="4399178">
                  <a:extLst>
                    <a:ext uri="{9D8B030D-6E8A-4147-A177-3AD203B41FA5}">
                      <a16:colId xmlns:a16="http://schemas.microsoft.com/office/drawing/2014/main" val="20000"/>
                    </a:ext>
                  </a:extLst>
                </a:gridCol>
                <a:gridCol w="1375257">
                  <a:extLst>
                    <a:ext uri="{9D8B030D-6E8A-4147-A177-3AD203B41FA5}">
                      <a16:colId xmlns:a16="http://schemas.microsoft.com/office/drawing/2014/main" val="20001"/>
                    </a:ext>
                  </a:extLst>
                </a:gridCol>
                <a:gridCol w="2200046">
                  <a:extLst>
                    <a:ext uri="{9D8B030D-6E8A-4147-A177-3AD203B41FA5}">
                      <a16:colId xmlns:a16="http://schemas.microsoft.com/office/drawing/2014/main" val="20002"/>
                    </a:ext>
                  </a:extLst>
                </a:gridCol>
                <a:gridCol w="2749600">
                  <a:extLst>
                    <a:ext uri="{9D8B030D-6E8A-4147-A177-3AD203B41FA5}">
                      <a16:colId xmlns:a16="http://schemas.microsoft.com/office/drawing/2014/main" val="20003"/>
                    </a:ext>
                  </a:extLst>
                </a:gridCol>
                <a:gridCol w="916228">
                  <a:extLst>
                    <a:ext uri="{9D8B030D-6E8A-4147-A177-3AD203B41FA5}">
                      <a16:colId xmlns:a16="http://schemas.microsoft.com/office/drawing/2014/main" val="20004"/>
                    </a:ext>
                  </a:extLst>
                </a:gridCol>
              </a:tblGrid>
              <a:tr h="366065">
                <a:tc>
                  <a:txBody>
                    <a:bodyPr/>
                    <a:lstStyle/>
                    <a:p>
                      <a:pPr algn="l"/>
                      <a:r>
                        <a:rPr sz="950" b="1" i="0">
                          <a:solidFill>
                            <a:srgbClr val="FFFFFF"/>
                          </a:solidFill>
                          <a:latin typeface="Arial"/>
                        </a:rPr>
                        <a:t>Tier</a:t>
                      </a:r>
                    </a:p>
                  </a:txBody>
                  <a:tcPr>
                    <a:solidFill>
                      <a:srgbClr val="002060"/>
                    </a:solidFill>
                  </a:tcPr>
                </a:tc>
                <a:tc>
                  <a:txBody>
                    <a:bodyPr/>
                    <a:lstStyle/>
                    <a:p>
                      <a:pPr algn="ctr"/>
                      <a:r>
                        <a:rPr sz="950" b="1" i="0">
                          <a:solidFill>
                            <a:srgbClr val="FFFFFF"/>
                          </a:solidFill>
                          <a:latin typeface="Arial"/>
                        </a:rPr>
                        <a:t>Win pts</a:t>
                      </a:r>
                    </a:p>
                  </a:txBody>
                  <a:tcPr>
                    <a:solidFill>
                      <a:srgbClr val="002060"/>
                    </a:solidFill>
                  </a:tcPr>
                </a:tc>
                <a:tc>
                  <a:txBody>
                    <a:bodyPr/>
                    <a:lstStyle/>
                    <a:p>
                      <a:pPr algn="ctr"/>
                      <a:r>
                        <a:rPr sz="950" b="1" i="0">
                          <a:solidFill>
                            <a:srgbClr val="FFFFFF"/>
                          </a:solidFill>
                          <a:latin typeface="Arial"/>
                        </a:rPr>
                        <a:t>Last on-pace pos</a:t>
                      </a:r>
                    </a:p>
                  </a:txBody>
                  <a:tcPr>
                    <a:solidFill>
                      <a:srgbClr val="002060"/>
                    </a:solidFill>
                  </a:tcPr>
                </a:tc>
                <a:tc>
                  <a:txBody>
                    <a:bodyPr/>
                    <a:lstStyle/>
                    <a:p>
                      <a:pPr algn="ctr"/>
                      <a:r>
                        <a:rPr sz="950" b="1" i="0">
                          <a:solidFill>
                            <a:srgbClr val="FFFFFF"/>
                          </a:solidFill>
                          <a:latin typeface="Arial"/>
                        </a:rPr>
                        <a:t>First off-pace pos (pts)</a:t>
                      </a:r>
                    </a:p>
                  </a:txBody>
                  <a:tcPr>
                    <a:solidFill>
                      <a:srgbClr val="002060"/>
                    </a:solidFill>
                  </a:tcPr>
                </a:tc>
                <a:tc>
                  <a:txBody>
                    <a:bodyPr/>
                    <a:lstStyle/>
                    <a:p>
                      <a:pPr algn="ctr"/>
                      <a:r>
                        <a:rPr sz="950" b="1" i="0">
                          <a:solidFill>
                            <a:srgbClr val="FFFFFF"/>
                          </a:solidFill>
                          <a:latin typeface="Arial"/>
                        </a:rPr>
                        <a:t>Verdict</a:t>
                      </a:r>
                    </a:p>
                  </a:txBody>
                  <a:tcPr>
                    <a:solidFill>
                      <a:srgbClr val="002060"/>
                    </a:solidFill>
                  </a:tcPr>
                </a:tc>
                <a:extLst>
                  <a:ext uri="{0D108BD9-81ED-4DB2-BD59-A6C34878D82A}">
                    <a16:rowId xmlns:a16="http://schemas.microsoft.com/office/drawing/2014/main" val="10000"/>
                  </a:ext>
                </a:extLst>
              </a:tr>
              <a:tr h="366065">
                <a:tc>
                  <a:txBody>
                    <a:bodyPr/>
                    <a:lstStyle/>
                    <a:p>
                      <a:pPr algn="l"/>
                      <a:r>
                        <a:rPr sz="950" b="0" i="0">
                          <a:solidFill>
                            <a:srgbClr val="262626"/>
                          </a:solidFill>
                          <a:latin typeface="Arial"/>
                        </a:rPr>
                        <a:t>World Championship Series</a:t>
                      </a:r>
                    </a:p>
                  </a:txBody>
                  <a:tcPr>
                    <a:solidFill>
                      <a:srgbClr val="FFFFFF"/>
                    </a:solidFill>
                  </a:tcPr>
                </a:tc>
                <a:tc>
                  <a:txBody>
                    <a:bodyPr/>
                    <a:lstStyle/>
                    <a:p>
                      <a:pPr algn="ctr"/>
                      <a:r>
                        <a:rPr sz="950" b="1" i="0">
                          <a:solidFill>
                            <a:srgbClr val="262626"/>
                          </a:solidFill>
                          <a:latin typeface="Arial"/>
                        </a:rPr>
                        <a:t>1000</a:t>
                      </a:r>
                    </a:p>
                  </a:txBody>
                  <a:tcPr>
                    <a:solidFill>
                      <a:srgbClr val="FFFFFF"/>
                    </a:solidFill>
                  </a:tcPr>
                </a:tc>
                <a:tc>
                  <a:txBody>
                    <a:bodyPr/>
                    <a:lstStyle/>
                    <a:p>
                      <a:pPr algn="ctr"/>
                      <a:r>
                        <a:rPr sz="950" b="1" i="0">
                          <a:solidFill>
                            <a:srgbClr val="262626"/>
                          </a:solidFill>
                          <a:latin typeface="Arial"/>
                        </a:rPr>
                        <a:t>#16</a:t>
                      </a:r>
                    </a:p>
                  </a:txBody>
                  <a:tcPr>
                    <a:solidFill>
                      <a:srgbClr val="FFFFFF"/>
                    </a:solidFill>
                  </a:tcPr>
                </a:tc>
                <a:tc>
                  <a:txBody>
                    <a:bodyPr/>
                    <a:lstStyle/>
                    <a:p>
                      <a:pPr algn="ctr"/>
                      <a:r>
                        <a:rPr sz="950" b="0" i="0">
                          <a:solidFill>
                            <a:srgbClr val="262626"/>
                          </a:solidFill>
                          <a:latin typeface="Arial"/>
                        </a:rPr>
                        <a:t>#17 (287 pts)</a:t>
                      </a:r>
                    </a:p>
                  </a:txBody>
                  <a:tcPr>
                    <a:solidFill>
                      <a:srgbClr val="FFFFFF"/>
                    </a:solidFill>
                  </a:tcPr>
                </a:tc>
                <a:tc>
                  <a:txBody>
                    <a:bodyPr/>
                    <a:lstStyle/>
                    <a:p>
                      <a:pPr algn="ctr"/>
                      <a:r>
                        <a:rPr sz="950" b="1" i="0">
                          <a:solidFill>
                            <a:srgbClr val="1B7F3A"/>
                          </a:solidFill>
                          <a:latin typeface="Arial"/>
                        </a:rPr>
                        <a:t>Top 16</a:t>
                      </a:r>
                    </a:p>
                  </a:txBody>
                  <a:tcPr>
                    <a:solidFill>
                      <a:srgbClr val="FFFFFF"/>
                    </a:solidFill>
                  </a:tcPr>
                </a:tc>
                <a:extLst>
                  <a:ext uri="{0D108BD9-81ED-4DB2-BD59-A6C34878D82A}">
                    <a16:rowId xmlns:a16="http://schemas.microsoft.com/office/drawing/2014/main" val="10001"/>
                  </a:ext>
                </a:extLst>
              </a:tr>
              <a:tr h="366065">
                <a:tc>
                  <a:txBody>
                    <a:bodyPr/>
                    <a:lstStyle/>
                    <a:p>
                      <a:pPr algn="l"/>
                      <a:r>
                        <a:rPr sz="950" b="0" i="0">
                          <a:solidFill>
                            <a:srgbClr val="262626"/>
                          </a:solidFill>
                          <a:latin typeface="Arial"/>
                        </a:rPr>
                        <a:t>World Cup</a:t>
                      </a:r>
                    </a:p>
                  </a:txBody>
                  <a:tcPr>
                    <a:solidFill>
                      <a:srgbClr val="F2F2F2"/>
                    </a:solidFill>
                  </a:tcPr>
                </a:tc>
                <a:tc>
                  <a:txBody>
                    <a:bodyPr/>
                    <a:lstStyle/>
                    <a:p>
                      <a:pPr algn="ctr"/>
                      <a:r>
                        <a:rPr sz="950" b="1" i="0">
                          <a:solidFill>
                            <a:srgbClr val="262626"/>
                          </a:solidFill>
                          <a:latin typeface="Arial"/>
                        </a:rPr>
                        <a:t>500</a:t>
                      </a:r>
                    </a:p>
                  </a:txBody>
                  <a:tcPr>
                    <a:solidFill>
                      <a:srgbClr val="F2F2F2"/>
                    </a:solidFill>
                  </a:tcPr>
                </a:tc>
                <a:tc>
                  <a:txBody>
                    <a:bodyPr/>
                    <a:lstStyle/>
                    <a:p>
                      <a:pPr algn="ctr"/>
                      <a:r>
                        <a:rPr sz="950" b="1" i="0">
                          <a:solidFill>
                            <a:srgbClr val="262626"/>
                          </a:solidFill>
                          <a:latin typeface="Arial"/>
                        </a:rPr>
                        <a:t>#7</a:t>
                      </a:r>
                    </a:p>
                  </a:txBody>
                  <a:tcPr>
                    <a:solidFill>
                      <a:srgbClr val="F2F2F2"/>
                    </a:solidFill>
                  </a:tcPr>
                </a:tc>
                <a:tc>
                  <a:txBody>
                    <a:bodyPr/>
                    <a:lstStyle/>
                    <a:p>
                      <a:pPr algn="ctr"/>
                      <a:r>
                        <a:rPr sz="950" b="0" i="0">
                          <a:solidFill>
                            <a:srgbClr val="262626"/>
                          </a:solidFill>
                          <a:latin typeface="Arial"/>
                        </a:rPr>
                        <a:t>#8 (290 pts)</a:t>
                      </a:r>
                    </a:p>
                  </a:txBody>
                  <a:tcPr>
                    <a:solidFill>
                      <a:srgbClr val="F2F2F2"/>
                    </a:solidFill>
                  </a:tcPr>
                </a:tc>
                <a:tc>
                  <a:txBody>
                    <a:bodyPr/>
                    <a:lstStyle/>
                    <a:p>
                      <a:pPr algn="ctr"/>
                      <a:r>
                        <a:rPr sz="950" b="1" i="0" dirty="0">
                          <a:solidFill>
                            <a:srgbClr val="1B7F3A"/>
                          </a:solidFill>
                          <a:latin typeface="Arial"/>
                        </a:rPr>
                        <a:t>Top 7</a:t>
                      </a:r>
                    </a:p>
                  </a:txBody>
                  <a:tcPr>
                    <a:solidFill>
                      <a:srgbClr val="F2F2F2"/>
                    </a:solidFill>
                  </a:tcPr>
                </a:tc>
                <a:extLst>
                  <a:ext uri="{0D108BD9-81ED-4DB2-BD59-A6C34878D82A}">
                    <a16:rowId xmlns:a16="http://schemas.microsoft.com/office/drawing/2014/main" val="10002"/>
                  </a:ext>
                </a:extLst>
              </a:tr>
            </a:tbl>
          </a:graphicData>
        </a:graphic>
      </p:graphicFrame>
      <p:sp>
        <p:nvSpPr>
          <p:cNvPr id="14" name="Rectangle 13"/>
          <p:cNvSpPr/>
          <p:nvPr/>
        </p:nvSpPr>
        <p:spPr>
          <a:xfrm>
            <a:off x="274320" y="361188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4320" y="3639312"/>
            <a:ext cx="5806440" cy="219456"/>
          </a:xfrm>
          <a:prstGeom prst="rect">
            <a:avLst/>
          </a:prstGeom>
          <a:noFill/>
        </p:spPr>
        <p:txBody>
          <a:bodyPr wrap="square">
            <a:spAutoFit/>
          </a:bodyPr>
          <a:lstStyle/>
          <a:p>
            <a:pPr algn="ctr"/>
            <a:r>
              <a:rPr sz="1100" b="1" i="0">
                <a:solidFill>
                  <a:srgbClr val="FFFFFF"/>
                </a:solidFill>
                <a:latin typeface="Arial"/>
              </a:rPr>
              <a:t>USA MEN</a:t>
            </a:r>
          </a:p>
        </p:txBody>
      </p:sp>
      <p:graphicFrame>
        <p:nvGraphicFramePr>
          <p:cNvPr id="16" name="Table 15"/>
          <p:cNvGraphicFramePr>
            <a:graphicFrameLocks noGrp="1"/>
          </p:cNvGraphicFramePr>
          <p:nvPr/>
        </p:nvGraphicFramePr>
        <p:xfrm>
          <a:off x="274320" y="3931920"/>
          <a:ext cx="5806440" cy="248412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411480">
                  <a:extLst>
                    <a:ext uri="{9D8B030D-6E8A-4147-A177-3AD203B41FA5}">
                      <a16:colId xmlns:a16="http://schemas.microsoft.com/office/drawing/2014/main" val="20004"/>
                    </a:ext>
                  </a:extLst>
                </a:gridCol>
                <a:gridCol w="41148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tblGrid>
              <a:tr h="201168">
                <a:tc>
                  <a:txBody>
                    <a:bodyPr/>
                    <a:lstStyle/>
                    <a:p>
                      <a:pPr algn="ctr"/>
                      <a:r>
                        <a:rPr sz="850" b="1" i="0">
                          <a:solidFill>
                            <a:srgbClr val="FFFFFF"/>
                          </a:solidFill>
                          <a:latin typeface="Arial"/>
                        </a:rPr>
                        <a:t>Rk</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Total</a:t>
                      </a:r>
                    </a:p>
                  </a:txBody>
                  <a:tcPr>
                    <a:solidFill>
                      <a:srgbClr val="002060"/>
                    </a:solidFill>
                  </a:tcPr>
                </a:tc>
                <a:tc>
                  <a:txBody>
                    <a:bodyPr/>
                    <a:lstStyle/>
                    <a:p>
                      <a:pPr algn="ctr"/>
                      <a:r>
                        <a:rPr sz="850" b="1" i="0">
                          <a:solidFill>
                            <a:srgbClr val="FFFFFF"/>
                          </a:solidFill>
                          <a:latin typeface="Arial"/>
                        </a:rPr>
                        <a:t>Races</a:t>
                      </a:r>
                    </a:p>
                  </a:txBody>
                  <a:tcPr>
                    <a:solidFill>
                      <a:srgbClr val="002060"/>
                    </a:solidFill>
                  </a:tcPr>
                </a:tc>
                <a:tc>
                  <a:txBody>
                    <a:bodyPr/>
                    <a:lstStyle/>
                    <a:p>
                      <a:pPr algn="ctr"/>
                      <a:r>
                        <a:rPr sz="850" b="1" i="0">
                          <a:solidFill>
                            <a:srgbClr val="FFFFFF"/>
                          </a:solidFill>
                          <a:latin typeface="Arial"/>
                        </a:rPr>
                        <a:t>On</a:t>
                      </a:r>
                    </a:p>
                  </a:txBody>
                  <a:tcPr>
                    <a:solidFill>
                      <a:srgbClr val="002060"/>
                    </a:solidFill>
                  </a:tcPr>
                </a:tc>
                <a:tc>
                  <a:txBody>
                    <a:bodyPr/>
                    <a:lstStyle/>
                    <a:p>
                      <a:pPr algn="ctr"/>
                      <a:r>
                        <a:rPr sz="850" b="1" i="0">
                          <a:solidFill>
                            <a:srgbClr val="FFFFFF"/>
                          </a:solidFill>
                          <a:latin typeface="Arial"/>
                        </a:rPr>
                        <a:t>Off</a:t>
                      </a:r>
                    </a:p>
                  </a:txBody>
                  <a:tcPr>
                    <a:solidFill>
                      <a:srgbClr val="002060"/>
                    </a:solidFill>
                  </a:tcPr>
                </a:tc>
                <a:tc>
                  <a:txBody>
                    <a:bodyPr/>
                    <a:lstStyle/>
                    <a:p>
                      <a:pPr algn="ctr"/>
                      <a:r>
                        <a:rPr sz="850" b="1" i="0">
                          <a:solidFill>
                            <a:srgbClr val="FFFFFF"/>
                          </a:solidFill>
                          <a:latin typeface="Arial"/>
                        </a:rPr>
                        <a:t>Pace</a:t>
                      </a:r>
                    </a:p>
                  </a:txBody>
                  <a:tcPr>
                    <a:solidFill>
                      <a:srgbClr val="002060"/>
                    </a:solidFill>
                  </a:tcPr>
                </a:tc>
                <a:tc>
                  <a:txBody>
                    <a:bodyPr/>
                    <a:lstStyle/>
                    <a:p>
                      <a:pPr algn="ctr"/>
                      <a:r>
                        <a:rPr sz="850" b="1" i="0">
                          <a:solidFill>
                            <a:srgbClr val="FFFFFF"/>
                          </a:solidFill>
                          <a:latin typeface="Arial"/>
                        </a:rPr>
                        <a:t>Proj @12</a:t>
                      </a:r>
                    </a:p>
                  </a:txBody>
                  <a:tcPr>
                    <a:solidFill>
                      <a:srgbClr val="002060"/>
                    </a:solidFill>
                  </a:tcPr>
                </a:tc>
                <a:extLst>
                  <a:ext uri="{0D108BD9-81ED-4DB2-BD59-A6C34878D82A}">
                    <a16:rowId xmlns:a16="http://schemas.microsoft.com/office/drawing/2014/main" val="10000"/>
                  </a:ext>
                </a:extLst>
              </a:tr>
              <a:tr h="201168">
                <a:tc>
                  <a:txBody>
                    <a:bodyPr/>
                    <a:lstStyle/>
                    <a:p>
                      <a:pPr algn="ctr"/>
                      <a:r>
                        <a:rPr sz="750" b="1" i="0">
                          <a:solidFill>
                            <a:srgbClr val="262626"/>
                          </a:solidFill>
                          <a:latin typeface="Arial"/>
                        </a:rPr>
                        <a:t>8</a:t>
                      </a:r>
                    </a:p>
                  </a:txBody>
                  <a:tcPr>
                    <a:solidFill>
                      <a:srgbClr val="FFFFFF"/>
                    </a:solidFill>
                  </a:tcPr>
                </a:tc>
                <a:tc>
                  <a:txBody>
                    <a:bodyPr/>
                    <a:lstStyle/>
                    <a:p>
                      <a:pPr algn="l"/>
                      <a:r>
                        <a:rPr sz="750" b="0" i="0">
                          <a:solidFill>
                            <a:srgbClr val="262626"/>
                          </a:solidFill>
                          <a:latin typeface="Arial"/>
                        </a:rPr>
                        <a:t>Reese Vannerson</a:t>
                      </a:r>
                    </a:p>
                  </a:txBody>
                  <a:tcPr>
                    <a:solidFill>
                      <a:srgbClr val="FFFFFF"/>
                    </a:solidFill>
                  </a:tcPr>
                </a:tc>
                <a:tc>
                  <a:txBody>
                    <a:bodyPr/>
                    <a:lstStyle/>
                    <a:p>
                      <a:pPr algn="ctr"/>
                      <a:r>
                        <a:rPr sz="750" b="1" i="0">
                          <a:solidFill>
                            <a:srgbClr val="262626"/>
                          </a:solidFill>
                          <a:latin typeface="Arial"/>
                        </a:rPr>
                        <a:t>980</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2</a:t>
                      </a:r>
                    </a:p>
                  </a:txBody>
                  <a:tcPr>
                    <a:solidFill>
                      <a:srgbClr val="FFFFFF"/>
                    </a:solidFill>
                  </a:tcPr>
                </a:tc>
                <a:tc>
                  <a:txBody>
                    <a:bodyPr/>
                    <a:lstStyle/>
                    <a:p>
                      <a:pPr algn="ctr"/>
                      <a:r>
                        <a:rPr sz="750" b="1" i="0">
                          <a:solidFill>
                            <a:srgbClr val="C00000"/>
                          </a:solidFill>
                          <a:latin typeface="Arial"/>
                        </a:rPr>
                        <a:t>0</a:t>
                      </a:r>
                    </a:p>
                  </a:txBody>
                  <a:tcPr>
                    <a:solidFill>
                      <a:srgbClr val="FFFFFF"/>
                    </a:solidFill>
                  </a:tcPr>
                </a:tc>
                <a:tc>
                  <a:txBody>
                    <a:bodyPr/>
                    <a:lstStyle/>
                    <a:p>
                      <a:pPr algn="ctr"/>
                      <a:r>
                        <a:rPr sz="750" b="0" i="0">
                          <a:solidFill>
                            <a:srgbClr val="262626"/>
                          </a:solidFill>
                          <a:latin typeface="Arial"/>
                        </a:rPr>
                        <a:t>490</a:t>
                      </a:r>
                    </a:p>
                  </a:txBody>
                  <a:tcPr>
                    <a:solidFill>
                      <a:srgbClr val="FFFFFF"/>
                    </a:solidFill>
                  </a:tcPr>
                </a:tc>
                <a:tc>
                  <a:txBody>
                    <a:bodyPr/>
                    <a:lstStyle/>
                    <a:p>
                      <a:pPr algn="ctr"/>
                      <a:r>
                        <a:rPr sz="750" b="1" i="0">
                          <a:solidFill>
                            <a:srgbClr val="1B7F3A"/>
                          </a:solidFill>
                          <a:latin typeface="Arial"/>
                        </a:rPr>
                        <a:t>5,884</a:t>
                      </a:r>
                    </a:p>
                  </a:txBody>
                  <a:tcPr>
                    <a:solidFill>
                      <a:srgbClr val="FFFFFF"/>
                    </a:solidFill>
                  </a:tcPr>
                </a:tc>
                <a:extLst>
                  <a:ext uri="{0D108BD9-81ED-4DB2-BD59-A6C34878D82A}">
                    <a16:rowId xmlns:a16="http://schemas.microsoft.com/office/drawing/2014/main" val="10001"/>
                  </a:ext>
                </a:extLst>
              </a:tr>
              <a:tr h="201168">
                <a:tc>
                  <a:txBody>
                    <a:bodyPr/>
                    <a:lstStyle/>
                    <a:p>
                      <a:pPr algn="ctr"/>
                      <a:r>
                        <a:rPr sz="750" b="1" i="0">
                          <a:solidFill>
                            <a:srgbClr val="262626"/>
                          </a:solidFill>
                          <a:latin typeface="Arial"/>
                        </a:rPr>
                        <a:t>16</a:t>
                      </a:r>
                    </a:p>
                  </a:txBody>
                  <a:tcPr>
                    <a:solidFill>
                      <a:srgbClr val="F2F2F2"/>
                    </a:solidFill>
                  </a:tcPr>
                </a:tc>
                <a:tc>
                  <a:txBody>
                    <a:bodyPr/>
                    <a:lstStyle/>
                    <a:p>
                      <a:pPr algn="l"/>
                      <a:r>
                        <a:rPr sz="750" b="0" i="0">
                          <a:solidFill>
                            <a:srgbClr val="262626"/>
                          </a:solidFill>
                          <a:latin typeface="Arial"/>
                        </a:rPr>
                        <a:t>Chase McQueen</a:t>
                      </a:r>
                    </a:p>
                  </a:txBody>
                  <a:tcPr>
                    <a:solidFill>
                      <a:srgbClr val="F2F2F2"/>
                    </a:solidFill>
                  </a:tcPr>
                </a:tc>
                <a:tc>
                  <a:txBody>
                    <a:bodyPr/>
                    <a:lstStyle/>
                    <a:p>
                      <a:pPr algn="ctr"/>
                      <a:r>
                        <a:rPr sz="750" b="1" i="0">
                          <a:solidFill>
                            <a:srgbClr val="262626"/>
                          </a:solidFill>
                          <a:latin typeface="Arial"/>
                        </a:rPr>
                        <a:t>764</a:t>
                      </a:r>
                    </a:p>
                  </a:txBody>
                  <a:tcPr>
                    <a:solidFill>
                      <a:srgbClr val="F2F2F2"/>
                    </a:solidFill>
                  </a:tcPr>
                </a:tc>
                <a:tc>
                  <a:txBody>
                    <a:bodyPr/>
                    <a:lstStyle/>
                    <a:p>
                      <a:pPr algn="ctr"/>
                      <a:r>
                        <a:rPr sz="750" b="0" i="0">
                          <a:solidFill>
                            <a:srgbClr val="262626"/>
                          </a:solidFill>
                          <a:latin typeface="Arial"/>
                        </a:rPr>
                        <a:t>3</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254</a:t>
                      </a:r>
                    </a:p>
                  </a:txBody>
                  <a:tcPr>
                    <a:solidFill>
                      <a:srgbClr val="F2F2F2"/>
                    </a:solidFill>
                  </a:tcPr>
                </a:tc>
                <a:tc>
                  <a:txBody>
                    <a:bodyPr/>
                    <a:lstStyle/>
                    <a:p>
                      <a:pPr algn="ctr"/>
                      <a:r>
                        <a:rPr sz="750" b="1" i="0">
                          <a:solidFill>
                            <a:srgbClr val="262626"/>
                          </a:solidFill>
                          <a:latin typeface="Arial"/>
                        </a:rPr>
                        <a:t>3,059</a:t>
                      </a:r>
                    </a:p>
                  </a:txBody>
                  <a:tcPr>
                    <a:solidFill>
                      <a:srgbClr val="F2F2F2"/>
                    </a:solidFill>
                  </a:tcPr>
                </a:tc>
                <a:extLst>
                  <a:ext uri="{0D108BD9-81ED-4DB2-BD59-A6C34878D82A}">
                    <a16:rowId xmlns:a16="http://schemas.microsoft.com/office/drawing/2014/main" val="10002"/>
                  </a:ext>
                </a:extLst>
              </a:tr>
              <a:tr h="201168">
                <a:tc>
                  <a:txBody>
                    <a:bodyPr/>
                    <a:lstStyle/>
                    <a:p>
                      <a:pPr algn="ctr"/>
                      <a:r>
                        <a:rPr sz="750" b="1" i="0">
                          <a:solidFill>
                            <a:srgbClr val="262626"/>
                          </a:solidFill>
                          <a:latin typeface="Arial"/>
                        </a:rPr>
                        <a:t>21</a:t>
                      </a:r>
                    </a:p>
                  </a:txBody>
                  <a:tcPr>
                    <a:solidFill>
                      <a:srgbClr val="FFFFFF"/>
                    </a:solidFill>
                  </a:tcPr>
                </a:tc>
                <a:tc>
                  <a:txBody>
                    <a:bodyPr/>
                    <a:lstStyle/>
                    <a:p>
                      <a:pPr algn="l"/>
                      <a:r>
                        <a:rPr sz="750" b="0" i="0">
                          <a:solidFill>
                            <a:srgbClr val="262626"/>
                          </a:solidFill>
                          <a:latin typeface="Arial"/>
                        </a:rPr>
                        <a:t>Sullivan Middaugh</a:t>
                      </a:r>
                    </a:p>
                  </a:txBody>
                  <a:tcPr>
                    <a:solidFill>
                      <a:srgbClr val="FFFFFF"/>
                    </a:solidFill>
                  </a:tcPr>
                </a:tc>
                <a:tc>
                  <a:txBody>
                    <a:bodyPr/>
                    <a:lstStyle/>
                    <a:p>
                      <a:pPr algn="ctr"/>
                      <a:r>
                        <a:rPr sz="750" b="1" i="0">
                          <a:solidFill>
                            <a:srgbClr val="262626"/>
                          </a:solidFill>
                          <a:latin typeface="Arial"/>
                        </a:rPr>
                        <a:t>677</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338</a:t>
                      </a:r>
                    </a:p>
                  </a:txBody>
                  <a:tcPr>
                    <a:solidFill>
                      <a:srgbClr val="FFFFFF"/>
                    </a:solidFill>
                  </a:tcPr>
                </a:tc>
                <a:tc>
                  <a:txBody>
                    <a:bodyPr/>
                    <a:lstStyle/>
                    <a:p>
                      <a:pPr algn="ctr"/>
                      <a:r>
                        <a:rPr sz="750" b="1" i="0">
                          <a:solidFill>
                            <a:srgbClr val="1B7F3A"/>
                          </a:solidFill>
                          <a:latin typeface="Arial"/>
                        </a:rPr>
                        <a:t>4,063</a:t>
                      </a:r>
                    </a:p>
                  </a:txBody>
                  <a:tcPr>
                    <a:solidFill>
                      <a:srgbClr val="FFFFFF"/>
                    </a:solidFill>
                  </a:tcPr>
                </a:tc>
                <a:extLst>
                  <a:ext uri="{0D108BD9-81ED-4DB2-BD59-A6C34878D82A}">
                    <a16:rowId xmlns:a16="http://schemas.microsoft.com/office/drawing/2014/main" val="10003"/>
                  </a:ext>
                </a:extLst>
              </a:tr>
              <a:tr h="201168">
                <a:tc>
                  <a:txBody>
                    <a:bodyPr/>
                    <a:lstStyle/>
                    <a:p>
                      <a:pPr algn="ctr"/>
                      <a:r>
                        <a:rPr sz="750" b="1" i="0">
                          <a:solidFill>
                            <a:srgbClr val="262626"/>
                          </a:solidFill>
                          <a:latin typeface="Arial"/>
                        </a:rPr>
                        <a:t>27</a:t>
                      </a:r>
                    </a:p>
                  </a:txBody>
                  <a:tcPr>
                    <a:solidFill>
                      <a:srgbClr val="F2F2F2"/>
                    </a:solidFill>
                  </a:tcPr>
                </a:tc>
                <a:tc>
                  <a:txBody>
                    <a:bodyPr/>
                    <a:lstStyle/>
                    <a:p>
                      <a:pPr algn="l"/>
                      <a:r>
                        <a:rPr sz="750" b="0" i="0">
                          <a:solidFill>
                            <a:srgbClr val="262626"/>
                          </a:solidFill>
                          <a:latin typeface="Arial"/>
                        </a:rPr>
                        <a:t>John Reed</a:t>
                      </a:r>
                    </a:p>
                  </a:txBody>
                  <a:tcPr>
                    <a:solidFill>
                      <a:srgbClr val="F2F2F2"/>
                    </a:solidFill>
                  </a:tcPr>
                </a:tc>
                <a:tc>
                  <a:txBody>
                    <a:bodyPr/>
                    <a:lstStyle/>
                    <a:p>
                      <a:pPr algn="ctr"/>
                      <a:r>
                        <a:rPr sz="750" b="1" i="0">
                          <a:solidFill>
                            <a:srgbClr val="262626"/>
                          </a:solidFill>
                          <a:latin typeface="Arial"/>
                        </a:rPr>
                        <a:t>579</a:t>
                      </a:r>
                    </a:p>
                  </a:txBody>
                  <a:tcPr>
                    <a:solidFill>
                      <a:srgbClr val="F2F2F2"/>
                    </a:solidFill>
                  </a:tcPr>
                </a:tc>
                <a:tc>
                  <a:txBody>
                    <a:bodyPr/>
                    <a:lstStyle/>
                    <a:p>
                      <a:pPr algn="ctr"/>
                      <a:r>
                        <a:rPr sz="750" b="0" i="0">
                          <a:solidFill>
                            <a:srgbClr val="262626"/>
                          </a:solidFill>
                          <a:latin typeface="Arial"/>
                        </a:rPr>
                        <a:t>1</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0</a:t>
                      </a:r>
                    </a:p>
                  </a:txBody>
                  <a:tcPr>
                    <a:solidFill>
                      <a:srgbClr val="F2F2F2"/>
                    </a:solidFill>
                  </a:tcPr>
                </a:tc>
                <a:tc>
                  <a:txBody>
                    <a:bodyPr/>
                    <a:lstStyle/>
                    <a:p>
                      <a:pPr algn="ctr"/>
                      <a:r>
                        <a:rPr sz="750" b="0" i="0">
                          <a:solidFill>
                            <a:srgbClr val="262626"/>
                          </a:solidFill>
                          <a:latin typeface="Arial"/>
                        </a:rPr>
                        <a:t>579</a:t>
                      </a:r>
                    </a:p>
                  </a:txBody>
                  <a:tcPr>
                    <a:solidFill>
                      <a:srgbClr val="F2F2F2"/>
                    </a:solidFill>
                  </a:tcPr>
                </a:tc>
                <a:tc>
                  <a:txBody>
                    <a:bodyPr/>
                    <a:lstStyle/>
                    <a:p>
                      <a:pPr algn="ctr"/>
                      <a:r>
                        <a:rPr sz="750" b="1" i="0">
                          <a:solidFill>
                            <a:srgbClr val="1B7F3A"/>
                          </a:solidFill>
                          <a:latin typeface="Arial"/>
                        </a:rPr>
                        <a:t>6,953</a:t>
                      </a:r>
                    </a:p>
                  </a:txBody>
                  <a:tcPr>
                    <a:solidFill>
                      <a:srgbClr val="F2F2F2"/>
                    </a:solidFill>
                  </a:tcPr>
                </a:tc>
                <a:extLst>
                  <a:ext uri="{0D108BD9-81ED-4DB2-BD59-A6C34878D82A}">
                    <a16:rowId xmlns:a16="http://schemas.microsoft.com/office/drawing/2014/main" val="10004"/>
                  </a:ext>
                </a:extLst>
              </a:tr>
              <a:tr h="201168">
                <a:tc>
                  <a:txBody>
                    <a:bodyPr/>
                    <a:lstStyle/>
                    <a:p>
                      <a:pPr algn="ctr"/>
                      <a:r>
                        <a:rPr sz="750" b="1" i="0">
                          <a:solidFill>
                            <a:srgbClr val="262626"/>
                          </a:solidFill>
                          <a:latin typeface="Arial"/>
                        </a:rPr>
                        <a:t>30</a:t>
                      </a:r>
                    </a:p>
                  </a:txBody>
                  <a:tcPr>
                    <a:solidFill>
                      <a:srgbClr val="FFFFFF"/>
                    </a:solidFill>
                  </a:tcPr>
                </a:tc>
                <a:tc>
                  <a:txBody>
                    <a:bodyPr/>
                    <a:lstStyle/>
                    <a:p>
                      <a:pPr algn="l"/>
                      <a:r>
                        <a:rPr sz="750" b="0" i="0">
                          <a:solidFill>
                            <a:srgbClr val="262626"/>
                          </a:solidFill>
                          <a:latin typeface="Arial"/>
                        </a:rPr>
                        <a:t>Braxton Legg</a:t>
                      </a:r>
                    </a:p>
                  </a:txBody>
                  <a:tcPr>
                    <a:solidFill>
                      <a:srgbClr val="FFFFFF"/>
                    </a:solidFill>
                  </a:tcPr>
                </a:tc>
                <a:tc>
                  <a:txBody>
                    <a:bodyPr/>
                    <a:lstStyle/>
                    <a:p>
                      <a:pPr algn="ctr"/>
                      <a:r>
                        <a:rPr sz="750" b="1" i="0">
                          <a:solidFill>
                            <a:srgbClr val="262626"/>
                          </a:solidFill>
                          <a:latin typeface="Arial"/>
                        </a:rPr>
                        <a:t>564</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282</a:t>
                      </a:r>
                    </a:p>
                  </a:txBody>
                  <a:tcPr>
                    <a:solidFill>
                      <a:srgbClr val="FFFFFF"/>
                    </a:solidFill>
                  </a:tcPr>
                </a:tc>
                <a:tc>
                  <a:txBody>
                    <a:bodyPr/>
                    <a:lstStyle/>
                    <a:p>
                      <a:pPr algn="ctr"/>
                      <a:r>
                        <a:rPr sz="750" b="1" i="0">
                          <a:solidFill>
                            <a:srgbClr val="262626"/>
                          </a:solidFill>
                          <a:latin typeface="Arial"/>
                        </a:rPr>
                        <a:t>3,384</a:t>
                      </a:r>
                    </a:p>
                  </a:txBody>
                  <a:tcPr>
                    <a:solidFill>
                      <a:srgbClr val="FFFFFF"/>
                    </a:solidFill>
                  </a:tcPr>
                </a:tc>
                <a:extLst>
                  <a:ext uri="{0D108BD9-81ED-4DB2-BD59-A6C34878D82A}">
                    <a16:rowId xmlns:a16="http://schemas.microsoft.com/office/drawing/2014/main" val="10005"/>
                  </a:ext>
                </a:extLst>
              </a:tr>
              <a:tr h="201168">
                <a:tc>
                  <a:txBody>
                    <a:bodyPr/>
                    <a:lstStyle/>
                    <a:p>
                      <a:pPr algn="ctr"/>
                      <a:r>
                        <a:rPr sz="750" b="1" i="0">
                          <a:solidFill>
                            <a:srgbClr val="262626"/>
                          </a:solidFill>
                          <a:latin typeface="Arial"/>
                        </a:rPr>
                        <a:t>33</a:t>
                      </a:r>
                    </a:p>
                  </a:txBody>
                  <a:tcPr>
                    <a:solidFill>
                      <a:srgbClr val="F2F2F2"/>
                    </a:solidFill>
                  </a:tcPr>
                </a:tc>
                <a:tc>
                  <a:txBody>
                    <a:bodyPr/>
                    <a:lstStyle/>
                    <a:p>
                      <a:pPr algn="l"/>
                      <a:r>
                        <a:rPr sz="750" b="0" i="0">
                          <a:solidFill>
                            <a:srgbClr val="262626"/>
                          </a:solidFill>
                          <a:latin typeface="Arial"/>
                        </a:rPr>
                        <a:t>Seth Rider</a:t>
                      </a:r>
                    </a:p>
                  </a:txBody>
                  <a:tcPr>
                    <a:solidFill>
                      <a:srgbClr val="F2F2F2"/>
                    </a:solidFill>
                  </a:tcPr>
                </a:tc>
                <a:tc>
                  <a:txBody>
                    <a:bodyPr/>
                    <a:lstStyle/>
                    <a:p>
                      <a:pPr algn="ctr"/>
                      <a:r>
                        <a:rPr sz="750" b="1" i="0">
                          <a:solidFill>
                            <a:srgbClr val="262626"/>
                          </a:solidFill>
                          <a:latin typeface="Arial"/>
                        </a:rPr>
                        <a:t>534</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267</a:t>
                      </a:r>
                    </a:p>
                  </a:txBody>
                  <a:tcPr>
                    <a:solidFill>
                      <a:srgbClr val="F2F2F2"/>
                    </a:solidFill>
                  </a:tcPr>
                </a:tc>
                <a:tc>
                  <a:txBody>
                    <a:bodyPr/>
                    <a:lstStyle/>
                    <a:p>
                      <a:pPr algn="ctr"/>
                      <a:r>
                        <a:rPr sz="750" b="1" i="0">
                          <a:solidFill>
                            <a:srgbClr val="262626"/>
                          </a:solidFill>
                          <a:latin typeface="Arial"/>
                        </a:rPr>
                        <a:t>3,209</a:t>
                      </a:r>
                    </a:p>
                  </a:txBody>
                  <a:tcPr>
                    <a:solidFill>
                      <a:srgbClr val="F2F2F2"/>
                    </a:solidFill>
                  </a:tcPr>
                </a:tc>
                <a:extLst>
                  <a:ext uri="{0D108BD9-81ED-4DB2-BD59-A6C34878D82A}">
                    <a16:rowId xmlns:a16="http://schemas.microsoft.com/office/drawing/2014/main" val="10006"/>
                  </a:ext>
                </a:extLst>
              </a:tr>
              <a:tr h="201168">
                <a:tc>
                  <a:txBody>
                    <a:bodyPr/>
                    <a:lstStyle/>
                    <a:p>
                      <a:pPr algn="ctr"/>
                      <a:r>
                        <a:rPr sz="750" b="1" i="0">
                          <a:solidFill>
                            <a:srgbClr val="262626"/>
                          </a:solidFill>
                          <a:latin typeface="Arial"/>
                        </a:rPr>
                        <a:t>35</a:t>
                      </a:r>
                    </a:p>
                  </a:txBody>
                  <a:tcPr>
                    <a:solidFill>
                      <a:srgbClr val="FFFFFF"/>
                    </a:solidFill>
                  </a:tcPr>
                </a:tc>
                <a:tc>
                  <a:txBody>
                    <a:bodyPr/>
                    <a:lstStyle/>
                    <a:p>
                      <a:pPr algn="l"/>
                      <a:r>
                        <a:rPr sz="750" b="0" i="0">
                          <a:solidFill>
                            <a:srgbClr val="262626"/>
                          </a:solidFill>
                          <a:latin typeface="Arial"/>
                        </a:rPr>
                        <a:t>Keller Norland</a:t>
                      </a:r>
                    </a:p>
                  </a:txBody>
                  <a:tcPr>
                    <a:solidFill>
                      <a:srgbClr val="FFFFFF"/>
                    </a:solidFill>
                  </a:tcPr>
                </a:tc>
                <a:tc>
                  <a:txBody>
                    <a:bodyPr/>
                    <a:lstStyle/>
                    <a:p>
                      <a:pPr algn="ctr"/>
                      <a:r>
                        <a:rPr sz="750" b="1" i="0">
                          <a:solidFill>
                            <a:srgbClr val="262626"/>
                          </a:solidFill>
                          <a:latin typeface="Arial"/>
                        </a:rPr>
                        <a:t>519</a:t>
                      </a:r>
                    </a:p>
                  </a:txBody>
                  <a:tcPr>
                    <a:solidFill>
                      <a:srgbClr val="FFFFFF"/>
                    </a:solidFill>
                  </a:tcPr>
                </a:tc>
                <a:tc>
                  <a:txBody>
                    <a:bodyPr/>
                    <a:lstStyle/>
                    <a:p>
                      <a:pPr algn="ctr"/>
                      <a:r>
                        <a:rPr sz="750" b="0" i="0">
                          <a:solidFill>
                            <a:srgbClr val="262626"/>
                          </a:solidFill>
                          <a:latin typeface="Arial"/>
                        </a:rPr>
                        <a:t>1</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0</a:t>
                      </a:r>
                    </a:p>
                  </a:txBody>
                  <a:tcPr>
                    <a:solidFill>
                      <a:srgbClr val="FFFFFF"/>
                    </a:solidFill>
                  </a:tcPr>
                </a:tc>
                <a:tc>
                  <a:txBody>
                    <a:bodyPr/>
                    <a:lstStyle/>
                    <a:p>
                      <a:pPr algn="ctr"/>
                      <a:r>
                        <a:rPr sz="750" b="0" i="0">
                          <a:solidFill>
                            <a:srgbClr val="262626"/>
                          </a:solidFill>
                          <a:latin typeface="Arial"/>
                        </a:rPr>
                        <a:t>519</a:t>
                      </a:r>
                    </a:p>
                  </a:txBody>
                  <a:tcPr>
                    <a:solidFill>
                      <a:srgbClr val="FFFFFF"/>
                    </a:solidFill>
                  </a:tcPr>
                </a:tc>
                <a:tc>
                  <a:txBody>
                    <a:bodyPr/>
                    <a:lstStyle/>
                    <a:p>
                      <a:pPr algn="ctr"/>
                      <a:r>
                        <a:rPr sz="750" b="1" i="0">
                          <a:solidFill>
                            <a:srgbClr val="1B7F3A"/>
                          </a:solidFill>
                          <a:latin typeface="Arial"/>
                        </a:rPr>
                        <a:t>6,234</a:t>
                      </a:r>
                    </a:p>
                  </a:txBody>
                  <a:tcPr>
                    <a:solidFill>
                      <a:srgbClr val="FFFFFF"/>
                    </a:solidFill>
                  </a:tcPr>
                </a:tc>
                <a:extLst>
                  <a:ext uri="{0D108BD9-81ED-4DB2-BD59-A6C34878D82A}">
                    <a16:rowId xmlns:a16="http://schemas.microsoft.com/office/drawing/2014/main" val="10007"/>
                  </a:ext>
                </a:extLst>
              </a:tr>
              <a:tr h="201168">
                <a:tc>
                  <a:txBody>
                    <a:bodyPr/>
                    <a:lstStyle/>
                    <a:p>
                      <a:pPr algn="ctr"/>
                      <a:r>
                        <a:rPr sz="750" b="1" i="0">
                          <a:solidFill>
                            <a:srgbClr val="262626"/>
                          </a:solidFill>
                          <a:latin typeface="Arial"/>
                        </a:rPr>
                        <a:t>41</a:t>
                      </a:r>
                    </a:p>
                  </a:txBody>
                  <a:tcPr>
                    <a:solidFill>
                      <a:srgbClr val="F2F2F2"/>
                    </a:solidFill>
                  </a:tcPr>
                </a:tc>
                <a:tc>
                  <a:txBody>
                    <a:bodyPr/>
                    <a:lstStyle/>
                    <a:p>
                      <a:pPr algn="l"/>
                      <a:r>
                        <a:rPr sz="750" b="0" i="0">
                          <a:solidFill>
                            <a:srgbClr val="262626"/>
                          </a:solidFill>
                          <a:latin typeface="Arial"/>
                        </a:rPr>
                        <a:t>Blake Bullard</a:t>
                      </a:r>
                    </a:p>
                  </a:txBody>
                  <a:tcPr>
                    <a:solidFill>
                      <a:srgbClr val="F2F2F2"/>
                    </a:solidFill>
                  </a:tcPr>
                </a:tc>
                <a:tc>
                  <a:txBody>
                    <a:bodyPr/>
                    <a:lstStyle/>
                    <a:p>
                      <a:pPr algn="ctr"/>
                      <a:r>
                        <a:rPr sz="750" b="1" i="0">
                          <a:solidFill>
                            <a:srgbClr val="262626"/>
                          </a:solidFill>
                          <a:latin typeface="Arial"/>
                        </a:rPr>
                        <a:t>436</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0</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218</a:t>
                      </a:r>
                    </a:p>
                  </a:txBody>
                  <a:tcPr>
                    <a:solidFill>
                      <a:srgbClr val="F2F2F2"/>
                    </a:solidFill>
                  </a:tcPr>
                </a:tc>
                <a:tc>
                  <a:txBody>
                    <a:bodyPr/>
                    <a:lstStyle/>
                    <a:p>
                      <a:pPr algn="ctr"/>
                      <a:r>
                        <a:rPr sz="750" b="1" i="0">
                          <a:solidFill>
                            <a:srgbClr val="262626"/>
                          </a:solidFill>
                          <a:latin typeface="Arial"/>
                        </a:rPr>
                        <a:t>2,621</a:t>
                      </a:r>
                    </a:p>
                  </a:txBody>
                  <a:tcPr>
                    <a:solidFill>
                      <a:srgbClr val="F2F2F2"/>
                    </a:solidFill>
                  </a:tcPr>
                </a:tc>
                <a:extLst>
                  <a:ext uri="{0D108BD9-81ED-4DB2-BD59-A6C34878D82A}">
                    <a16:rowId xmlns:a16="http://schemas.microsoft.com/office/drawing/2014/main" val="10008"/>
                  </a:ext>
                </a:extLst>
              </a:tr>
              <a:tr h="201168">
                <a:tc>
                  <a:txBody>
                    <a:bodyPr/>
                    <a:lstStyle/>
                    <a:p>
                      <a:pPr algn="ctr"/>
                      <a:r>
                        <a:rPr sz="750" b="1" i="0">
                          <a:solidFill>
                            <a:srgbClr val="262626"/>
                          </a:solidFill>
                          <a:latin typeface="Arial"/>
                        </a:rPr>
                        <a:t>77</a:t>
                      </a:r>
                    </a:p>
                  </a:txBody>
                  <a:tcPr>
                    <a:solidFill>
                      <a:srgbClr val="FFFFFF"/>
                    </a:solidFill>
                  </a:tcPr>
                </a:tc>
                <a:tc>
                  <a:txBody>
                    <a:bodyPr/>
                    <a:lstStyle/>
                    <a:p>
                      <a:pPr algn="l"/>
                      <a:r>
                        <a:rPr sz="750" b="0" i="0">
                          <a:solidFill>
                            <a:srgbClr val="262626"/>
                          </a:solidFill>
                          <a:latin typeface="Arial"/>
                        </a:rPr>
                        <a:t>Zach Leachman</a:t>
                      </a:r>
                    </a:p>
                  </a:txBody>
                  <a:tcPr>
                    <a:solidFill>
                      <a:srgbClr val="FFFFFF"/>
                    </a:solidFill>
                  </a:tcPr>
                </a:tc>
                <a:tc>
                  <a:txBody>
                    <a:bodyPr/>
                    <a:lstStyle/>
                    <a:p>
                      <a:pPr algn="ctr"/>
                      <a:r>
                        <a:rPr sz="750" b="1" i="0">
                          <a:solidFill>
                            <a:srgbClr val="262626"/>
                          </a:solidFill>
                          <a:latin typeface="Arial"/>
                        </a:rPr>
                        <a:t>212</a:t>
                      </a:r>
                    </a:p>
                  </a:txBody>
                  <a:tcPr>
                    <a:solidFill>
                      <a:srgbClr val="FFFFFF"/>
                    </a:solidFill>
                  </a:tcPr>
                </a:tc>
                <a:tc>
                  <a:txBody>
                    <a:bodyPr/>
                    <a:lstStyle/>
                    <a:p>
                      <a:pPr algn="ctr"/>
                      <a:r>
                        <a:rPr sz="750" b="0" i="0">
                          <a:solidFill>
                            <a:srgbClr val="262626"/>
                          </a:solidFill>
                          <a:latin typeface="Arial"/>
                        </a:rPr>
                        <a:t>1</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212</a:t>
                      </a:r>
                    </a:p>
                  </a:txBody>
                  <a:tcPr>
                    <a:solidFill>
                      <a:srgbClr val="FFFFFF"/>
                    </a:solidFill>
                  </a:tcPr>
                </a:tc>
                <a:tc>
                  <a:txBody>
                    <a:bodyPr/>
                    <a:lstStyle/>
                    <a:p>
                      <a:pPr algn="ctr"/>
                      <a:r>
                        <a:rPr sz="750" b="1" i="0">
                          <a:solidFill>
                            <a:srgbClr val="262626"/>
                          </a:solidFill>
                          <a:latin typeface="Arial"/>
                        </a:rPr>
                        <a:t>2,545</a:t>
                      </a:r>
                    </a:p>
                  </a:txBody>
                  <a:tcPr>
                    <a:solidFill>
                      <a:srgbClr val="FFFFFF"/>
                    </a:solidFill>
                  </a:tcPr>
                </a:tc>
                <a:extLst>
                  <a:ext uri="{0D108BD9-81ED-4DB2-BD59-A6C34878D82A}">
                    <a16:rowId xmlns:a16="http://schemas.microsoft.com/office/drawing/2014/main" val="10009"/>
                  </a:ext>
                </a:extLst>
              </a:tr>
              <a:tr h="201168">
                <a:tc>
                  <a:txBody>
                    <a:bodyPr/>
                    <a:lstStyle/>
                    <a:p>
                      <a:pPr algn="ctr"/>
                      <a:r>
                        <a:rPr sz="750" b="1" i="0">
                          <a:solidFill>
                            <a:srgbClr val="262626"/>
                          </a:solidFill>
                          <a:latin typeface="Arial"/>
                        </a:rPr>
                        <a:t>87</a:t>
                      </a:r>
                    </a:p>
                  </a:txBody>
                  <a:tcPr>
                    <a:solidFill>
                      <a:srgbClr val="F2F2F2"/>
                    </a:solidFill>
                  </a:tcPr>
                </a:tc>
                <a:tc>
                  <a:txBody>
                    <a:bodyPr/>
                    <a:lstStyle/>
                    <a:p>
                      <a:pPr algn="l"/>
                      <a:r>
                        <a:rPr sz="750" b="0" i="0">
                          <a:solidFill>
                            <a:srgbClr val="262626"/>
                          </a:solidFill>
                          <a:latin typeface="Arial"/>
                        </a:rPr>
                        <a:t>Cole Jamieson </a:t>
                      </a:r>
                    </a:p>
                  </a:txBody>
                  <a:tcPr>
                    <a:solidFill>
                      <a:srgbClr val="F2F2F2"/>
                    </a:solidFill>
                  </a:tcPr>
                </a:tc>
                <a:tc>
                  <a:txBody>
                    <a:bodyPr/>
                    <a:lstStyle/>
                    <a:p>
                      <a:pPr algn="ctr"/>
                      <a:r>
                        <a:rPr sz="750" b="1" i="0">
                          <a:solidFill>
                            <a:srgbClr val="262626"/>
                          </a:solidFill>
                          <a:latin typeface="Arial"/>
                        </a:rPr>
                        <a:t>169</a:t>
                      </a:r>
                    </a:p>
                  </a:txBody>
                  <a:tcPr>
                    <a:solidFill>
                      <a:srgbClr val="F2F2F2"/>
                    </a:solidFill>
                  </a:tcPr>
                </a:tc>
                <a:tc>
                  <a:txBody>
                    <a:bodyPr/>
                    <a:lstStyle/>
                    <a:p>
                      <a:pPr algn="ctr"/>
                      <a:r>
                        <a:rPr sz="750" b="0" i="0">
                          <a:solidFill>
                            <a:srgbClr val="262626"/>
                          </a:solidFill>
                          <a:latin typeface="Arial"/>
                        </a:rPr>
                        <a:t>1</a:t>
                      </a:r>
                    </a:p>
                  </a:txBody>
                  <a:tcPr>
                    <a:solidFill>
                      <a:srgbClr val="F2F2F2"/>
                    </a:solidFill>
                  </a:tcPr>
                </a:tc>
                <a:tc>
                  <a:txBody>
                    <a:bodyPr/>
                    <a:lstStyle/>
                    <a:p>
                      <a:pPr algn="ctr"/>
                      <a:r>
                        <a:rPr sz="750" b="1" i="0">
                          <a:solidFill>
                            <a:srgbClr val="1B7F3A"/>
                          </a:solidFill>
                          <a:latin typeface="Arial"/>
                        </a:rPr>
                        <a:t>0</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169</a:t>
                      </a:r>
                    </a:p>
                  </a:txBody>
                  <a:tcPr>
                    <a:solidFill>
                      <a:srgbClr val="F2F2F2"/>
                    </a:solidFill>
                  </a:tcPr>
                </a:tc>
                <a:tc>
                  <a:txBody>
                    <a:bodyPr/>
                    <a:lstStyle/>
                    <a:p>
                      <a:pPr algn="ctr"/>
                      <a:r>
                        <a:rPr sz="750" b="1" i="0">
                          <a:solidFill>
                            <a:srgbClr val="262626"/>
                          </a:solidFill>
                          <a:latin typeface="Arial"/>
                        </a:rPr>
                        <a:t>2,038</a:t>
                      </a:r>
                    </a:p>
                  </a:txBody>
                  <a:tcPr>
                    <a:solidFill>
                      <a:srgbClr val="F2F2F2"/>
                    </a:solidFill>
                  </a:tcPr>
                </a:tc>
                <a:extLst>
                  <a:ext uri="{0D108BD9-81ED-4DB2-BD59-A6C34878D82A}">
                    <a16:rowId xmlns:a16="http://schemas.microsoft.com/office/drawing/2014/main" val="10010"/>
                  </a:ext>
                </a:extLst>
              </a:tr>
              <a:tr h="201168">
                <a:tc>
                  <a:txBody>
                    <a:bodyPr/>
                    <a:lstStyle/>
                    <a:p>
                      <a:pPr algn="ctr"/>
                      <a:r>
                        <a:rPr sz="750" b="1" i="0">
                          <a:solidFill>
                            <a:srgbClr val="262626"/>
                          </a:solidFill>
                          <a:latin typeface="Arial"/>
                        </a:rPr>
                        <a:t>103</a:t>
                      </a:r>
                    </a:p>
                  </a:txBody>
                  <a:tcPr>
                    <a:solidFill>
                      <a:srgbClr val="FFFFFF"/>
                    </a:solidFill>
                  </a:tcPr>
                </a:tc>
                <a:tc>
                  <a:txBody>
                    <a:bodyPr/>
                    <a:lstStyle/>
                    <a:p>
                      <a:pPr algn="l"/>
                      <a:r>
                        <a:rPr sz="750" b="0" i="0">
                          <a:solidFill>
                            <a:srgbClr val="262626"/>
                          </a:solidFill>
                          <a:latin typeface="Arial"/>
                        </a:rPr>
                        <a:t>Porter Middaugh</a:t>
                      </a:r>
                    </a:p>
                  </a:txBody>
                  <a:tcPr>
                    <a:solidFill>
                      <a:srgbClr val="FFFFFF"/>
                    </a:solidFill>
                  </a:tcPr>
                </a:tc>
                <a:tc>
                  <a:txBody>
                    <a:bodyPr/>
                    <a:lstStyle/>
                    <a:p>
                      <a:pPr algn="ctr"/>
                      <a:r>
                        <a:rPr sz="750" b="1" i="0">
                          <a:solidFill>
                            <a:srgbClr val="262626"/>
                          </a:solidFill>
                          <a:latin typeface="Arial"/>
                        </a:rPr>
                        <a:t>115</a:t>
                      </a:r>
                    </a:p>
                  </a:txBody>
                  <a:tcPr>
                    <a:solidFill>
                      <a:srgbClr val="FFFFFF"/>
                    </a:solidFill>
                  </a:tcPr>
                </a:tc>
                <a:tc>
                  <a:txBody>
                    <a:bodyPr/>
                    <a:lstStyle/>
                    <a:p>
                      <a:pPr algn="ctr"/>
                      <a:r>
                        <a:rPr sz="750" b="0" i="0">
                          <a:solidFill>
                            <a:srgbClr val="262626"/>
                          </a:solidFill>
                          <a:latin typeface="Arial"/>
                        </a:rPr>
                        <a:t>1</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115</a:t>
                      </a:r>
                    </a:p>
                  </a:txBody>
                  <a:tcPr>
                    <a:solidFill>
                      <a:srgbClr val="FFFFFF"/>
                    </a:solidFill>
                  </a:tcPr>
                </a:tc>
                <a:tc>
                  <a:txBody>
                    <a:bodyPr/>
                    <a:lstStyle/>
                    <a:p>
                      <a:pPr algn="ctr"/>
                      <a:r>
                        <a:rPr sz="750" b="1" i="0">
                          <a:solidFill>
                            <a:srgbClr val="262626"/>
                          </a:solidFill>
                          <a:latin typeface="Arial"/>
                        </a:rPr>
                        <a:t>1,380</a:t>
                      </a:r>
                    </a:p>
                  </a:txBody>
                  <a:tcPr>
                    <a:solidFill>
                      <a:srgbClr val="FFFFFF"/>
                    </a:solidFill>
                  </a:tcPr>
                </a:tc>
                <a:extLst>
                  <a:ext uri="{0D108BD9-81ED-4DB2-BD59-A6C34878D82A}">
                    <a16:rowId xmlns:a16="http://schemas.microsoft.com/office/drawing/2014/main" val="10011"/>
                  </a:ext>
                </a:extLst>
              </a:tr>
            </a:tbl>
          </a:graphicData>
        </a:graphic>
      </p:graphicFrame>
      <p:sp>
        <p:nvSpPr>
          <p:cNvPr id="17" name="Rectangle 16"/>
          <p:cNvSpPr/>
          <p:nvPr/>
        </p:nvSpPr>
        <p:spPr>
          <a:xfrm>
            <a:off x="6126480" y="361188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0" y="3639312"/>
            <a:ext cx="5806440" cy="219456"/>
          </a:xfrm>
          <a:prstGeom prst="rect">
            <a:avLst/>
          </a:prstGeom>
          <a:noFill/>
        </p:spPr>
        <p:txBody>
          <a:bodyPr wrap="square">
            <a:spAutoFit/>
          </a:bodyPr>
          <a:lstStyle/>
          <a:p>
            <a:pPr algn="ctr"/>
            <a:r>
              <a:rPr sz="1100" b="1" i="0">
                <a:solidFill>
                  <a:srgbClr val="FFFFFF"/>
                </a:solidFill>
                <a:latin typeface="Arial"/>
              </a:rPr>
              <a:t>USA WOMEN</a:t>
            </a:r>
          </a:p>
        </p:txBody>
      </p:sp>
      <p:graphicFrame>
        <p:nvGraphicFramePr>
          <p:cNvPr id="19" name="Table 18"/>
          <p:cNvGraphicFramePr>
            <a:graphicFrameLocks noGrp="1"/>
          </p:cNvGraphicFramePr>
          <p:nvPr/>
        </p:nvGraphicFramePr>
        <p:xfrm>
          <a:off x="6126480" y="3931920"/>
          <a:ext cx="5806440" cy="248412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411480">
                  <a:extLst>
                    <a:ext uri="{9D8B030D-6E8A-4147-A177-3AD203B41FA5}">
                      <a16:colId xmlns:a16="http://schemas.microsoft.com/office/drawing/2014/main" val="20004"/>
                    </a:ext>
                  </a:extLst>
                </a:gridCol>
                <a:gridCol w="41148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tblGrid>
              <a:tr h="201168">
                <a:tc>
                  <a:txBody>
                    <a:bodyPr/>
                    <a:lstStyle/>
                    <a:p>
                      <a:pPr algn="ctr"/>
                      <a:r>
                        <a:rPr sz="850" b="1" i="0">
                          <a:solidFill>
                            <a:srgbClr val="FFFFFF"/>
                          </a:solidFill>
                          <a:latin typeface="Arial"/>
                        </a:rPr>
                        <a:t>Rk</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Total</a:t>
                      </a:r>
                    </a:p>
                  </a:txBody>
                  <a:tcPr>
                    <a:solidFill>
                      <a:srgbClr val="002060"/>
                    </a:solidFill>
                  </a:tcPr>
                </a:tc>
                <a:tc>
                  <a:txBody>
                    <a:bodyPr/>
                    <a:lstStyle/>
                    <a:p>
                      <a:pPr algn="ctr"/>
                      <a:r>
                        <a:rPr sz="850" b="1" i="0">
                          <a:solidFill>
                            <a:srgbClr val="FFFFFF"/>
                          </a:solidFill>
                          <a:latin typeface="Arial"/>
                        </a:rPr>
                        <a:t>Races</a:t>
                      </a:r>
                    </a:p>
                  </a:txBody>
                  <a:tcPr>
                    <a:solidFill>
                      <a:srgbClr val="002060"/>
                    </a:solidFill>
                  </a:tcPr>
                </a:tc>
                <a:tc>
                  <a:txBody>
                    <a:bodyPr/>
                    <a:lstStyle/>
                    <a:p>
                      <a:pPr algn="ctr"/>
                      <a:r>
                        <a:rPr sz="850" b="1" i="0">
                          <a:solidFill>
                            <a:srgbClr val="FFFFFF"/>
                          </a:solidFill>
                          <a:latin typeface="Arial"/>
                        </a:rPr>
                        <a:t>On</a:t>
                      </a:r>
                    </a:p>
                  </a:txBody>
                  <a:tcPr>
                    <a:solidFill>
                      <a:srgbClr val="002060"/>
                    </a:solidFill>
                  </a:tcPr>
                </a:tc>
                <a:tc>
                  <a:txBody>
                    <a:bodyPr/>
                    <a:lstStyle/>
                    <a:p>
                      <a:pPr algn="ctr"/>
                      <a:r>
                        <a:rPr sz="850" b="1" i="0">
                          <a:solidFill>
                            <a:srgbClr val="FFFFFF"/>
                          </a:solidFill>
                          <a:latin typeface="Arial"/>
                        </a:rPr>
                        <a:t>Off</a:t>
                      </a:r>
                    </a:p>
                  </a:txBody>
                  <a:tcPr>
                    <a:solidFill>
                      <a:srgbClr val="002060"/>
                    </a:solidFill>
                  </a:tcPr>
                </a:tc>
                <a:tc>
                  <a:txBody>
                    <a:bodyPr/>
                    <a:lstStyle/>
                    <a:p>
                      <a:pPr algn="ctr"/>
                      <a:r>
                        <a:rPr sz="850" b="1" i="0">
                          <a:solidFill>
                            <a:srgbClr val="FFFFFF"/>
                          </a:solidFill>
                          <a:latin typeface="Arial"/>
                        </a:rPr>
                        <a:t>Pace</a:t>
                      </a:r>
                    </a:p>
                  </a:txBody>
                  <a:tcPr>
                    <a:solidFill>
                      <a:srgbClr val="002060"/>
                    </a:solidFill>
                  </a:tcPr>
                </a:tc>
                <a:tc>
                  <a:txBody>
                    <a:bodyPr/>
                    <a:lstStyle/>
                    <a:p>
                      <a:pPr algn="ctr"/>
                      <a:r>
                        <a:rPr sz="850" b="1" i="0">
                          <a:solidFill>
                            <a:srgbClr val="FFFFFF"/>
                          </a:solidFill>
                          <a:latin typeface="Arial"/>
                        </a:rPr>
                        <a:t>Proj @12</a:t>
                      </a:r>
                    </a:p>
                  </a:txBody>
                  <a:tcPr>
                    <a:solidFill>
                      <a:srgbClr val="002060"/>
                    </a:solidFill>
                  </a:tcPr>
                </a:tc>
                <a:extLst>
                  <a:ext uri="{0D108BD9-81ED-4DB2-BD59-A6C34878D82A}">
                    <a16:rowId xmlns:a16="http://schemas.microsoft.com/office/drawing/2014/main" val="10000"/>
                  </a:ext>
                </a:extLst>
              </a:tr>
              <a:tr h="201168">
                <a:tc>
                  <a:txBody>
                    <a:bodyPr/>
                    <a:lstStyle/>
                    <a:p>
                      <a:pPr algn="ctr"/>
                      <a:r>
                        <a:rPr sz="750" b="1" i="0">
                          <a:solidFill>
                            <a:srgbClr val="262626"/>
                          </a:solidFill>
                          <a:latin typeface="Arial"/>
                        </a:rPr>
                        <a:t>9</a:t>
                      </a:r>
                    </a:p>
                  </a:txBody>
                  <a:tcPr>
                    <a:solidFill>
                      <a:srgbClr val="FFFFFF"/>
                    </a:solidFill>
                  </a:tcPr>
                </a:tc>
                <a:tc>
                  <a:txBody>
                    <a:bodyPr/>
                    <a:lstStyle/>
                    <a:p>
                      <a:pPr algn="l"/>
                      <a:r>
                        <a:rPr sz="750" b="0" i="0">
                          <a:solidFill>
                            <a:srgbClr val="262626"/>
                          </a:solidFill>
                          <a:latin typeface="Arial"/>
                        </a:rPr>
                        <a:t>Danielle Orie</a:t>
                      </a:r>
                    </a:p>
                  </a:txBody>
                  <a:tcPr>
                    <a:solidFill>
                      <a:srgbClr val="FFFFFF"/>
                    </a:solidFill>
                  </a:tcPr>
                </a:tc>
                <a:tc>
                  <a:txBody>
                    <a:bodyPr/>
                    <a:lstStyle/>
                    <a:p>
                      <a:pPr algn="ctr"/>
                      <a:r>
                        <a:rPr sz="750" b="1" i="0">
                          <a:solidFill>
                            <a:srgbClr val="262626"/>
                          </a:solidFill>
                          <a:latin typeface="Arial"/>
                        </a:rPr>
                        <a:t>1,146</a:t>
                      </a:r>
                    </a:p>
                  </a:txBody>
                  <a:tcPr>
                    <a:solidFill>
                      <a:srgbClr val="FFFFFF"/>
                    </a:solidFill>
                  </a:tcPr>
                </a:tc>
                <a:tc>
                  <a:txBody>
                    <a:bodyPr/>
                    <a:lstStyle/>
                    <a:p>
                      <a:pPr algn="ctr"/>
                      <a:r>
                        <a:rPr sz="750" b="0" i="0">
                          <a:solidFill>
                            <a:srgbClr val="262626"/>
                          </a:solidFill>
                          <a:latin typeface="Arial"/>
                        </a:rPr>
                        <a:t>4</a:t>
                      </a:r>
                    </a:p>
                  </a:txBody>
                  <a:tcPr>
                    <a:solidFill>
                      <a:srgbClr val="FFFFFF"/>
                    </a:solidFill>
                  </a:tcPr>
                </a:tc>
                <a:tc>
                  <a:txBody>
                    <a:bodyPr/>
                    <a:lstStyle/>
                    <a:p>
                      <a:pPr algn="ctr"/>
                      <a:r>
                        <a:rPr sz="750" b="1" i="0">
                          <a:solidFill>
                            <a:srgbClr val="1B7F3A"/>
                          </a:solidFill>
                          <a:latin typeface="Arial"/>
                        </a:rPr>
                        <a:t>2</a:t>
                      </a:r>
                    </a:p>
                  </a:txBody>
                  <a:tcPr>
                    <a:solidFill>
                      <a:srgbClr val="FFFFFF"/>
                    </a:solidFill>
                  </a:tcPr>
                </a:tc>
                <a:tc>
                  <a:txBody>
                    <a:bodyPr/>
                    <a:lstStyle/>
                    <a:p>
                      <a:pPr algn="ctr"/>
                      <a:r>
                        <a:rPr sz="750" b="1" i="0">
                          <a:solidFill>
                            <a:srgbClr val="C00000"/>
                          </a:solidFill>
                          <a:latin typeface="Arial"/>
                        </a:rPr>
                        <a:t>2</a:t>
                      </a:r>
                    </a:p>
                  </a:txBody>
                  <a:tcPr>
                    <a:solidFill>
                      <a:srgbClr val="FFFFFF"/>
                    </a:solidFill>
                  </a:tcPr>
                </a:tc>
                <a:tc>
                  <a:txBody>
                    <a:bodyPr/>
                    <a:lstStyle/>
                    <a:p>
                      <a:pPr algn="ctr"/>
                      <a:r>
                        <a:rPr sz="750" b="0" i="0">
                          <a:solidFill>
                            <a:srgbClr val="262626"/>
                          </a:solidFill>
                          <a:latin typeface="Arial"/>
                        </a:rPr>
                        <a:t>286</a:t>
                      </a:r>
                    </a:p>
                  </a:txBody>
                  <a:tcPr>
                    <a:solidFill>
                      <a:srgbClr val="FFFFFF"/>
                    </a:solidFill>
                  </a:tcPr>
                </a:tc>
                <a:tc>
                  <a:txBody>
                    <a:bodyPr/>
                    <a:lstStyle/>
                    <a:p>
                      <a:pPr algn="ctr"/>
                      <a:r>
                        <a:rPr sz="750" b="1" i="0">
                          <a:solidFill>
                            <a:srgbClr val="262626"/>
                          </a:solidFill>
                          <a:latin typeface="Arial"/>
                        </a:rPr>
                        <a:t>3,439</a:t>
                      </a:r>
                    </a:p>
                  </a:txBody>
                  <a:tcPr>
                    <a:solidFill>
                      <a:srgbClr val="FFFFFF"/>
                    </a:solidFill>
                  </a:tcPr>
                </a:tc>
                <a:extLst>
                  <a:ext uri="{0D108BD9-81ED-4DB2-BD59-A6C34878D82A}">
                    <a16:rowId xmlns:a16="http://schemas.microsoft.com/office/drawing/2014/main" val="10001"/>
                  </a:ext>
                </a:extLst>
              </a:tr>
              <a:tr h="201168">
                <a:tc>
                  <a:txBody>
                    <a:bodyPr/>
                    <a:lstStyle/>
                    <a:p>
                      <a:pPr algn="ctr"/>
                      <a:r>
                        <a:rPr sz="750" b="1" i="0">
                          <a:solidFill>
                            <a:srgbClr val="262626"/>
                          </a:solidFill>
                          <a:latin typeface="Arial"/>
                        </a:rPr>
                        <a:t>12</a:t>
                      </a:r>
                    </a:p>
                  </a:txBody>
                  <a:tcPr>
                    <a:solidFill>
                      <a:srgbClr val="F2F2F2"/>
                    </a:solidFill>
                  </a:tcPr>
                </a:tc>
                <a:tc>
                  <a:txBody>
                    <a:bodyPr/>
                    <a:lstStyle/>
                    <a:p>
                      <a:pPr algn="l"/>
                      <a:r>
                        <a:rPr sz="750" b="0" i="0">
                          <a:solidFill>
                            <a:srgbClr val="262626"/>
                          </a:solidFill>
                          <a:latin typeface="Arial"/>
                        </a:rPr>
                        <a:t>Taylor Knibb</a:t>
                      </a:r>
                    </a:p>
                  </a:txBody>
                  <a:tcPr>
                    <a:solidFill>
                      <a:srgbClr val="F2F2F2"/>
                    </a:solidFill>
                  </a:tcPr>
                </a:tc>
                <a:tc>
                  <a:txBody>
                    <a:bodyPr/>
                    <a:lstStyle/>
                    <a:p>
                      <a:pPr algn="ctr"/>
                      <a:r>
                        <a:rPr sz="750" b="1" i="0">
                          <a:solidFill>
                            <a:srgbClr val="262626"/>
                          </a:solidFill>
                          <a:latin typeface="Arial"/>
                        </a:rPr>
                        <a:t>921</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2</a:t>
                      </a:r>
                    </a:p>
                  </a:txBody>
                  <a:tcPr>
                    <a:solidFill>
                      <a:srgbClr val="F2F2F2"/>
                    </a:solidFill>
                  </a:tcPr>
                </a:tc>
                <a:tc>
                  <a:txBody>
                    <a:bodyPr/>
                    <a:lstStyle/>
                    <a:p>
                      <a:pPr algn="ctr"/>
                      <a:r>
                        <a:rPr sz="750" b="1" i="0">
                          <a:solidFill>
                            <a:srgbClr val="C00000"/>
                          </a:solidFill>
                          <a:latin typeface="Arial"/>
                        </a:rPr>
                        <a:t>0</a:t>
                      </a:r>
                    </a:p>
                  </a:txBody>
                  <a:tcPr>
                    <a:solidFill>
                      <a:srgbClr val="F2F2F2"/>
                    </a:solidFill>
                  </a:tcPr>
                </a:tc>
                <a:tc>
                  <a:txBody>
                    <a:bodyPr/>
                    <a:lstStyle/>
                    <a:p>
                      <a:pPr algn="ctr"/>
                      <a:r>
                        <a:rPr sz="750" b="0" i="0">
                          <a:solidFill>
                            <a:srgbClr val="262626"/>
                          </a:solidFill>
                          <a:latin typeface="Arial"/>
                        </a:rPr>
                        <a:t>460</a:t>
                      </a:r>
                    </a:p>
                  </a:txBody>
                  <a:tcPr>
                    <a:solidFill>
                      <a:srgbClr val="F2F2F2"/>
                    </a:solidFill>
                  </a:tcPr>
                </a:tc>
                <a:tc>
                  <a:txBody>
                    <a:bodyPr/>
                    <a:lstStyle/>
                    <a:p>
                      <a:pPr algn="ctr"/>
                      <a:r>
                        <a:rPr sz="750" b="1" i="0">
                          <a:solidFill>
                            <a:srgbClr val="1B7F3A"/>
                          </a:solidFill>
                          <a:latin typeface="Arial"/>
                        </a:rPr>
                        <a:t>5,526</a:t>
                      </a:r>
                    </a:p>
                  </a:txBody>
                  <a:tcPr>
                    <a:solidFill>
                      <a:srgbClr val="F2F2F2"/>
                    </a:solidFill>
                  </a:tcPr>
                </a:tc>
                <a:extLst>
                  <a:ext uri="{0D108BD9-81ED-4DB2-BD59-A6C34878D82A}">
                    <a16:rowId xmlns:a16="http://schemas.microsoft.com/office/drawing/2014/main" val="10002"/>
                  </a:ext>
                </a:extLst>
              </a:tr>
              <a:tr h="201168">
                <a:tc>
                  <a:txBody>
                    <a:bodyPr/>
                    <a:lstStyle/>
                    <a:p>
                      <a:pPr algn="ctr"/>
                      <a:r>
                        <a:rPr sz="750" b="1" i="0">
                          <a:solidFill>
                            <a:srgbClr val="262626"/>
                          </a:solidFill>
                          <a:latin typeface="Arial"/>
                        </a:rPr>
                        <a:t>18</a:t>
                      </a:r>
                    </a:p>
                  </a:txBody>
                  <a:tcPr>
                    <a:solidFill>
                      <a:srgbClr val="FFFFFF"/>
                    </a:solidFill>
                  </a:tcPr>
                </a:tc>
                <a:tc>
                  <a:txBody>
                    <a:bodyPr/>
                    <a:lstStyle/>
                    <a:p>
                      <a:pPr algn="l"/>
                      <a:r>
                        <a:rPr sz="750" b="0" i="0">
                          <a:solidFill>
                            <a:srgbClr val="262626"/>
                          </a:solidFill>
                          <a:latin typeface="Arial"/>
                        </a:rPr>
                        <a:t>Gina Sereno</a:t>
                      </a:r>
                    </a:p>
                  </a:txBody>
                  <a:tcPr>
                    <a:solidFill>
                      <a:srgbClr val="FFFFFF"/>
                    </a:solidFill>
                  </a:tcPr>
                </a:tc>
                <a:tc>
                  <a:txBody>
                    <a:bodyPr/>
                    <a:lstStyle/>
                    <a:p>
                      <a:pPr algn="ctr"/>
                      <a:r>
                        <a:rPr sz="750" b="1" i="0">
                          <a:solidFill>
                            <a:srgbClr val="262626"/>
                          </a:solidFill>
                          <a:latin typeface="Arial"/>
                        </a:rPr>
                        <a:t>704</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352</a:t>
                      </a:r>
                    </a:p>
                  </a:txBody>
                  <a:tcPr>
                    <a:solidFill>
                      <a:srgbClr val="FFFFFF"/>
                    </a:solidFill>
                  </a:tcPr>
                </a:tc>
                <a:tc>
                  <a:txBody>
                    <a:bodyPr/>
                    <a:lstStyle/>
                    <a:p>
                      <a:pPr algn="ctr"/>
                      <a:r>
                        <a:rPr sz="750" b="1" i="0">
                          <a:solidFill>
                            <a:srgbClr val="1B7F3A"/>
                          </a:solidFill>
                          <a:latin typeface="Arial"/>
                        </a:rPr>
                        <a:t>4,226</a:t>
                      </a:r>
                    </a:p>
                  </a:txBody>
                  <a:tcPr>
                    <a:solidFill>
                      <a:srgbClr val="FFFFFF"/>
                    </a:solidFill>
                  </a:tcPr>
                </a:tc>
                <a:extLst>
                  <a:ext uri="{0D108BD9-81ED-4DB2-BD59-A6C34878D82A}">
                    <a16:rowId xmlns:a16="http://schemas.microsoft.com/office/drawing/2014/main" val="10003"/>
                  </a:ext>
                </a:extLst>
              </a:tr>
              <a:tr h="201168">
                <a:tc>
                  <a:txBody>
                    <a:bodyPr/>
                    <a:lstStyle/>
                    <a:p>
                      <a:pPr algn="ctr"/>
                      <a:r>
                        <a:rPr sz="750" b="1" i="0">
                          <a:solidFill>
                            <a:srgbClr val="262626"/>
                          </a:solidFill>
                          <a:latin typeface="Arial"/>
                        </a:rPr>
                        <a:t>26</a:t>
                      </a:r>
                    </a:p>
                  </a:txBody>
                  <a:tcPr>
                    <a:solidFill>
                      <a:srgbClr val="F2F2F2"/>
                    </a:solidFill>
                  </a:tcPr>
                </a:tc>
                <a:tc>
                  <a:txBody>
                    <a:bodyPr/>
                    <a:lstStyle/>
                    <a:p>
                      <a:pPr algn="l"/>
                      <a:r>
                        <a:rPr sz="750" b="0" i="0">
                          <a:solidFill>
                            <a:srgbClr val="262626"/>
                          </a:solidFill>
                          <a:latin typeface="Arial"/>
                        </a:rPr>
                        <a:t>Taylor Spivey</a:t>
                      </a:r>
                    </a:p>
                  </a:txBody>
                  <a:tcPr>
                    <a:solidFill>
                      <a:srgbClr val="F2F2F2"/>
                    </a:solidFill>
                  </a:tcPr>
                </a:tc>
                <a:tc>
                  <a:txBody>
                    <a:bodyPr/>
                    <a:lstStyle/>
                    <a:p>
                      <a:pPr algn="ctr"/>
                      <a:r>
                        <a:rPr sz="750" b="1" i="0">
                          <a:solidFill>
                            <a:srgbClr val="262626"/>
                          </a:solidFill>
                          <a:latin typeface="Arial"/>
                        </a:rPr>
                        <a:t>579</a:t>
                      </a:r>
                    </a:p>
                  </a:txBody>
                  <a:tcPr>
                    <a:solidFill>
                      <a:srgbClr val="F2F2F2"/>
                    </a:solidFill>
                  </a:tcPr>
                </a:tc>
                <a:tc>
                  <a:txBody>
                    <a:bodyPr/>
                    <a:lstStyle/>
                    <a:p>
                      <a:pPr algn="ctr"/>
                      <a:r>
                        <a:rPr sz="750" b="0" i="0">
                          <a:solidFill>
                            <a:srgbClr val="262626"/>
                          </a:solidFill>
                          <a:latin typeface="Arial"/>
                        </a:rPr>
                        <a:t>1</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0</a:t>
                      </a:r>
                    </a:p>
                  </a:txBody>
                  <a:tcPr>
                    <a:solidFill>
                      <a:srgbClr val="F2F2F2"/>
                    </a:solidFill>
                  </a:tcPr>
                </a:tc>
                <a:tc>
                  <a:txBody>
                    <a:bodyPr/>
                    <a:lstStyle/>
                    <a:p>
                      <a:pPr algn="ctr"/>
                      <a:r>
                        <a:rPr sz="750" b="0" i="0">
                          <a:solidFill>
                            <a:srgbClr val="262626"/>
                          </a:solidFill>
                          <a:latin typeface="Arial"/>
                        </a:rPr>
                        <a:t>579</a:t>
                      </a:r>
                    </a:p>
                  </a:txBody>
                  <a:tcPr>
                    <a:solidFill>
                      <a:srgbClr val="F2F2F2"/>
                    </a:solidFill>
                  </a:tcPr>
                </a:tc>
                <a:tc>
                  <a:txBody>
                    <a:bodyPr/>
                    <a:lstStyle/>
                    <a:p>
                      <a:pPr algn="ctr"/>
                      <a:r>
                        <a:rPr sz="750" b="1" i="0">
                          <a:solidFill>
                            <a:srgbClr val="1B7F3A"/>
                          </a:solidFill>
                          <a:latin typeface="Arial"/>
                        </a:rPr>
                        <a:t>6,953</a:t>
                      </a:r>
                    </a:p>
                  </a:txBody>
                  <a:tcPr>
                    <a:solidFill>
                      <a:srgbClr val="F2F2F2"/>
                    </a:solidFill>
                  </a:tcPr>
                </a:tc>
                <a:extLst>
                  <a:ext uri="{0D108BD9-81ED-4DB2-BD59-A6C34878D82A}">
                    <a16:rowId xmlns:a16="http://schemas.microsoft.com/office/drawing/2014/main" val="10004"/>
                  </a:ext>
                </a:extLst>
              </a:tr>
              <a:tr h="201168">
                <a:tc>
                  <a:txBody>
                    <a:bodyPr/>
                    <a:lstStyle/>
                    <a:p>
                      <a:pPr algn="ctr"/>
                      <a:r>
                        <a:rPr sz="750" b="1" i="0">
                          <a:solidFill>
                            <a:srgbClr val="262626"/>
                          </a:solidFill>
                          <a:latin typeface="Arial"/>
                        </a:rPr>
                        <a:t>31</a:t>
                      </a:r>
                    </a:p>
                  </a:txBody>
                  <a:tcPr>
                    <a:solidFill>
                      <a:srgbClr val="FFFFFF"/>
                    </a:solidFill>
                  </a:tcPr>
                </a:tc>
                <a:tc>
                  <a:txBody>
                    <a:bodyPr/>
                    <a:lstStyle/>
                    <a:p>
                      <a:pPr algn="l"/>
                      <a:r>
                        <a:rPr sz="750" b="0" i="0">
                          <a:solidFill>
                            <a:srgbClr val="262626"/>
                          </a:solidFill>
                          <a:latin typeface="Arial"/>
                        </a:rPr>
                        <a:t>Eleanor Beveridge</a:t>
                      </a:r>
                    </a:p>
                  </a:txBody>
                  <a:tcPr>
                    <a:solidFill>
                      <a:srgbClr val="FFFFFF"/>
                    </a:solidFill>
                  </a:tcPr>
                </a:tc>
                <a:tc>
                  <a:txBody>
                    <a:bodyPr/>
                    <a:lstStyle/>
                    <a:p>
                      <a:pPr algn="ctr"/>
                      <a:r>
                        <a:rPr sz="750" b="1" i="0">
                          <a:solidFill>
                            <a:srgbClr val="262626"/>
                          </a:solidFill>
                          <a:latin typeface="Arial"/>
                        </a:rPr>
                        <a:t>519</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2</a:t>
                      </a:r>
                    </a:p>
                  </a:txBody>
                  <a:tcPr>
                    <a:solidFill>
                      <a:srgbClr val="FFFFFF"/>
                    </a:solidFill>
                  </a:tcPr>
                </a:tc>
                <a:tc>
                  <a:txBody>
                    <a:bodyPr/>
                    <a:lstStyle/>
                    <a:p>
                      <a:pPr algn="ctr"/>
                      <a:r>
                        <a:rPr sz="750" b="0" i="0">
                          <a:solidFill>
                            <a:srgbClr val="262626"/>
                          </a:solidFill>
                          <a:latin typeface="Arial"/>
                        </a:rPr>
                        <a:t>259</a:t>
                      </a:r>
                    </a:p>
                  </a:txBody>
                  <a:tcPr>
                    <a:solidFill>
                      <a:srgbClr val="FFFFFF"/>
                    </a:solidFill>
                  </a:tcPr>
                </a:tc>
                <a:tc>
                  <a:txBody>
                    <a:bodyPr/>
                    <a:lstStyle/>
                    <a:p>
                      <a:pPr algn="ctr"/>
                      <a:r>
                        <a:rPr sz="750" b="1" i="0">
                          <a:solidFill>
                            <a:srgbClr val="262626"/>
                          </a:solidFill>
                          <a:latin typeface="Arial"/>
                        </a:rPr>
                        <a:t>3,114</a:t>
                      </a:r>
                    </a:p>
                  </a:txBody>
                  <a:tcPr>
                    <a:solidFill>
                      <a:srgbClr val="FFFFFF"/>
                    </a:solidFill>
                  </a:tcPr>
                </a:tc>
                <a:extLst>
                  <a:ext uri="{0D108BD9-81ED-4DB2-BD59-A6C34878D82A}">
                    <a16:rowId xmlns:a16="http://schemas.microsoft.com/office/drawing/2014/main" val="10005"/>
                  </a:ext>
                </a:extLst>
              </a:tr>
              <a:tr h="201168">
                <a:tc>
                  <a:txBody>
                    <a:bodyPr/>
                    <a:lstStyle/>
                    <a:p>
                      <a:pPr algn="ctr"/>
                      <a:r>
                        <a:rPr sz="750" b="1" i="0">
                          <a:solidFill>
                            <a:srgbClr val="262626"/>
                          </a:solidFill>
                          <a:latin typeface="Arial"/>
                        </a:rPr>
                        <a:t>36</a:t>
                      </a:r>
                    </a:p>
                  </a:txBody>
                  <a:tcPr>
                    <a:solidFill>
                      <a:srgbClr val="F2F2F2"/>
                    </a:solidFill>
                  </a:tcPr>
                </a:tc>
                <a:tc>
                  <a:txBody>
                    <a:bodyPr/>
                    <a:lstStyle/>
                    <a:p>
                      <a:pPr algn="l"/>
                      <a:r>
                        <a:rPr sz="750" b="0" i="0">
                          <a:solidFill>
                            <a:srgbClr val="262626"/>
                          </a:solidFill>
                          <a:latin typeface="Arial"/>
                        </a:rPr>
                        <a:t>Gwen Jorgensen</a:t>
                      </a:r>
                    </a:p>
                  </a:txBody>
                  <a:tcPr>
                    <a:solidFill>
                      <a:srgbClr val="F2F2F2"/>
                    </a:solidFill>
                  </a:tcPr>
                </a:tc>
                <a:tc>
                  <a:txBody>
                    <a:bodyPr/>
                    <a:lstStyle/>
                    <a:p>
                      <a:pPr algn="ctr"/>
                      <a:r>
                        <a:rPr sz="750" b="1" i="0">
                          <a:solidFill>
                            <a:srgbClr val="262626"/>
                          </a:solidFill>
                          <a:latin typeface="Arial"/>
                        </a:rPr>
                        <a:t>495</a:t>
                      </a:r>
                    </a:p>
                  </a:txBody>
                  <a:tcPr>
                    <a:solidFill>
                      <a:srgbClr val="F2F2F2"/>
                    </a:solidFill>
                  </a:tcPr>
                </a:tc>
                <a:tc>
                  <a:txBody>
                    <a:bodyPr/>
                    <a:lstStyle/>
                    <a:p>
                      <a:pPr algn="ctr"/>
                      <a:r>
                        <a:rPr sz="750" b="0" i="0">
                          <a:solidFill>
                            <a:srgbClr val="262626"/>
                          </a:solidFill>
                          <a:latin typeface="Arial"/>
                        </a:rPr>
                        <a:t>1</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0</a:t>
                      </a:r>
                    </a:p>
                  </a:txBody>
                  <a:tcPr>
                    <a:solidFill>
                      <a:srgbClr val="F2F2F2"/>
                    </a:solidFill>
                  </a:tcPr>
                </a:tc>
                <a:tc>
                  <a:txBody>
                    <a:bodyPr/>
                    <a:lstStyle/>
                    <a:p>
                      <a:pPr algn="ctr"/>
                      <a:r>
                        <a:rPr sz="750" b="0" i="0">
                          <a:solidFill>
                            <a:srgbClr val="262626"/>
                          </a:solidFill>
                          <a:latin typeface="Arial"/>
                        </a:rPr>
                        <a:t>495</a:t>
                      </a:r>
                    </a:p>
                  </a:txBody>
                  <a:tcPr>
                    <a:solidFill>
                      <a:srgbClr val="F2F2F2"/>
                    </a:solidFill>
                  </a:tcPr>
                </a:tc>
                <a:tc>
                  <a:txBody>
                    <a:bodyPr/>
                    <a:lstStyle/>
                    <a:p>
                      <a:pPr algn="ctr"/>
                      <a:r>
                        <a:rPr sz="750" b="1" i="0">
                          <a:solidFill>
                            <a:srgbClr val="1B7F3A"/>
                          </a:solidFill>
                          <a:latin typeface="Arial"/>
                        </a:rPr>
                        <a:t>5,949</a:t>
                      </a:r>
                    </a:p>
                  </a:txBody>
                  <a:tcPr>
                    <a:solidFill>
                      <a:srgbClr val="F2F2F2"/>
                    </a:solidFill>
                  </a:tcPr>
                </a:tc>
                <a:extLst>
                  <a:ext uri="{0D108BD9-81ED-4DB2-BD59-A6C34878D82A}">
                    <a16:rowId xmlns:a16="http://schemas.microsoft.com/office/drawing/2014/main" val="10006"/>
                  </a:ext>
                </a:extLst>
              </a:tr>
              <a:tr h="201168">
                <a:tc>
                  <a:txBody>
                    <a:bodyPr/>
                    <a:lstStyle/>
                    <a:p>
                      <a:pPr algn="ctr"/>
                      <a:r>
                        <a:rPr sz="750" b="1" i="0">
                          <a:solidFill>
                            <a:srgbClr val="262626"/>
                          </a:solidFill>
                          <a:latin typeface="Arial"/>
                        </a:rPr>
                        <a:t>39</a:t>
                      </a:r>
                    </a:p>
                  </a:txBody>
                  <a:tcPr>
                    <a:solidFill>
                      <a:srgbClr val="FFFFFF"/>
                    </a:solidFill>
                  </a:tcPr>
                </a:tc>
                <a:tc>
                  <a:txBody>
                    <a:bodyPr/>
                    <a:lstStyle/>
                    <a:p>
                      <a:pPr algn="l"/>
                      <a:r>
                        <a:rPr sz="750" b="0" i="0">
                          <a:solidFill>
                            <a:srgbClr val="262626"/>
                          </a:solidFill>
                          <a:latin typeface="Arial"/>
                        </a:rPr>
                        <a:t>Kelly Wetteland</a:t>
                      </a:r>
                    </a:p>
                  </a:txBody>
                  <a:tcPr>
                    <a:solidFill>
                      <a:srgbClr val="FFFFFF"/>
                    </a:solidFill>
                  </a:tcPr>
                </a:tc>
                <a:tc>
                  <a:txBody>
                    <a:bodyPr/>
                    <a:lstStyle/>
                    <a:p>
                      <a:pPr algn="ctr"/>
                      <a:r>
                        <a:rPr sz="750" b="1" i="0">
                          <a:solidFill>
                            <a:srgbClr val="262626"/>
                          </a:solidFill>
                          <a:latin typeface="Arial"/>
                        </a:rPr>
                        <a:t>462</a:t>
                      </a:r>
                    </a:p>
                  </a:txBody>
                  <a:tcPr>
                    <a:solidFill>
                      <a:srgbClr val="FFFFFF"/>
                    </a:solidFill>
                  </a:tcPr>
                </a:tc>
                <a:tc>
                  <a:txBody>
                    <a:bodyPr/>
                    <a:lstStyle/>
                    <a:p>
                      <a:pPr algn="ctr"/>
                      <a:r>
                        <a:rPr sz="750" b="0" i="0">
                          <a:solidFill>
                            <a:srgbClr val="262626"/>
                          </a:solidFill>
                          <a:latin typeface="Arial"/>
                        </a:rPr>
                        <a:t>1</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0</a:t>
                      </a:r>
                    </a:p>
                  </a:txBody>
                  <a:tcPr>
                    <a:solidFill>
                      <a:srgbClr val="FFFFFF"/>
                    </a:solidFill>
                  </a:tcPr>
                </a:tc>
                <a:tc>
                  <a:txBody>
                    <a:bodyPr/>
                    <a:lstStyle/>
                    <a:p>
                      <a:pPr algn="ctr"/>
                      <a:r>
                        <a:rPr sz="750" b="0" i="0">
                          <a:solidFill>
                            <a:srgbClr val="262626"/>
                          </a:solidFill>
                          <a:latin typeface="Arial"/>
                        </a:rPr>
                        <a:t>462</a:t>
                      </a:r>
                    </a:p>
                  </a:txBody>
                  <a:tcPr>
                    <a:solidFill>
                      <a:srgbClr val="FFFFFF"/>
                    </a:solidFill>
                  </a:tcPr>
                </a:tc>
                <a:tc>
                  <a:txBody>
                    <a:bodyPr/>
                    <a:lstStyle/>
                    <a:p>
                      <a:pPr algn="ctr"/>
                      <a:r>
                        <a:rPr sz="750" b="1" i="0">
                          <a:solidFill>
                            <a:srgbClr val="1B7F3A"/>
                          </a:solidFill>
                          <a:latin typeface="Arial"/>
                        </a:rPr>
                        <a:t>5,550</a:t>
                      </a:r>
                    </a:p>
                  </a:txBody>
                  <a:tcPr>
                    <a:solidFill>
                      <a:srgbClr val="FFFFFF"/>
                    </a:solidFill>
                  </a:tcPr>
                </a:tc>
                <a:extLst>
                  <a:ext uri="{0D108BD9-81ED-4DB2-BD59-A6C34878D82A}">
                    <a16:rowId xmlns:a16="http://schemas.microsoft.com/office/drawing/2014/main" val="10007"/>
                  </a:ext>
                </a:extLst>
              </a:tr>
              <a:tr h="201168">
                <a:tc>
                  <a:txBody>
                    <a:bodyPr/>
                    <a:lstStyle/>
                    <a:p>
                      <a:pPr algn="ctr"/>
                      <a:r>
                        <a:rPr sz="750" b="1" i="0">
                          <a:solidFill>
                            <a:srgbClr val="262626"/>
                          </a:solidFill>
                          <a:latin typeface="Arial"/>
                        </a:rPr>
                        <a:t>40</a:t>
                      </a:r>
                    </a:p>
                  </a:txBody>
                  <a:tcPr>
                    <a:solidFill>
                      <a:srgbClr val="F2F2F2"/>
                    </a:solidFill>
                  </a:tcPr>
                </a:tc>
                <a:tc>
                  <a:txBody>
                    <a:bodyPr/>
                    <a:lstStyle/>
                    <a:p>
                      <a:pPr algn="l"/>
                      <a:r>
                        <a:rPr sz="750" b="0" i="0">
                          <a:solidFill>
                            <a:srgbClr val="262626"/>
                          </a:solidFill>
                          <a:latin typeface="Arial"/>
                        </a:rPr>
                        <a:t>Naomi Ruff</a:t>
                      </a:r>
                    </a:p>
                  </a:txBody>
                  <a:tcPr>
                    <a:solidFill>
                      <a:srgbClr val="F2F2F2"/>
                    </a:solidFill>
                  </a:tcPr>
                </a:tc>
                <a:tc>
                  <a:txBody>
                    <a:bodyPr/>
                    <a:lstStyle/>
                    <a:p>
                      <a:pPr algn="ctr"/>
                      <a:r>
                        <a:rPr sz="750" b="1" i="0">
                          <a:solidFill>
                            <a:srgbClr val="262626"/>
                          </a:solidFill>
                          <a:latin typeface="Arial"/>
                        </a:rPr>
                        <a:t>460</a:t>
                      </a:r>
                    </a:p>
                  </a:txBody>
                  <a:tcPr>
                    <a:solidFill>
                      <a:srgbClr val="F2F2F2"/>
                    </a:solidFill>
                  </a:tcPr>
                </a:tc>
                <a:tc>
                  <a:txBody>
                    <a:bodyPr/>
                    <a:lstStyle/>
                    <a:p>
                      <a:pPr algn="ctr"/>
                      <a:r>
                        <a:rPr sz="750" b="0" i="0">
                          <a:solidFill>
                            <a:srgbClr val="262626"/>
                          </a:solidFill>
                          <a:latin typeface="Arial"/>
                        </a:rPr>
                        <a:t>1</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0</a:t>
                      </a:r>
                    </a:p>
                  </a:txBody>
                  <a:tcPr>
                    <a:solidFill>
                      <a:srgbClr val="F2F2F2"/>
                    </a:solidFill>
                  </a:tcPr>
                </a:tc>
                <a:tc>
                  <a:txBody>
                    <a:bodyPr/>
                    <a:lstStyle/>
                    <a:p>
                      <a:pPr algn="ctr"/>
                      <a:r>
                        <a:rPr sz="750" b="0" i="0">
                          <a:solidFill>
                            <a:srgbClr val="262626"/>
                          </a:solidFill>
                          <a:latin typeface="Arial"/>
                        </a:rPr>
                        <a:t>460</a:t>
                      </a:r>
                    </a:p>
                  </a:txBody>
                  <a:tcPr>
                    <a:solidFill>
                      <a:srgbClr val="F2F2F2"/>
                    </a:solidFill>
                  </a:tcPr>
                </a:tc>
                <a:tc>
                  <a:txBody>
                    <a:bodyPr/>
                    <a:lstStyle/>
                    <a:p>
                      <a:pPr algn="ctr"/>
                      <a:r>
                        <a:rPr sz="750" b="1" i="0">
                          <a:solidFill>
                            <a:srgbClr val="1B7F3A"/>
                          </a:solidFill>
                          <a:latin typeface="Arial"/>
                        </a:rPr>
                        <a:t>5,526</a:t>
                      </a:r>
                    </a:p>
                  </a:txBody>
                  <a:tcPr>
                    <a:solidFill>
                      <a:srgbClr val="F2F2F2"/>
                    </a:solidFill>
                  </a:tcPr>
                </a:tc>
                <a:extLst>
                  <a:ext uri="{0D108BD9-81ED-4DB2-BD59-A6C34878D82A}">
                    <a16:rowId xmlns:a16="http://schemas.microsoft.com/office/drawing/2014/main" val="10008"/>
                  </a:ext>
                </a:extLst>
              </a:tr>
              <a:tr h="201168">
                <a:tc>
                  <a:txBody>
                    <a:bodyPr/>
                    <a:lstStyle/>
                    <a:p>
                      <a:pPr algn="ctr"/>
                      <a:r>
                        <a:rPr sz="750" b="1" i="0">
                          <a:solidFill>
                            <a:srgbClr val="262626"/>
                          </a:solidFill>
                          <a:latin typeface="Arial"/>
                        </a:rPr>
                        <a:t>86</a:t>
                      </a:r>
                    </a:p>
                  </a:txBody>
                  <a:tcPr>
                    <a:solidFill>
                      <a:srgbClr val="FFFFFF"/>
                    </a:solidFill>
                  </a:tcPr>
                </a:tc>
                <a:tc>
                  <a:txBody>
                    <a:bodyPr/>
                    <a:lstStyle/>
                    <a:p>
                      <a:pPr algn="l"/>
                      <a:r>
                        <a:rPr sz="750" b="0" i="0">
                          <a:solidFill>
                            <a:srgbClr val="262626"/>
                          </a:solidFill>
                          <a:latin typeface="Arial"/>
                        </a:rPr>
                        <a:t>Rachel Werking</a:t>
                      </a:r>
                    </a:p>
                  </a:txBody>
                  <a:tcPr>
                    <a:solidFill>
                      <a:srgbClr val="FFFFFF"/>
                    </a:solidFill>
                  </a:tcPr>
                </a:tc>
                <a:tc>
                  <a:txBody>
                    <a:bodyPr/>
                    <a:lstStyle/>
                    <a:p>
                      <a:pPr algn="ctr"/>
                      <a:r>
                        <a:rPr sz="750" b="1" i="0">
                          <a:solidFill>
                            <a:srgbClr val="262626"/>
                          </a:solidFill>
                          <a:latin typeface="Arial"/>
                        </a:rPr>
                        <a:t>181</a:t>
                      </a:r>
                    </a:p>
                  </a:txBody>
                  <a:tcPr>
                    <a:solidFill>
                      <a:srgbClr val="FFFFFF"/>
                    </a:solidFill>
                  </a:tcPr>
                </a:tc>
                <a:tc>
                  <a:txBody>
                    <a:bodyPr/>
                    <a:lstStyle/>
                    <a:p>
                      <a:pPr algn="ctr"/>
                      <a:r>
                        <a:rPr sz="750" b="0" i="0">
                          <a:solidFill>
                            <a:srgbClr val="262626"/>
                          </a:solidFill>
                          <a:latin typeface="Arial"/>
                        </a:rPr>
                        <a:t>1</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181</a:t>
                      </a:r>
                    </a:p>
                  </a:txBody>
                  <a:tcPr>
                    <a:solidFill>
                      <a:srgbClr val="FFFFFF"/>
                    </a:solidFill>
                  </a:tcPr>
                </a:tc>
                <a:tc>
                  <a:txBody>
                    <a:bodyPr/>
                    <a:lstStyle/>
                    <a:p>
                      <a:pPr algn="ctr"/>
                      <a:r>
                        <a:rPr sz="750" b="1" i="0">
                          <a:solidFill>
                            <a:srgbClr val="262626"/>
                          </a:solidFill>
                          <a:latin typeface="Arial"/>
                        </a:rPr>
                        <a:t>2,178</a:t>
                      </a:r>
                    </a:p>
                  </a:txBody>
                  <a:tcPr>
                    <a:solidFill>
                      <a:srgbClr val="FFFFFF"/>
                    </a:solidFill>
                  </a:tcPr>
                </a:tc>
                <a:extLst>
                  <a:ext uri="{0D108BD9-81ED-4DB2-BD59-A6C34878D82A}">
                    <a16:rowId xmlns:a16="http://schemas.microsoft.com/office/drawing/2014/main" val="10009"/>
                  </a:ext>
                </a:extLst>
              </a:tr>
              <a:tr h="201168">
                <a:tc>
                  <a:txBody>
                    <a:bodyPr/>
                    <a:lstStyle/>
                    <a:p>
                      <a:pPr algn="ctr"/>
                      <a:r>
                        <a:rPr sz="750" b="1" i="0">
                          <a:solidFill>
                            <a:srgbClr val="262626"/>
                          </a:solidFill>
                          <a:latin typeface="Arial"/>
                        </a:rPr>
                        <a:t>90</a:t>
                      </a:r>
                    </a:p>
                  </a:txBody>
                  <a:tcPr>
                    <a:solidFill>
                      <a:srgbClr val="F2F2F2"/>
                    </a:solidFill>
                  </a:tcPr>
                </a:tc>
                <a:tc>
                  <a:txBody>
                    <a:bodyPr/>
                    <a:lstStyle/>
                    <a:p>
                      <a:pPr algn="l"/>
                      <a:r>
                        <a:rPr sz="750" b="0" i="0">
                          <a:solidFill>
                            <a:srgbClr val="262626"/>
                          </a:solidFill>
                          <a:latin typeface="Arial"/>
                        </a:rPr>
                        <a:t>Joy Gill</a:t>
                      </a:r>
                    </a:p>
                  </a:txBody>
                  <a:tcPr>
                    <a:solidFill>
                      <a:srgbClr val="F2F2F2"/>
                    </a:solidFill>
                  </a:tcPr>
                </a:tc>
                <a:tc>
                  <a:txBody>
                    <a:bodyPr/>
                    <a:lstStyle/>
                    <a:p>
                      <a:pPr algn="ctr"/>
                      <a:r>
                        <a:rPr sz="750" b="1" i="0">
                          <a:solidFill>
                            <a:srgbClr val="262626"/>
                          </a:solidFill>
                          <a:latin typeface="Arial"/>
                        </a:rPr>
                        <a:t>167</a:t>
                      </a:r>
                    </a:p>
                  </a:txBody>
                  <a:tcPr>
                    <a:solidFill>
                      <a:srgbClr val="F2F2F2"/>
                    </a:solidFill>
                  </a:tcPr>
                </a:tc>
                <a:tc>
                  <a:txBody>
                    <a:bodyPr/>
                    <a:lstStyle/>
                    <a:p>
                      <a:pPr algn="ctr"/>
                      <a:r>
                        <a:rPr sz="750" b="0" i="0">
                          <a:solidFill>
                            <a:srgbClr val="262626"/>
                          </a:solidFill>
                          <a:latin typeface="Arial"/>
                        </a:rPr>
                        <a:t>1</a:t>
                      </a:r>
                    </a:p>
                  </a:txBody>
                  <a:tcPr>
                    <a:solidFill>
                      <a:srgbClr val="F2F2F2"/>
                    </a:solidFill>
                  </a:tcPr>
                </a:tc>
                <a:tc>
                  <a:txBody>
                    <a:bodyPr/>
                    <a:lstStyle/>
                    <a:p>
                      <a:pPr algn="ctr"/>
                      <a:r>
                        <a:rPr sz="750" b="1" i="0">
                          <a:solidFill>
                            <a:srgbClr val="1B7F3A"/>
                          </a:solidFill>
                          <a:latin typeface="Arial"/>
                        </a:rPr>
                        <a:t>0</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167</a:t>
                      </a:r>
                    </a:p>
                  </a:txBody>
                  <a:tcPr>
                    <a:solidFill>
                      <a:srgbClr val="F2F2F2"/>
                    </a:solidFill>
                  </a:tcPr>
                </a:tc>
                <a:tc>
                  <a:txBody>
                    <a:bodyPr/>
                    <a:lstStyle/>
                    <a:p>
                      <a:pPr algn="ctr"/>
                      <a:r>
                        <a:rPr sz="750" b="1" i="0">
                          <a:solidFill>
                            <a:srgbClr val="262626"/>
                          </a:solidFill>
                          <a:latin typeface="Arial"/>
                        </a:rPr>
                        <a:t>2,014</a:t>
                      </a:r>
                    </a:p>
                  </a:txBody>
                  <a:tcPr>
                    <a:solidFill>
                      <a:srgbClr val="F2F2F2"/>
                    </a:solidFill>
                  </a:tcPr>
                </a:tc>
                <a:extLst>
                  <a:ext uri="{0D108BD9-81ED-4DB2-BD59-A6C34878D82A}">
                    <a16:rowId xmlns:a16="http://schemas.microsoft.com/office/drawing/2014/main" val="10010"/>
                  </a:ext>
                </a:extLst>
              </a:tr>
              <a:tr h="201168">
                <a:tc>
                  <a:txBody>
                    <a:bodyPr/>
                    <a:lstStyle/>
                    <a:p>
                      <a:pPr algn="ctr"/>
                      <a:r>
                        <a:rPr sz="750" b="1" i="0">
                          <a:solidFill>
                            <a:srgbClr val="262626"/>
                          </a:solidFill>
                          <a:latin typeface="Arial"/>
                        </a:rPr>
                        <a:t>103</a:t>
                      </a:r>
                    </a:p>
                  </a:txBody>
                  <a:tcPr>
                    <a:solidFill>
                      <a:srgbClr val="FFFFFF"/>
                    </a:solidFill>
                  </a:tcPr>
                </a:tc>
                <a:tc>
                  <a:txBody>
                    <a:bodyPr/>
                    <a:lstStyle/>
                    <a:p>
                      <a:pPr algn="l"/>
                      <a:r>
                        <a:rPr sz="750" b="0" i="0">
                          <a:solidFill>
                            <a:srgbClr val="262626"/>
                          </a:solidFill>
                          <a:latin typeface="Arial"/>
                        </a:rPr>
                        <a:t>Kirsten Kasper</a:t>
                      </a:r>
                    </a:p>
                  </a:txBody>
                  <a:tcPr>
                    <a:solidFill>
                      <a:srgbClr val="FFFFFF"/>
                    </a:solidFill>
                  </a:tcPr>
                </a:tc>
                <a:tc>
                  <a:txBody>
                    <a:bodyPr/>
                    <a:lstStyle/>
                    <a:p>
                      <a:pPr algn="ctr"/>
                      <a:r>
                        <a:rPr sz="750" b="1" i="0">
                          <a:solidFill>
                            <a:srgbClr val="262626"/>
                          </a:solidFill>
                          <a:latin typeface="Arial"/>
                        </a:rPr>
                        <a:t>112</a:t>
                      </a:r>
                    </a:p>
                  </a:txBody>
                  <a:tcPr>
                    <a:solidFill>
                      <a:srgbClr val="FFFFFF"/>
                    </a:solidFill>
                  </a:tcPr>
                </a:tc>
                <a:tc>
                  <a:txBody>
                    <a:bodyPr/>
                    <a:lstStyle/>
                    <a:p>
                      <a:pPr algn="ctr"/>
                      <a:r>
                        <a:rPr sz="750" b="0" i="0">
                          <a:solidFill>
                            <a:srgbClr val="262626"/>
                          </a:solidFill>
                          <a:latin typeface="Arial"/>
                        </a:rPr>
                        <a:t>1</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112</a:t>
                      </a:r>
                    </a:p>
                  </a:txBody>
                  <a:tcPr>
                    <a:solidFill>
                      <a:srgbClr val="FFFFFF"/>
                    </a:solidFill>
                  </a:tcPr>
                </a:tc>
                <a:tc>
                  <a:txBody>
                    <a:bodyPr/>
                    <a:lstStyle/>
                    <a:p>
                      <a:pPr algn="ctr"/>
                      <a:r>
                        <a:rPr sz="750" b="1" i="0">
                          <a:solidFill>
                            <a:srgbClr val="262626"/>
                          </a:solidFill>
                          <a:latin typeface="Arial"/>
                        </a:rPr>
                        <a:t>1,353</a:t>
                      </a:r>
                    </a:p>
                  </a:txBody>
                  <a:tcPr>
                    <a:solidFill>
                      <a:srgbClr val="FFFFFF"/>
                    </a:solidFill>
                  </a:tcPr>
                </a:tc>
                <a:extLst>
                  <a:ext uri="{0D108BD9-81ED-4DB2-BD59-A6C34878D82A}">
                    <a16:rowId xmlns:a16="http://schemas.microsoft.com/office/drawing/2014/main" val="10011"/>
                  </a:ext>
                </a:extLst>
              </a:tr>
            </a:tbl>
          </a:graphicData>
        </a:graphic>
      </p:graphicFrame>
      <p:sp>
        <p:nvSpPr>
          <p:cNvPr id="20" name="TextBox 19"/>
          <p:cNvSpPr txBox="1"/>
          <p:nvPr/>
        </p:nvSpPr>
        <p:spPr>
          <a:xfrm>
            <a:off x="274320" y="6419088"/>
            <a:ext cx="11640312" cy="274320"/>
          </a:xfrm>
          <a:prstGeom prst="rect">
            <a:avLst/>
          </a:prstGeom>
          <a:noFill/>
        </p:spPr>
        <p:txBody>
          <a:bodyPr wrap="square">
            <a:spAutoFit/>
          </a:bodyPr>
          <a:lstStyle/>
          <a:p>
            <a:pPr algn="ctr"/>
            <a:r>
              <a:rPr sz="800" b="0" i="1">
                <a:solidFill>
                  <a:srgbClr val="BFBFBF"/>
                </a:solidFill>
                <a:latin typeface="Arial"/>
              </a:rPr>
              <a:t>On = events scoring ≥ pace.  Off = events &lt; pace.  Pace = total breakdown pts ÷ events raced.  Proj @12 = current total + (avg pts × remaining events to cap); green if ≥ Paris cutoff.  Cutoff estimate: Paris 2024 = 3,627 pts / 12 events = 302 pts/event.  Tier positions use a geometric 0.925 points model.  Source: World Triathlon rankings database.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USA Olympic Qualification Snapshot</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70432"/>
            <a:ext cx="11430000" cy="256032"/>
          </a:xfrm>
          <a:prstGeom prst="rect">
            <a:avLst/>
          </a:prstGeom>
          <a:noFill/>
        </p:spPr>
        <p:txBody>
          <a:bodyPr wrap="square">
            <a:spAutoFit/>
          </a:bodyPr>
          <a:lstStyle/>
          <a:p>
            <a:pPr algn="ctr"/>
            <a:r>
              <a:rPr sz="1200" b="1" i="0">
                <a:solidFill>
                  <a:srgbClr val="002060"/>
                </a:solidFill>
                <a:latin typeface="Arial"/>
              </a:rPr>
              <a:t>As of 2026-07-06   •   Olympic Qualification Rankings (LA 2028 cycle)   •   Heading into Hamburg</a:t>
            </a:r>
          </a:p>
        </p:txBody>
      </p:sp>
      <p:sp>
        <p:nvSpPr>
          <p:cNvPr id="10" name="Rectangle 9"/>
          <p:cNvSpPr/>
          <p:nvPr/>
        </p:nvSpPr>
        <p:spPr>
          <a:xfrm>
            <a:off x="274320" y="16916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1719072"/>
            <a:ext cx="5788152" cy="237744"/>
          </a:xfrm>
          <a:prstGeom prst="rect">
            <a:avLst/>
          </a:prstGeom>
          <a:noFill/>
        </p:spPr>
        <p:txBody>
          <a:bodyPr wrap="square">
            <a:spAutoFit/>
          </a:bodyPr>
          <a:lstStyle/>
          <a:p>
            <a:pPr algn="ctr"/>
            <a:r>
              <a:rPr sz="1100" b="1" i="0">
                <a:solidFill>
                  <a:srgbClr val="FFFFFF"/>
                </a:solidFill>
                <a:latin typeface="Arial"/>
              </a:rPr>
              <a:t>ELITE MEN</a:t>
            </a:r>
          </a:p>
        </p:txBody>
      </p:sp>
      <p:graphicFrame>
        <p:nvGraphicFramePr>
          <p:cNvPr id="12" name="Table 11"/>
          <p:cNvGraphicFramePr>
            <a:graphicFrameLocks noGrp="1"/>
          </p:cNvGraphicFramePr>
          <p:nvPr/>
        </p:nvGraphicFramePr>
        <p:xfrm>
          <a:off x="274320" y="2020824"/>
          <a:ext cx="5787236" cy="2916936"/>
        </p:xfrm>
        <a:graphic>
          <a:graphicData uri="http://schemas.openxmlformats.org/drawingml/2006/table">
            <a:tbl>
              <a:tblPr firstRow="1" bandRow="1">
                <a:tableStyleId>{5C22544A-7EE6-4342-B048-85BDC9FD1C3A}</a:tableStyleId>
              </a:tblPr>
              <a:tblGrid>
                <a:gridCol w="783640">
                  <a:extLst>
                    <a:ext uri="{9D8B030D-6E8A-4147-A177-3AD203B41FA5}">
                      <a16:colId xmlns:a16="http://schemas.microsoft.com/office/drawing/2014/main" val="20000"/>
                    </a:ext>
                  </a:extLst>
                </a:gridCol>
                <a:gridCol w="2531973">
                  <a:extLst>
                    <a:ext uri="{9D8B030D-6E8A-4147-A177-3AD203B41FA5}">
                      <a16:colId xmlns:a16="http://schemas.microsoft.com/office/drawing/2014/main" val="20001"/>
                    </a:ext>
                  </a:extLst>
                </a:gridCol>
                <a:gridCol w="1136599">
                  <a:extLst>
                    <a:ext uri="{9D8B030D-6E8A-4147-A177-3AD203B41FA5}">
                      <a16:colId xmlns:a16="http://schemas.microsoft.com/office/drawing/2014/main" val="20002"/>
                    </a:ext>
                  </a:extLst>
                </a:gridCol>
                <a:gridCol w="672084">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tblGrid>
              <a:tr h="224028">
                <a:tc>
                  <a:txBody>
                    <a:bodyPr/>
                    <a:lstStyle/>
                    <a:p>
                      <a:pPr algn="ctr"/>
                      <a:r>
                        <a:rPr sz="900" b="1" i="0">
                          <a:solidFill>
                            <a:srgbClr val="FFFFFF"/>
                          </a:solidFill>
                          <a:latin typeface="Arial"/>
                        </a:rPr>
                        <a:t>Rank</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Points</a:t>
                      </a:r>
                    </a:p>
                  </a:txBody>
                  <a:tcPr>
                    <a:solidFill>
                      <a:srgbClr val="002060"/>
                    </a:solidFill>
                  </a:tcPr>
                </a:tc>
                <a:tc>
                  <a:txBody>
                    <a:bodyPr/>
                    <a:lstStyle/>
                    <a:p>
                      <a:pPr algn="ctr"/>
                      <a:r>
                        <a:rPr sz="900" b="1" i="0">
                          <a:solidFill>
                            <a:srgbClr val="FFFFFF"/>
                          </a:solidFill>
                          <a:latin typeface="Arial"/>
                        </a:rPr>
                        <a:t>Second</a:t>
                      </a:r>
                    </a:p>
                  </a:txBody>
                  <a:tcPr>
                    <a:solidFill>
                      <a:srgbClr val="002060"/>
                    </a:solidFill>
                  </a:tcPr>
                </a:tc>
                <a:tc>
                  <a:txBody>
                    <a:bodyPr/>
                    <a:lstStyle/>
                    <a:p>
                      <a:pPr algn="ctr"/>
                      <a:r>
                        <a:rPr sz="900" b="1" i="0">
                          <a:solidFill>
                            <a:srgbClr val="FFFFFF"/>
                          </a:solidFill>
                          <a:latin typeface="Arial"/>
                        </a:rPr>
                        <a:t>First</a:t>
                      </a:r>
                    </a:p>
                  </a:txBody>
                  <a:tcPr>
                    <a:solidFill>
                      <a:srgbClr val="002060"/>
                    </a:solidFill>
                  </a:tcPr>
                </a:tc>
                <a:extLst>
                  <a:ext uri="{0D108BD9-81ED-4DB2-BD59-A6C34878D82A}">
                    <a16:rowId xmlns:a16="http://schemas.microsoft.com/office/drawing/2014/main" val="10000"/>
                  </a:ext>
                </a:extLst>
              </a:tr>
              <a:tr h="224028">
                <a:tc>
                  <a:txBody>
                    <a:bodyPr/>
                    <a:lstStyle/>
                    <a:p>
                      <a:pPr algn="ctr"/>
                      <a:r>
                        <a:rPr sz="850" b="1" i="0">
                          <a:solidFill>
                            <a:srgbClr val="262626"/>
                          </a:solidFill>
                          <a:latin typeface="Arial"/>
                        </a:rPr>
                        <a:t>8</a:t>
                      </a:r>
                    </a:p>
                  </a:txBody>
                  <a:tcPr>
                    <a:solidFill>
                      <a:srgbClr val="FFFFFF"/>
                    </a:solidFill>
                  </a:tcPr>
                </a:tc>
                <a:tc>
                  <a:txBody>
                    <a:bodyPr/>
                    <a:lstStyle/>
                    <a:p>
                      <a:pPr algn="l"/>
                      <a:r>
                        <a:rPr sz="850" b="0" i="0">
                          <a:solidFill>
                            <a:srgbClr val="262626"/>
                          </a:solidFill>
                          <a:latin typeface="Arial"/>
                        </a:rPr>
                        <a:t>Reese Vannerson</a:t>
                      </a:r>
                    </a:p>
                  </a:txBody>
                  <a:tcPr>
                    <a:solidFill>
                      <a:srgbClr val="FFFFFF"/>
                    </a:solidFill>
                  </a:tcPr>
                </a:tc>
                <a:tc>
                  <a:txBody>
                    <a:bodyPr/>
                    <a:lstStyle/>
                    <a:p>
                      <a:pPr algn="ctr"/>
                      <a:r>
                        <a:rPr sz="850" b="0" i="0">
                          <a:solidFill>
                            <a:srgbClr val="262626"/>
                          </a:solidFill>
                          <a:latin typeface="Arial"/>
                        </a:rPr>
                        <a:t>980</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01"/>
                  </a:ext>
                </a:extLst>
              </a:tr>
              <a:tr h="224028">
                <a:tc>
                  <a:txBody>
                    <a:bodyPr/>
                    <a:lstStyle/>
                    <a:p>
                      <a:pPr algn="ctr"/>
                      <a:r>
                        <a:rPr sz="850" b="1" i="0">
                          <a:solidFill>
                            <a:srgbClr val="262626"/>
                          </a:solidFill>
                          <a:latin typeface="Arial"/>
                        </a:rPr>
                        <a:t>16</a:t>
                      </a:r>
                    </a:p>
                  </a:txBody>
                  <a:tcPr>
                    <a:solidFill>
                      <a:srgbClr val="F2F2F2"/>
                    </a:solidFill>
                  </a:tcPr>
                </a:tc>
                <a:tc>
                  <a:txBody>
                    <a:bodyPr/>
                    <a:lstStyle/>
                    <a:p>
                      <a:pPr algn="l"/>
                      <a:r>
                        <a:rPr sz="850" b="0" i="0">
                          <a:solidFill>
                            <a:srgbClr val="262626"/>
                          </a:solidFill>
                          <a:latin typeface="Arial"/>
                        </a:rPr>
                        <a:t>Chase McQueen</a:t>
                      </a:r>
                    </a:p>
                  </a:txBody>
                  <a:tcPr>
                    <a:solidFill>
                      <a:srgbClr val="F2F2F2"/>
                    </a:solidFill>
                  </a:tcPr>
                </a:tc>
                <a:tc>
                  <a:txBody>
                    <a:bodyPr/>
                    <a:lstStyle/>
                    <a:p>
                      <a:pPr algn="ctr"/>
                      <a:r>
                        <a:rPr sz="850" b="0" i="0">
                          <a:solidFill>
                            <a:srgbClr val="262626"/>
                          </a:solidFill>
                          <a:latin typeface="Arial"/>
                        </a:rPr>
                        <a:t>764</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3</a:t>
                      </a:r>
                    </a:p>
                  </a:txBody>
                  <a:tcPr>
                    <a:solidFill>
                      <a:srgbClr val="F2F2F2"/>
                    </a:solidFill>
                  </a:tcPr>
                </a:tc>
                <a:extLst>
                  <a:ext uri="{0D108BD9-81ED-4DB2-BD59-A6C34878D82A}">
                    <a16:rowId xmlns:a16="http://schemas.microsoft.com/office/drawing/2014/main" val="10002"/>
                  </a:ext>
                </a:extLst>
              </a:tr>
              <a:tr h="224028">
                <a:tc>
                  <a:txBody>
                    <a:bodyPr/>
                    <a:lstStyle/>
                    <a:p>
                      <a:pPr algn="ctr"/>
                      <a:r>
                        <a:rPr sz="850" b="1" i="0">
                          <a:solidFill>
                            <a:srgbClr val="262626"/>
                          </a:solidFill>
                          <a:latin typeface="Arial"/>
                        </a:rPr>
                        <a:t>21</a:t>
                      </a:r>
                    </a:p>
                  </a:txBody>
                  <a:tcPr>
                    <a:solidFill>
                      <a:srgbClr val="FFFFFF"/>
                    </a:solidFill>
                  </a:tcPr>
                </a:tc>
                <a:tc>
                  <a:txBody>
                    <a:bodyPr/>
                    <a:lstStyle/>
                    <a:p>
                      <a:pPr algn="l"/>
                      <a:r>
                        <a:rPr sz="850" b="0" i="0">
                          <a:solidFill>
                            <a:srgbClr val="262626"/>
                          </a:solidFill>
                          <a:latin typeface="Arial"/>
                        </a:rPr>
                        <a:t>Sullivan Middaugh</a:t>
                      </a:r>
                    </a:p>
                  </a:txBody>
                  <a:tcPr>
                    <a:solidFill>
                      <a:srgbClr val="FFFFFF"/>
                    </a:solidFill>
                  </a:tcPr>
                </a:tc>
                <a:tc>
                  <a:txBody>
                    <a:bodyPr/>
                    <a:lstStyle/>
                    <a:p>
                      <a:pPr algn="ctr"/>
                      <a:r>
                        <a:rPr sz="850" b="0" i="0">
                          <a:solidFill>
                            <a:srgbClr val="262626"/>
                          </a:solidFill>
                          <a:latin typeface="Arial"/>
                        </a:rPr>
                        <a:t>677</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03"/>
                  </a:ext>
                </a:extLst>
              </a:tr>
              <a:tr h="224028">
                <a:tc>
                  <a:txBody>
                    <a:bodyPr/>
                    <a:lstStyle/>
                    <a:p>
                      <a:pPr algn="ctr"/>
                      <a:r>
                        <a:rPr sz="850" b="1" i="0">
                          <a:solidFill>
                            <a:srgbClr val="262626"/>
                          </a:solidFill>
                          <a:latin typeface="Arial"/>
                        </a:rPr>
                        <a:t>27</a:t>
                      </a:r>
                    </a:p>
                  </a:txBody>
                  <a:tcPr>
                    <a:solidFill>
                      <a:srgbClr val="F2F2F2"/>
                    </a:solidFill>
                  </a:tcPr>
                </a:tc>
                <a:tc>
                  <a:txBody>
                    <a:bodyPr/>
                    <a:lstStyle/>
                    <a:p>
                      <a:pPr algn="l"/>
                      <a:r>
                        <a:rPr sz="850" b="0" i="0">
                          <a:solidFill>
                            <a:srgbClr val="262626"/>
                          </a:solidFill>
                          <a:latin typeface="Arial"/>
                        </a:rPr>
                        <a:t>John Reed</a:t>
                      </a:r>
                    </a:p>
                  </a:txBody>
                  <a:tcPr>
                    <a:solidFill>
                      <a:srgbClr val="F2F2F2"/>
                    </a:solidFill>
                  </a:tcPr>
                </a:tc>
                <a:tc>
                  <a:txBody>
                    <a:bodyPr/>
                    <a:lstStyle/>
                    <a:p>
                      <a:pPr algn="ctr"/>
                      <a:r>
                        <a:rPr sz="850" b="0" i="0">
                          <a:solidFill>
                            <a:srgbClr val="262626"/>
                          </a:solidFill>
                          <a:latin typeface="Arial"/>
                        </a:rPr>
                        <a:t>579</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04"/>
                  </a:ext>
                </a:extLst>
              </a:tr>
              <a:tr h="224028">
                <a:tc>
                  <a:txBody>
                    <a:bodyPr/>
                    <a:lstStyle/>
                    <a:p>
                      <a:pPr algn="ctr"/>
                      <a:r>
                        <a:rPr sz="850" b="1" i="0">
                          <a:solidFill>
                            <a:srgbClr val="262626"/>
                          </a:solidFill>
                          <a:latin typeface="Arial"/>
                        </a:rPr>
                        <a:t>30</a:t>
                      </a:r>
                    </a:p>
                  </a:txBody>
                  <a:tcPr>
                    <a:solidFill>
                      <a:srgbClr val="FFFFFF"/>
                    </a:solidFill>
                  </a:tcPr>
                </a:tc>
                <a:tc>
                  <a:txBody>
                    <a:bodyPr/>
                    <a:lstStyle/>
                    <a:p>
                      <a:pPr algn="l"/>
                      <a:r>
                        <a:rPr sz="850" b="0" i="0">
                          <a:solidFill>
                            <a:srgbClr val="262626"/>
                          </a:solidFill>
                          <a:latin typeface="Arial"/>
                        </a:rPr>
                        <a:t>Braxton Legg</a:t>
                      </a:r>
                    </a:p>
                  </a:txBody>
                  <a:tcPr>
                    <a:solidFill>
                      <a:srgbClr val="FFFFFF"/>
                    </a:solidFill>
                  </a:tcPr>
                </a:tc>
                <a:tc>
                  <a:txBody>
                    <a:bodyPr/>
                    <a:lstStyle/>
                    <a:p>
                      <a:pPr algn="ctr"/>
                      <a:r>
                        <a:rPr sz="850" b="0" i="0">
                          <a:solidFill>
                            <a:srgbClr val="262626"/>
                          </a:solidFill>
                          <a:latin typeface="Arial"/>
                        </a:rPr>
                        <a:t>564</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05"/>
                  </a:ext>
                </a:extLst>
              </a:tr>
              <a:tr h="224028">
                <a:tc>
                  <a:txBody>
                    <a:bodyPr/>
                    <a:lstStyle/>
                    <a:p>
                      <a:pPr algn="ctr"/>
                      <a:r>
                        <a:rPr sz="850" b="1" i="0">
                          <a:solidFill>
                            <a:srgbClr val="262626"/>
                          </a:solidFill>
                          <a:latin typeface="Arial"/>
                        </a:rPr>
                        <a:t>33</a:t>
                      </a:r>
                    </a:p>
                  </a:txBody>
                  <a:tcPr>
                    <a:solidFill>
                      <a:srgbClr val="F2F2F2"/>
                    </a:solidFill>
                  </a:tcPr>
                </a:tc>
                <a:tc>
                  <a:txBody>
                    <a:bodyPr/>
                    <a:lstStyle/>
                    <a:p>
                      <a:pPr algn="l"/>
                      <a:r>
                        <a:rPr sz="850" b="0" i="0">
                          <a:solidFill>
                            <a:srgbClr val="262626"/>
                          </a:solidFill>
                          <a:latin typeface="Arial"/>
                        </a:rPr>
                        <a:t>Seth Rider</a:t>
                      </a:r>
                    </a:p>
                  </a:txBody>
                  <a:tcPr>
                    <a:solidFill>
                      <a:srgbClr val="F2F2F2"/>
                    </a:solidFill>
                  </a:tcPr>
                </a:tc>
                <a:tc>
                  <a:txBody>
                    <a:bodyPr/>
                    <a:lstStyle/>
                    <a:p>
                      <a:pPr algn="ctr"/>
                      <a:r>
                        <a:rPr sz="850" b="0" i="0">
                          <a:solidFill>
                            <a:srgbClr val="262626"/>
                          </a:solidFill>
                          <a:latin typeface="Arial"/>
                        </a:rPr>
                        <a:t>534</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extLst>
                  <a:ext uri="{0D108BD9-81ED-4DB2-BD59-A6C34878D82A}">
                    <a16:rowId xmlns:a16="http://schemas.microsoft.com/office/drawing/2014/main" val="10006"/>
                  </a:ext>
                </a:extLst>
              </a:tr>
              <a:tr h="224028">
                <a:tc>
                  <a:txBody>
                    <a:bodyPr/>
                    <a:lstStyle/>
                    <a:p>
                      <a:pPr algn="ctr"/>
                      <a:r>
                        <a:rPr sz="850" b="1" i="0">
                          <a:solidFill>
                            <a:srgbClr val="262626"/>
                          </a:solidFill>
                          <a:latin typeface="Arial"/>
                        </a:rPr>
                        <a:t>35</a:t>
                      </a:r>
                    </a:p>
                  </a:txBody>
                  <a:tcPr>
                    <a:solidFill>
                      <a:srgbClr val="FFFFFF"/>
                    </a:solidFill>
                  </a:tcPr>
                </a:tc>
                <a:tc>
                  <a:txBody>
                    <a:bodyPr/>
                    <a:lstStyle/>
                    <a:p>
                      <a:pPr algn="l"/>
                      <a:r>
                        <a:rPr sz="850" b="0" i="0">
                          <a:solidFill>
                            <a:srgbClr val="262626"/>
                          </a:solidFill>
                          <a:latin typeface="Arial"/>
                        </a:rPr>
                        <a:t>Keller Norland</a:t>
                      </a:r>
                    </a:p>
                  </a:txBody>
                  <a:tcPr>
                    <a:solidFill>
                      <a:srgbClr val="FFFFFF"/>
                    </a:solidFill>
                  </a:tcPr>
                </a:tc>
                <a:tc>
                  <a:txBody>
                    <a:bodyPr/>
                    <a:lstStyle/>
                    <a:p>
                      <a:pPr algn="ctr"/>
                      <a:r>
                        <a:rPr sz="850" b="0" i="0">
                          <a:solidFill>
                            <a:srgbClr val="262626"/>
                          </a:solidFill>
                          <a:latin typeface="Arial"/>
                        </a:rPr>
                        <a:t>519</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extLst>
                  <a:ext uri="{0D108BD9-81ED-4DB2-BD59-A6C34878D82A}">
                    <a16:rowId xmlns:a16="http://schemas.microsoft.com/office/drawing/2014/main" val="10007"/>
                  </a:ext>
                </a:extLst>
              </a:tr>
              <a:tr h="224028">
                <a:tc>
                  <a:txBody>
                    <a:bodyPr/>
                    <a:lstStyle/>
                    <a:p>
                      <a:pPr algn="ctr"/>
                      <a:r>
                        <a:rPr sz="850" b="1" i="0">
                          <a:solidFill>
                            <a:srgbClr val="262626"/>
                          </a:solidFill>
                          <a:latin typeface="Arial"/>
                        </a:rPr>
                        <a:t>41</a:t>
                      </a:r>
                    </a:p>
                  </a:txBody>
                  <a:tcPr>
                    <a:solidFill>
                      <a:srgbClr val="F2F2F2"/>
                    </a:solidFill>
                  </a:tcPr>
                </a:tc>
                <a:tc>
                  <a:txBody>
                    <a:bodyPr/>
                    <a:lstStyle/>
                    <a:p>
                      <a:pPr algn="l"/>
                      <a:r>
                        <a:rPr sz="850" b="0" i="0">
                          <a:solidFill>
                            <a:srgbClr val="262626"/>
                          </a:solidFill>
                          <a:latin typeface="Arial"/>
                        </a:rPr>
                        <a:t>Blake Bullard</a:t>
                      </a:r>
                    </a:p>
                  </a:txBody>
                  <a:tcPr>
                    <a:solidFill>
                      <a:srgbClr val="F2F2F2"/>
                    </a:solidFill>
                  </a:tcPr>
                </a:tc>
                <a:tc>
                  <a:txBody>
                    <a:bodyPr/>
                    <a:lstStyle/>
                    <a:p>
                      <a:pPr algn="ctr"/>
                      <a:r>
                        <a:rPr sz="850" b="0" i="0">
                          <a:solidFill>
                            <a:srgbClr val="262626"/>
                          </a:solidFill>
                          <a:latin typeface="Arial"/>
                        </a:rPr>
                        <a:t>436</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extLst>
                  <a:ext uri="{0D108BD9-81ED-4DB2-BD59-A6C34878D82A}">
                    <a16:rowId xmlns:a16="http://schemas.microsoft.com/office/drawing/2014/main" val="10008"/>
                  </a:ext>
                </a:extLst>
              </a:tr>
              <a:tr h="224028">
                <a:tc>
                  <a:txBody>
                    <a:bodyPr/>
                    <a:lstStyle/>
                    <a:p>
                      <a:pPr algn="ctr"/>
                      <a:r>
                        <a:rPr sz="850" b="1" i="0">
                          <a:solidFill>
                            <a:srgbClr val="262626"/>
                          </a:solidFill>
                          <a:latin typeface="Arial"/>
                        </a:rPr>
                        <a:t>77</a:t>
                      </a:r>
                    </a:p>
                  </a:txBody>
                  <a:tcPr>
                    <a:solidFill>
                      <a:srgbClr val="FFFFFF"/>
                    </a:solidFill>
                  </a:tcPr>
                </a:tc>
                <a:tc>
                  <a:txBody>
                    <a:bodyPr/>
                    <a:lstStyle/>
                    <a:p>
                      <a:pPr algn="l"/>
                      <a:r>
                        <a:rPr sz="850" b="0" i="0">
                          <a:solidFill>
                            <a:srgbClr val="262626"/>
                          </a:solidFill>
                          <a:latin typeface="Arial"/>
                        </a:rPr>
                        <a:t>Zach Leachman</a:t>
                      </a:r>
                    </a:p>
                  </a:txBody>
                  <a:tcPr>
                    <a:solidFill>
                      <a:srgbClr val="FFFFFF"/>
                    </a:solidFill>
                  </a:tcPr>
                </a:tc>
                <a:tc>
                  <a:txBody>
                    <a:bodyPr/>
                    <a:lstStyle/>
                    <a:p>
                      <a:pPr algn="ctr"/>
                      <a:r>
                        <a:rPr sz="850" b="0" i="0">
                          <a:solidFill>
                            <a:srgbClr val="262626"/>
                          </a:solidFill>
                          <a:latin typeface="Arial"/>
                        </a:rPr>
                        <a:t>212</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extLst>
                  <a:ext uri="{0D108BD9-81ED-4DB2-BD59-A6C34878D82A}">
                    <a16:rowId xmlns:a16="http://schemas.microsoft.com/office/drawing/2014/main" val="10009"/>
                  </a:ext>
                </a:extLst>
              </a:tr>
              <a:tr h="224028">
                <a:tc>
                  <a:txBody>
                    <a:bodyPr/>
                    <a:lstStyle/>
                    <a:p>
                      <a:pPr algn="ctr"/>
                      <a:r>
                        <a:rPr sz="850" b="1" i="0">
                          <a:solidFill>
                            <a:srgbClr val="262626"/>
                          </a:solidFill>
                          <a:latin typeface="Arial"/>
                        </a:rPr>
                        <a:t>87</a:t>
                      </a:r>
                    </a:p>
                  </a:txBody>
                  <a:tcPr>
                    <a:solidFill>
                      <a:srgbClr val="F2F2F2"/>
                    </a:solidFill>
                  </a:tcPr>
                </a:tc>
                <a:tc>
                  <a:txBody>
                    <a:bodyPr/>
                    <a:lstStyle/>
                    <a:p>
                      <a:pPr algn="l"/>
                      <a:r>
                        <a:rPr sz="850" b="0" i="0">
                          <a:solidFill>
                            <a:srgbClr val="262626"/>
                          </a:solidFill>
                          <a:latin typeface="Arial"/>
                        </a:rPr>
                        <a:t>Cole Jamieson </a:t>
                      </a:r>
                    </a:p>
                  </a:txBody>
                  <a:tcPr>
                    <a:solidFill>
                      <a:srgbClr val="F2F2F2"/>
                    </a:solidFill>
                  </a:tcPr>
                </a:tc>
                <a:tc>
                  <a:txBody>
                    <a:bodyPr/>
                    <a:lstStyle/>
                    <a:p>
                      <a:pPr algn="ctr"/>
                      <a:r>
                        <a:rPr sz="850" b="0" i="0">
                          <a:solidFill>
                            <a:srgbClr val="262626"/>
                          </a:solidFill>
                          <a:latin typeface="Arial"/>
                        </a:rPr>
                        <a:t>169</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10"/>
                  </a:ext>
                </a:extLst>
              </a:tr>
              <a:tr h="224028">
                <a:tc>
                  <a:txBody>
                    <a:bodyPr/>
                    <a:lstStyle/>
                    <a:p>
                      <a:pPr algn="ctr"/>
                      <a:r>
                        <a:rPr sz="850" b="1" i="0">
                          <a:solidFill>
                            <a:srgbClr val="262626"/>
                          </a:solidFill>
                          <a:latin typeface="Arial"/>
                        </a:rPr>
                        <a:t>103</a:t>
                      </a:r>
                    </a:p>
                  </a:txBody>
                  <a:tcPr>
                    <a:solidFill>
                      <a:srgbClr val="FFFFFF"/>
                    </a:solidFill>
                  </a:tcPr>
                </a:tc>
                <a:tc>
                  <a:txBody>
                    <a:bodyPr/>
                    <a:lstStyle/>
                    <a:p>
                      <a:pPr algn="l"/>
                      <a:r>
                        <a:rPr sz="850" b="0" i="0">
                          <a:solidFill>
                            <a:srgbClr val="262626"/>
                          </a:solidFill>
                          <a:latin typeface="Arial"/>
                        </a:rPr>
                        <a:t>Porter Middaugh</a:t>
                      </a:r>
                    </a:p>
                  </a:txBody>
                  <a:tcPr>
                    <a:solidFill>
                      <a:srgbClr val="FFFFFF"/>
                    </a:solidFill>
                  </a:tcPr>
                </a:tc>
                <a:tc>
                  <a:txBody>
                    <a:bodyPr/>
                    <a:lstStyle/>
                    <a:p>
                      <a:pPr algn="ctr"/>
                      <a:r>
                        <a:rPr sz="850" b="0" i="0">
                          <a:solidFill>
                            <a:srgbClr val="262626"/>
                          </a:solidFill>
                          <a:latin typeface="Arial"/>
                        </a:rPr>
                        <a:t>115</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extLst>
                  <a:ext uri="{0D108BD9-81ED-4DB2-BD59-A6C34878D82A}">
                    <a16:rowId xmlns:a16="http://schemas.microsoft.com/office/drawing/2014/main" val="10011"/>
                  </a:ext>
                </a:extLst>
              </a:tr>
              <a:tr h="224028">
                <a:tc>
                  <a:txBody>
                    <a:bodyPr/>
                    <a:lstStyle/>
                    <a:p>
                      <a:pPr algn="ctr"/>
                      <a:r>
                        <a:rPr sz="850" b="1" i="0">
                          <a:solidFill>
                            <a:srgbClr val="262626"/>
                          </a:solidFill>
                          <a:latin typeface="Arial"/>
                        </a:rPr>
                        <a:t>125</a:t>
                      </a:r>
                    </a:p>
                  </a:txBody>
                  <a:tcPr>
                    <a:solidFill>
                      <a:srgbClr val="F2F2F2"/>
                    </a:solidFill>
                  </a:tcPr>
                </a:tc>
                <a:tc>
                  <a:txBody>
                    <a:bodyPr/>
                    <a:lstStyle/>
                    <a:p>
                      <a:pPr algn="l"/>
                      <a:r>
                        <a:rPr sz="850" b="0" i="0">
                          <a:solidFill>
                            <a:srgbClr val="262626"/>
                          </a:solidFill>
                          <a:latin typeface="Arial"/>
                        </a:rPr>
                        <a:t>Carter Stuhlmacher</a:t>
                      </a:r>
                    </a:p>
                  </a:txBody>
                  <a:tcPr>
                    <a:solidFill>
                      <a:srgbClr val="F2F2F2"/>
                    </a:solidFill>
                  </a:tcPr>
                </a:tc>
                <a:tc>
                  <a:txBody>
                    <a:bodyPr/>
                    <a:lstStyle/>
                    <a:p>
                      <a:pPr algn="ctr"/>
                      <a:r>
                        <a:rPr sz="850" b="0" i="0">
                          <a:solidFill>
                            <a:srgbClr val="262626"/>
                          </a:solidFill>
                          <a:latin typeface="Arial"/>
                        </a:rPr>
                        <a:t>71</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12"/>
                  </a:ext>
                </a:extLst>
              </a:tr>
            </a:tbl>
          </a:graphicData>
        </a:graphic>
      </p:graphicFrame>
      <p:sp>
        <p:nvSpPr>
          <p:cNvPr id="13" name="Rectangle 12"/>
          <p:cNvSpPr/>
          <p:nvPr/>
        </p:nvSpPr>
        <p:spPr>
          <a:xfrm>
            <a:off x="6126480" y="16916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719072"/>
            <a:ext cx="5788152" cy="237744"/>
          </a:xfrm>
          <a:prstGeom prst="rect">
            <a:avLst/>
          </a:prstGeom>
          <a:noFill/>
        </p:spPr>
        <p:txBody>
          <a:bodyPr wrap="square">
            <a:spAutoFit/>
          </a:bodyPr>
          <a:lstStyle/>
          <a:p>
            <a:pPr algn="ctr"/>
            <a:r>
              <a:rPr sz="1100" b="1" i="0">
                <a:solidFill>
                  <a:srgbClr val="FFFFFF"/>
                </a:solidFill>
                <a:latin typeface="Arial"/>
              </a:rPr>
              <a:t>ELITE WOMEN</a:t>
            </a:r>
          </a:p>
        </p:txBody>
      </p:sp>
      <p:graphicFrame>
        <p:nvGraphicFramePr>
          <p:cNvPr id="15" name="Table 14"/>
          <p:cNvGraphicFramePr>
            <a:graphicFrameLocks noGrp="1"/>
          </p:cNvGraphicFramePr>
          <p:nvPr/>
        </p:nvGraphicFramePr>
        <p:xfrm>
          <a:off x="6126480" y="2020824"/>
          <a:ext cx="5787236" cy="2916936"/>
        </p:xfrm>
        <a:graphic>
          <a:graphicData uri="http://schemas.openxmlformats.org/drawingml/2006/table">
            <a:tbl>
              <a:tblPr firstRow="1" bandRow="1">
                <a:tableStyleId>{5C22544A-7EE6-4342-B048-85BDC9FD1C3A}</a:tableStyleId>
              </a:tblPr>
              <a:tblGrid>
                <a:gridCol w="783640">
                  <a:extLst>
                    <a:ext uri="{9D8B030D-6E8A-4147-A177-3AD203B41FA5}">
                      <a16:colId xmlns:a16="http://schemas.microsoft.com/office/drawing/2014/main" val="20000"/>
                    </a:ext>
                  </a:extLst>
                </a:gridCol>
                <a:gridCol w="2531973">
                  <a:extLst>
                    <a:ext uri="{9D8B030D-6E8A-4147-A177-3AD203B41FA5}">
                      <a16:colId xmlns:a16="http://schemas.microsoft.com/office/drawing/2014/main" val="20001"/>
                    </a:ext>
                  </a:extLst>
                </a:gridCol>
                <a:gridCol w="1136599">
                  <a:extLst>
                    <a:ext uri="{9D8B030D-6E8A-4147-A177-3AD203B41FA5}">
                      <a16:colId xmlns:a16="http://schemas.microsoft.com/office/drawing/2014/main" val="20002"/>
                    </a:ext>
                  </a:extLst>
                </a:gridCol>
                <a:gridCol w="672084">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tblGrid>
              <a:tr h="224028">
                <a:tc>
                  <a:txBody>
                    <a:bodyPr/>
                    <a:lstStyle/>
                    <a:p>
                      <a:pPr algn="ctr"/>
                      <a:r>
                        <a:rPr sz="900" b="1" i="0">
                          <a:solidFill>
                            <a:srgbClr val="FFFFFF"/>
                          </a:solidFill>
                          <a:latin typeface="Arial"/>
                        </a:rPr>
                        <a:t>Rank</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Points</a:t>
                      </a:r>
                    </a:p>
                  </a:txBody>
                  <a:tcPr>
                    <a:solidFill>
                      <a:srgbClr val="002060"/>
                    </a:solidFill>
                  </a:tcPr>
                </a:tc>
                <a:tc>
                  <a:txBody>
                    <a:bodyPr/>
                    <a:lstStyle/>
                    <a:p>
                      <a:pPr algn="ctr"/>
                      <a:r>
                        <a:rPr sz="900" b="1" i="0">
                          <a:solidFill>
                            <a:srgbClr val="FFFFFF"/>
                          </a:solidFill>
                          <a:latin typeface="Arial"/>
                        </a:rPr>
                        <a:t>Second</a:t>
                      </a:r>
                    </a:p>
                  </a:txBody>
                  <a:tcPr>
                    <a:solidFill>
                      <a:srgbClr val="002060"/>
                    </a:solidFill>
                  </a:tcPr>
                </a:tc>
                <a:tc>
                  <a:txBody>
                    <a:bodyPr/>
                    <a:lstStyle/>
                    <a:p>
                      <a:pPr algn="ctr"/>
                      <a:r>
                        <a:rPr sz="900" b="1" i="0">
                          <a:solidFill>
                            <a:srgbClr val="FFFFFF"/>
                          </a:solidFill>
                          <a:latin typeface="Arial"/>
                        </a:rPr>
                        <a:t>First</a:t>
                      </a:r>
                    </a:p>
                  </a:txBody>
                  <a:tcPr>
                    <a:solidFill>
                      <a:srgbClr val="002060"/>
                    </a:solidFill>
                  </a:tcPr>
                </a:tc>
                <a:extLst>
                  <a:ext uri="{0D108BD9-81ED-4DB2-BD59-A6C34878D82A}">
                    <a16:rowId xmlns:a16="http://schemas.microsoft.com/office/drawing/2014/main" val="10000"/>
                  </a:ext>
                </a:extLst>
              </a:tr>
              <a:tr h="224028">
                <a:tc>
                  <a:txBody>
                    <a:bodyPr/>
                    <a:lstStyle/>
                    <a:p>
                      <a:pPr algn="ctr"/>
                      <a:r>
                        <a:rPr sz="850" b="1" i="0">
                          <a:solidFill>
                            <a:srgbClr val="262626"/>
                          </a:solidFill>
                          <a:latin typeface="Arial"/>
                        </a:rPr>
                        <a:t>9</a:t>
                      </a:r>
                    </a:p>
                  </a:txBody>
                  <a:tcPr>
                    <a:solidFill>
                      <a:srgbClr val="FFFFFF"/>
                    </a:solidFill>
                  </a:tcPr>
                </a:tc>
                <a:tc>
                  <a:txBody>
                    <a:bodyPr/>
                    <a:lstStyle/>
                    <a:p>
                      <a:pPr algn="l"/>
                      <a:r>
                        <a:rPr sz="850" b="0" i="0">
                          <a:solidFill>
                            <a:srgbClr val="262626"/>
                          </a:solidFill>
                          <a:latin typeface="Arial"/>
                        </a:rPr>
                        <a:t>Danielle Orie</a:t>
                      </a:r>
                    </a:p>
                  </a:txBody>
                  <a:tcPr>
                    <a:solidFill>
                      <a:srgbClr val="FFFFFF"/>
                    </a:solidFill>
                  </a:tcPr>
                </a:tc>
                <a:tc>
                  <a:txBody>
                    <a:bodyPr/>
                    <a:lstStyle/>
                    <a:p>
                      <a:pPr algn="ctr"/>
                      <a:r>
                        <a:rPr sz="850" b="0" i="0">
                          <a:solidFill>
                            <a:srgbClr val="262626"/>
                          </a:solidFill>
                          <a:latin typeface="Arial"/>
                        </a:rPr>
                        <a:t>1,146</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4</a:t>
                      </a:r>
                    </a:p>
                  </a:txBody>
                  <a:tcPr>
                    <a:solidFill>
                      <a:srgbClr val="FFFFFF"/>
                    </a:solidFill>
                  </a:tcPr>
                </a:tc>
                <a:extLst>
                  <a:ext uri="{0D108BD9-81ED-4DB2-BD59-A6C34878D82A}">
                    <a16:rowId xmlns:a16="http://schemas.microsoft.com/office/drawing/2014/main" val="10001"/>
                  </a:ext>
                </a:extLst>
              </a:tr>
              <a:tr h="224028">
                <a:tc>
                  <a:txBody>
                    <a:bodyPr/>
                    <a:lstStyle/>
                    <a:p>
                      <a:pPr algn="ctr"/>
                      <a:r>
                        <a:rPr sz="850" b="1" i="0">
                          <a:solidFill>
                            <a:srgbClr val="262626"/>
                          </a:solidFill>
                          <a:latin typeface="Arial"/>
                        </a:rPr>
                        <a:t>12</a:t>
                      </a:r>
                    </a:p>
                  </a:txBody>
                  <a:tcPr>
                    <a:solidFill>
                      <a:srgbClr val="F2F2F2"/>
                    </a:solidFill>
                  </a:tcPr>
                </a:tc>
                <a:tc>
                  <a:txBody>
                    <a:bodyPr/>
                    <a:lstStyle/>
                    <a:p>
                      <a:pPr algn="l"/>
                      <a:r>
                        <a:rPr sz="850" b="0" i="0">
                          <a:solidFill>
                            <a:srgbClr val="262626"/>
                          </a:solidFill>
                          <a:latin typeface="Arial"/>
                        </a:rPr>
                        <a:t>Taylor Knibb</a:t>
                      </a:r>
                    </a:p>
                  </a:txBody>
                  <a:tcPr>
                    <a:solidFill>
                      <a:srgbClr val="F2F2F2"/>
                    </a:solidFill>
                  </a:tcPr>
                </a:tc>
                <a:tc>
                  <a:txBody>
                    <a:bodyPr/>
                    <a:lstStyle/>
                    <a:p>
                      <a:pPr algn="ctr"/>
                      <a:r>
                        <a:rPr sz="850" b="0" i="0">
                          <a:solidFill>
                            <a:srgbClr val="262626"/>
                          </a:solidFill>
                          <a:latin typeface="Arial"/>
                        </a:rPr>
                        <a:t>921</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extLst>
                  <a:ext uri="{0D108BD9-81ED-4DB2-BD59-A6C34878D82A}">
                    <a16:rowId xmlns:a16="http://schemas.microsoft.com/office/drawing/2014/main" val="10002"/>
                  </a:ext>
                </a:extLst>
              </a:tr>
              <a:tr h="224028">
                <a:tc>
                  <a:txBody>
                    <a:bodyPr/>
                    <a:lstStyle/>
                    <a:p>
                      <a:pPr algn="ctr"/>
                      <a:r>
                        <a:rPr sz="850" b="1" i="0">
                          <a:solidFill>
                            <a:srgbClr val="262626"/>
                          </a:solidFill>
                          <a:latin typeface="Arial"/>
                        </a:rPr>
                        <a:t>18</a:t>
                      </a:r>
                    </a:p>
                  </a:txBody>
                  <a:tcPr>
                    <a:solidFill>
                      <a:srgbClr val="FFFFFF"/>
                    </a:solidFill>
                  </a:tcPr>
                </a:tc>
                <a:tc>
                  <a:txBody>
                    <a:bodyPr/>
                    <a:lstStyle/>
                    <a:p>
                      <a:pPr algn="l"/>
                      <a:r>
                        <a:rPr sz="850" b="0" i="0">
                          <a:solidFill>
                            <a:srgbClr val="262626"/>
                          </a:solidFill>
                          <a:latin typeface="Arial"/>
                        </a:rPr>
                        <a:t>Gina Sereno</a:t>
                      </a:r>
                    </a:p>
                  </a:txBody>
                  <a:tcPr>
                    <a:solidFill>
                      <a:srgbClr val="FFFFFF"/>
                    </a:solidFill>
                  </a:tcPr>
                </a:tc>
                <a:tc>
                  <a:txBody>
                    <a:bodyPr/>
                    <a:lstStyle/>
                    <a:p>
                      <a:pPr algn="ctr"/>
                      <a:r>
                        <a:rPr sz="850" b="0" i="0">
                          <a:solidFill>
                            <a:srgbClr val="262626"/>
                          </a:solidFill>
                          <a:latin typeface="Arial"/>
                        </a:rPr>
                        <a:t>704</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03"/>
                  </a:ext>
                </a:extLst>
              </a:tr>
              <a:tr h="224028">
                <a:tc>
                  <a:txBody>
                    <a:bodyPr/>
                    <a:lstStyle/>
                    <a:p>
                      <a:pPr algn="ctr"/>
                      <a:r>
                        <a:rPr sz="850" b="1" i="0">
                          <a:solidFill>
                            <a:srgbClr val="262626"/>
                          </a:solidFill>
                          <a:latin typeface="Arial"/>
                        </a:rPr>
                        <a:t>26</a:t>
                      </a:r>
                    </a:p>
                  </a:txBody>
                  <a:tcPr>
                    <a:solidFill>
                      <a:srgbClr val="F2F2F2"/>
                    </a:solidFill>
                  </a:tcPr>
                </a:tc>
                <a:tc>
                  <a:txBody>
                    <a:bodyPr/>
                    <a:lstStyle/>
                    <a:p>
                      <a:pPr algn="l"/>
                      <a:r>
                        <a:rPr sz="850" b="0" i="0">
                          <a:solidFill>
                            <a:srgbClr val="262626"/>
                          </a:solidFill>
                          <a:latin typeface="Arial"/>
                        </a:rPr>
                        <a:t>Taylor Spivey</a:t>
                      </a:r>
                    </a:p>
                  </a:txBody>
                  <a:tcPr>
                    <a:solidFill>
                      <a:srgbClr val="F2F2F2"/>
                    </a:solidFill>
                  </a:tcPr>
                </a:tc>
                <a:tc>
                  <a:txBody>
                    <a:bodyPr/>
                    <a:lstStyle/>
                    <a:p>
                      <a:pPr algn="ctr"/>
                      <a:r>
                        <a:rPr sz="850" b="0" i="0">
                          <a:solidFill>
                            <a:srgbClr val="262626"/>
                          </a:solidFill>
                          <a:latin typeface="Arial"/>
                        </a:rPr>
                        <a:t>579</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04"/>
                  </a:ext>
                </a:extLst>
              </a:tr>
              <a:tr h="224028">
                <a:tc>
                  <a:txBody>
                    <a:bodyPr/>
                    <a:lstStyle/>
                    <a:p>
                      <a:pPr algn="ctr"/>
                      <a:r>
                        <a:rPr sz="850" b="1" i="0">
                          <a:solidFill>
                            <a:srgbClr val="262626"/>
                          </a:solidFill>
                          <a:latin typeface="Arial"/>
                        </a:rPr>
                        <a:t>31</a:t>
                      </a:r>
                    </a:p>
                  </a:txBody>
                  <a:tcPr>
                    <a:solidFill>
                      <a:srgbClr val="FFFFFF"/>
                    </a:solidFill>
                  </a:tcPr>
                </a:tc>
                <a:tc>
                  <a:txBody>
                    <a:bodyPr/>
                    <a:lstStyle/>
                    <a:p>
                      <a:pPr algn="l"/>
                      <a:r>
                        <a:rPr sz="850" b="0" i="0">
                          <a:solidFill>
                            <a:srgbClr val="262626"/>
                          </a:solidFill>
                          <a:latin typeface="Arial"/>
                        </a:rPr>
                        <a:t>Eleanor Beveridge</a:t>
                      </a:r>
                    </a:p>
                  </a:txBody>
                  <a:tcPr>
                    <a:solidFill>
                      <a:srgbClr val="FFFFFF"/>
                    </a:solidFill>
                  </a:tcPr>
                </a:tc>
                <a:tc>
                  <a:txBody>
                    <a:bodyPr/>
                    <a:lstStyle/>
                    <a:p>
                      <a:pPr algn="ctr"/>
                      <a:r>
                        <a:rPr sz="850" b="0" i="0">
                          <a:solidFill>
                            <a:srgbClr val="262626"/>
                          </a:solidFill>
                          <a:latin typeface="Arial"/>
                        </a:rPr>
                        <a:t>519</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05"/>
                  </a:ext>
                </a:extLst>
              </a:tr>
              <a:tr h="224028">
                <a:tc>
                  <a:txBody>
                    <a:bodyPr/>
                    <a:lstStyle/>
                    <a:p>
                      <a:pPr algn="ctr"/>
                      <a:r>
                        <a:rPr sz="850" b="1" i="0">
                          <a:solidFill>
                            <a:srgbClr val="262626"/>
                          </a:solidFill>
                          <a:latin typeface="Arial"/>
                        </a:rPr>
                        <a:t>36</a:t>
                      </a:r>
                    </a:p>
                  </a:txBody>
                  <a:tcPr>
                    <a:solidFill>
                      <a:srgbClr val="F2F2F2"/>
                    </a:solidFill>
                  </a:tcPr>
                </a:tc>
                <a:tc>
                  <a:txBody>
                    <a:bodyPr/>
                    <a:lstStyle/>
                    <a:p>
                      <a:pPr algn="l"/>
                      <a:r>
                        <a:rPr sz="850" b="0" i="0">
                          <a:solidFill>
                            <a:srgbClr val="262626"/>
                          </a:solidFill>
                          <a:latin typeface="Arial"/>
                        </a:rPr>
                        <a:t>Gwen Jorgensen</a:t>
                      </a:r>
                    </a:p>
                  </a:txBody>
                  <a:tcPr>
                    <a:solidFill>
                      <a:srgbClr val="F2F2F2"/>
                    </a:solidFill>
                  </a:tcPr>
                </a:tc>
                <a:tc>
                  <a:txBody>
                    <a:bodyPr/>
                    <a:lstStyle/>
                    <a:p>
                      <a:pPr algn="ctr"/>
                      <a:r>
                        <a:rPr sz="850" b="0" i="0">
                          <a:solidFill>
                            <a:srgbClr val="262626"/>
                          </a:solidFill>
                          <a:latin typeface="Arial"/>
                        </a:rPr>
                        <a:t>495</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06"/>
                  </a:ext>
                </a:extLst>
              </a:tr>
              <a:tr h="224028">
                <a:tc>
                  <a:txBody>
                    <a:bodyPr/>
                    <a:lstStyle/>
                    <a:p>
                      <a:pPr algn="ctr"/>
                      <a:r>
                        <a:rPr sz="850" b="1" i="0">
                          <a:solidFill>
                            <a:srgbClr val="262626"/>
                          </a:solidFill>
                          <a:latin typeface="Arial"/>
                        </a:rPr>
                        <a:t>39</a:t>
                      </a:r>
                    </a:p>
                  </a:txBody>
                  <a:tcPr>
                    <a:solidFill>
                      <a:srgbClr val="FFFFFF"/>
                    </a:solidFill>
                  </a:tcPr>
                </a:tc>
                <a:tc>
                  <a:txBody>
                    <a:bodyPr/>
                    <a:lstStyle/>
                    <a:p>
                      <a:pPr algn="l"/>
                      <a:r>
                        <a:rPr sz="850" b="0" i="0">
                          <a:solidFill>
                            <a:srgbClr val="262626"/>
                          </a:solidFill>
                          <a:latin typeface="Arial"/>
                        </a:rPr>
                        <a:t>Kelly Wetteland</a:t>
                      </a:r>
                    </a:p>
                  </a:txBody>
                  <a:tcPr>
                    <a:solidFill>
                      <a:srgbClr val="FFFFFF"/>
                    </a:solidFill>
                  </a:tcPr>
                </a:tc>
                <a:tc>
                  <a:txBody>
                    <a:bodyPr/>
                    <a:lstStyle/>
                    <a:p>
                      <a:pPr algn="ctr"/>
                      <a:r>
                        <a:rPr sz="850" b="0" i="0">
                          <a:solidFill>
                            <a:srgbClr val="262626"/>
                          </a:solidFill>
                          <a:latin typeface="Arial"/>
                        </a:rPr>
                        <a:t>462</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extLst>
                  <a:ext uri="{0D108BD9-81ED-4DB2-BD59-A6C34878D82A}">
                    <a16:rowId xmlns:a16="http://schemas.microsoft.com/office/drawing/2014/main" val="10007"/>
                  </a:ext>
                </a:extLst>
              </a:tr>
              <a:tr h="224028">
                <a:tc>
                  <a:txBody>
                    <a:bodyPr/>
                    <a:lstStyle/>
                    <a:p>
                      <a:pPr algn="ctr"/>
                      <a:r>
                        <a:rPr sz="850" b="1" i="0">
                          <a:solidFill>
                            <a:srgbClr val="262626"/>
                          </a:solidFill>
                          <a:latin typeface="Arial"/>
                        </a:rPr>
                        <a:t>40</a:t>
                      </a:r>
                    </a:p>
                  </a:txBody>
                  <a:tcPr>
                    <a:solidFill>
                      <a:srgbClr val="F2F2F2"/>
                    </a:solidFill>
                  </a:tcPr>
                </a:tc>
                <a:tc>
                  <a:txBody>
                    <a:bodyPr/>
                    <a:lstStyle/>
                    <a:p>
                      <a:pPr algn="l"/>
                      <a:r>
                        <a:rPr sz="850" b="0" i="0">
                          <a:solidFill>
                            <a:srgbClr val="262626"/>
                          </a:solidFill>
                          <a:latin typeface="Arial"/>
                        </a:rPr>
                        <a:t>Naomi Ruff</a:t>
                      </a:r>
                    </a:p>
                  </a:txBody>
                  <a:tcPr>
                    <a:solidFill>
                      <a:srgbClr val="F2F2F2"/>
                    </a:solidFill>
                  </a:tcPr>
                </a:tc>
                <a:tc>
                  <a:txBody>
                    <a:bodyPr/>
                    <a:lstStyle/>
                    <a:p>
                      <a:pPr algn="ctr"/>
                      <a:r>
                        <a:rPr sz="850" b="0" i="0">
                          <a:solidFill>
                            <a:srgbClr val="262626"/>
                          </a:solidFill>
                          <a:latin typeface="Arial"/>
                        </a:rPr>
                        <a:t>460</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08"/>
                  </a:ext>
                </a:extLst>
              </a:tr>
              <a:tr h="224028">
                <a:tc>
                  <a:txBody>
                    <a:bodyPr/>
                    <a:lstStyle/>
                    <a:p>
                      <a:pPr algn="ctr"/>
                      <a:r>
                        <a:rPr sz="850" b="1" i="0">
                          <a:solidFill>
                            <a:srgbClr val="262626"/>
                          </a:solidFill>
                          <a:latin typeface="Arial"/>
                        </a:rPr>
                        <a:t>86</a:t>
                      </a:r>
                    </a:p>
                  </a:txBody>
                  <a:tcPr>
                    <a:solidFill>
                      <a:srgbClr val="FFFFFF"/>
                    </a:solidFill>
                  </a:tcPr>
                </a:tc>
                <a:tc>
                  <a:txBody>
                    <a:bodyPr/>
                    <a:lstStyle/>
                    <a:p>
                      <a:pPr algn="l"/>
                      <a:r>
                        <a:rPr sz="850" b="0" i="0">
                          <a:solidFill>
                            <a:srgbClr val="262626"/>
                          </a:solidFill>
                          <a:latin typeface="Arial"/>
                        </a:rPr>
                        <a:t>Rachel Werking</a:t>
                      </a:r>
                    </a:p>
                  </a:txBody>
                  <a:tcPr>
                    <a:solidFill>
                      <a:srgbClr val="FFFFFF"/>
                    </a:solidFill>
                  </a:tcPr>
                </a:tc>
                <a:tc>
                  <a:txBody>
                    <a:bodyPr/>
                    <a:lstStyle/>
                    <a:p>
                      <a:pPr algn="ctr"/>
                      <a:r>
                        <a:rPr sz="850" b="0" i="0">
                          <a:solidFill>
                            <a:srgbClr val="262626"/>
                          </a:solidFill>
                          <a:latin typeface="Arial"/>
                        </a:rPr>
                        <a:t>181</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extLst>
                  <a:ext uri="{0D108BD9-81ED-4DB2-BD59-A6C34878D82A}">
                    <a16:rowId xmlns:a16="http://schemas.microsoft.com/office/drawing/2014/main" val="10009"/>
                  </a:ext>
                </a:extLst>
              </a:tr>
              <a:tr h="224028">
                <a:tc>
                  <a:txBody>
                    <a:bodyPr/>
                    <a:lstStyle/>
                    <a:p>
                      <a:pPr algn="ctr"/>
                      <a:r>
                        <a:rPr sz="850" b="1" i="0">
                          <a:solidFill>
                            <a:srgbClr val="262626"/>
                          </a:solidFill>
                          <a:latin typeface="Arial"/>
                        </a:rPr>
                        <a:t>90</a:t>
                      </a:r>
                    </a:p>
                  </a:txBody>
                  <a:tcPr>
                    <a:solidFill>
                      <a:srgbClr val="F2F2F2"/>
                    </a:solidFill>
                  </a:tcPr>
                </a:tc>
                <a:tc>
                  <a:txBody>
                    <a:bodyPr/>
                    <a:lstStyle/>
                    <a:p>
                      <a:pPr algn="l"/>
                      <a:r>
                        <a:rPr sz="850" b="0" i="0">
                          <a:solidFill>
                            <a:srgbClr val="262626"/>
                          </a:solidFill>
                          <a:latin typeface="Arial"/>
                        </a:rPr>
                        <a:t>Joy Gill</a:t>
                      </a:r>
                    </a:p>
                  </a:txBody>
                  <a:tcPr>
                    <a:solidFill>
                      <a:srgbClr val="F2F2F2"/>
                    </a:solidFill>
                  </a:tcPr>
                </a:tc>
                <a:tc>
                  <a:txBody>
                    <a:bodyPr/>
                    <a:lstStyle/>
                    <a:p>
                      <a:pPr algn="ctr"/>
                      <a:r>
                        <a:rPr sz="850" b="0" i="0">
                          <a:solidFill>
                            <a:srgbClr val="262626"/>
                          </a:solidFill>
                          <a:latin typeface="Arial"/>
                        </a:rPr>
                        <a:t>167</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10"/>
                  </a:ext>
                </a:extLst>
              </a:tr>
              <a:tr h="224028">
                <a:tc>
                  <a:txBody>
                    <a:bodyPr/>
                    <a:lstStyle/>
                    <a:p>
                      <a:pPr algn="ctr"/>
                      <a:r>
                        <a:rPr sz="850" b="1" i="0">
                          <a:solidFill>
                            <a:srgbClr val="262626"/>
                          </a:solidFill>
                          <a:latin typeface="Arial"/>
                        </a:rPr>
                        <a:t>103</a:t>
                      </a:r>
                    </a:p>
                  </a:txBody>
                  <a:tcPr>
                    <a:solidFill>
                      <a:srgbClr val="FFFFFF"/>
                    </a:solidFill>
                  </a:tcPr>
                </a:tc>
                <a:tc>
                  <a:txBody>
                    <a:bodyPr/>
                    <a:lstStyle/>
                    <a:p>
                      <a:pPr algn="l"/>
                      <a:r>
                        <a:rPr sz="850" b="0" i="0">
                          <a:solidFill>
                            <a:srgbClr val="262626"/>
                          </a:solidFill>
                          <a:latin typeface="Arial"/>
                        </a:rPr>
                        <a:t>Kirsten Kasper</a:t>
                      </a:r>
                    </a:p>
                  </a:txBody>
                  <a:tcPr>
                    <a:solidFill>
                      <a:srgbClr val="FFFFFF"/>
                    </a:solidFill>
                  </a:tcPr>
                </a:tc>
                <a:tc>
                  <a:txBody>
                    <a:bodyPr/>
                    <a:lstStyle/>
                    <a:p>
                      <a:pPr algn="ctr"/>
                      <a:r>
                        <a:rPr sz="850" b="0" i="0">
                          <a:solidFill>
                            <a:srgbClr val="262626"/>
                          </a:solidFill>
                          <a:latin typeface="Arial"/>
                        </a:rPr>
                        <a:t>112</a:t>
                      </a:r>
                    </a:p>
                  </a:txBody>
                  <a:tcPr>
                    <a:solidFill>
                      <a:srgbClr val="FFFFFF"/>
                    </a:solidFill>
                  </a:tcPr>
                </a:tc>
                <a:tc>
                  <a:txBody>
                    <a:bodyPr/>
                    <a:lstStyle/>
                    <a:p>
                      <a:pPr algn="ctr"/>
                      <a:r>
                        <a:rPr sz="850" b="0" i="0">
                          <a:solidFill>
                            <a:srgbClr val="262626"/>
                          </a:solidFill>
                          <a:latin typeface="Arial"/>
                        </a:rPr>
                        <a:t>0</a:t>
                      </a:r>
                    </a:p>
                  </a:txBody>
                  <a:tcPr>
                    <a:solidFill>
                      <a:srgbClr val="FFFFFF"/>
                    </a:solidFill>
                  </a:tcPr>
                </a:tc>
                <a:tc>
                  <a:txBody>
                    <a:bodyPr/>
                    <a:lstStyle/>
                    <a:p>
                      <a:pPr algn="ctr"/>
                      <a:r>
                        <a:rPr sz="850" b="0" i="0">
                          <a:solidFill>
                            <a:srgbClr val="262626"/>
                          </a:solidFill>
                          <a:latin typeface="Arial"/>
                        </a:rPr>
                        <a:t>1</a:t>
                      </a:r>
                    </a:p>
                  </a:txBody>
                  <a:tcPr>
                    <a:solidFill>
                      <a:srgbClr val="FFFFFF"/>
                    </a:solidFill>
                  </a:tcPr>
                </a:tc>
                <a:extLst>
                  <a:ext uri="{0D108BD9-81ED-4DB2-BD59-A6C34878D82A}">
                    <a16:rowId xmlns:a16="http://schemas.microsoft.com/office/drawing/2014/main" val="10011"/>
                  </a:ext>
                </a:extLst>
              </a:tr>
              <a:tr h="224028">
                <a:tc>
                  <a:txBody>
                    <a:bodyPr/>
                    <a:lstStyle/>
                    <a:p>
                      <a:pPr algn="ctr"/>
                      <a:r>
                        <a:rPr sz="850" b="1" i="0">
                          <a:solidFill>
                            <a:srgbClr val="262626"/>
                          </a:solidFill>
                          <a:latin typeface="Arial"/>
                        </a:rPr>
                        <a:t>115</a:t>
                      </a:r>
                    </a:p>
                  </a:txBody>
                  <a:tcPr>
                    <a:solidFill>
                      <a:srgbClr val="F2F2F2"/>
                    </a:solidFill>
                  </a:tcPr>
                </a:tc>
                <a:tc>
                  <a:txBody>
                    <a:bodyPr/>
                    <a:lstStyle/>
                    <a:p>
                      <a:pPr algn="l"/>
                      <a:r>
                        <a:rPr sz="850" b="0" i="0">
                          <a:solidFill>
                            <a:srgbClr val="262626"/>
                          </a:solidFill>
                          <a:latin typeface="Arial"/>
                        </a:rPr>
                        <a:t>Michelle Magnani</a:t>
                      </a:r>
                    </a:p>
                  </a:txBody>
                  <a:tcPr>
                    <a:solidFill>
                      <a:srgbClr val="F2F2F2"/>
                    </a:solidFill>
                  </a:tcPr>
                </a:tc>
                <a:tc>
                  <a:txBody>
                    <a:bodyPr/>
                    <a:lstStyle/>
                    <a:p>
                      <a:pPr algn="ctr"/>
                      <a:r>
                        <a:rPr sz="850" b="0" i="0">
                          <a:solidFill>
                            <a:srgbClr val="262626"/>
                          </a:solidFill>
                          <a:latin typeface="Arial"/>
                        </a:rPr>
                        <a:t>71</a:t>
                      </a:r>
                    </a:p>
                  </a:txBody>
                  <a:tcPr>
                    <a:solidFill>
                      <a:srgbClr val="F2F2F2"/>
                    </a:solidFill>
                  </a:tcPr>
                </a:tc>
                <a:tc>
                  <a:txBody>
                    <a:bodyPr/>
                    <a:lstStyle/>
                    <a:p>
                      <a:pPr algn="ctr"/>
                      <a:r>
                        <a:rPr sz="850" b="0" i="0">
                          <a:solidFill>
                            <a:srgbClr val="262626"/>
                          </a:solidFill>
                          <a:latin typeface="Arial"/>
                        </a:rPr>
                        <a:t>0</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12"/>
                  </a:ext>
                </a:extLst>
              </a:tr>
            </a:tbl>
          </a:graphicData>
        </a:graphic>
      </p:graphicFrame>
      <p:sp>
        <p:nvSpPr>
          <p:cNvPr id="16" name="TextBox 15"/>
          <p:cNvSpPr txBox="1"/>
          <p:nvPr/>
        </p:nvSpPr>
        <p:spPr>
          <a:xfrm>
            <a:off x="274320" y="6419088"/>
            <a:ext cx="11640312" cy="274320"/>
          </a:xfrm>
          <a:prstGeom prst="rect">
            <a:avLst/>
          </a:prstGeom>
          <a:noFill/>
        </p:spPr>
        <p:txBody>
          <a:bodyPr wrap="square">
            <a:spAutoFit/>
          </a:bodyPr>
          <a:lstStyle/>
          <a:p>
            <a:pPr algn="ctr"/>
            <a:r>
              <a:rPr sz="800" b="0" i="1">
                <a:solidFill>
                  <a:srgbClr val="BFBFBF"/>
                </a:solidFill>
                <a:latin typeface="Arial"/>
              </a:rPr>
              <a:t>Rankings: latest weekly snapshot.  Second / First = events counted in the second vs first scoring period of the LA 2028 OQR cycle.  Because the cycle is still in its first year, most results appear under First.  Source: World Triathlon rankings database.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Overview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640080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115568"/>
            <a:ext cx="6035040" cy="274320"/>
          </a:xfrm>
          <a:prstGeom prst="rect">
            <a:avLst/>
          </a:prstGeom>
          <a:noFill/>
        </p:spPr>
        <p:txBody>
          <a:bodyPr wrap="square">
            <a:spAutoFit/>
          </a:bodyPr>
          <a:lstStyle/>
          <a:p>
            <a:pPr algn="l"/>
            <a:r>
              <a:rPr sz="1200" b="1" i="0">
                <a:solidFill>
                  <a:srgbClr val="FFFFFF"/>
                </a:solidFill>
                <a:latin typeface="Arial"/>
              </a:rPr>
              <a:t>RACE HISTORY AT HAMBURG</a:t>
            </a:r>
          </a:p>
        </p:txBody>
      </p:sp>
      <p:sp>
        <p:nvSpPr>
          <p:cNvPr id="10" name="TextBox 9"/>
          <p:cNvSpPr txBox="1"/>
          <p:nvPr/>
        </p:nvSpPr>
        <p:spPr>
          <a:xfrm>
            <a:off x="274320" y="1503009"/>
            <a:ext cx="6400800" cy="1569660"/>
          </a:xfrm>
          <a:prstGeom prst="rect">
            <a:avLst/>
          </a:prstGeom>
          <a:noFill/>
        </p:spPr>
        <p:txBody>
          <a:bodyPr wrap="square">
            <a:spAutoFit/>
          </a:bodyPr>
          <a:lstStyle/>
          <a:p>
            <a:pPr algn="l"/>
            <a:r>
              <a:rPr sz="1600" b="0" i="0" dirty="0">
                <a:solidFill>
                  <a:srgbClr val="262626"/>
                </a:solidFill>
                <a:latin typeface="Arial"/>
              </a:rPr>
              <a:t>The Elite Men race at Hamburg has been held 8 times in this analysis window (2018–2025). Hayden Wilde</a:t>
            </a:r>
            <a:r>
              <a:rPr lang="en-US" sz="1600" b="0" i="0" dirty="0">
                <a:solidFill>
                  <a:srgbClr val="262626"/>
                </a:solidFill>
                <a:latin typeface="Arial"/>
              </a:rPr>
              <a:t> and Matt Hauser</a:t>
            </a:r>
            <a:r>
              <a:rPr sz="1600" b="0" i="0" dirty="0">
                <a:solidFill>
                  <a:srgbClr val="262626"/>
                </a:solidFill>
                <a:latin typeface="Arial"/>
              </a:rPr>
              <a:t> </a:t>
            </a:r>
            <a:r>
              <a:rPr lang="en-US" sz="1600" b="0" i="0" dirty="0">
                <a:solidFill>
                  <a:srgbClr val="262626"/>
                </a:solidFill>
                <a:latin typeface="Arial"/>
              </a:rPr>
              <a:t>have both won this race twice with Hauser the back to back defending champion. </a:t>
            </a:r>
          </a:p>
          <a:p>
            <a:pPr algn="l"/>
            <a:endParaRPr lang="en-US" sz="1600" dirty="0">
              <a:solidFill>
                <a:srgbClr val="262626"/>
              </a:solidFill>
              <a:latin typeface="Arial"/>
            </a:endParaRPr>
          </a:p>
          <a:p>
            <a:pPr algn="l"/>
            <a:endParaRPr lang="en-US" sz="1600" b="0" i="0" dirty="0">
              <a:solidFill>
                <a:srgbClr val="262626"/>
              </a:solidFill>
              <a:latin typeface="Arial"/>
            </a:endParaRPr>
          </a:p>
        </p:txBody>
      </p:sp>
      <p:sp>
        <p:nvSpPr>
          <p:cNvPr id="11" name="Rectangle 10"/>
          <p:cNvSpPr/>
          <p:nvPr/>
        </p:nvSpPr>
        <p:spPr>
          <a:xfrm>
            <a:off x="6903720" y="1097280"/>
            <a:ext cx="4983480"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0" y="1115568"/>
            <a:ext cx="4663440"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p:cNvSpPr/>
          <p:nvPr/>
        </p:nvSpPr>
        <p:spPr>
          <a:xfrm>
            <a:off x="6949440" y="155448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4" name="TextBox 13"/>
          <p:cNvSpPr txBox="1"/>
          <p:nvPr/>
        </p:nvSpPr>
        <p:spPr>
          <a:xfrm>
            <a:off x="7452360" y="1536192"/>
            <a:ext cx="4434840" cy="1092607"/>
          </a:xfrm>
          <a:prstGeom prst="rect">
            <a:avLst/>
          </a:prstGeom>
          <a:noFill/>
        </p:spPr>
        <p:txBody>
          <a:bodyPr wrap="square">
            <a:spAutoFit/>
          </a:bodyPr>
          <a:lstStyle/>
          <a:p>
            <a:pPr algn="l"/>
            <a:r>
              <a:rPr lang="en-US" sz="1300" b="0" i="0" dirty="0">
                <a:solidFill>
                  <a:srgbClr val="262626"/>
                </a:solidFill>
                <a:latin typeface="Arial"/>
              </a:rPr>
              <a:t>With the swim typically being non-wetsuit, there is a potential for a split to occur. On average around 20-25 athletes come out of the water within 15 of the lead. Overall, this swim is classified as one that’s hard to win the race in, but you can certainly lose it here. </a:t>
            </a:r>
          </a:p>
        </p:txBody>
      </p:sp>
      <p:sp>
        <p:nvSpPr>
          <p:cNvPr id="15" name="Rectangle 14"/>
          <p:cNvSpPr/>
          <p:nvPr/>
        </p:nvSpPr>
        <p:spPr>
          <a:xfrm>
            <a:off x="6949440" y="324612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6" name="TextBox 15"/>
          <p:cNvSpPr txBox="1"/>
          <p:nvPr/>
        </p:nvSpPr>
        <p:spPr>
          <a:xfrm>
            <a:off x="7452360" y="3227832"/>
            <a:ext cx="4434840" cy="1292662"/>
          </a:xfrm>
          <a:prstGeom prst="rect">
            <a:avLst/>
          </a:prstGeom>
          <a:noFill/>
        </p:spPr>
        <p:txBody>
          <a:bodyPr wrap="square">
            <a:spAutoFit/>
          </a:bodyPr>
          <a:lstStyle/>
          <a:p>
            <a:pPr algn="l"/>
            <a:r>
              <a:rPr lang="en-US" sz="1300" b="0" i="0" dirty="0">
                <a:solidFill>
                  <a:srgbClr val="262626"/>
                </a:solidFill>
                <a:latin typeface="Arial"/>
              </a:rPr>
              <a:t>The Hamburg bike course is known for being highly technical and surgy. </a:t>
            </a:r>
            <a:r>
              <a:rPr lang="en-US" sz="1300" dirty="0">
                <a:solidFill>
                  <a:srgbClr val="262626"/>
                </a:solidFill>
                <a:latin typeface="Arial"/>
              </a:rPr>
              <a:t>The yo-yo nature of the course does allow for motivated smaller packs to catch larger groups that are bogged down by each other. In 5 of the last 8 races, more riders joined the front and when this happens the front group is typically around ~30 athletes. </a:t>
            </a:r>
            <a:endParaRPr sz="1300" b="0" i="0" dirty="0">
              <a:solidFill>
                <a:srgbClr val="262626"/>
              </a:solidFill>
              <a:latin typeface="Arial"/>
            </a:endParaRPr>
          </a:p>
        </p:txBody>
      </p:sp>
      <p:sp>
        <p:nvSpPr>
          <p:cNvPr id="17" name="Rectangle 16"/>
          <p:cNvSpPr/>
          <p:nvPr/>
        </p:nvSpPr>
        <p:spPr>
          <a:xfrm>
            <a:off x="6949440" y="493776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8" name="TextBox 17"/>
          <p:cNvSpPr txBox="1"/>
          <p:nvPr/>
        </p:nvSpPr>
        <p:spPr>
          <a:xfrm>
            <a:off x="7452360" y="4919472"/>
            <a:ext cx="4434840" cy="1092607"/>
          </a:xfrm>
          <a:prstGeom prst="rect">
            <a:avLst/>
          </a:prstGeom>
          <a:noFill/>
        </p:spPr>
        <p:txBody>
          <a:bodyPr wrap="square">
            <a:spAutoFit/>
          </a:bodyPr>
          <a:lstStyle/>
          <a:p>
            <a:pPr algn="l"/>
            <a:r>
              <a:rPr lang="en-US" sz="1300" b="0" i="0" dirty="0">
                <a:solidFill>
                  <a:srgbClr val="262626"/>
                </a:solidFill>
                <a:latin typeface="Arial"/>
              </a:rPr>
              <a:t>Exceptional run speed is required to win here especially in the last two years where a 13:40 and 13:50 wa</a:t>
            </a:r>
            <a:r>
              <a:rPr lang="en-US" sz="1300" dirty="0">
                <a:solidFill>
                  <a:srgbClr val="262626"/>
                </a:solidFill>
                <a:latin typeface="Arial"/>
              </a:rPr>
              <a:t>s needed to take Gold. Even the average 5K is quick here with the previous two years right at the 15 min benchmark. </a:t>
            </a:r>
            <a:r>
              <a:rPr lang="en-US" sz="1100" dirty="0">
                <a:solidFill>
                  <a:srgbClr val="262626"/>
                </a:solidFill>
                <a:latin typeface="Arial"/>
              </a:rPr>
              <a:t> </a:t>
            </a:r>
            <a:r>
              <a:rPr lang="en-US" sz="1100" b="0" i="0" dirty="0">
                <a:solidFill>
                  <a:srgbClr val="262626"/>
                </a:solidFill>
                <a:latin typeface="Arial"/>
              </a:rPr>
              <a:t> </a:t>
            </a:r>
            <a:endParaRPr sz="1100" b="0" i="0" dirty="0">
              <a:solidFill>
                <a:srgbClr val="262626"/>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1159833669"/>
              </p:ext>
            </p:extLst>
          </p:nvPr>
        </p:nvGraphicFramePr>
        <p:xfrm>
          <a:off x="274320" y="1143000"/>
          <a:ext cx="11640307" cy="5364480"/>
        </p:xfrm>
        <a:graphic>
          <a:graphicData uri="http://schemas.openxmlformats.org/drawingml/2006/table">
            <a:tbl>
              <a:tblPr firstRow="1" bandRow="1">
                <a:tableStyleId>{5C22544A-7EE6-4342-B048-85BDC9FD1C3A}</a:tableStyleId>
              </a:tblPr>
              <a:tblGrid>
                <a:gridCol w="655082">
                  <a:extLst>
                    <a:ext uri="{9D8B030D-6E8A-4147-A177-3AD203B41FA5}">
                      <a16:colId xmlns:a16="http://schemas.microsoft.com/office/drawing/2014/main" val="20000"/>
                    </a:ext>
                  </a:extLst>
                </a:gridCol>
                <a:gridCol w="957428">
                  <a:extLst>
                    <a:ext uri="{9D8B030D-6E8A-4147-A177-3AD203B41FA5}">
                      <a16:colId xmlns:a16="http://schemas.microsoft.com/office/drawing/2014/main" val="20001"/>
                    </a:ext>
                  </a:extLst>
                </a:gridCol>
                <a:gridCol w="1632747">
                  <a:extLst>
                    <a:ext uri="{9D8B030D-6E8A-4147-A177-3AD203B41FA5}">
                      <a16:colId xmlns:a16="http://schemas.microsoft.com/office/drawing/2014/main" val="20002"/>
                    </a:ext>
                  </a:extLst>
                </a:gridCol>
                <a:gridCol w="836409">
                  <a:extLst>
                    <a:ext uri="{9D8B030D-6E8A-4147-A177-3AD203B41FA5}">
                      <a16:colId xmlns:a16="http://schemas.microsoft.com/office/drawing/2014/main" val="20003"/>
                    </a:ext>
                  </a:extLst>
                </a:gridCol>
                <a:gridCol w="1118912">
                  <a:extLst>
                    <a:ext uri="{9D8B030D-6E8A-4147-A177-3AD203B41FA5}">
                      <a16:colId xmlns:a16="http://schemas.microsoft.com/office/drawing/2014/main" val="20004"/>
                    </a:ext>
                  </a:extLst>
                </a:gridCol>
                <a:gridCol w="1652590">
                  <a:extLst>
                    <a:ext uri="{9D8B030D-6E8A-4147-A177-3AD203B41FA5}">
                      <a16:colId xmlns:a16="http://schemas.microsoft.com/office/drawing/2014/main" val="20005"/>
                    </a:ext>
                  </a:extLst>
                </a:gridCol>
                <a:gridCol w="1007819">
                  <a:extLst>
                    <a:ext uri="{9D8B030D-6E8A-4147-A177-3AD203B41FA5}">
                      <a16:colId xmlns:a16="http://schemas.microsoft.com/office/drawing/2014/main" val="20006"/>
                    </a:ext>
                  </a:extLst>
                </a:gridCol>
                <a:gridCol w="806255">
                  <a:extLst>
                    <a:ext uri="{9D8B030D-6E8A-4147-A177-3AD203B41FA5}">
                      <a16:colId xmlns:a16="http://schemas.microsoft.com/office/drawing/2014/main" val="20007"/>
                    </a:ext>
                  </a:extLst>
                </a:gridCol>
                <a:gridCol w="856646">
                  <a:extLst>
                    <a:ext uri="{9D8B030D-6E8A-4147-A177-3AD203B41FA5}">
                      <a16:colId xmlns:a16="http://schemas.microsoft.com/office/drawing/2014/main" val="20008"/>
                    </a:ext>
                  </a:extLst>
                </a:gridCol>
                <a:gridCol w="705473">
                  <a:extLst>
                    <a:ext uri="{9D8B030D-6E8A-4147-A177-3AD203B41FA5}">
                      <a16:colId xmlns:a16="http://schemas.microsoft.com/office/drawing/2014/main" val="20009"/>
                    </a:ext>
                  </a:extLst>
                </a:gridCol>
                <a:gridCol w="705473">
                  <a:extLst>
                    <a:ext uri="{9D8B030D-6E8A-4147-A177-3AD203B41FA5}">
                      <a16:colId xmlns:a16="http://schemas.microsoft.com/office/drawing/2014/main" val="20010"/>
                    </a:ext>
                  </a:extLst>
                </a:gridCol>
                <a:gridCol w="705473">
                  <a:extLst>
                    <a:ext uri="{9D8B030D-6E8A-4147-A177-3AD203B41FA5}">
                      <a16:colId xmlns:a16="http://schemas.microsoft.com/office/drawing/2014/main" val="20011"/>
                    </a:ext>
                  </a:extLst>
                </a:gridCol>
              </a:tblGrid>
              <a:tr h="512064">
                <a:tc>
                  <a:txBody>
                    <a:bodyPr/>
                    <a:lstStyle/>
                    <a:p>
                      <a:pPr algn="ctr"/>
                      <a:r>
                        <a:rPr sz="1400" b="1" i="0">
                          <a:solidFill>
                            <a:srgbClr val="FFFFFF"/>
                          </a:solidFill>
                          <a:latin typeface="Arial"/>
                        </a:rPr>
                        <a:t>Year</a:t>
                      </a:r>
                    </a:p>
                  </a:txBody>
                  <a:tcPr>
                    <a:solidFill>
                      <a:srgbClr val="002060"/>
                    </a:solidFill>
                  </a:tcPr>
                </a:tc>
                <a:tc>
                  <a:txBody>
                    <a:bodyPr/>
                    <a:lstStyle/>
                    <a:p>
                      <a:pPr algn="ctr"/>
                      <a:r>
                        <a:rPr sz="1400" b="1" i="0">
                          <a:solidFill>
                            <a:srgbClr val="FFFFFF"/>
                          </a:solidFill>
                          <a:latin typeface="Arial"/>
                        </a:rPr>
                        <a:t>Date</a:t>
                      </a:r>
                    </a:p>
                  </a:txBody>
                  <a:tcPr>
                    <a:solidFill>
                      <a:srgbClr val="002060"/>
                    </a:solidFill>
                  </a:tcPr>
                </a:tc>
                <a:tc>
                  <a:txBody>
                    <a:bodyPr/>
                    <a:lstStyle/>
                    <a:p>
                      <a:pPr algn="ctr"/>
                      <a:r>
                        <a:rPr sz="1400" b="1" i="0">
                          <a:solidFill>
                            <a:srgbClr val="FFFFFF"/>
                          </a:solidFill>
                          <a:latin typeface="Arial"/>
                        </a:rPr>
                        <a:t>Category</a:t>
                      </a:r>
                    </a:p>
                  </a:txBody>
                  <a:tcPr>
                    <a:solidFill>
                      <a:srgbClr val="002060"/>
                    </a:solidFill>
                  </a:tcPr>
                </a:tc>
                <a:tc>
                  <a:txBody>
                    <a:bodyPr/>
                    <a:lstStyle/>
                    <a:p>
                      <a:pPr algn="ctr"/>
                      <a:r>
                        <a:rPr sz="1400" b="1" i="0">
                          <a:solidFill>
                            <a:srgbClr val="FFFFFF"/>
                          </a:solidFill>
                          <a:latin typeface="Arial"/>
                        </a:rPr>
                        <a:t>Field</a:t>
                      </a:r>
                    </a:p>
                  </a:txBody>
                  <a:tcPr>
                    <a:solidFill>
                      <a:srgbClr val="002060"/>
                    </a:solidFill>
                  </a:tcPr>
                </a:tc>
                <a:tc>
                  <a:txBody>
                    <a:bodyPr/>
                    <a:lstStyle/>
                    <a:p>
                      <a:pPr algn="ctr"/>
                      <a:r>
                        <a:rPr sz="1400" b="1" i="0">
                          <a:solidFill>
                            <a:srgbClr val="FFFFFF"/>
                          </a:solidFill>
                          <a:latin typeface="Arial"/>
                        </a:rPr>
                        <a:t>DNF/LAP/DNS</a:t>
                      </a:r>
                    </a:p>
                  </a:txBody>
                  <a:tcPr>
                    <a:solidFill>
                      <a:srgbClr val="002060"/>
                    </a:solidFill>
                  </a:tcPr>
                </a:tc>
                <a:tc>
                  <a:txBody>
                    <a:bodyPr/>
                    <a:lstStyle/>
                    <a:p>
                      <a:pPr algn="ctr"/>
                      <a:r>
                        <a:rPr sz="1400" b="1" i="0">
                          <a:solidFill>
                            <a:srgbClr val="FFFFFF"/>
                          </a:solidFill>
                          <a:latin typeface="Arial"/>
                        </a:rPr>
                        <a:t>Winner</a:t>
                      </a:r>
                    </a:p>
                  </a:txBody>
                  <a:tcPr>
                    <a:solidFill>
                      <a:srgbClr val="002060"/>
                    </a:solidFill>
                  </a:tcPr>
                </a:tc>
                <a:tc>
                  <a:txBody>
                    <a:bodyPr/>
                    <a:lstStyle/>
                    <a:p>
                      <a:pPr algn="ctr"/>
                      <a:r>
                        <a:rPr sz="1400" b="1" i="0">
                          <a:solidFill>
                            <a:srgbClr val="FFFFFF"/>
                          </a:solidFill>
                          <a:latin typeface="Arial"/>
                        </a:rPr>
                        <a:t>Winner Time</a:t>
                      </a:r>
                    </a:p>
                  </a:txBody>
                  <a:tcPr>
                    <a:solidFill>
                      <a:srgbClr val="002060"/>
                    </a:solidFill>
                  </a:tcPr>
                </a:tc>
                <a:tc>
                  <a:txBody>
                    <a:bodyPr/>
                    <a:lstStyle/>
                    <a:p>
                      <a:pPr algn="ctr"/>
                      <a:r>
                        <a:rPr sz="1400" b="1" i="0">
                          <a:solidFill>
                            <a:srgbClr val="FFFFFF"/>
                          </a:solidFill>
                          <a:latin typeface="Arial"/>
                        </a:rPr>
                        <a:t>Air Temp</a:t>
                      </a:r>
                    </a:p>
                  </a:txBody>
                  <a:tcPr>
                    <a:solidFill>
                      <a:srgbClr val="002060"/>
                    </a:solidFill>
                  </a:tcPr>
                </a:tc>
                <a:tc>
                  <a:txBody>
                    <a:bodyPr/>
                    <a:lstStyle/>
                    <a:p>
                      <a:pPr algn="ctr"/>
                      <a:r>
                        <a:rPr sz="1400" b="1" i="0">
                          <a:solidFill>
                            <a:srgbClr val="FFFFFF"/>
                          </a:solidFill>
                          <a:latin typeface="Arial"/>
                        </a:rPr>
                        <a:t>Water Temp</a:t>
                      </a:r>
                    </a:p>
                  </a:txBody>
                  <a:tcPr>
                    <a:solidFill>
                      <a:srgbClr val="002060"/>
                    </a:solidFill>
                  </a:tcPr>
                </a:tc>
                <a:tc>
                  <a:txBody>
                    <a:bodyPr/>
                    <a:lstStyle/>
                    <a:p>
                      <a:pPr algn="ctr"/>
                      <a:r>
                        <a:rPr sz="1400" b="1" i="0">
                          <a:solidFill>
                            <a:srgbClr val="FFFFFF"/>
                          </a:solidFill>
                          <a:latin typeface="Arial"/>
                        </a:rPr>
                        <a:t>Swim km</a:t>
                      </a:r>
                    </a:p>
                  </a:txBody>
                  <a:tcPr>
                    <a:solidFill>
                      <a:srgbClr val="002060"/>
                    </a:solidFill>
                  </a:tcPr>
                </a:tc>
                <a:tc>
                  <a:txBody>
                    <a:bodyPr/>
                    <a:lstStyle/>
                    <a:p>
                      <a:pPr algn="ctr"/>
                      <a:r>
                        <a:rPr sz="1400" b="1" i="0">
                          <a:solidFill>
                            <a:srgbClr val="FFFFFF"/>
                          </a:solidFill>
                          <a:latin typeface="Arial"/>
                        </a:rPr>
                        <a:t>Bike km</a:t>
                      </a:r>
                    </a:p>
                  </a:txBody>
                  <a:tcPr>
                    <a:solidFill>
                      <a:srgbClr val="002060"/>
                    </a:solidFill>
                  </a:tcPr>
                </a:tc>
                <a:tc>
                  <a:txBody>
                    <a:bodyPr/>
                    <a:lstStyle/>
                    <a:p>
                      <a:pPr algn="ctr"/>
                      <a:r>
                        <a:rPr sz="1400" b="1" i="0">
                          <a:solidFill>
                            <a:srgbClr val="FFFFFF"/>
                          </a:solidFill>
                          <a:latin typeface="Arial"/>
                        </a:rPr>
                        <a:t>Run km</a:t>
                      </a:r>
                    </a:p>
                  </a:txBody>
                  <a:tcPr>
                    <a:solidFill>
                      <a:srgbClr val="002060"/>
                    </a:solidFill>
                  </a:tcPr>
                </a:tc>
                <a:extLst>
                  <a:ext uri="{0D108BD9-81ED-4DB2-BD59-A6C34878D82A}">
                    <a16:rowId xmlns:a16="http://schemas.microsoft.com/office/drawing/2014/main" val="10000"/>
                  </a:ext>
                </a:extLst>
              </a:tr>
              <a:tr h="512064">
                <a:tc>
                  <a:txBody>
                    <a:bodyPr/>
                    <a:lstStyle/>
                    <a:p>
                      <a:pPr algn="ctr"/>
                      <a:r>
                        <a:rPr sz="1400" b="0" i="0">
                          <a:solidFill>
                            <a:srgbClr val="262626"/>
                          </a:solidFill>
                          <a:latin typeface="Arial"/>
                        </a:rPr>
                        <a:t>2018</a:t>
                      </a:r>
                    </a:p>
                  </a:txBody>
                  <a:tcPr>
                    <a:solidFill>
                      <a:srgbClr val="FFFFFF"/>
                    </a:solidFill>
                  </a:tcPr>
                </a:tc>
                <a:tc>
                  <a:txBody>
                    <a:bodyPr/>
                    <a:lstStyle/>
                    <a:p>
                      <a:pPr algn="ctr"/>
                      <a:r>
                        <a:rPr sz="1400" b="0" i="0">
                          <a:solidFill>
                            <a:srgbClr val="262626"/>
                          </a:solidFill>
                          <a:latin typeface="Arial"/>
                        </a:rPr>
                        <a:t>Jul 14</a:t>
                      </a:r>
                    </a:p>
                  </a:txBody>
                  <a:tcPr>
                    <a:solidFill>
                      <a:srgbClr val="FFFFFF"/>
                    </a:solidFill>
                  </a:tcPr>
                </a:tc>
                <a:tc>
                  <a:txBody>
                    <a:bodyPr/>
                    <a:lstStyle/>
                    <a:p>
                      <a:pPr algn="l"/>
                      <a:r>
                        <a:rPr sz="1200" b="0" i="0">
                          <a:solidFill>
                            <a:srgbClr val="262626"/>
                          </a:solidFill>
                          <a:latin typeface="Arial"/>
                        </a:rPr>
                        <a:t>World Championship Series</a:t>
                      </a:r>
                    </a:p>
                  </a:txBody>
                  <a:tcPr>
                    <a:solidFill>
                      <a:srgbClr val="FFFFFF"/>
                    </a:solidFill>
                  </a:tcPr>
                </a:tc>
                <a:tc>
                  <a:txBody>
                    <a:bodyPr/>
                    <a:lstStyle/>
                    <a:p>
                      <a:pPr algn="ctr"/>
                      <a:r>
                        <a:rPr sz="1400" b="0" i="0">
                          <a:solidFill>
                            <a:srgbClr val="262626"/>
                          </a:solidFill>
                          <a:latin typeface="Arial"/>
                        </a:rPr>
                        <a:t>56</a:t>
                      </a:r>
                    </a:p>
                  </a:txBody>
                  <a:tcPr>
                    <a:solidFill>
                      <a:srgbClr val="FFFFFF"/>
                    </a:solidFill>
                  </a:tcPr>
                </a:tc>
                <a:tc>
                  <a:txBody>
                    <a:bodyPr/>
                    <a:lstStyle/>
                    <a:p>
                      <a:pPr algn="ctr"/>
                      <a:r>
                        <a:rPr sz="1400" b="0" i="0">
                          <a:solidFill>
                            <a:srgbClr val="262626"/>
                          </a:solidFill>
                          <a:latin typeface="Arial"/>
                        </a:rPr>
                        <a:t>9</a:t>
                      </a:r>
                    </a:p>
                  </a:txBody>
                  <a:tcPr>
                    <a:solidFill>
                      <a:srgbClr val="FFFFFF"/>
                    </a:solidFill>
                  </a:tcPr>
                </a:tc>
                <a:tc>
                  <a:txBody>
                    <a:bodyPr/>
                    <a:lstStyle/>
                    <a:p>
                      <a:pPr algn="l"/>
                      <a:r>
                        <a:rPr sz="1400" b="0" i="0">
                          <a:solidFill>
                            <a:srgbClr val="262626"/>
                          </a:solidFill>
                          <a:latin typeface="Arial"/>
                        </a:rPr>
                        <a:t>Mola</a:t>
                      </a:r>
                    </a:p>
                  </a:txBody>
                  <a:tcPr>
                    <a:solidFill>
                      <a:srgbClr val="FFFFFF"/>
                    </a:solidFill>
                  </a:tcPr>
                </a:tc>
                <a:tc>
                  <a:txBody>
                    <a:bodyPr/>
                    <a:lstStyle/>
                    <a:p>
                      <a:pPr algn="ctr"/>
                      <a:r>
                        <a:rPr sz="1400" b="0" i="0">
                          <a:solidFill>
                            <a:srgbClr val="262626"/>
                          </a:solidFill>
                          <a:latin typeface="Arial"/>
                        </a:rPr>
                        <a:t>53:24</a:t>
                      </a:r>
                    </a:p>
                  </a:txBody>
                  <a:tcPr>
                    <a:solidFill>
                      <a:srgbClr val="FFFFFF"/>
                    </a:solidFill>
                  </a:tcPr>
                </a:tc>
                <a:tc>
                  <a:txBody>
                    <a:bodyPr/>
                    <a:lstStyle/>
                    <a:p>
                      <a:pPr algn="ctr"/>
                      <a:r>
                        <a:rPr sz="1400" b="0" i="0">
                          <a:solidFill>
                            <a:srgbClr val="262626"/>
                          </a:solidFill>
                          <a:latin typeface="Arial"/>
                        </a:rPr>
                        <a:t>21</a:t>
                      </a:r>
                    </a:p>
                  </a:txBody>
                  <a:tcPr>
                    <a:solidFill>
                      <a:srgbClr val="FFFFFF"/>
                    </a:solidFill>
                  </a:tcPr>
                </a:tc>
                <a:tc>
                  <a:txBody>
                    <a:bodyPr/>
                    <a:lstStyle/>
                    <a:p>
                      <a:pPr algn="ctr"/>
                      <a:r>
                        <a:rPr sz="1400" b="0" i="0">
                          <a:solidFill>
                            <a:srgbClr val="262626"/>
                          </a:solidFill>
                          <a:latin typeface="Arial"/>
                        </a:rPr>
                        <a:t>20.9</a:t>
                      </a:r>
                    </a:p>
                  </a:txBody>
                  <a:tcPr>
                    <a:solidFill>
                      <a:srgbClr val="FFFFFF"/>
                    </a:solidFill>
                  </a:tcPr>
                </a:tc>
                <a:tc>
                  <a:txBody>
                    <a:bodyPr/>
                    <a:lstStyle/>
                    <a:p>
                      <a:pPr algn="ctr"/>
                      <a:r>
                        <a:rPr sz="1400" b="0" i="0">
                          <a:solidFill>
                            <a:srgbClr val="262626"/>
                          </a:solidFill>
                          <a:latin typeface="Arial"/>
                        </a:rPr>
                        <a:t>0.75</a:t>
                      </a:r>
                    </a:p>
                  </a:txBody>
                  <a:tcPr>
                    <a:solidFill>
                      <a:srgbClr val="FFFFFF"/>
                    </a:solidFill>
                  </a:tcPr>
                </a:tc>
                <a:tc>
                  <a:txBody>
                    <a:bodyPr/>
                    <a:lstStyle/>
                    <a:p>
                      <a:pPr algn="ctr"/>
                      <a:r>
                        <a:rPr sz="1400" b="0" i="0">
                          <a:solidFill>
                            <a:srgbClr val="262626"/>
                          </a:solidFill>
                          <a:latin typeface="Arial"/>
                        </a:rPr>
                        <a:t>21.0</a:t>
                      </a:r>
                    </a:p>
                  </a:txBody>
                  <a:tcPr>
                    <a:solidFill>
                      <a:srgbClr val="FFFFFF"/>
                    </a:solidFill>
                  </a:tcPr>
                </a:tc>
                <a:tc>
                  <a:txBody>
                    <a:bodyPr/>
                    <a:lstStyle/>
                    <a:p>
                      <a:pPr algn="ctr"/>
                      <a:r>
                        <a:rPr sz="1400" b="0" i="0">
                          <a:solidFill>
                            <a:srgbClr val="262626"/>
                          </a:solidFill>
                          <a:latin typeface="Arial"/>
                        </a:rPr>
                        <a:t>5.0</a:t>
                      </a:r>
                    </a:p>
                  </a:txBody>
                  <a:tcPr>
                    <a:solidFill>
                      <a:srgbClr val="FFFFFF"/>
                    </a:solidFill>
                  </a:tcPr>
                </a:tc>
                <a:extLst>
                  <a:ext uri="{0D108BD9-81ED-4DB2-BD59-A6C34878D82A}">
                    <a16:rowId xmlns:a16="http://schemas.microsoft.com/office/drawing/2014/main" val="10001"/>
                  </a:ext>
                </a:extLst>
              </a:tr>
              <a:tr h="512064">
                <a:tc>
                  <a:txBody>
                    <a:bodyPr/>
                    <a:lstStyle/>
                    <a:p>
                      <a:pPr algn="ctr"/>
                      <a:r>
                        <a:rPr sz="1400" b="0" i="0">
                          <a:solidFill>
                            <a:srgbClr val="262626"/>
                          </a:solidFill>
                          <a:latin typeface="Arial"/>
                        </a:rPr>
                        <a:t>2019</a:t>
                      </a:r>
                    </a:p>
                  </a:txBody>
                  <a:tcPr>
                    <a:solidFill>
                      <a:srgbClr val="F2F2F2"/>
                    </a:solidFill>
                  </a:tcPr>
                </a:tc>
                <a:tc>
                  <a:txBody>
                    <a:bodyPr/>
                    <a:lstStyle/>
                    <a:p>
                      <a:pPr algn="ctr"/>
                      <a:r>
                        <a:rPr sz="1400" b="0" i="0">
                          <a:solidFill>
                            <a:srgbClr val="262626"/>
                          </a:solidFill>
                          <a:latin typeface="Arial"/>
                        </a:rPr>
                        <a:t>Jul 06</a:t>
                      </a:r>
                    </a:p>
                  </a:txBody>
                  <a:tcPr>
                    <a:solidFill>
                      <a:srgbClr val="F2F2F2"/>
                    </a:solidFill>
                  </a:tcPr>
                </a:tc>
                <a:tc>
                  <a:txBody>
                    <a:bodyPr/>
                    <a:lstStyle/>
                    <a:p>
                      <a:pPr algn="l"/>
                      <a:r>
                        <a:rPr sz="1200" b="0" i="0">
                          <a:solidFill>
                            <a:srgbClr val="262626"/>
                          </a:solidFill>
                          <a:latin typeface="Arial"/>
                        </a:rPr>
                        <a:t>World Championship Series *</a:t>
                      </a:r>
                    </a:p>
                  </a:txBody>
                  <a:tcPr>
                    <a:solidFill>
                      <a:srgbClr val="F2F2F2"/>
                    </a:solidFill>
                  </a:tcPr>
                </a:tc>
                <a:tc>
                  <a:txBody>
                    <a:bodyPr/>
                    <a:lstStyle/>
                    <a:p>
                      <a:pPr algn="ctr"/>
                      <a:r>
                        <a:rPr sz="1400" b="0" i="0">
                          <a:solidFill>
                            <a:srgbClr val="262626"/>
                          </a:solidFill>
                          <a:latin typeface="Arial"/>
                        </a:rPr>
                        <a:t>56</a:t>
                      </a:r>
                    </a:p>
                  </a:txBody>
                  <a:tcPr>
                    <a:solidFill>
                      <a:srgbClr val="F2F2F2"/>
                    </a:solidFill>
                  </a:tcPr>
                </a:tc>
                <a:tc>
                  <a:txBody>
                    <a:bodyPr/>
                    <a:lstStyle/>
                    <a:p>
                      <a:pPr algn="ctr"/>
                      <a:r>
                        <a:rPr sz="1400" b="0" i="0">
                          <a:solidFill>
                            <a:srgbClr val="262626"/>
                          </a:solidFill>
                          <a:latin typeface="Arial"/>
                        </a:rPr>
                        <a:t>9</a:t>
                      </a:r>
                    </a:p>
                  </a:txBody>
                  <a:tcPr>
                    <a:solidFill>
                      <a:srgbClr val="F2F2F2"/>
                    </a:solidFill>
                  </a:tcPr>
                </a:tc>
                <a:tc>
                  <a:txBody>
                    <a:bodyPr/>
                    <a:lstStyle/>
                    <a:p>
                      <a:pPr algn="l"/>
                      <a:r>
                        <a:rPr sz="1400" b="0" i="0">
                          <a:solidFill>
                            <a:srgbClr val="262626"/>
                          </a:solidFill>
                          <a:latin typeface="Arial"/>
                        </a:rPr>
                        <a:t>Birtwhistle</a:t>
                      </a:r>
                    </a:p>
                  </a:txBody>
                  <a:tcPr>
                    <a:solidFill>
                      <a:srgbClr val="F2F2F2"/>
                    </a:solidFill>
                  </a:tcPr>
                </a:tc>
                <a:tc>
                  <a:txBody>
                    <a:bodyPr/>
                    <a:lstStyle/>
                    <a:p>
                      <a:pPr algn="ctr"/>
                      <a:r>
                        <a:rPr sz="1400" b="0" i="0">
                          <a:solidFill>
                            <a:srgbClr val="262626"/>
                          </a:solidFill>
                          <a:latin typeface="Arial"/>
                        </a:rPr>
                        <a:t>55:09</a:t>
                      </a:r>
                    </a:p>
                  </a:txBody>
                  <a:tcPr>
                    <a:solidFill>
                      <a:srgbClr val="F2F2F2"/>
                    </a:solidFill>
                  </a:tcPr>
                </a:tc>
                <a:tc>
                  <a:txBody>
                    <a:bodyPr/>
                    <a:lstStyle/>
                    <a:p>
                      <a:pPr algn="ctr"/>
                      <a:r>
                        <a:rPr sz="1400" b="0" i="0">
                          <a:solidFill>
                            <a:srgbClr val="262626"/>
                          </a:solidFill>
                          <a:latin typeface="Arial"/>
                        </a:rPr>
                        <a:t>15.0°*</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512064">
                <a:tc>
                  <a:txBody>
                    <a:bodyPr/>
                    <a:lstStyle/>
                    <a:p>
                      <a:pPr algn="ctr"/>
                      <a:r>
                        <a:rPr sz="1400" b="0" i="0">
                          <a:solidFill>
                            <a:srgbClr val="262626"/>
                          </a:solidFill>
                          <a:latin typeface="Arial"/>
                        </a:rPr>
                        <a:t>2020</a:t>
                      </a:r>
                    </a:p>
                  </a:txBody>
                  <a:tcPr>
                    <a:solidFill>
                      <a:srgbClr val="FFFFFF"/>
                    </a:solidFill>
                  </a:tcPr>
                </a:tc>
                <a:tc>
                  <a:txBody>
                    <a:bodyPr/>
                    <a:lstStyle/>
                    <a:p>
                      <a:pPr algn="ctr"/>
                      <a:r>
                        <a:rPr sz="1400" b="0" i="0">
                          <a:solidFill>
                            <a:srgbClr val="262626"/>
                          </a:solidFill>
                          <a:latin typeface="Arial"/>
                        </a:rPr>
                        <a:t>Sep 05</a:t>
                      </a:r>
                    </a:p>
                  </a:txBody>
                  <a:tcPr>
                    <a:solidFill>
                      <a:srgbClr val="FFFFFF"/>
                    </a:solidFill>
                  </a:tcPr>
                </a:tc>
                <a:tc>
                  <a:txBody>
                    <a:bodyPr/>
                    <a:lstStyle/>
                    <a:p>
                      <a:pPr algn="l"/>
                      <a:r>
                        <a:rPr sz="1200" b="0" i="0">
                          <a:solidFill>
                            <a:srgbClr val="262626"/>
                          </a:solidFill>
                          <a:latin typeface="Arial"/>
                        </a:rPr>
                        <a:t>World Championships, World Championship Series</a:t>
                      </a:r>
                    </a:p>
                  </a:txBody>
                  <a:tcPr>
                    <a:solidFill>
                      <a:srgbClr val="FFFFFF"/>
                    </a:solidFill>
                  </a:tcPr>
                </a:tc>
                <a:tc>
                  <a:txBody>
                    <a:bodyPr/>
                    <a:lstStyle/>
                    <a:p>
                      <a:pPr algn="ctr"/>
                      <a:r>
                        <a:rPr sz="1400" b="0" i="0">
                          <a:solidFill>
                            <a:srgbClr val="262626"/>
                          </a:solidFill>
                          <a:latin typeface="Arial"/>
                        </a:rPr>
                        <a:t>65</a:t>
                      </a:r>
                    </a:p>
                  </a:txBody>
                  <a:tcPr>
                    <a:solidFill>
                      <a:srgbClr val="FFFFFF"/>
                    </a:solidFill>
                  </a:tcPr>
                </a:tc>
                <a:tc>
                  <a:txBody>
                    <a:bodyPr/>
                    <a:lstStyle/>
                    <a:p>
                      <a:pPr algn="ctr"/>
                      <a:r>
                        <a:rPr sz="1400" b="0" i="0">
                          <a:solidFill>
                            <a:srgbClr val="262626"/>
                          </a:solidFill>
                          <a:latin typeface="Arial"/>
                        </a:rPr>
                        <a:t>7</a:t>
                      </a:r>
                    </a:p>
                  </a:txBody>
                  <a:tcPr>
                    <a:solidFill>
                      <a:srgbClr val="FFFFFF"/>
                    </a:solidFill>
                  </a:tcPr>
                </a:tc>
                <a:tc>
                  <a:txBody>
                    <a:bodyPr/>
                    <a:lstStyle/>
                    <a:p>
                      <a:pPr algn="l"/>
                      <a:r>
                        <a:rPr sz="1400" b="0" i="0">
                          <a:solidFill>
                            <a:srgbClr val="262626"/>
                          </a:solidFill>
                          <a:latin typeface="Arial"/>
                        </a:rPr>
                        <a:t>Luis</a:t>
                      </a:r>
                    </a:p>
                  </a:txBody>
                  <a:tcPr>
                    <a:solidFill>
                      <a:srgbClr val="FFFFFF"/>
                    </a:solidFill>
                  </a:tcPr>
                </a:tc>
                <a:tc>
                  <a:txBody>
                    <a:bodyPr/>
                    <a:lstStyle/>
                    <a:p>
                      <a:pPr algn="ctr"/>
                      <a:r>
                        <a:rPr sz="1400" b="0" i="0">
                          <a:solidFill>
                            <a:srgbClr val="262626"/>
                          </a:solidFill>
                          <a:latin typeface="Arial"/>
                        </a:rPr>
                        <a:t>49:13</a:t>
                      </a:r>
                    </a:p>
                  </a:txBody>
                  <a:tcPr>
                    <a:solidFill>
                      <a:srgbClr val="FFFFFF"/>
                    </a:solidFill>
                  </a:tcPr>
                </a:tc>
                <a:tc>
                  <a:txBody>
                    <a:bodyPr/>
                    <a:lstStyle/>
                    <a:p>
                      <a:pPr algn="ctr"/>
                      <a:r>
                        <a:rPr sz="1400" b="0" i="0">
                          <a:solidFill>
                            <a:srgbClr val="262626"/>
                          </a:solidFill>
                          <a:latin typeface="Arial"/>
                        </a:rPr>
                        <a:t>13.8°*</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512064">
                <a:tc>
                  <a:txBody>
                    <a:bodyPr/>
                    <a:lstStyle/>
                    <a:p>
                      <a:pPr algn="ctr"/>
                      <a:r>
                        <a:rPr sz="1400" b="0" i="0">
                          <a:solidFill>
                            <a:srgbClr val="262626"/>
                          </a:solidFill>
                          <a:latin typeface="Arial"/>
                        </a:rPr>
                        <a:t>2021</a:t>
                      </a:r>
                    </a:p>
                  </a:txBody>
                  <a:tcPr>
                    <a:solidFill>
                      <a:srgbClr val="F2F2F2"/>
                    </a:solidFill>
                  </a:tcPr>
                </a:tc>
                <a:tc>
                  <a:txBody>
                    <a:bodyPr/>
                    <a:lstStyle/>
                    <a:p>
                      <a:pPr algn="ctr"/>
                      <a:r>
                        <a:rPr sz="1400" b="0" i="0">
                          <a:solidFill>
                            <a:srgbClr val="262626"/>
                          </a:solidFill>
                          <a:latin typeface="Arial"/>
                        </a:rPr>
                        <a:t>Sep 18</a:t>
                      </a:r>
                    </a:p>
                  </a:txBody>
                  <a:tcPr>
                    <a:solidFill>
                      <a:srgbClr val="F2F2F2"/>
                    </a:solidFill>
                  </a:tcPr>
                </a:tc>
                <a:tc>
                  <a:txBody>
                    <a:bodyPr/>
                    <a:lstStyle/>
                    <a:p>
                      <a:pPr algn="l"/>
                      <a:r>
                        <a:rPr sz="1200" b="0" i="0">
                          <a:solidFill>
                            <a:srgbClr val="262626"/>
                          </a:solidFill>
                          <a:latin typeface="Arial"/>
                        </a:rPr>
                        <a:t>World Championship Series</a:t>
                      </a:r>
                    </a:p>
                  </a:txBody>
                  <a:tcPr>
                    <a:solidFill>
                      <a:srgbClr val="F2F2F2"/>
                    </a:solidFill>
                  </a:tcPr>
                </a:tc>
                <a:tc>
                  <a:txBody>
                    <a:bodyPr/>
                    <a:lstStyle/>
                    <a:p>
                      <a:pPr algn="ctr"/>
                      <a:r>
                        <a:rPr sz="1400" b="0" i="0">
                          <a:solidFill>
                            <a:srgbClr val="262626"/>
                          </a:solidFill>
                          <a:latin typeface="Arial"/>
                        </a:rPr>
                        <a:t>52</a:t>
                      </a:r>
                    </a:p>
                  </a:txBody>
                  <a:tcPr>
                    <a:solidFill>
                      <a:srgbClr val="F2F2F2"/>
                    </a:solidFill>
                  </a:tcPr>
                </a:tc>
                <a:tc>
                  <a:txBody>
                    <a:bodyPr/>
                    <a:lstStyle/>
                    <a:p>
                      <a:pPr algn="ctr"/>
                      <a:r>
                        <a:rPr sz="1400" b="0" i="0">
                          <a:solidFill>
                            <a:srgbClr val="262626"/>
                          </a:solidFill>
                          <a:latin typeface="Arial"/>
                        </a:rPr>
                        <a:t>4</a:t>
                      </a:r>
                    </a:p>
                  </a:txBody>
                  <a:tcPr>
                    <a:solidFill>
                      <a:srgbClr val="F2F2F2"/>
                    </a:solidFill>
                  </a:tcPr>
                </a:tc>
                <a:tc>
                  <a:txBody>
                    <a:bodyPr/>
                    <a:lstStyle/>
                    <a:p>
                      <a:pPr algn="l"/>
                      <a:r>
                        <a:rPr sz="1400" b="0" i="0">
                          <a:solidFill>
                            <a:srgbClr val="262626"/>
                          </a:solidFill>
                          <a:latin typeface="Arial"/>
                        </a:rPr>
                        <a:t>Hellwig</a:t>
                      </a:r>
                    </a:p>
                  </a:txBody>
                  <a:tcPr>
                    <a:solidFill>
                      <a:srgbClr val="F2F2F2"/>
                    </a:solidFill>
                  </a:tcPr>
                </a:tc>
                <a:tc>
                  <a:txBody>
                    <a:bodyPr/>
                    <a:lstStyle/>
                    <a:p>
                      <a:pPr algn="ctr"/>
                      <a:r>
                        <a:rPr sz="1400" b="0" i="0">
                          <a:solidFill>
                            <a:srgbClr val="262626"/>
                          </a:solidFill>
                          <a:latin typeface="Arial"/>
                        </a:rPr>
                        <a:t>53:08</a:t>
                      </a:r>
                    </a:p>
                  </a:txBody>
                  <a:tcPr>
                    <a:solidFill>
                      <a:srgbClr val="F2F2F2"/>
                    </a:solidFill>
                  </a:tcPr>
                </a:tc>
                <a:tc>
                  <a:txBody>
                    <a:bodyPr/>
                    <a:lstStyle/>
                    <a:p>
                      <a:pPr algn="ctr"/>
                      <a:r>
                        <a:rPr sz="1400" b="0" i="0">
                          <a:solidFill>
                            <a:srgbClr val="262626"/>
                          </a:solidFill>
                          <a:latin typeface="Arial"/>
                        </a:rPr>
                        <a:t>15.5°*</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512064">
                <a:tc>
                  <a:txBody>
                    <a:bodyPr/>
                    <a:lstStyle/>
                    <a:p>
                      <a:pPr algn="ctr"/>
                      <a:r>
                        <a:rPr sz="1400" b="0" i="0">
                          <a:solidFill>
                            <a:srgbClr val="262626"/>
                          </a:solidFill>
                          <a:latin typeface="Arial"/>
                        </a:rPr>
                        <a:t>2022</a:t>
                      </a:r>
                    </a:p>
                  </a:txBody>
                  <a:tcPr>
                    <a:solidFill>
                      <a:srgbClr val="FFFFFF"/>
                    </a:solidFill>
                  </a:tcPr>
                </a:tc>
                <a:tc>
                  <a:txBody>
                    <a:bodyPr/>
                    <a:lstStyle/>
                    <a:p>
                      <a:pPr algn="ctr"/>
                      <a:r>
                        <a:rPr sz="1400" b="0" i="0">
                          <a:solidFill>
                            <a:srgbClr val="262626"/>
                          </a:solidFill>
                          <a:latin typeface="Arial"/>
                        </a:rPr>
                        <a:t>Jul 09</a:t>
                      </a:r>
                    </a:p>
                  </a:txBody>
                  <a:tcPr>
                    <a:solidFill>
                      <a:srgbClr val="FFFFFF"/>
                    </a:solidFill>
                  </a:tcPr>
                </a:tc>
                <a:tc>
                  <a:txBody>
                    <a:bodyPr/>
                    <a:lstStyle/>
                    <a:p>
                      <a:pPr algn="l"/>
                      <a:r>
                        <a:rPr sz="1200" b="0" i="0">
                          <a:solidFill>
                            <a:srgbClr val="262626"/>
                          </a:solidFill>
                          <a:latin typeface="Arial"/>
                        </a:rPr>
                        <a:t>World Championship Series *</a:t>
                      </a:r>
                    </a:p>
                  </a:txBody>
                  <a:tcPr>
                    <a:solidFill>
                      <a:srgbClr val="FFFFFF"/>
                    </a:solidFill>
                  </a:tcPr>
                </a:tc>
                <a:tc>
                  <a:txBody>
                    <a:bodyPr/>
                    <a:lstStyle/>
                    <a:p>
                      <a:pPr algn="ctr"/>
                      <a:r>
                        <a:rPr sz="1400" b="0" i="0">
                          <a:solidFill>
                            <a:srgbClr val="262626"/>
                          </a:solidFill>
                          <a:latin typeface="Arial"/>
                        </a:rPr>
                        <a:t>57</a:t>
                      </a:r>
                    </a:p>
                  </a:txBody>
                  <a:tcPr>
                    <a:solidFill>
                      <a:srgbClr val="FFFFFF"/>
                    </a:solidFill>
                  </a:tcPr>
                </a:tc>
                <a:tc>
                  <a:txBody>
                    <a:bodyPr/>
                    <a:lstStyle/>
                    <a:p>
                      <a:pPr algn="ctr"/>
                      <a:r>
                        <a:rPr sz="1400" b="0" i="0">
                          <a:solidFill>
                            <a:srgbClr val="262626"/>
                          </a:solidFill>
                          <a:latin typeface="Arial"/>
                        </a:rPr>
                        <a:t>3</a:t>
                      </a:r>
                    </a:p>
                  </a:txBody>
                  <a:tcPr>
                    <a:solidFill>
                      <a:srgbClr val="FFFFFF"/>
                    </a:solidFill>
                  </a:tcPr>
                </a:tc>
                <a:tc>
                  <a:txBody>
                    <a:bodyPr/>
                    <a:lstStyle/>
                    <a:p>
                      <a:pPr algn="l"/>
                      <a:r>
                        <a:rPr sz="1400" b="0" i="0">
                          <a:solidFill>
                            <a:srgbClr val="262626"/>
                          </a:solidFill>
                          <a:latin typeface="Arial"/>
                        </a:rPr>
                        <a:t>Wilde</a:t>
                      </a:r>
                    </a:p>
                  </a:txBody>
                  <a:tcPr>
                    <a:solidFill>
                      <a:srgbClr val="FFFFFF"/>
                    </a:solidFill>
                  </a:tcPr>
                </a:tc>
                <a:tc>
                  <a:txBody>
                    <a:bodyPr/>
                    <a:lstStyle/>
                    <a:p>
                      <a:pPr algn="ctr"/>
                      <a:r>
                        <a:rPr sz="1400" b="0" i="0">
                          <a:solidFill>
                            <a:srgbClr val="262626"/>
                          </a:solidFill>
                          <a:latin typeface="Arial"/>
                        </a:rPr>
                        <a:t>53:10</a:t>
                      </a:r>
                    </a:p>
                  </a:txBody>
                  <a:tcPr>
                    <a:solidFill>
                      <a:srgbClr val="FFFFFF"/>
                    </a:solidFill>
                  </a:tcPr>
                </a:tc>
                <a:tc>
                  <a:txBody>
                    <a:bodyPr/>
                    <a:lstStyle/>
                    <a:p>
                      <a:pPr algn="ctr"/>
                      <a:r>
                        <a:rPr sz="1400" b="0" i="0">
                          <a:solidFill>
                            <a:srgbClr val="262626"/>
                          </a:solidFill>
                          <a:latin typeface="Arial"/>
                        </a:rPr>
                        <a:t>23.4</a:t>
                      </a:r>
                    </a:p>
                  </a:txBody>
                  <a:tcPr>
                    <a:solidFill>
                      <a:srgbClr val="FFFFFF"/>
                    </a:solidFill>
                  </a:tcPr>
                </a:tc>
                <a:tc>
                  <a:txBody>
                    <a:bodyPr/>
                    <a:lstStyle/>
                    <a:p>
                      <a:pPr algn="ctr"/>
                      <a:r>
                        <a:rPr sz="1400" b="0" i="0">
                          <a:solidFill>
                            <a:srgbClr val="262626"/>
                          </a:solidFill>
                          <a:latin typeface="Arial"/>
                        </a:rPr>
                        <a:t>20.8</a:t>
                      </a:r>
                    </a:p>
                  </a:txBody>
                  <a:tcPr>
                    <a:solidFill>
                      <a:srgbClr val="FFFFFF"/>
                    </a:solidFill>
                  </a:tcPr>
                </a:tc>
                <a:tc>
                  <a:txBody>
                    <a:bodyPr/>
                    <a:lstStyle/>
                    <a:p>
                      <a:pPr algn="ctr"/>
                      <a:r>
                        <a:rPr sz="1400" b="0" i="0">
                          <a:solidFill>
                            <a:srgbClr val="262626"/>
                          </a:solidFill>
                          <a:latin typeface="Arial"/>
                        </a:rPr>
                        <a:t>0.75</a:t>
                      </a:r>
                    </a:p>
                  </a:txBody>
                  <a:tcPr>
                    <a:solidFill>
                      <a:srgbClr val="FFFFFF"/>
                    </a:solidFill>
                  </a:tcPr>
                </a:tc>
                <a:tc>
                  <a:txBody>
                    <a:bodyPr/>
                    <a:lstStyle/>
                    <a:p>
                      <a:pPr algn="ctr"/>
                      <a:r>
                        <a:rPr sz="1400" b="0" i="0">
                          <a:solidFill>
                            <a:srgbClr val="262626"/>
                          </a:solidFill>
                          <a:latin typeface="Arial"/>
                        </a:rPr>
                        <a:t>21.0</a:t>
                      </a:r>
                    </a:p>
                  </a:txBody>
                  <a:tcPr>
                    <a:solidFill>
                      <a:srgbClr val="FFFFFF"/>
                    </a:solidFill>
                  </a:tcPr>
                </a:tc>
                <a:tc>
                  <a:txBody>
                    <a:bodyPr/>
                    <a:lstStyle/>
                    <a:p>
                      <a:pPr algn="ctr"/>
                      <a:r>
                        <a:rPr sz="1400" b="0" i="0">
                          <a:solidFill>
                            <a:srgbClr val="262626"/>
                          </a:solidFill>
                          <a:latin typeface="Arial"/>
                        </a:rPr>
                        <a:t>5.0</a:t>
                      </a:r>
                    </a:p>
                  </a:txBody>
                  <a:tcPr>
                    <a:solidFill>
                      <a:srgbClr val="FFFFFF"/>
                    </a:solidFill>
                  </a:tcPr>
                </a:tc>
                <a:extLst>
                  <a:ext uri="{0D108BD9-81ED-4DB2-BD59-A6C34878D82A}">
                    <a16:rowId xmlns:a16="http://schemas.microsoft.com/office/drawing/2014/main" val="10005"/>
                  </a:ext>
                </a:extLst>
              </a:tr>
              <a:tr h="512064">
                <a:tc>
                  <a:txBody>
                    <a:bodyPr/>
                    <a:lstStyle/>
                    <a:p>
                      <a:pPr algn="ctr"/>
                      <a:r>
                        <a:rPr sz="1400" b="0" i="0">
                          <a:solidFill>
                            <a:srgbClr val="262626"/>
                          </a:solidFill>
                          <a:latin typeface="Arial"/>
                        </a:rPr>
                        <a:t>2023</a:t>
                      </a:r>
                    </a:p>
                  </a:txBody>
                  <a:tcPr>
                    <a:solidFill>
                      <a:srgbClr val="F2F2F2"/>
                    </a:solidFill>
                  </a:tcPr>
                </a:tc>
                <a:tc>
                  <a:txBody>
                    <a:bodyPr/>
                    <a:lstStyle/>
                    <a:p>
                      <a:pPr algn="ctr"/>
                      <a:r>
                        <a:rPr sz="1400" b="0" i="0">
                          <a:solidFill>
                            <a:srgbClr val="262626"/>
                          </a:solidFill>
                          <a:latin typeface="Arial"/>
                        </a:rPr>
                        <a:t>Jul 15</a:t>
                      </a:r>
                    </a:p>
                  </a:txBody>
                  <a:tcPr>
                    <a:solidFill>
                      <a:srgbClr val="F2F2F2"/>
                    </a:solidFill>
                  </a:tcPr>
                </a:tc>
                <a:tc>
                  <a:txBody>
                    <a:bodyPr/>
                    <a:lstStyle/>
                    <a:p>
                      <a:pPr algn="l"/>
                      <a:r>
                        <a:rPr sz="1200" b="0" i="0">
                          <a:solidFill>
                            <a:srgbClr val="262626"/>
                          </a:solidFill>
                          <a:latin typeface="Arial"/>
                        </a:rPr>
                        <a:t>World Championships, World Championship Series, Age-Group Event *</a:t>
                      </a:r>
                    </a:p>
                  </a:txBody>
                  <a:tcPr>
                    <a:solidFill>
                      <a:srgbClr val="F2F2F2"/>
                    </a:solidFill>
                  </a:tcPr>
                </a:tc>
                <a:tc>
                  <a:txBody>
                    <a:bodyPr/>
                    <a:lstStyle/>
                    <a:p>
                      <a:pPr algn="ctr"/>
                      <a:r>
                        <a:rPr sz="1400" b="0" i="0">
                          <a:solidFill>
                            <a:srgbClr val="262626"/>
                          </a:solidFill>
                          <a:latin typeface="Arial"/>
                        </a:rPr>
                        <a:t>60</a:t>
                      </a:r>
                    </a:p>
                  </a:txBody>
                  <a:tcPr>
                    <a:solidFill>
                      <a:srgbClr val="F2F2F2"/>
                    </a:solidFill>
                  </a:tcPr>
                </a:tc>
                <a:tc>
                  <a:txBody>
                    <a:bodyPr/>
                    <a:lstStyle/>
                    <a:p>
                      <a:pPr algn="ctr"/>
                      <a:r>
                        <a:rPr sz="1400" b="0" i="0">
                          <a:solidFill>
                            <a:srgbClr val="262626"/>
                          </a:solidFill>
                          <a:latin typeface="Arial"/>
                        </a:rPr>
                        <a:t>1</a:t>
                      </a:r>
                    </a:p>
                  </a:txBody>
                  <a:tcPr>
                    <a:solidFill>
                      <a:srgbClr val="F2F2F2"/>
                    </a:solidFill>
                  </a:tcPr>
                </a:tc>
                <a:tc>
                  <a:txBody>
                    <a:bodyPr/>
                    <a:lstStyle/>
                    <a:p>
                      <a:pPr algn="l"/>
                      <a:r>
                        <a:rPr sz="1400" b="0" i="0">
                          <a:solidFill>
                            <a:srgbClr val="262626"/>
                          </a:solidFill>
                          <a:latin typeface="Arial"/>
                        </a:rPr>
                        <a:t>Wilde</a:t>
                      </a:r>
                    </a:p>
                  </a:txBody>
                  <a:tcPr>
                    <a:solidFill>
                      <a:srgbClr val="F2F2F2"/>
                    </a:solidFill>
                  </a:tcPr>
                </a:tc>
                <a:tc>
                  <a:txBody>
                    <a:bodyPr/>
                    <a:lstStyle/>
                    <a:p>
                      <a:pPr algn="ctr"/>
                      <a:r>
                        <a:rPr sz="1400" b="0" i="0">
                          <a:solidFill>
                            <a:srgbClr val="262626"/>
                          </a:solidFill>
                          <a:latin typeface="Arial"/>
                        </a:rPr>
                        <a:t>19:26</a:t>
                      </a:r>
                    </a:p>
                  </a:txBody>
                  <a:tcPr>
                    <a:solidFill>
                      <a:srgbClr val="F2F2F2"/>
                    </a:solidFill>
                  </a:tcPr>
                </a:tc>
                <a:tc>
                  <a:txBody>
                    <a:bodyPr/>
                    <a:lstStyle/>
                    <a:p>
                      <a:pPr algn="ctr"/>
                      <a:r>
                        <a:rPr sz="1400" b="0" i="0">
                          <a:solidFill>
                            <a:srgbClr val="262626"/>
                          </a:solidFill>
                          <a:latin typeface="Arial"/>
                        </a:rPr>
                        <a:t>24.4°*</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0.30</a:t>
                      </a:r>
                    </a:p>
                  </a:txBody>
                  <a:tcPr>
                    <a:solidFill>
                      <a:srgbClr val="F2F2F2"/>
                    </a:solidFill>
                  </a:tcPr>
                </a:tc>
                <a:tc>
                  <a:txBody>
                    <a:bodyPr/>
                    <a:lstStyle/>
                    <a:p>
                      <a:pPr algn="ctr"/>
                      <a:r>
                        <a:rPr sz="1400" b="0" i="0">
                          <a:solidFill>
                            <a:srgbClr val="262626"/>
                          </a:solidFill>
                          <a:latin typeface="Arial"/>
                        </a:rPr>
                        <a:t>7.5</a:t>
                      </a:r>
                    </a:p>
                  </a:txBody>
                  <a:tcPr>
                    <a:solidFill>
                      <a:srgbClr val="F2F2F2"/>
                    </a:solidFill>
                  </a:tcPr>
                </a:tc>
                <a:tc>
                  <a:txBody>
                    <a:bodyPr/>
                    <a:lstStyle/>
                    <a:p>
                      <a:pPr algn="ctr"/>
                      <a:r>
                        <a:rPr sz="1400" b="0" i="0">
                          <a:solidFill>
                            <a:srgbClr val="262626"/>
                          </a:solidFill>
                          <a:latin typeface="Arial"/>
                        </a:rPr>
                        <a:t>1.75</a:t>
                      </a:r>
                    </a:p>
                  </a:txBody>
                  <a:tcPr>
                    <a:solidFill>
                      <a:srgbClr val="F2F2F2"/>
                    </a:solidFill>
                  </a:tcPr>
                </a:tc>
                <a:extLst>
                  <a:ext uri="{0D108BD9-81ED-4DB2-BD59-A6C34878D82A}">
                    <a16:rowId xmlns:a16="http://schemas.microsoft.com/office/drawing/2014/main" val="10006"/>
                  </a:ext>
                </a:extLst>
              </a:tr>
              <a:tr h="512064">
                <a:tc>
                  <a:txBody>
                    <a:bodyPr/>
                    <a:lstStyle/>
                    <a:p>
                      <a:pPr algn="ctr"/>
                      <a:r>
                        <a:rPr sz="1400" b="0" i="0">
                          <a:solidFill>
                            <a:srgbClr val="262626"/>
                          </a:solidFill>
                          <a:latin typeface="Arial"/>
                        </a:rPr>
                        <a:t>2024</a:t>
                      </a:r>
                    </a:p>
                  </a:txBody>
                  <a:tcPr>
                    <a:solidFill>
                      <a:srgbClr val="FFFFFF"/>
                    </a:solidFill>
                  </a:tcPr>
                </a:tc>
                <a:tc>
                  <a:txBody>
                    <a:bodyPr/>
                    <a:lstStyle/>
                    <a:p>
                      <a:pPr algn="ctr"/>
                      <a:r>
                        <a:rPr sz="1400" b="0" i="0">
                          <a:solidFill>
                            <a:srgbClr val="262626"/>
                          </a:solidFill>
                          <a:latin typeface="Arial"/>
                        </a:rPr>
                        <a:t>Jul 13</a:t>
                      </a:r>
                    </a:p>
                  </a:txBody>
                  <a:tcPr>
                    <a:solidFill>
                      <a:srgbClr val="FFFFFF"/>
                    </a:solidFill>
                  </a:tcPr>
                </a:tc>
                <a:tc>
                  <a:txBody>
                    <a:bodyPr/>
                    <a:lstStyle/>
                    <a:p>
                      <a:pPr algn="l"/>
                      <a:r>
                        <a:rPr sz="1200" b="0" i="0">
                          <a:solidFill>
                            <a:srgbClr val="262626"/>
                          </a:solidFill>
                          <a:latin typeface="Arial"/>
                        </a:rPr>
                        <a:t>World Championship Series *</a:t>
                      </a:r>
                    </a:p>
                  </a:txBody>
                  <a:tcPr>
                    <a:solidFill>
                      <a:srgbClr val="FFFFFF"/>
                    </a:solidFill>
                  </a:tcPr>
                </a:tc>
                <a:tc>
                  <a:txBody>
                    <a:bodyPr/>
                    <a:lstStyle/>
                    <a:p>
                      <a:pPr algn="ctr"/>
                      <a:r>
                        <a:rPr sz="1400" b="0" i="0">
                          <a:solidFill>
                            <a:srgbClr val="262626"/>
                          </a:solidFill>
                          <a:latin typeface="Arial"/>
                        </a:rPr>
                        <a:t>57</a:t>
                      </a:r>
                    </a:p>
                  </a:txBody>
                  <a:tcPr>
                    <a:solidFill>
                      <a:srgbClr val="FFFFFF"/>
                    </a:solidFill>
                  </a:tcPr>
                </a:tc>
                <a:tc>
                  <a:txBody>
                    <a:bodyPr/>
                    <a:lstStyle/>
                    <a:p>
                      <a:pPr algn="ctr"/>
                      <a:r>
                        <a:rPr sz="1400" b="0" i="0">
                          <a:solidFill>
                            <a:srgbClr val="262626"/>
                          </a:solidFill>
                          <a:latin typeface="Arial"/>
                        </a:rPr>
                        <a:t>7</a:t>
                      </a:r>
                    </a:p>
                  </a:txBody>
                  <a:tcPr>
                    <a:solidFill>
                      <a:srgbClr val="FFFFFF"/>
                    </a:solidFill>
                  </a:tcPr>
                </a:tc>
                <a:tc>
                  <a:txBody>
                    <a:bodyPr/>
                    <a:lstStyle/>
                    <a:p>
                      <a:pPr algn="l"/>
                      <a:r>
                        <a:rPr sz="1400" b="0" i="0">
                          <a:solidFill>
                            <a:srgbClr val="262626"/>
                          </a:solidFill>
                          <a:latin typeface="Arial"/>
                        </a:rPr>
                        <a:t>Hauser</a:t>
                      </a:r>
                    </a:p>
                  </a:txBody>
                  <a:tcPr>
                    <a:solidFill>
                      <a:srgbClr val="FFFFFF"/>
                    </a:solidFill>
                  </a:tcPr>
                </a:tc>
                <a:tc>
                  <a:txBody>
                    <a:bodyPr/>
                    <a:lstStyle/>
                    <a:p>
                      <a:pPr algn="ctr"/>
                      <a:r>
                        <a:rPr sz="1400" b="0" i="0">
                          <a:solidFill>
                            <a:srgbClr val="262626"/>
                          </a:solidFill>
                          <a:latin typeface="Arial"/>
                        </a:rPr>
                        <a:t>50:03</a:t>
                      </a:r>
                    </a:p>
                  </a:txBody>
                  <a:tcPr>
                    <a:solidFill>
                      <a:srgbClr val="FFFFFF"/>
                    </a:solidFill>
                  </a:tcPr>
                </a:tc>
                <a:tc>
                  <a:txBody>
                    <a:bodyPr/>
                    <a:lstStyle/>
                    <a:p>
                      <a:pPr algn="ctr"/>
                      <a:r>
                        <a:rPr sz="1400" b="0" i="0">
                          <a:solidFill>
                            <a:srgbClr val="262626"/>
                          </a:solidFill>
                          <a:latin typeface="Arial"/>
                        </a:rPr>
                        <a:t>18.9</a:t>
                      </a:r>
                    </a:p>
                  </a:txBody>
                  <a:tcPr>
                    <a:solidFill>
                      <a:srgbClr val="FFFFFF"/>
                    </a:solidFill>
                  </a:tcPr>
                </a:tc>
                <a:tc>
                  <a:txBody>
                    <a:bodyPr/>
                    <a:lstStyle/>
                    <a:p>
                      <a:pPr algn="ctr"/>
                      <a:r>
                        <a:rPr sz="1400" b="0" i="0">
                          <a:solidFill>
                            <a:srgbClr val="262626"/>
                          </a:solidFill>
                          <a:latin typeface="Arial"/>
                        </a:rPr>
                        <a:t>21.3</a:t>
                      </a:r>
                    </a:p>
                  </a:txBody>
                  <a:tcPr>
                    <a:solidFill>
                      <a:srgbClr val="FFFFFF"/>
                    </a:solidFill>
                  </a:tcPr>
                </a:tc>
                <a:tc>
                  <a:txBody>
                    <a:bodyPr/>
                    <a:lstStyle/>
                    <a:p>
                      <a:pPr algn="ctr"/>
                      <a:r>
                        <a:rPr sz="1400" b="0" i="0">
                          <a:solidFill>
                            <a:srgbClr val="262626"/>
                          </a:solidFill>
                          <a:latin typeface="Arial"/>
                        </a:rPr>
                        <a:t>0.75</a:t>
                      </a:r>
                    </a:p>
                  </a:txBody>
                  <a:tcPr>
                    <a:solidFill>
                      <a:srgbClr val="FFFFFF"/>
                    </a:solidFill>
                  </a:tcPr>
                </a:tc>
                <a:tc>
                  <a:txBody>
                    <a:bodyPr/>
                    <a:lstStyle/>
                    <a:p>
                      <a:pPr algn="ctr"/>
                      <a:r>
                        <a:rPr sz="1400" b="0" i="0">
                          <a:solidFill>
                            <a:srgbClr val="262626"/>
                          </a:solidFill>
                          <a:latin typeface="Arial"/>
                        </a:rPr>
                        <a:t>19.8</a:t>
                      </a:r>
                    </a:p>
                  </a:txBody>
                  <a:tcPr>
                    <a:solidFill>
                      <a:srgbClr val="FFFFFF"/>
                    </a:solidFill>
                  </a:tcPr>
                </a:tc>
                <a:tc>
                  <a:txBody>
                    <a:bodyPr/>
                    <a:lstStyle/>
                    <a:p>
                      <a:pPr algn="ctr"/>
                      <a:r>
                        <a:rPr sz="1400" b="0" i="0">
                          <a:solidFill>
                            <a:srgbClr val="262626"/>
                          </a:solidFill>
                          <a:latin typeface="Arial"/>
                        </a:rPr>
                        <a:t>4.9</a:t>
                      </a:r>
                    </a:p>
                  </a:txBody>
                  <a:tcPr>
                    <a:solidFill>
                      <a:srgbClr val="FFFFFF"/>
                    </a:solidFill>
                  </a:tcPr>
                </a:tc>
                <a:extLst>
                  <a:ext uri="{0D108BD9-81ED-4DB2-BD59-A6C34878D82A}">
                    <a16:rowId xmlns:a16="http://schemas.microsoft.com/office/drawing/2014/main" val="10007"/>
                  </a:ext>
                </a:extLst>
              </a:tr>
              <a:tr h="310263">
                <a:tc>
                  <a:txBody>
                    <a:bodyPr/>
                    <a:lstStyle/>
                    <a:p>
                      <a:pPr algn="ctr"/>
                      <a:r>
                        <a:rPr sz="1400" b="0" i="0">
                          <a:solidFill>
                            <a:srgbClr val="262626"/>
                          </a:solidFill>
                          <a:latin typeface="Arial"/>
                        </a:rPr>
                        <a:t>2025</a:t>
                      </a:r>
                    </a:p>
                  </a:txBody>
                  <a:tcPr>
                    <a:solidFill>
                      <a:srgbClr val="F2F2F2"/>
                    </a:solidFill>
                  </a:tcPr>
                </a:tc>
                <a:tc>
                  <a:txBody>
                    <a:bodyPr/>
                    <a:lstStyle/>
                    <a:p>
                      <a:pPr algn="ctr"/>
                      <a:r>
                        <a:rPr sz="1400" b="0" i="0">
                          <a:solidFill>
                            <a:srgbClr val="262626"/>
                          </a:solidFill>
                          <a:latin typeface="Arial"/>
                        </a:rPr>
                        <a:t>Jul 12</a:t>
                      </a:r>
                    </a:p>
                  </a:txBody>
                  <a:tcPr>
                    <a:solidFill>
                      <a:srgbClr val="F2F2F2"/>
                    </a:solidFill>
                  </a:tcPr>
                </a:tc>
                <a:tc>
                  <a:txBody>
                    <a:bodyPr/>
                    <a:lstStyle/>
                    <a:p>
                      <a:pPr algn="l"/>
                      <a:r>
                        <a:rPr sz="1200" b="0" i="0">
                          <a:solidFill>
                            <a:srgbClr val="262626"/>
                          </a:solidFill>
                          <a:latin typeface="Arial"/>
                        </a:rPr>
                        <a:t>World Championship Series *</a:t>
                      </a:r>
                    </a:p>
                  </a:txBody>
                  <a:tcPr>
                    <a:solidFill>
                      <a:srgbClr val="F2F2F2"/>
                    </a:solidFill>
                  </a:tcPr>
                </a:tc>
                <a:tc>
                  <a:txBody>
                    <a:bodyPr/>
                    <a:lstStyle/>
                    <a:p>
                      <a:pPr algn="ctr"/>
                      <a:r>
                        <a:rPr sz="1400" b="0" i="0">
                          <a:solidFill>
                            <a:srgbClr val="262626"/>
                          </a:solidFill>
                          <a:latin typeface="Arial"/>
                        </a:rPr>
                        <a:t>55</a:t>
                      </a:r>
                    </a:p>
                  </a:txBody>
                  <a:tcPr>
                    <a:solidFill>
                      <a:srgbClr val="F2F2F2"/>
                    </a:solidFill>
                  </a:tcPr>
                </a:tc>
                <a:tc>
                  <a:txBody>
                    <a:bodyPr/>
                    <a:lstStyle/>
                    <a:p>
                      <a:pPr algn="ctr"/>
                      <a:r>
                        <a:rPr sz="1400" b="0" i="0">
                          <a:solidFill>
                            <a:srgbClr val="262626"/>
                          </a:solidFill>
                          <a:latin typeface="Arial"/>
                        </a:rPr>
                        <a:t>6</a:t>
                      </a:r>
                    </a:p>
                  </a:txBody>
                  <a:tcPr>
                    <a:solidFill>
                      <a:srgbClr val="F2F2F2"/>
                    </a:solidFill>
                  </a:tcPr>
                </a:tc>
                <a:tc>
                  <a:txBody>
                    <a:bodyPr/>
                    <a:lstStyle/>
                    <a:p>
                      <a:pPr algn="l"/>
                      <a:r>
                        <a:rPr sz="1400" b="0" i="0">
                          <a:solidFill>
                            <a:srgbClr val="262626"/>
                          </a:solidFill>
                          <a:latin typeface="Arial"/>
                        </a:rPr>
                        <a:t>Hauser</a:t>
                      </a:r>
                    </a:p>
                  </a:txBody>
                  <a:tcPr>
                    <a:solidFill>
                      <a:srgbClr val="F2F2F2"/>
                    </a:solidFill>
                  </a:tcPr>
                </a:tc>
                <a:tc>
                  <a:txBody>
                    <a:bodyPr/>
                    <a:lstStyle/>
                    <a:p>
                      <a:pPr algn="ctr"/>
                      <a:r>
                        <a:rPr sz="1400" b="0" i="0">
                          <a:solidFill>
                            <a:srgbClr val="262626"/>
                          </a:solidFill>
                          <a:latin typeface="Arial"/>
                        </a:rPr>
                        <a:t>50:07</a:t>
                      </a:r>
                    </a:p>
                  </a:txBody>
                  <a:tcPr>
                    <a:solidFill>
                      <a:srgbClr val="F2F2F2"/>
                    </a:solidFill>
                  </a:tcPr>
                </a:tc>
                <a:tc>
                  <a:txBody>
                    <a:bodyPr/>
                    <a:lstStyle/>
                    <a:p>
                      <a:pPr algn="ctr"/>
                      <a:r>
                        <a:rPr sz="1400" b="0" i="0">
                          <a:solidFill>
                            <a:srgbClr val="262626"/>
                          </a:solidFill>
                          <a:latin typeface="Arial"/>
                        </a:rPr>
                        <a:t>23.6</a:t>
                      </a:r>
                    </a:p>
                  </a:txBody>
                  <a:tcPr>
                    <a:solidFill>
                      <a:srgbClr val="F2F2F2"/>
                    </a:solidFill>
                  </a:tcPr>
                </a:tc>
                <a:tc>
                  <a:txBody>
                    <a:bodyPr/>
                    <a:lstStyle/>
                    <a:p>
                      <a:pPr algn="ctr"/>
                      <a:r>
                        <a:rPr sz="1400" b="0" i="0">
                          <a:solidFill>
                            <a:srgbClr val="262626"/>
                          </a:solidFill>
                          <a:latin typeface="Arial"/>
                        </a:rPr>
                        <a:t>21.1</a:t>
                      </a:r>
                    </a:p>
                  </a:txBody>
                  <a:tcPr>
                    <a:solidFill>
                      <a:srgbClr val="F2F2F2"/>
                    </a:solidFill>
                  </a:tcPr>
                </a:tc>
                <a:tc>
                  <a:txBody>
                    <a:bodyPr/>
                    <a:lstStyle/>
                    <a:p>
                      <a:pPr algn="ctr"/>
                      <a:r>
                        <a:rPr sz="1400" b="0" i="0">
                          <a:solidFill>
                            <a:srgbClr val="262626"/>
                          </a:solidFill>
                          <a:latin typeface="Arial"/>
                        </a:rPr>
                        <a:t>0.75</a:t>
                      </a:r>
                    </a:p>
                  </a:txBody>
                  <a:tcPr>
                    <a:solidFill>
                      <a:srgbClr val="F2F2F2"/>
                    </a:solidFill>
                  </a:tcPr>
                </a:tc>
                <a:tc>
                  <a:txBody>
                    <a:bodyPr/>
                    <a:lstStyle/>
                    <a:p>
                      <a:pPr algn="ctr"/>
                      <a:r>
                        <a:rPr sz="1400" b="0" i="0">
                          <a:solidFill>
                            <a:srgbClr val="262626"/>
                          </a:solidFill>
                          <a:latin typeface="Arial"/>
                        </a:rPr>
                        <a:t>19.8</a:t>
                      </a:r>
                    </a:p>
                  </a:txBody>
                  <a:tcPr>
                    <a:solidFill>
                      <a:srgbClr val="F2F2F2"/>
                    </a:solidFill>
                  </a:tcPr>
                </a:tc>
                <a:tc>
                  <a:txBody>
                    <a:bodyPr/>
                    <a:lstStyle/>
                    <a:p>
                      <a:pPr algn="ctr"/>
                      <a:r>
                        <a:rPr sz="1400" b="0" i="0" dirty="0">
                          <a:solidFill>
                            <a:srgbClr val="262626"/>
                          </a:solidFill>
                          <a:latin typeface="Arial"/>
                        </a:rPr>
                        <a:t>5.0</a:t>
                      </a:r>
                    </a:p>
                  </a:txBody>
                  <a:tcPr>
                    <a:solidFill>
                      <a:srgbClr val="F2F2F2"/>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274320" y="6492240"/>
            <a:ext cx="5486400" cy="256032"/>
          </a:xfrm>
          <a:prstGeom prst="rect">
            <a:avLst/>
          </a:prstGeom>
          <a:noFill/>
        </p:spPr>
        <p:txBody>
          <a:bodyPr wrap="square">
            <a:spAutoFit/>
          </a:bodyPr>
          <a:lstStyle/>
          <a:p>
            <a:pPr algn="l"/>
            <a:r>
              <a:rPr sz="800" b="0" i="1">
                <a:solidFill>
                  <a:srgbClr val="BFBFBF"/>
                </a:solidFill>
                <a:latin typeface="Arial"/>
              </a:rPr>
              <a:t>* Course distance changed vs. prior year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55558"/>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3"/>
          <a:stretch>
            <a:fillRect/>
          </a:stretch>
        </p:blipFill>
        <p:spPr>
          <a:xfrm>
            <a:off x="1031156" y="1311014"/>
            <a:ext cx="10126640" cy="3261523"/>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1485521687"/>
              </p:ext>
            </p:extLst>
          </p:nvPr>
        </p:nvGraphicFramePr>
        <p:xfrm>
          <a:off x="274320" y="4525979"/>
          <a:ext cx="11640311" cy="2002152"/>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3822191">
                  <a:extLst>
                    <a:ext uri="{9D8B030D-6E8A-4147-A177-3AD203B41FA5}">
                      <a16:colId xmlns:a16="http://schemas.microsoft.com/office/drawing/2014/main" val="20005"/>
                    </a:ext>
                  </a:extLst>
                </a:gridCol>
              </a:tblGrid>
              <a:tr h="234499">
                <a:tc>
                  <a:txBody>
                    <a:bodyPr/>
                    <a:lstStyle/>
                    <a:p>
                      <a:pPr algn="ctr"/>
                      <a:r>
                        <a:rPr sz="1000" b="1" i="0">
                          <a:solidFill>
                            <a:srgbClr val="FFFFFF"/>
                          </a:solidFill>
                          <a:latin typeface="Arial"/>
                        </a:rPr>
                        <a:t>Year</a:t>
                      </a:r>
                    </a:p>
                  </a:txBody>
                  <a:tcPr marT="41804" marB="41804">
                    <a:solidFill>
                      <a:srgbClr val="002060"/>
                    </a:solidFill>
                  </a:tcPr>
                </a:tc>
                <a:tc>
                  <a:txBody>
                    <a:bodyPr/>
                    <a:lstStyle/>
                    <a:p>
                      <a:pPr algn="ctr"/>
                      <a:r>
                        <a:rPr sz="1000" b="1" i="0">
                          <a:solidFill>
                            <a:srgbClr val="FFFFFF"/>
                          </a:solidFill>
                          <a:latin typeface="Arial"/>
                        </a:rPr>
                        <a:t>Lead Size @ T1</a:t>
                      </a:r>
                    </a:p>
                  </a:txBody>
                  <a:tcPr marT="41804" marB="41804">
                    <a:solidFill>
                      <a:srgbClr val="002060"/>
                    </a:solidFill>
                  </a:tcPr>
                </a:tc>
                <a:tc>
                  <a:txBody>
                    <a:bodyPr/>
                    <a:lstStyle/>
                    <a:p>
                      <a:pPr algn="ctr"/>
                      <a:r>
                        <a:rPr sz="1000" b="1" i="0">
                          <a:solidFill>
                            <a:srgbClr val="FFFFFF"/>
                          </a:solidFill>
                          <a:latin typeface="Arial"/>
                        </a:rPr>
                        <a:t>Lead Size @ T2</a:t>
                      </a:r>
                    </a:p>
                  </a:txBody>
                  <a:tcPr marT="41804" marB="41804">
                    <a:solidFill>
                      <a:srgbClr val="002060"/>
                    </a:solidFill>
                  </a:tcPr>
                </a:tc>
                <a:tc>
                  <a:txBody>
                    <a:bodyPr/>
                    <a:lstStyle/>
                    <a:p>
                      <a:pPr algn="ctr"/>
                      <a:r>
                        <a:rPr sz="1000" b="1" i="0">
                          <a:solidFill>
                            <a:srgbClr val="FFFFFF"/>
                          </a:solidFill>
                          <a:latin typeface="Arial"/>
                        </a:rPr>
                        <a:t>Change</a:t>
                      </a:r>
                    </a:p>
                  </a:txBody>
                  <a:tcPr marT="41804" marB="41804">
                    <a:solidFill>
                      <a:srgbClr val="002060"/>
                    </a:solidFill>
                  </a:tcPr>
                </a:tc>
                <a:tc>
                  <a:txBody>
                    <a:bodyPr/>
                    <a:lstStyle/>
                    <a:p>
                      <a:pPr algn="ctr"/>
                      <a:r>
                        <a:rPr sz="1000" b="1" i="0" dirty="0">
                          <a:solidFill>
                            <a:srgbClr val="FFFFFF"/>
                          </a:solidFill>
                          <a:latin typeface="Arial"/>
                        </a:rPr>
                        <a:t>Chase Group @ T2</a:t>
                      </a:r>
                    </a:p>
                  </a:txBody>
                  <a:tcPr marT="41804" marB="41804">
                    <a:solidFill>
                      <a:srgbClr val="002060"/>
                    </a:solidFill>
                  </a:tcPr>
                </a:tc>
                <a:tc>
                  <a:txBody>
                    <a:bodyPr/>
                    <a:lstStyle/>
                    <a:p>
                      <a:pPr algn="ctr"/>
                      <a:r>
                        <a:rPr sz="1000" b="1" i="0">
                          <a:solidFill>
                            <a:srgbClr val="FFFFFF"/>
                          </a:solidFill>
                          <a:latin typeface="Arial"/>
                        </a:rPr>
                        <a:t>Chase Gap*</a:t>
                      </a:r>
                    </a:p>
                  </a:txBody>
                  <a:tcPr marT="41804" marB="41804">
                    <a:solidFill>
                      <a:srgbClr val="002060"/>
                    </a:solidFill>
                  </a:tcPr>
                </a:tc>
                <a:extLst>
                  <a:ext uri="{0D108BD9-81ED-4DB2-BD59-A6C34878D82A}">
                    <a16:rowId xmlns:a16="http://schemas.microsoft.com/office/drawing/2014/main" val="10000"/>
                  </a:ext>
                </a:extLst>
              </a:tr>
              <a:tr h="219410">
                <a:tc>
                  <a:txBody>
                    <a:bodyPr/>
                    <a:lstStyle/>
                    <a:p>
                      <a:pPr algn="ctr"/>
                      <a:r>
                        <a:rPr sz="900" b="0" i="0">
                          <a:solidFill>
                            <a:srgbClr val="262626"/>
                          </a:solidFill>
                          <a:latin typeface="Arial"/>
                        </a:rPr>
                        <a:t>2018</a:t>
                      </a:r>
                    </a:p>
                  </a:txBody>
                  <a:tcPr marT="41804" marB="41804">
                    <a:solidFill>
                      <a:srgbClr val="FFFFFF"/>
                    </a:solidFill>
                  </a:tcPr>
                </a:tc>
                <a:tc>
                  <a:txBody>
                    <a:bodyPr/>
                    <a:lstStyle/>
                    <a:p>
                      <a:pPr algn="ctr"/>
                      <a:r>
                        <a:rPr sz="900" b="0" i="0">
                          <a:solidFill>
                            <a:srgbClr val="262626"/>
                          </a:solidFill>
                          <a:latin typeface="Arial"/>
                        </a:rPr>
                        <a:t>20</a:t>
                      </a:r>
                    </a:p>
                  </a:txBody>
                  <a:tcPr marT="41804" marB="41804">
                    <a:solidFill>
                      <a:srgbClr val="FFFFFF"/>
                    </a:solidFill>
                  </a:tcPr>
                </a:tc>
                <a:tc>
                  <a:txBody>
                    <a:bodyPr/>
                    <a:lstStyle/>
                    <a:p>
                      <a:pPr algn="ctr"/>
                      <a:r>
                        <a:rPr sz="900" b="0" i="0">
                          <a:solidFill>
                            <a:srgbClr val="262626"/>
                          </a:solidFill>
                          <a:latin typeface="Arial"/>
                        </a:rPr>
                        <a:t>3</a:t>
                      </a:r>
                    </a:p>
                  </a:txBody>
                  <a:tcPr marT="41804" marB="41804">
                    <a:solidFill>
                      <a:srgbClr val="FFFFFF"/>
                    </a:solidFill>
                  </a:tcPr>
                </a:tc>
                <a:tc>
                  <a:txBody>
                    <a:bodyPr/>
                    <a:lstStyle/>
                    <a:p>
                      <a:pPr algn="ctr"/>
                      <a:r>
                        <a:rPr sz="900" b="0" i="0">
                          <a:solidFill>
                            <a:srgbClr val="262626"/>
                          </a:solidFill>
                          <a:latin typeface="Arial"/>
                        </a:rPr>
                        <a:t>-17</a:t>
                      </a:r>
                    </a:p>
                  </a:txBody>
                  <a:tcPr marT="41804" marB="41804">
                    <a:solidFill>
                      <a:srgbClr val="FFFFFF"/>
                    </a:solidFill>
                  </a:tcPr>
                </a:tc>
                <a:tc>
                  <a:txBody>
                    <a:bodyPr/>
                    <a:lstStyle/>
                    <a:p>
                      <a:pPr algn="ctr"/>
                      <a:r>
                        <a:rPr sz="900" b="0" i="0">
                          <a:solidFill>
                            <a:srgbClr val="262626"/>
                          </a:solidFill>
                          <a:latin typeface="Arial"/>
                        </a:rPr>
                        <a:t>37</a:t>
                      </a:r>
                    </a:p>
                  </a:txBody>
                  <a:tcPr marT="41804" marB="41804">
                    <a:solidFill>
                      <a:srgbClr val="FFFFFF"/>
                    </a:solidFill>
                  </a:tcPr>
                </a:tc>
                <a:tc>
                  <a:txBody>
                    <a:bodyPr/>
                    <a:lstStyle/>
                    <a:p>
                      <a:pPr algn="ctr"/>
                      <a:r>
                        <a:rPr sz="900" b="0" i="0">
                          <a:solidFill>
                            <a:srgbClr val="262626"/>
                          </a:solidFill>
                          <a:latin typeface="Arial"/>
                        </a:rPr>
                        <a:t>17s</a:t>
                      </a:r>
                    </a:p>
                  </a:txBody>
                  <a:tcPr marT="41804" marB="41804">
                    <a:solidFill>
                      <a:srgbClr val="FFFFFF"/>
                    </a:solidFill>
                  </a:tcPr>
                </a:tc>
                <a:extLst>
                  <a:ext uri="{0D108BD9-81ED-4DB2-BD59-A6C34878D82A}">
                    <a16:rowId xmlns:a16="http://schemas.microsoft.com/office/drawing/2014/main" val="10001"/>
                  </a:ext>
                </a:extLst>
              </a:tr>
              <a:tr h="219410">
                <a:tc>
                  <a:txBody>
                    <a:bodyPr/>
                    <a:lstStyle/>
                    <a:p>
                      <a:pPr algn="ctr"/>
                      <a:r>
                        <a:rPr sz="900" b="0" i="0">
                          <a:solidFill>
                            <a:srgbClr val="262626"/>
                          </a:solidFill>
                          <a:latin typeface="Arial"/>
                        </a:rPr>
                        <a:t>2019</a:t>
                      </a:r>
                    </a:p>
                  </a:txBody>
                  <a:tcPr marT="41804" marB="41804">
                    <a:solidFill>
                      <a:srgbClr val="F2F2F2"/>
                    </a:solidFill>
                  </a:tcPr>
                </a:tc>
                <a:tc>
                  <a:txBody>
                    <a:bodyPr/>
                    <a:lstStyle/>
                    <a:p>
                      <a:pPr algn="ctr"/>
                      <a:r>
                        <a:rPr sz="900" b="0" i="0">
                          <a:solidFill>
                            <a:srgbClr val="262626"/>
                          </a:solidFill>
                          <a:latin typeface="Arial"/>
                        </a:rPr>
                        <a:t>12</a:t>
                      </a:r>
                    </a:p>
                  </a:txBody>
                  <a:tcPr marT="41804" marB="41804">
                    <a:solidFill>
                      <a:srgbClr val="F2F2F2"/>
                    </a:solidFill>
                  </a:tcPr>
                </a:tc>
                <a:tc>
                  <a:txBody>
                    <a:bodyPr/>
                    <a:lstStyle/>
                    <a:p>
                      <a:pPr algn="ctr"/>
                      <a:r>
                        <a:rPr sz="900" b="0" i="0">
                          <a:solidFill>
                            <a:srgbClr val="262626"/>
                          </a:solidFill>
                          <a:latin typeface="Arial"/>
                        </a:rPr>
                        <a:t>40</a:t>
                      </a:r>
                    </a:p>
                  </a:txBody>
                  <a:tcPr marT="41804" marB="41804">
                    <a:solidFill>
                      <a:srgbClr val="F2F2F2"/>
                    </a:solidFill>
                  </a:tcPr>
                </a:tc>
                <a:tc>
                  <a:txBody>
                    <a:bodyPr/>
                    <a:lstStyle/>
                    <a:p>
                      <a:pPr algn="ctr"/>
                      <a:r>
                        <a:rPr sz="900" b="0" i="0">
                          <a:solidFill>
                            <a:srgbClr val="262626"/>
                          </a:solidFill>
                          <a:latin typeface="Arial"/>
                        </a:rPr>
                        <a:t>+28</a:t>
                      </a:r>
                    </a:p>
                  </a:txBody>
                  <a:tcPr marT="41804" marB="41804">
                    <a:solidFill>
                      <a:srgbClr val="F2F2F2"/>
                    </a:solidFill>
                  </a:tcPr>
                </a:tc>
                <a:tc>
                  <a:txBody>
                    <a:bodyPr/>
                    <a:lstStyle/>
                    <a:p>
                      <a:pPr algn="ctr"/>
                      <a:r>
                        <a:rPr sz="900" b="0" i="0">
                          <a:solidFill>
                            <a:srgbClr val="262626"/>
                          </a:solidFill>
                          <a:latin typeface="Arial"/>
                        </a:rPr>
                        <a:t>2</a:t>
                      </a:r>
                    </a:p>
                  </a:txBody>
                  <a:tcPr marT="41804" marB="41804">
                    <a:solidFill>
                      <a:srgbClr val="F2F2F2"/>
                    </a:solidFill>
                  </a:tcPr>
                </a:tc>
                <a:tc>
                  <a:txBody>
                    <a:bodyPr/>
                    <a:lstStyle/>
                    <a:p>
                      <a:pPr algn="ctr"/>
                      <a:r>
                        <a:rPr sz="900" b="0" i="0">
                          <a:solidFill>
                            <a:srgbClr val="262626"/>
                          </a:solidFill>
                          <a:latin typeface="Arial"/>
                        </a:rPr>
                        <a:t>28s</a:t>
                      </a:r>
                    </a:p>
                  </a:txBody>
                  <a:tcPr marT="41804" marB="41804">
                    <a:solidFill>
                      <a:srgbClr val="F2F2F2"/>
                    </a:solidFill>
                  </a:tcPr>
                </a:tc>
                <a:extLst>
                  <a:ext uri="{0D108BD9-81ED-4DB2-BD59-A6C34878D82A}">
                    <a16:rowId xmlns:a16="http://schemas.microsoft.com/office/drawing/2014/main" val="10002"/>
                  </a:ext>
                </a:extLst>
              </a:tr>
              <a:tr h="219410">
                <a:tc>
                  <a:txBody>
                    <a:bodyPr/>
                    <a:lstStyle/>
                    <a:p>
                      <a:pPr algn="ctr"/>
                      <a:r>
                        <a:rPr sz="900" b="0" i="0">
                          <a:solidFill>
                            <a:srgbClr val="262626"/>
                          </a:solidFill>
                          <a:latin typeface="Arial"/>
                        </a:rPr>
                        <a:t>2020</a:t>
                      </a:r>
                    </a:p>
                  </a:txBody>
                  <a:tcPr marT="41804" marB="41804">
                    <a:solidFill>
                      <a:srgbClr val="FFFFFF"/>
                    </a:solidFill>
                  </a:tcPr>
                </a:tc>
                <a:tc>
                  <a:txBody>
                    <a:bodyPr/>
                    <a:lstStyle/>
                    <a:p>
                      <a:pPr algn="ctr"/>
                      <a:r>
                        <a:rPr sz="900" b="0" i="0">
                          <a:solidFill>
                            <a:srgbClr val="262626"/>
                          </a:solidFill>
                          <a:latin typeface="Arial"/>
                        </a:rPr>
                        <a:t>19</a:t>
                      </a:r>
                    </a:p>
                  </a:txBody>
                  <a:tcPr marT="41804" marB="41804">
                    <a:solidFill>
                      <a:srgbClr val="FFFFFF"/>
                    </a:solidFill>
                  </a:tcPr>
                </a:tc>
                <a:tc>
                  <a:txBody>
                    <a:bodyPr/>
                    <a:lstStyle/>
                    <a:p>
                      <a:pPr algn="ctr"/>
                      <a:r>
                        <a:rPr sz="900" b="0" i="0">
                          <a:solidFill>
                            <a:srgbClr val="262626"/>
                          </a:solidFill>
                          <a:latin typeface="Arial"/>
                        </a:rPr>
                        <a:t>8</a:t>
                      </a:r>
                    </a:p>
                  </a:txBody>
                  <a:tcPr marT="41804" marB="41804">
                    <a:solidFill>
                      <a:srgbClr val="FFFFFF"/>
                    </a:solidFill>
                  </a:tcPr>
                </a:tc>
                <a:tc>
                  <a:txBody>
                    <a:bodyPr/>
                    <a:lstStyle/>
                    <a:p>
                      <a:pPr algn="ctr"/>
                      <a:r>
                        <a:rPr sz="900" b="0" i="0">
                          <a:solidFill>
                            <a:srgbClr val="262626"/>
                          </a:solidFill>
                          <a:latin typeface="Arial"/>
                        </a:rPr>
                        <a:t>-11</a:t>
                      </a:r>
                    </a:p>
                  </a:txBody>
                  <a:tcPr marT="41804" marB="41804">
                    <a:solidFill>
                      <a:srgbClr val="FFFFFF"/>
                    </a:solidFill>
                  </a:tcPr>
                </a:tc>
                <a:tc>
                  <a:txBody>
                    <a:bodyPr/>
                    <a:lstStyle/>
                    <a:p>
                      <a:pPr algn="ctr"/>
                      <a:r>
                        <a:rPr sz="900" b="0" i="0">
                          <a:solidFill>
                            <a:srgbClr val="262626"/>
                          </a:solidFill>
                          <a:latin typeface="Arial"/>
                        </a:rPr>
                        <a:t>34</a:t>
                      </a:r>
                    </a:p>
                  </a:txBody>
                  <a:tcPr marT="41804" marB="41804">
                    <a:solidFill>
                      <a:srgbClr val="FFFFFF"/>
                    </a:solidFill>
                  </a:tcPr>
                </a:tc>
                <a:tc>
                  <a:txBody>
                    <a:bodyPr/>
                    <a:lstStyle/>
                    <a:p>
                      <a:pPr algn="ctr"/>
                      <a:r>
                        <a:rPr sz="900" b="0" i="0">
                          <a:solidFill>
                            <a:srgbClr val="262626"/>
                          </a:solidFill>
                          <a:latin typeface="Arial"/>
                        </a:rPr>
                        <a:t>14s</a:t>
                      </a:r>
                    </a:p>
                  </a:txBody>
                  <a:tcPr marT="41804" marB="41804">
                    <a:solidFill>
                      <a:srgbClr val="FFFFFF"/>
                    </a:solidFill>
                  </a:tcPr>
                </a:tc>
                <a:extLst>
                  <a:ext uri="{0D108BD9-81ED-4DB2-BD59-A6C34878D82A}">
                    <a16:rowId xmlns:a16="http://schemas.microsoft.com/office/drawing/2014/main" val="10003"/>
                  </a:ext>
                </a:extLst>
              </a:tr>
              <a:tr h="219410">
                <a:tc>
                  <a:txBody>
                    <a:bodyPr/>
                    <a:lstStyle/>
                    <a:p>
                      <a:pPr algn="ctr"/>
                      <a:r>
                        <a:rPr sz="900" b="0" i="0">
                          <a:solidFill>
                            <a:srgbClr val="262626"/>
                          </a:solidFill>
                          <a:latin typeface="Arial"/>
                        </a:rPr>
                        <a:t>2021</a:t>
                      </a:r>
                    </a:p>
                  </a:txBody>
                  <a:tcPr marT="41804" marB="41804">
                    <a:solidFill>
                      <a:srgbClr val="F2F2F2"/>
                    </a:solidFill>
                  </a:tcPr>
                </a:tc>
                <a:tc>
                  <a:txBody>
                    <a:bodyPr/>
                    <a:lstStyle/>
                    <a:p>
                      <a:pPr algn="ctr"/>
                      <a:r>
                        <a:rPr sz="900" b="0" i="0">
                          <a:solidFill>
                            <a:srgbClr val="262626"/>
                          </a:solidFill>
                          <a:latin typeface="Arial"/>
                        </a:rPr>
                        <a:t>15</a:t>
                      </a:r>
                    </a:p>
                  </a:txBody>
                  <a:tcPr marT="41804" marB="41804">
                    <a:solidFill>
                      <a:srgbClr val="F2F2F2"/>
                    </a:solidFill>
                  </a:tcPr>
                </a:tc>
                <a:tc>
                  <a:txBody>
                    <a:bodyPr/>
                    <a:lstStyle/>
                    <a:p>
                      <a:pPr algn="ctr"/>
                      <a:r>
                        <a:rPr sz="900" b="0" i="0">
                          <a:solidFill>
                            <a:srgbClr val="262626"/>
                          </a:solidFill>
                          <a:latin typeface="Arial"/>
                        </a:rPr>
                        <a:t>33</a:t>
                      </a:r>
                    </a:p>
                  </a:txBody>
                  <a:tcPr marT="41804" marB="41804">
                    <a:solidFill>
                      <a:srgbClr val="F2F2F2"/>
                    </a:solidFill>
                  </a:tcPr>
                </a:tc>
                <a:tc>
                  <a:txBody>
                    <a:bodyPr/>
                    <a:lstStyle/>
                    <a:p>
                      <a:pPr algn="ctr"/>
                      <a:r>
                        <a:rPr sz="900" b="0" i="0">
                          <a:solidFill>
                            <a:srgbClr val="262626"/>
                          </a:solidFill>
                          <a:latin typeface="Arial"/>
                        </a:rPr>
                        <a:t>+18</a:t>
                      </a:r>
                    </a:p>
                  </a:txBody>
                  <a:tcPr marT="41804" marB="41804">
                    <a:solidFill>
                      <a:srgbClr val="F2F2F2"/>
                    </a:solidFill>
                  </a:tcPr>
                </a:tc>
                <a:tc>
                  <a:txBody>
                    <a:bodyPr/>
                    <a:lstStyle/>
                    <a:p>
                      <a:pPr algn="ctr"/>
                      <a:r>
                        <a:rPr sz="900" b="0" i="0">
                          <a:solidFill>
                            <a:srgbClr val="262626"/>
                          </a:solidFill>
                          <a:latin typeface="Arial"/>
                        </a:rPr>
                        <a:t>9</a:t>
                      </a:r>
                    </a:p>
                  </a:txBody>
                  <a:tcPr marT="41804" marB="41804">
                    <a:solidFill>
                      <a:srgbClr val="F2F2F2"/>
                    </a:solidFill>
                  </a:tcPr>
                </a:tc>
                <a:tc>
                  <a:txBody>
                    <a:bodyPr/>
                    <a:lstStyle/>
                    <a:p>
                      <a:pPr algn="ctr"/>
                      <a:r>
                        <a:rPr sz="900" b="0" i="0">
                          <a:solidFill>
                            <a:srgbClr val="262626"/>
                          </a:solidFill>
                          <a:latin typeface="Arial"/>
                        </a:rPr>
                        <a:t>36s</a:t>
                      </a:r>
                    </a:p>
                  </a:txBody>
                  <a:tcPr marT="41804" marB="41804">
                    <a:solidFill>
                      <a:srgbClr val="F2F2F2"/>
                    </a:solidFill>
                  </a:tcPr>
                </a:tc>
                <a:extLst>
                  <a:ext uri="{0D108BD9-81ED-4DB2-BD59-A6C34878D82A}">
                    <a16:rowId xmlns:a16="http://schemas.microsoft.com/office/drawing/2014/main" val="10004"/>
                  </a:ext>
                </a:extLst>
              </a:tr>
              <a:tr h="219410">
                <a:tc>
                  <a:txBody>
                    <a:bodyPr/>
                    <a:lstStyle/>
                    <a:p>
                      <a:pPr algn="ctr"/>
                      <a:r>
                        <a:rPr sz="900" b="0" i="0">
                          <a:solidFill>
                            <a:srgbClr val="262626"/>
                          </a:solidFill>
                          <a:latin typeface="Arial"/>
                        </a:rPr>
                        <a:t>2022</a:t>
                      </a:r>
                    </a:p>
                  </a:txBody>
                  <a:tcPr marT="41804" marB="41804">
                    <a:solidFill>
                      <a:srgbClr val="FFFFFF"/>
                    </a:solidFill>
                  </a:tcPr>
                </a:tc>
                <a:tc>
                  <a:txBody>
                    <a:bodyPr/>
                    <a:lstStyle/>
                    <a:p>
                      <a:pPr algn="ctr"/>
                      <a:r>
                        <a:rPr sz="900" b="0" i="0">
                          <a:solidFill>
                            <a:srgbClr val="262626"/>
                          </a:solidFill>
                          <a:latin typeface="Arial"/>
                        </a:rPr>
                        <a:t>15</a:t>
                      </a:r>
                    </a:p>
                  </a:txBody>
                  <a:tcPr marT="41804" marB="41804">
                    <a:solidFill>
                      <a:srgbClr val="FFFFFF"/>
                    </a:solidFill>
                  </a:tcPr>
                </a:tc>
                <a:tc>
                  <a:txBody>
                    <a:bodyPr/>
                    <a:lstStyle/>
                    <a:p>
                      <a:pPr algn="ctr"/>
                      <a:r>
                        <a:rPr sz="900" b="0" i="0">
                          <a:solidFill>
                            <a:srgbClr val="262626"/>
                          </a:solidFill>
                          <a:latin typeface="Arial"/>
                        </a:rPr>
                        <a:t>33</a:t>
                      </a:r>
                    </a:p>
                  </a:txBody>
                  <a:tcPr marT="41804" marB="41804">
                    <a:solidFill>
                      <a:srgbClr val="FFFFFF"/>
                    </a:solidFill>
                  </a:tcPr>
                </a:tc>
                <a:tc>
                  <a:txBody>
                    <a:bodyPr/>
                    <a:lstStyle/>
                    <a:p>
                      <a:pPr algn="ctr"/>
                      <a:r>
                        <a:rPr sz="900" b="0" i="0">
                          <a:solidFill>
                            <a:srgbClr val="262626"/>
                          </a:solidFill>
                          <a:latin typeface="Arial"/>
                        </a:rPr>
                        <a:t>+18</a:t>
                      </a:r>
                    </a:p>
                  </a:txBody>
                  <a:tcPr marT="41804" marB="41804">
                    <a:solidFill>
                      <a:srgbClr val="FFFFFF"/>
                    </a:solidFill>
                  </a:tcPr>
                </a:tc>
                <a:tc>
                  <a:txBody>
                    <a:bodyPr/>
                    <a:lstStyle/>
                    <a:p>
                      <a:pPr algn="ctr"/>
                      <a:r>
                        <a:rPr sz="900" b="0" i="0">
                          <a:solidFill>
                            <a:srgbClr val="262626"/>
                          </a:solidFill>
                          <a:latin typeface="Arial"/>
                        </a:rPr>
                        <a:t>13</a:t>
                      </a:r>
                    </a:p>
                  </a:txBody>
                  <a:tcPr marT="41804" marB="41804">
                    <a:solidFill>
                      <a:srgbClr val="FFFFFF"/>
                    </a:solidFill>
                  </a:tcPr>
                </a:tc>
                <a:tc>
                  <a:txBody>
                    <a:bodyPr/>
                    <a:lstStyle/>
                    <a:p>
                      <a:pPr algn="ctr"/>
                      <a:r>
                        <a:rPr sz="900" b="0" i="0">
                          <a:solidFill>
                            <a:srgbClr val="262626"/>
                          </a:solidFill>
                          <a:latin typeface="Arial"/>
                        </a:rPr>
                        <a:t>52s</a:t>
                      </a:r>
                    </a:p>
                  </a:txBody>
                  <a:tcPr marT="41804" marB="41804">
                    <a:solidFill>
                      <a:srgbClr val="FFFFFF"/>
                    </a:solidFill>
                  </a:tcPr>
                </a:tc>
                <a:extLst>
                  <a:ext uri="{0D108BD9-81ED-4DB2-BD59-A6C34878D82A}">
                    <a16:rowId xmlns:a16="http://schemas.microsoft.com/office/drawing/2014/main" val="10005"/>
                  </a:ext>
                </a:extLst>
              </a:tr>
              <a:tr h="219410">
                <a:tc>
                  <a:txBody>
                    <a:bodyPr/>
                    <a:lstStyle/>
                    <a:p>
                      <a:pPr algn="ctr"/>
                      <a:r>
                        <a:rPr sz="900" b="0" i="0">
                          <a:solidFill>
                            <a:srgbClr val="262626"/>
                          </a:solidFill>
                          <a:latin typeface="Arial"/>
                        </a:rPr>
                        <a:t>2023</a:t>
                      </a:r>
                    </a:p>
                  </a:txBody>
                  <a:tcPr marT="41804" marB="41804">
                    <a:solidFill>
                      <a:srgbClr val="F2F2F2"/>
                    </a:solidFill>
                  </a:tcPr>
                </a:tc>
                <a:tc>
                  <a:txBody>
                    <a:bodyPr/>
                    <a:lstStyle/>
                    <a:p>
                      <a:pPr algn="ctr"/>
                      <a:r>
                        <a:rPr sz="900" b="0" i="0">
                          <a:solidFill>
                            <a:srgbClr val="262626"/>
                          </a:solidFill>
                          <a:latin typeface="Arial"/>
                        </a:rPr>
                        <a:t>24</a:t>
                      </a:r>
                    </a:p>
                  </a:txBody>
                  <a:tcPr marT="41804" marB="41804">
                    <a:solidFill>
                      <a:srgbClr val="F2F2F2"/>
                    </a:solidFill>
                  </a:tcPr>
                </a:tc>
                <a:tc>
                  <a:txBody>
                    <a:bodyPr/>
                    <a:lstStyle/>
                    <a:p>
                      <a:pPr algn="ctr"/>
                      <a:r>
                        <a:rPr sz="900" b="0" i="0">
                          <a:solidFill>
                            <a:srgbClr val="262626"/>
                          </a:solidFill>
                          <a:latin typeface="Arial"/>
                        </a:rPr>
                        <a:t>28</a:t>
                      </a:r>
                    </a:p>
                  </a:txBody>
                  <a:tcPr marT="41804" marB="41804">
                    <a:solidFill>
                      <a:srgbClr val="F2F2F2"/>
                    </a:solidFill>
                  </a:tcPr>
                </a:tc>
                <a:tc>
                  <a:txBody>
                    <a:bodyPr/>
                    <a:lstStyle/>
                    <a:p>
                      <a:pPr algn="ctr"/>
                      <a:r>
                        <a:rPr sz="900" b="0" i="0">
                          <a:solidFill>
                            <a:srgbClr val="262626"/>
                          </a:solidFill>
                          <a:latin typeface="Arial"/>
                        </a:rPr>
                        <a:t>+4</a:t>
                      </a:r>
                    </a:p>
                  </a:txBody>
                  <a:tcPr marT="41804" marB="41804">
                    <a:solidFill>
                      <a:srgbClr val="F2F2F2"/>
                    </a:solidFill>
                  </a:tcPr>
                </a:tc>
                <a:tc>
                  <a:txBody>
                    <a:bodyPr/>
                    <a:lstStyle/>
                    <a:p>
                      <a:pPr algn="ctr"/>
                      <a:r>
                        <a:rPr sz="900" b="0" i="0" dirty="0">
                          <a:solidFill>
                            <a:srgbClr val="262626"/>
                          </a:solidFill>
                          <a:latin typeface="Arial"/>
                        </a:rPr>
                        <a:t>23</a:t>
                      </a:r>
                    </a:p>
                  </a:txBody>
                  <a:tcPr marT="41804" marB="41804">
                    <a:solidFill>
                      <a:srgbClr val="F2F2F2"/>
                    </a:solidFill>
                  </a:tcPr>
                </a:tc>
                <a:tc>
                  <a:txBody>
                    <a:bodyPr/>
                    <a:lstStyle/>
                    <a:p>
                      <a:pPr algn="ctr"/>
                      <a:r>
                        <a:rPr sz="900" b="0" i="0">
                          <a:solidFill>
                            <a:srgbClr val="262626"/>
                          </a:solidFill>
                          <a:latin typeface="Arial"/>
                        </a:rPr>
                        <a:t>1s</a:t>
                      </a:r>
                    </a:p>
                  </a:txBody>
                  <a:tcPr marT="41804" marB="41804">
                    <a:solidFill>
                      <a:srgbClr val="F2F2F2"/>
                    </a:solidFill>
                  </a:tcPr>
                </a:tc>
                <a:extLst>
                  <a:ext uri="{0D108BD9-81ED-4DB2-BD59-A6C34878D82A}">
                    <a16:rowId xmlns:a16="http://schemas.microsoft.com/office/drawing/2014/main" val="10006"/>
                  </a:ext>
                </a:extLst>
              </a:tr>
              <a:tr h="219410">
                <a:tc>
                  <a:txBody>
                    <a:bodyPr/>
                    <a:lstStyle/>
                    <a:p>
                      <a:pPr algn="ctr"/>
                      <a:r>
                        <a:rPr sz="900" b="0" i="0">
                          <a:solidFill>
                            <a:srgbClr val="262626"/>
                          </a:solidFill>
                          <a:latin typeface="Arial"/>
                        </a:rPr>
                        <a:t>2024</a:t>
                      </a:r>
                    </a:p>
                  </a:txBody>
                  <a:tcPr marT="41804" marB="41804">
                    <a:solidFill>
                      <a:srgbClr val="FFFFFF"/>
                    </a:solidFill>
                  </a:tcPr>
                </a:tc>
                <a:tc>
                  <a:txBody>
                    <a:bodyPr/>
                    <a:lstStyle/>
                    <a:p>
                      <a:pPr algn="ctr"/>
                      <a:r>
                        <a:rPr sz="900" b="0" i="0">
                          <a:solidFill>
                            <a:srgbClr val="262626"/>
                          </a:solidFill>
                          <a:latin typeface="Arial"/>
                        </a:rPr>
                        <a:t>19</a:t>
                      </a:r>
                    </a:p>
                  </a:txBody>
                  <a:tcPr marT="41804" marB="41804">
                    <a:solidFill>
                      <a:srgbClr val="FFFFFF"/>
                    </a:solidFill>
                  </a:tcPr>
                </a:tc>
                <a:tc>
                  <a:txBody>
                    <a:bodyPr/>
                    <a:lstStyle/>
                    <a:p>
                      <a:pPr algn="ctr"/>
                      <a:r>
                        <a:rPr sz="900" b="0" i="0">
                          <a:solidFill>
                            <a:srgbClr val="262626"/>
                          </a:solidFill>
                          <a:latin typeface="Arial"/>
                        </a:rPr>
                        <a:t>28</a:t>
                      </a:r>
                    </a:p>
                  </a:txBody>
                  <a:tcPr marT="41804" marB="41804">
                    <a:solidFill>
                      <a:srgbClr val="FFFFFF"/>
                    </a:solidFill>
                  </a:tcPr>
                </a:tc>
                <a:tc>
                  <a:txBody>
                    <a:bodyPr/>
                    <a:lstStyle/>
                    <a:p>
                      <a:pPr algn="ctr"/>
                      <a:r>
                        <a:rPr sz="900" b="0" i="0">
                          <a:solidFill>
                            <a:srgbClr val="262626"/>
                          </a:solidFill>
                          <a:latin typeface="Arial"/>
                        </a:rPr>
                        <a:t>+9</a:t>
                      </a:r>
                    </a:p>
                  </a:txBody>
                  <a:tcPr marT="41804" marB="41804">
                    <a:solidFill>
                      <a:srgbClr val="FFFFFF"/>
                    </a:solidFill>
                  </a:tcPr>
                </a:tc>
                <a:tc>
                  <a:txBody>
                    <a:bodyPr/>
                    <a:lstStyle/>
                    <a:p>
                      <a:pPr algn="ctr"/>
                      <a:r>
                        <a:rPr sz="900" b="0" i="0">
                          <a:solidFill>
                            <a:srgbClr val="262626"/>
                          </a:solidFill>
                          <a:latin typeface="Arial"/>
                        </a:rPr>
                        <a:t>16</a:t>
                      </a:r>
                    </a:p>
                  </a:txBody>
                  <a:tcPr marT="41804" marB="41804">
                    <a:solidFill>
                      <a:srgbClr val="FFFFFF"/>
                    </a:solidFill>
                  </a:tcPr>
                </a:tc>
                <a:tc>
                  <a:txBody>
                    <a:bodyPr/>
                    <a:lstStyle/>
                    <a:p>
                      <a:pPr algn="ctr"/>
                      <a:r>
                        <a:rPr sz="900" b="0" i="0">
                          <a:solidFill>
                            <a:srgbClr val="262626"/>
                          </a:solidFill>
                          <a:latin typeface="Arial"/>
                        </a:rPr>
                        <a:t>62s</a:t>
                      </a:r>
                    </a:p>
                  </a:txBody>
                  <a:tcPr marT="41804" marB="41804">
                    <a:solidFill>
                      <a:srgbClr val="FFFFFF"/>
                    </a:solidFill>
                  </a:tcPr>
                </a:tc>
                <a:extLst>
                  <a:ext uri="{0D108BD9-81ED-4DB2-BD59-A6C34878D82A}">
                    <a16:rowId xmlns:a16="http://schemas.microsoft.com/office/drawing/2014/main" val="10007"/>
                  </a:ext>
                </a:extLst>
              </a:tr>
              <a:tr h="219410">
                <a:tc>
                  <a:txBody>
                    <a:bodyPr/>
                    <a:lstStyle/>
                    <a:p>
                      <a:pPr algn="ctr"/>
                      <a:r>
                        <a:rPr sz="900" b="0" i="0">
                          <a:solidFill>
                            <a:srgbClr val="262626"/>
                          </a:solidFill>
                          <a:latin typeface="Arial"/>
                        </a:rPr>
                        <a:t>2025</a:t>
                      </a:r>
                    </a:p>
                  </a:txBody>
                  <a:tcPr marT="41804" marB="41804">
                    <a:solidFill>
                      <a:srgbClr val="F2F2F2"/>
                    </a:solidFill>
                  </a:tcPr>
                </a:tc>
                <a:tc>
                  <a:txBody>
                    <a:bodyPr/>
                    <a:lstStyle/>
                    <a:p>
                      <a:pPr algn="ctr"/>
                      <a:r>
                        <a:rPr sz="900" b="0" i="0">
                          <a:solidFill>
                            <a:srgbClr val="262626"/>
                          </a:solidFill>
                          <a:latin typeface="Arial"/>
                        </a:rPr>
                        <a:t>14</a:t>
                      </a:r>
                    </a:p>
                  </a:txBody>
                  <a:tcPr marT="41804" marB="41804">
                    <a:solidFill>
                      <a:srgbClr val="F2F2F2"/>
                    </a:solidFill>
                  </a:tcPr>
                </a:tc>
                <a:tc>
                  <a:txBody>
                    <a:bodyPr/>
                    <a:lstStyle/>
                    <a:p>
                      <a:pPr algn="ctr"/>
                      <a:r>
                        <a:rPr sz="900" b="0" i="0">
                          <a:solidFill>
                            <a:srgbClr val="262626"/>
                          </a:solidFill>
                          <a:latin typeface="Arial"/>
                        </a:rPr>
                        <a:t>11</a:t>
                      </a:r>
                    </a:p>
                  </a:txBody>
                  <a:tcPr marT="41804" marB="41804">
                    <a:solidFill>
                      <a:srgbClr val="F2F2F2"/>
                    </a:solidFill>
                  </a:tcPr>
                </a:tc>
                <a:tc>
                  <a:txBody>
                    <a:bodyPr/>
                    <a:lstStyle/>
                    <a:p>
                      <a:pPr algn="ctr"/>
                      <a:r>
                        <a:rPr sz="900" b="0" i="0">
                          <a:solidFill>
                            <a:srgbClr val="262626"/>
                          </a:solidFill>
                          <a:latin typeface="Arial"/>
                        </a:rPr>
                        <a:t>-3</a:t>
                      </a:r>
                    </a:p>
                  </a:txBody>
                  <a:tcPr marT="41804" marB="41804">
                    <a:solidFill>
                      <a:srgbClr val="F2F2F2"/>
                    </a:solidFill>
                  </a:tcPr>
                </a:tc>
                <a:tc>
                  <a:txBody>
                    <a:bodyPr/>
                    <a:lstStyle/>
                    <a:p>
                      <a:pPr algn="ctr"/>
                      <a:r>
                        <a:rPr sz="900" b="0" i="0">
                          <a:solidFill>
                            <a:srgbClr val="262626"/>
                          </a:solidFill>
                          <a:latin typeface="Arial"/>
                        </a:rPr>
                        <a:t>20</a:t>
                      </a:r>
                    </a:p>
                  </a:txBody>
                  <a:tcPr marT="41804" marB="41804">
                    <a:solidFill>
                      <a:srgbClr val="F2F2F2"/>
                    </a:solidFill>
                  </a:tcPr>
                </a:tc>
                <a:tc>
                  <a:txBody>
                    <a:bodyPr/>
                    <a:lstStyle/>
                    <a:p>
                      <a:pPr algn="ctr"/>
                      <a:r>
                        <a:rPr sz="900" b="0" i="0" dirty="0">
                          <a:solidFill>
                            <a:srgbClr val="262626"/>
                          </a:solidFill>
                          <a:latin typeface="Arial"/>
                        </a:rPr>
                        <a:t>26s</a:t>
                      </a:r>
                    </a:p>
                  </a:txBody>
                  <a:tcPr marT="41804" marB="41804">
                    <a:solidFill>
                      <a:srgbClr val="F2F2F2"/>
                    </a:solidFill>
                  </a:tcPr>
                </a:tc>
                <a:extLst>
                  <a:ext uri="{0D108BD9-81ED-4DB2-BD59-A6C34878D82A}">
                    <a16:rowId xmlns:a16="http://schemas.microsoft.com/office/drawing/2014/main" val="10008"/>
                  </a:ext>
                </a:extLst>
              </a:tr>
            </a:tbl>
          </a:graphicData>
        </a:graphic>
      </p:graphicFrame>
      <p:sp>
        <p:nvSpPr>
          <p:cNvPr id="11" name="TextBox 10"/>
          <p:cNvSpPr txBox="1"/>
          <p:nvPr/>
        </p:nvSpPr>
        <p:spPr>
          <a:xfrm>
            <a:off x="274320" y="6565392"/>
            <a:ext cx="11640312" cy="201168"/>
          </a:xfrm>
          <a:prstGeom prst="rect">
            <a:avLst/>
          </a:prstGeom>
          <a:noFill/>
        </p:spPr>
        <p:txBody>
          <a:bodyPr wrap="square">
            <a:spAutoFit/>
          </a:bodyPr>
          <a:lstStyle/>
          <a:p>
            <a:pPr algn="l"/>
            <a:r>
              <a:rPr sz="800" b="0" i="1">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p>
        </p:txBody>
      </p:sp>
      <p:sp>
        <p:nvSpPr>
          <p:cNvPr id="12" name="TextBox 11"/>
          <p:cNvSpPr txBox="1"/>
          <p:nvPr/>
        </p:nvSpPr>
        <p:spPr>
          <a:xfrm>
            <a:off x="274320" y="6720840"/>
            <a:ext cx="11640312" cy="164592"/>
          </a:xfrm>
          <a:prstGeom prst="rect">
            <a:avLst/>
          </a:prstGeom>
          <a:noFill/>
        </p:spPr>
        <p:txBody>
          <a:bodyPr wrap="square">
            <a:spAutoFit/>
          </a:bodyPr>
          <a:lstStyle/>
          <a:p>
            <a:pPr algn="l"/>
            <a:r>
              <a:rPr sz="750" b="0" i="1">
                <a:solidFill>
                  <a:srgbClr val="BFBFBF"/>
                </a:solidFill>
                <a:latin typeface="Arial"/>
              </a:rPr>
              <a:t>Dropouts: 2018: 8 DNF/LAP (1 in lead group at t1)  |  2019: 8 DNF/LAP  |  2020: 6 DNF/LAP (1 in lead group at t1)  |  2021: 2 DNF/LAP  |  2022: 1 DNF/LAP  |  2024: 5 DNF/LAP (1 in lead group at t1)  |  2025: 6 DNF/LAP (1 in lead group at t1)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665912" y="1053983"/>
            <a:ext cx="10857128" cy="2814495"/>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1405329246"/>
              </p:ext>
            </p:extLst>
          </p:nvPr>
        </p:nvGraphicFramePr>
        <p:xfrm>
          <a:off x="274320" y="3822442"/>
          <a:ext cx="11640312" cy="2861299"/>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833372">
                  <a:extLst>
                    <a:ext uri="{9D8B030D-6E8A-4147-A177-3AD203B41FA5}">
                      <a16:colId xmlns:a16="http://schemas.microsoft.com/office/drawing/2014/main" val="20001"/>
                    </a:ext>
                  </a:extLst>
                </a:gridCol>
                <a:gridCol w="1833372">
                  <a:extLst>
                    <a:ext uri="{9D8B030D-6E8A-4147-A177-3AD203B41FA5}">
                      <a16:colId xmlns:a16="http://schemas.microsoft.com/office/drawing/2014/main" val="20002"/>
                    </a:ext>
                  </a:extLst>
                </a:gridCol>
                <a:gridCol w="1833372">
                  <a:extLst>
                    <a:ext uri="{9D8B030D-6E8A-4147-A177-3AD203B41FA5}">
                      <a16:colId xmlns:a16="http://schemas.microsoft.com/office/drawing/2014/main" val="20003"/>
                    </a:ext>
                  </a:extLst>
                </a:gridCol>
                <a:gridCol w="1833372">
                  <a:extLst>
                    <a:ext uri="{9D8B030D-6E8A-4147-A177-3AD203B41FA5}">
                      <a16:colId xmlns:a16="http://schemas.microsoft.com/office/drawing/2014/main" val="20004"/>
                    </a:ext>
                  </a:extLst>
                </a:gridCol>
                <a:gridCol w="1833372">
                  <a:extLst>
                    <a:ext uri="{9D8B030D-6E8A-4147-A177-3AD203B41FA5}">
                      <a16:colId xmlns:a16="http://schemas.microsoft.com/office/drawing/2014/main" val="20005"/>
                    </a:ext>
                  </a:extLst>
                </a:gridCol>
                <a:gridCol w="1833372">
                  <a:extLst>
                    <a:ext uri="{9D8B030D-6E8A-4147-A177-3AD203B41FA5}">
                      <a16:colId xmlns:a16="http://schemas.microsoft.com/office/drawing/2014/main" val="20006"/>
                    </a:ext>
                  </a:extLst>
                </a:gridCol>
              </a:tblGrid>
              <a:tr h="248339">
                <a:tc>
                  <a:txBody>
                    <a:bodyPr/>
                    <a:lstStyle/>
                    <a:p>
                      <a:pPr algn="ctr"/>
                      <a:r>
                        <a:rPr sz="1000" b="1" i="0">
                          <a:solidFill>
                            <a:srgbClr val="FFFFFF"/>
                          </a:solidFill>
                          <a:latin typeface="Arial"/>
                        </a:rPr>
                        <a:t>Year</a:t>
                      </a:r>
                    </a:p>
                  </a:txBody>
                  <a:tcPr marT="41390" marB="41390">
                    <a:solidFill>
                      <a:srgbClr val="002060"/>
                    </a:solidFill>
                  </a:tcPr>
                </a:tc>
                <a:tc>
                  <a:txBody>
                    <a:bodyPr/>
                    <a:lstStyle/>
                    <a:p>
                      <a:pPr algn="ctr"/>
                      <a:r>
                        <a:rPr sz="1000" b="1" i="0">
                          <a:solidFill>
                            <a:srgbClr val="FFFFFF"/>
                          </a:solidFill>
                          <a:latin typeface="Arial"/>
                        </a:rPr>
                        <a:t>1st</a:t>
                      </a:r>
                    </a:p>
                  </a:txBody>
                  <a:tcPr marT="41390" marB="41390">
                    <a:solidFill>
                      <a:srgbClr val="002060"/>
                    </a:solidFill>
                  </a:tcPr>
                </a:tc>
                <a:tc>
                  <a:txBody>
                    <a:bodyPr/>
                    <a:lstStyle/>
                    <a:p>
                      <a:pPr algn="ctr"/>
                      <a:r>
                        <a:rPr sz="1000" b="1" i="0">
                          <a:solidFill>
                            <a:srgbClr val="FFFFFF"/>
                          </a:solidFill>
                          <a:latin typeface="Arial"/>
                        </a:rPr>
                        <a:t>2nd</a:t>
                      </a:r>
                    </a:p>
                  </a:txBody>
                  <a:tcPr marT="41390" marB="41390">
                    <a:solidFill>
                      <a:srgbClr val="002060"/>
                    </a:solidFill>
                  </a:tcPr>
                </a:tc>
                <a:tc>
                  <a:txBody>
                    <a:bodyPr/>
                    <a:lstStyle/>
                    <a:p>
                      <a:pPr algn="ctr"/>
                      <a:r>
                        <a:rPr sz="1000" b="1" i="0">
                          <a:solidFill>
                            <a:srgbClr val="FFFFFF"/>
                          </a:solidFill>
                          <a:latin typeface="Arial"/>
                        </a:rPr>
                        <a:t>3rd</a:t>
                      </a:r>
                    </a:p>
                  </a:txBody>
                  <a:tcPr marT="41390" marB="41390">
                    <a:solidFill>
                      <a:srgbClr val="002060"/>
                    </a:solidFill>
                  </a:tcPr>
                </a:tc>
                <a:tc>
                  <a:txBody>
                    <a:bodyPr/>
                    <a:lstStyle/>
                    <a:p>
                      <a:pPr algn="ctr"/>
                      <a:r>
                        <a:rPr sz="1000" b="1" i="0">
                          <a:solidFill>
                            <a:srgbClr val="FFFFFF"/>
                          </a:solidFill>
                          <a:latin typeface="Arial"/>
                        </a:rPr>
                        <a:t>5th</a:t>
                      </a:r>
                    </a:p>
                  </a:txBody>
                  <a:tcPr marT="41390" marB="41390">
                    <a:solidFill>
                      <a:srgbClr val="002060"/>
                    </a:solidFill>
                  </a:tcPr>
                </a:tc>
                <a:tc>
                  <a:txBody>
                    <a:bodyPr/>
                    <a:lstStyle/>
                    <a:p>
                      <a:pPr algn="ctr"/>
                      <a:r>
                        <a:rPr sz="1000" b="1" i="0">
                          <a:solidFill>
                            <a:srgbClr val="FFFFFF"/>
                          </a:solidFill>
                          <a:latin typeface="Arial"/>
                        </a:rPr>
                        <a:t>10th</a:t>
                      </a:r>
                    </a:p>
                  </a:txBody>
                  <a:tcPr marT="41390" marB="41390">
                    <a:solidFill>
                      <a:srgbClr val="002060"/>
                    </a:solidFill>
                  </a:tcPr>
                </a:tc>
                <a:tc>
                  <a:txBody>
                    <a:bodyPr/>
                    <a:lstStyle/>
                    <a:p>
                      <a:pPr algn="ctr"/>
                      <a:r>
                        <a:rPr sz="1000" b="1" i="0">
                          <a:solidFill>
                            <a:srgbClr val="FFFFFF"/>
                          </a:solidFill>
                          <a:latin typeface="Arial"/>
                        </a:rPr>
                        <a:t>20th</a:t>
                      </a:r>
                    </a:p>
                  </a:txBody>
                  <a:tcPr marT="41390" marB="41390">
                    <a:solidFill>
                      <a:srgbClr val="002060"/>
                    </a:solidFill>
                  </a:tcPr>
                </a:tc>
                <a:extLst>
                  <a:ext uri="{0D108BD9-81ED-4DB2-BD59-A6C34878D82A}">
                    <a16:rowId xmlns:a16="http://schemas.microsoft.com/office/drawing/2014/main" val="10000"/>
                  </a:ext>
                </a:extLst>
              </a:tr>
              <a:tr h="324206">
                <a:tc>
                  <a:txBody>
                    <a:bodyPr/>
                    <a:lstStyle/>
                    <a:p>
                      <a:pPr algn="ctr"/>
                      <a:r>
                        <a:rPr sz="1000" b="1" i="0">
                          <a:solidFill>
                            <a:srgbClr val="262626"/>
                          </a:solidFill>
                          <a:latin typeface="Arial"/>
                        </a:rPr>
                        <a:t>2018</a:t>
                      </a:r>
                    </a:p>
                  </a:txBody>
                  <a:tcPr marT="41390" marB="41390">
                    <a:solidFill>
                      <a:srgbClr val="FFFFFF"/>
                    </a:solidFill>
                  </a:tcPr>
                </a:tc>
                <a:tc>
                  <a:txBody>
                    <a:bodyPr/>
                    <a:lstStyle/>
                    <a:p>
                      <a:pPr algn="ctr"/>
                      <a:r>
                        <a:rPr sz="800" b="0" i="0">
                          <a:solidFill>
                            <a:srgbClr val="262626"/>
                          </a:solidFill>
                          <a:latin typeface="Arial"/>
                        </a:rPr>
                        <a:t>53:24</a:t>
                      </a:r>
                    </a:p>
                  </a:txBody>
                  <a:tcPr marT="41390" marB="41390">
                    <a:solidFill>
                      <a:srgbClr val="FFFFFF"/>
                    </a:solidFill>
                  </a:tcPr>
                </a:tc>
                <a:tc>
                  <a:txBody>
                    <a:bodyPr/>
                    <a:lstStyle/>
                    <a:p>
                      <a:pPr algn="ctr"/>
                      <a:r>
                        <a:rPr sz="800" b="0" i="0">
                          <a:solidFill>
                            <a:srgbClr val="262626"/>
                          </a:solidFill>
                          <a:latin typeface="Arial"/>
                        </a:rPr>
                        <a:t>53:29
+5s</a:t>
                      </a:r>
                    </a:p>
                  </a:txBody>
                  <a:tcPr marT="41390" marB="41390">
                    <a:solidFill>
                      <a:srgbClr val="FFFFFF"/>
                    </a:solidFill>
                  </a:tcPr>
                </a:tc>
                <a:tc>
                  <a:txBody>
                    <a:bodyPr/>
                    <a:lstStyle/>
                    <a:p>
                      <a:pPr algn="ctr"/>
                      <a:r>
                        <a:rPr sz="800" b="0" i="0">
                          <a:solidFill>
                            <a:srgbClr val="262626"/>
                          </a:solidFill>
                          <a:latin typeface="Arial"/>
                        </a:rPr>
                        <a:t>53:32
+8s</a:t>
                      </a:r>
                    </a:p>
                  </a:txBody>
                  <a:tcPr marT="41390" marB="41390">
                    <a:solidFill>
                      <a:srgbClr val="FFFFFF"/>
                    </a:solidFill>
                  </a:tcPr>
                </a:tc>
                <a:tc>
                  <a:txBody>
                    <a:bodyPr/>
                    <a:lstStyle/>
                    <a:p>
                      <a:pPr algn="ctr"/>
                      <a:r>
                        <a:rPr sz="800" b="0" i="0">
                          <a:solidFill>
                            <a:srgbClr val="262626"/>
                          </a:solidFill>
                          <a:latin typeface="Arial"/>
                        </a:rPr>
                        <a:t>53:42
+18s</a:t>
                      </a:r>
                    </a:p>
                  </a:txBody>
                  <a:tcPr marT="41390" marB="41390">
                    <a:solidFill>
                      <a:srgbClr val="FFFFFF"/>
                    </a:solidFill>
                  </a:tcPr>
                </a:tc>
                <a:tc>
                  <a:txBody>
                    <a:bodyPr/>
                    <a:lstStyle/>
                    <a:p>
                      <a:pPr algn="ctr"/>
                      <a:r>
                        <a:rPr sz="800" b="0" i="0">
                          <a:solidFill>
                            <a:srgbClr val="262626"/>
                          </a:solidFill>
                          <a:latin typeface="Arial"/>
                        </a:rPr>
                        <a:t>53:57
+33s</a:t>
                      </a:r>
                    </a:p>
                  </a:txBody>
                  <a:tcPr marT="41390" marB="41390">
                    <a:solidFill>
                      <a:srgbClr val="FFFFFF"/>
                    </a:solidFill>
                  </a:tcPr>
                </a:tc>
                <a:tc>
                  <a:txBody>
                    <a:bodyPr/>
                    <a:lstStyle/>
                    <a:p>
                      <a:pPr algn="ctr"/>
                      <a:r>
                        <a:rPr sz="800" b="0" i="0">
                          <a:solidFill>
                            <a:srgbClr val="262626"/>
                          </a:solidFill>
                          <a:latin typeface="Arial"/>
                        </a:rPr>
                        <a:t>54:11
+47s</a:t>
                      </a:r>
                    </a:p>
                  </a:txBody>
                  <a:tcPr marT="41390" marB="41390">
                    <a:solidFill>
                      <a:srgbClr val="FFFFFF"/>
                    </a:solidFill>
                  </a:tcPr>
                </a:tc>
                <a:extLst>
                  <a:ext uri="{0D108BD9-81ED-4DB2-BD59-A6C34878D82A}">
                    <a16:rowId xmlns:a16="http://schemas.microsoft.com/office/drawing/2014/main" val="10001"/>
                  </a:ext>
                </a:extLst>
              </a:tr>
              <a:tr h="324206">
                <a:tc>
                  <a:txBody>
                    <a:bodyPr/>
                    <a:lstStyle/>
                    <a:p>
                      <a:pPr algn="ctr"/>
                      <a:r>
                        <a:rPr sz="1000" b="1" i="0">
                          <a:solidFill>
                            <a:srgbClr val="262626"/>
                          </a:solidFill>
                          <a:latin typeface="Arial"/>
                        </a:rPr>
                        <a:t>2019</a:t>
                      </a:r>
                    </a:p>
                  </a:txBody>
                  <a:tcPr marT="41390" marB="41390">
                    <a:solidFill>
                      <a:srgbClr val="F2F2F2"/>
                    </a:solidFill>
                  </a:tcPr>
                </a:tc>
                <a:tc>
                  <a:txBody>
                    <a:bodyPr/>
                    <a:lstStyle/>
                    <a:p>
                      <a:pPr algn="ctr"/>
                      <a:r>
                        <a:rPr sz="800" b="0" i="0">
                          <a:solidFill>
                            <a:srgbClr val="262626"/>
                          </a:solidFill>
                          <a:latin typeface="Arial"/>
                        </a:rPr>
                        <a:t>55:09</a:t>
                      </a:r>
                    </a:p>
                  </a:txBody>
                  <a:tcPr marT="41390" marB="41390">
                    <a:solidFill>
                      <a:srgbClr val="F2F2F2"/>
                    </a:solidFill>
                  </a:tcPr>
                </a:tc>
                <a:tc>
                  <a:txBody>
                    <a:bodyPr/>
                    <a:lstStyle/>
                    <a:p>
                      <a:pPr algn="ctr"/>
                      <a:r>
                        <a:rPr sz="800" b="0" i="0">
                          <a:solidFill>
                            <a:srgbClr val="262626"/>
                          </a:solidFill>
                          <a:latin typeface="Arial"/>
                        </a:rPr>
                        <a:t>55:10
+1s</a:t>
                      </a:r>
                    </a:p>
                  </a:txBody>
                  <a:tcPr marT="41390" marB="41390">
                    <a:solidFill>
                      <a:srgbClr val="F2F2F2"/>
                    </a:solidFill>
                  </a:tcPr>
                </a:tc>
                <a:tc>
                  <a:txBody>
                    <a:bodyPr/>
                    <a:lstStyle/>
                    <a:p>
                      <a:pPr algn="ctr"/>
                      <a:r>
                        <a:rPr sz="800" b="0" i="0">
                          <a:solidFill>
                            <a:srgbClr val="262626"/>
                          </a:solidFill>
                          <a:latin typeface="Arial"/>
                        </a:rPr>
                        <a:t>55:13
+4s</a:t>
                      </a:r>
                    </a:p>
                  </a:txBody>
                  <a:tcPr marT="41390" marB="41390">
                    <a:solidFill>
                      <a:srgbClr val="F2F2F2"/>
                    </a:solidFill>
                  </a:tcPr>
                </a:tc>
                <a:tc>
                  <a:txBody>
                    <a:bodyPr/>
                    <a:lstStyle/>
                    <a:p>
                      <a:pPr algn="ctr"/>
                      <a:r>
                        <a:rPr sz="800" b="0" i="0">
                          <a:solidFill>
                            <a:srgbClr val="262626"/>
                          </a:solidFill>
                          <a:latin typeface="Arial"/>
                        </a:rPr>
                        <a:t>55:17
+8s</a:t>
                      </a:r>
                    </a:p>
                  </a:txBody>
                  <a:tcPr marT="41390" marB="41390">
                    <a:solidFill>
                      <a:srgbClr val="F2F2F2"/>
                    </a:solidFill>
                  </a:tcPr>
                </a:tc>
                <a:tc>
                  <a:txBody>
                    <a:bodyPr/>
                    <a:lstStyle/>
                    <a:p>
                      <a:pPr algn="ctr"/>
                      <a:r>
                        <a:rPr sz="800" b="0" i="0">
                          <a:solidFill>
                            <a:srgbClr val="262626"/>
                          </a:solidFill>
                          <a:latin typeface="Arial"/>
                        </a:rPr>
                        <a:t>55:45
+36s</a:t>
                      </a:r>
                    </a:p>
                  </a:txBody>
                  <a:tcPr marT="41390" marB="41390">
                    <a:solidFill>
                      <a:srgbClr val="F2F2F2"/>
                    </a:solidFill>
                  </a:tcPr>
                </a:tc>
                <a:tc>
                  <a:txBody>
                    <a:bodyPr/>
                    <a:lstStyle/>
                    <a:p>
                      <a:pPr algn="ctr"/>
                      <a:r>
                        <a:rPr sz="800" b="0" i="0">
                          <a:solidFill>
                            <a:srgbClr val="262626"/>
                          </a:solidFill>
                          <a:latin typeface="Arial"/>
                        </a:rPr>
                        <a:t>56:01
+52s</a:t>
                      </a:r>
                    </a:p>
                  </a:txBody>
                  <a:tcPr marT="41390" marB="41390">
                    <a:solidFill>
                      <a:srgbClr val="F2F2F2"/>
                    </a:solidFill>
                  </a:tcPr>
                </a:tc>
                <a:extLst>
                  <a:ext uri="{0D108BD9-81ED-4DB2-BD59-A6C34878D82A}">
                    <a16:rowId xmlns:a16="http://schemas.microsoft.com/office/drawing/2014/main" val="10002"/>
                  </a:ext>
                </a:extLst>
              </a:tr>
              <a:tr h="324206">
                <a:tc>
                  <a:txBody>
                    <a:bodyPr/>
                    <a:lstStyle/>
                    <a:p>
                      <a:pPr algn="ctr"/>
                      <a:r>
                        <a:rPr sz="1000" b="1" i="0">
                          <a:solidFill>
                            <a:srgbClr val="262626"/>
                          </a:solidFill>
                          <a:latin typeface="Arial"/>
                        </a:rPr>
                        <a:t>2020</a:t>
                      </a:r>
                    </a:p>
                  </a:txBody>
                  <a:tcPr marT="41390" marB="41390">
                    <a:solidFill>
                      <a:srgbClr val="FFFFFF"/>
                    </a:solidFill>
                  </a:tcPr>
                </a:tc>
                <a:tc>
                  <a:txBody>
                    <a:bodyPr/>
                    <a:lstStyle/>
                    <a:p>
                      <a:pPr algn="ctr"/>
                      <a:r>
                        <a:rPr sz="800" b="0" i="0">
                          <a:solidFill>
                            <a:srgbClr val="262626"/>
                          </a:solidFill>
                          <a:latin typeface="Arial"/>
                        </a:rPr>
                        <a:t>49:13</a:t>
                      </a:r>
                    </a:p>
                  </a:txBody>
                  <a:tcPr marT="41390" marB="41390">
                    <a:solidFill>
                      <a:srgbClr val="FFFFFF"/>
                    </a:solidFill>
                  </a:tcPr>
                </a:tc>
                <a:tc>
                  <a:txBody>
                    <a:bodyPr/>
                    <a:lstStyle/>
                    <a:p>
                      <a:pPr algn="ctr"/>
                      <a:r>
                        <a:rPr sz="800" b="0" i="0">
                          <a:solidFill>
                            <a:srgbClr val="262626"/>
                          </a:solidFill>
                          <a:latin typeface="Arial"/>
                        </a:rPr>
                        <a:t>49:15
+2s</a:t>
                      </a:r>
                    </a:p>
                  </a:txBody>
                  <a:tcPr marT="41390" marB="41390">
                    <a:solidFill>
                      <a:srgbClr val="FFFFFF"/>
                    </a:solidFill>
                  </a:tcPr>
                </a:tc>
                <a:tc>
                  <a:txBody>
                    <a:bodyPr/>
                    <a:lstStyle/>
                    <a:p>
                      <a:pPr algn="ctr"/>
                      <a:r>
                        <a:rPr sz="800" b="0" i="0">
                          <a:solidFill>
                            <a:srgbClr val="262626"/>
                          </a:solidFill>
                          <a:latin typeface="Arial"/>
                        </a:rPr>
                        <a:t>49:18
+5s</a:t>
                      </a:r>
                    </a:p>
                  </a:txBody>
                  <a:tcPr marT="41390" marB="41390">
                    <a:solidFill>
                      <a:srgbClr val="FFFFFF"/>
                    </a:solidFill>
                  </a:tcPr>
                </a:tc>
                <a:tc>
                  <a:txBody>
                    <a:bodyPr/>
                    <a:lstStyle/>
                    <a:p>
                      <a:pPr algn="ctr"/>
                      <a:r>
                        <a:rPr sz="800" b="0" i="0" dirty="0">
                          <a:solidFill>
                            <a:srgbClr val="262626"/>
                          </a:solidFill>
                          <a:latin typeface="Arial"/>
                        </a:rPr>
                        <a:t>49:24
+11s</a:t>
                      </a:r>
                    </a:p>
                  </a:txBody>
                  <a:tcPr marT="41390" marB="41390">
                    <a:solidFill>
                      <a:srgbClr val="FFFFFF"/>
                    </a:solidFill>
                  </a:tcPr>
                </a:tc>
                <a:tc>
                  <a:txBody>
                    <a:bodyPr/>
                    <a:lstStyle/>
                    <a:p>
                      <a:pPr algn="ctr"/>
                      <a:r>
                        <a:rPr sz="800" b="0" i="0">
                          <a:solidFill>
                            <a:srgbClr val="262626"/>
                          </a:solidFill>
                          <a:latin typeface="Arial"/>
                        </a:rPr>
                        <a:t>49:42
+29s</a:t>
                      </a:r>
                    </a:p>
                  </a:txBody>
                  <a:tcPr marT="41390" marB="41390">
                    <a:solidFill>
                      <a:srgbClr val="FFFFFF"/>
                    </a:solidFill>
                  </a:tcPr>
                </a:tc>
                <a:tc>
                  <a:txBody>
                    <a:bodyPr/>
                    <a:lstStyle/>
                    <a:p>
                      <a:pPr algn="ctr"/>
                      <a:r>
                        <a:rPr sz="800" b="0" i="0">
                          <a:solidFill>
                            <a:srgbClr val="262626"/>
                          </a:solidFill>
                          <a:latin typeface="Arial"/>
                        </a:rPr>
                        <a:t>50:08
+55s</a:t>
                      </a:r>
                    </a:p>
                  </a:txBody>
                  <a:tcPr marT="41390" marB="41390">
                    <a:solidFill>
                      <a:srgbClr val="FFFFFF"/>
                    </a:solidFill>
                  </a:tcPr>
                </a:tc>
                <a:extLst>
                  <a:ext uri="{0D108BD9-81ED-4DB2-BD59-A6C34878D82A}">
                    <a16:rowId xmlns:a16="http://schemas.microsoft.com/office/drawing/2014/main" val="10003"/>
                  </a:ext>
                </a:extLst>
              </a:tr>
              <a:tr h="324206">
                <a:tc>
                  <a:txBody>
                    <a:bodyPr/>
                    <a:lstStyle/>
                    <a:p>
                      <a:pPr algn="ctr"/>
                      <a:r>
                        <a:rPr sz="1000" b="1" i="0">
                          <a:solidFill>
                            <a:srgbClr val="262626"/>
                          </a:solidFill>
                          <a:latin typeface="Arial"/>
                        </a:rPr>
                        <a:t>2021</a:t>
                      </a:r>
                    </a:p>
                  </a:txBody>
                  <a:tcPr marT="41390" marB="41390">
                    <a:solidFill>
                      <a:srgbClr val="F2F2F2"/>
                    </a:solidFill>
                  </a:tcPr>
                </a:tc>
                <a:tc>
                  <a:txBody>
                    <a:bodyPr/>
                    <a:lstStyle/>
                    <a:p>
                      <a:pPr algn="ctr"/>
                      <a:r>
                        <a:rPr sz="800" b="0" i="0">
                          <a:solidFill>
                            <a:srgbClr val="262626"/>
                          </a:solidFill>
                          <a:latin typeface="Arial"/>
                        </a:rPr>
                        <a:t>53:08</a:t>
                      </a:r>
                    </a:p>
                  </a:txBody>
                  <a:tcPr marT="41390" marB="41390">
                    <a:solidFill>
                      <a:srgbClr val="F2F2F2"/>
                    </a:solidFill>
                  </a:tcPr>
                </a:tc>
                <a:tc>
                  <a:txBody>
                    <a:bodyPr/>
                    <a:lstStyle/>
                    <a:p>
                      <a:pPr algn="ctr"/>
                      <a:r>
                        <a:rPr sz="800" b="0" i="0">
                          <a:solidFill>
                            <a:srgbClr val="262626"/>
                          </a:solidFill>
                          <a:latin typeface="Arial"/>
                        </a:rPr>
                        <a:t>53:08</a:t>
                      </a:r>
                    </a:p>
                  </a:txBody>
                  <a:tcPr marT="41390" marB="41390">
                    <a:solidFill>
                      <a:srgbClr val="F2F2F2"/>
                    </a:solidFill>
                  </a:tcPr>
                </a:tc>
                <a:tc>
                  <a:txBody>
                    <a:bodyPr/>
                    <a:lstStyle/>
                    <a:p>
                      <a:pPr algn="ctr"/>
                      <a:r>
                        <a:rPr sz="800" b="0" i="0">
                          <a:solidFill>
                            <a:srgbClr val="262626"/>
                          </a:solidFill>
                          <a:latin typeface="Arial"/>
                        </a:rPr>
                        <a:t>53:09
+1s</a:t>
                      </a:r>
                    </a:p>
                  </a:txBody>
                  <a:tcPr marT="41390" marB="41390">
                    <a:solidFill>
                      <a:srgbClr val="F2F2F2"/>
                    </a:solidFill>
                  </a:tcPr>
                </a:tc>
                <a:tc>
                  <a:txBody>
                    <a:bodyPr/>
                    <a:lstStyle/>
                    <a:p>
                      <a:pPr algn="ctr"/>
                      <a:r>
                        <a:rPr sz="800" b="0" i="0">
                          <a:solidFill>
                            <a:srgbClr val="262626"/>
                          </a:solidFill>
                          <a:latin typeface="Arial"/>
                        </a:rPr>
                        <a:t>53:12
+4s</a:t>
                      </a:r>
                    </a:p>
                  </a:txBody>
                  <a:tcPr marT="41390" marB="41390">
                    <a:solidFill>
                      <a:srgbClr val="F2F2F2"/>
                    </a:solidFill>
                  </a:tcPr>
                </a:tc>
                <a:tc>
                  <a:txBody>
                    <a:bodyPr/>
                    <a:lstStyle/>
                    <a:p>
                      <a:pPr algn="ctr"/>
                      <a:r>
                        <a:rPr sz="800" b="0" i="0">
                          <a:solidFill>
                            <a:srgbClr val="262626"/>
                          </a:solidFill>
                          <a:latin typeface="Arial"/>
                        </a:rPr>
                        <a:t>53:25
+17s</a:t>
                      </a:r>
                    </a:p>
                  </a:txBody>
                  <a:tcPr marT="41390" marB="41390">
                    <a:solidFill>
                      <a:srgbClr val="F2F2F2"/>
                    </a:solidFill>
                  </a:tcPr>
                </a:tc>
                <a:tc>
                  <a:txBody>
                    <a:bodyPr/>
                    <a:lstStyle/>
                    <a:p>
                      <a:pPr algn="ctr"/>
                      <a:r>
                        <a:rPr sz="800" b="0" i="0">
                          <a:solidFill>
                            <a:srgbClr val="262626"/>
                          </a:solidFill>
                          <a:latin typeface="Arial"/>
                        </a:rPr>
                        <a:t>53:51
+43s</a:t>
                      </a:r>
                    </a:p>
                  </a:txBody>
                  <a:tcPr marT="41390" marB="41390">
                    <a:solidFill>
                      <a:srgbClr val="F2F2F2"/>
                    </a:solidFill>
                  </a:tcPr>
                </a:tc>
                <a:extLst>
                  <a:ext uri="{0D108BD9-81ED-4DB2-BD59-A6C34878D82A}">
                    <a16:rowId xmlns:a16="http://schemas.microsoft.com/office/drawing/2014/main" val="10004"/>
                  </a:ext>
                </a:extLst>
              </a:tr>
              <a:tr h="324206">
                <a:tc>
                  <a:txBody>
                    <a:bodyPr/>
                    <a:lstStyle/>
                    <a:p>
                      <a:pPr algn="ctr"/>
                      <a:r>
                        <a:rPr sz="1000" b="1" i="0">
                          <a:solidFill>
                            <a:srgbClr val="262626"/>
                          </a:solidFill>
                          <a:latin typeface="Arial"/>
                        </a:rPr>
                        <a:t>2022</a:t>
                      </a:r>
                    </a:p>
                  </a:txBody>
                  <a:tcPr marT="41390" marB="41390">
                    <a:solidFill>
                      <a:srgbClr val="FFFFFF"/>
                    </a:solidFill>
                  </a:tcPr>
                </a:tc>
                <a:tc>
                  <a:txBody>
                    <a:bodyPr/>
                    <a:lstStyle/>
                    <a:p>
                      <a:pPr algn="ctr"/>
                      <a:r>
                        <a:rPr sz="800" b="0" i="0" dirty="0">
                          <a:solidFill>
                            <a:srgbClr val="262626"/>
                          </a:solidFill>
                          <a:latin typeface="Arial"/>
                        </a:rPr>
                        <a:t>53:10</a:t>
                      </a:r>
                    </a:p>
                  </a:txBody>
                  <a:tcPr marT="41390" marB="41390">
                    <a:solidFill>
                      <a:srgbClr val="FFFFFF"/>
                    </a:solidFill>
                  </a:tcPr>
                </a:tc>
                <a:tc>
                  <a:txBody>
                    <a:bodyPr/>
                    <a:lstStyle/>
                    <a:p>
                      <a:pPr algn="ctr"/>
                      <a:r>
                        <a:rPr sz="800" b="0" i="0">
                          <a:solidFill>
                            <a:srgbClr val="262626"/>
                          </a:solidFill>
                          <a:latin typeface="Arial"/>
                        </a:rPr>
                        <a:t>53:13
+3s</a:t>
                      </a:r>
                    </a:p>
                  </a:txBody>
                  <a:tcPr marT="41390" marB="41390">
                    <a:solidFill>
                      <a:srgbClr val="FFFFFF"/>
                    </a:solidFill>
                  </a:tcPr>
                </a:tc>
                <a:tc>
                  <a:txBody>
                    <a:bodyPr/>
                    <a:lstStyle/>
                    <a:p>
                      <a:pPr algn="ctr"/>
                      <a:r>
                        <a:rPr sz="800" b="0" i="0">
                          <a:solidFill>
                            <a:srgbClr val="262626"/>
                          </a:solidFill>
                          <a:latin typeface="Arial"/>
                        </a:rPr>
                        <a:t>53:26
+16s</a:t>
                      </a:r>
                    </a:p>
                  </a:txBody>
                  <a:tcPr marT="41390" marB="41390">
                    <a:solidFill>
                      <a:srgbClr val="FFFFFF"/>
                    </a:solidFill>
                  </a:tcPr>
                </a:tc>
                <a:tc>
                  <a:txBody>
                    <a:bodyPr/>
                    <a:lstStyle/>
                    <a:p>
                      <a:pPr algn="ctr"/>
                      <a:r>
                        <a:rPr sz="800" b="0" i="0">
                          <a:solidFill>
                            <a:srgbClr val="262626"/>
                          </a:solidFill>
                          <a:latin typeface="Arial"/>
                        </a:rPr>
                        <a:t>53:36
+26s</a:t>
                      </a:r>
                    </a:p>
                  </a:txBody>
                  <a:tcPr marT="41390" marB="41390">
                    <a:solidFill>
                      <a:srgbClr val="FFFFFF"/>
                    </a:solidFill>
                  </a:tcPr>
                </a:tc>
                <a:tc>
                  <a:txBody>
                    <a:bodyPr/>
                    <a:lstStyle/>
                    <a:p>
                      <a:pPr algn="ctr"/>
                      <a:r>
                        <a:rPr sz="800" b="0" i="0">
                          <a:solidFill>
                            <a:srgbClr val="262626"/>
                          </a:solidFill>
                          <a:latin typeface="Arial"/>
                        </a:rPr>
                        <a:t>53:43
+33s</a:t>
                      </a:r>
                    </a:p>
                  </a:txBody>
                  <a:tcPr marT="41390" marB="41390">
                    <a:solidFill>
                      <a:srgbClr val="FFFFFF"/>
                    </a:solidFill>
                  </a:tcPr>
                </a:tc>
                <a:tc>
                  <a:txBody>
                    <a:bodyPr/>
                    <a:lstStyle/>
                    <a:p>
                      <a:pPr algn="ctr"/>
                      <a:r>
                        <a:rPr sz="800" b="0" i="0">
                          <a:solidFill>
                            <a:srgbClr val="262626"/>
                          </a:solidFill>
                          <a:latin typeface="Arial"/>
                        </a:rPr>
                        <a:t>54:05
+55s</a:t>
                      </a:r>
                    </a:p>
                  </a:txBody>
                  <a:tcPr marT="41390" marB="41390">
                    <a:solidFill>
                      <a:srgbClr val="FFFFFF"/>
                    </a:solidFill>
                  </a:tcPr>
                </a:tc>
                <a:extLst>
                  <a:ext uri="{0D108BD9-81ED-4DB2-BD59-A6C34878D82A}">
                    <a16:rowId xmlns:a16="http://schemas.microsoft.com/office/drawing/2014/main" val="10005"/>
                  </a:ext>
                </a:extLst>
              </a:tr>
              <a:tr h="324206">
                <a:tc>
                  <a:txBody>
                    <a:bodyPr/>
                    <a:lstStyle/>
                    <a:p>
                      <a:pPr algn="ctr"/>
                      <a:r>
                        <a:rPr sz="1000" b="1" i="0">
                          <a:solidFill>
                            <a:srgbClr val="262626"/>
                          </a:solidFill>
                          <a:latin typeface="Arial"/>
                        </a:rPr>
                        <a:t>2023</a:t>
                      </a:r>
                    </a:p>
                  </a:txBody>
                  <a:tcPr marT="41390" marB="41390">
                    <a:solidFill>
                      <a:srgbClr val="F2F2F2"/>
                    </a:solidFill>
                  </a:tcPr>
                </a:tc>
                <a:tc>
                  <a:txBody>
                    <a:bodyPr/>
                    <a:lstStyle/>
                    <a:p>
                      <a:pPr algn="ctr"/>
                      <a:r>
                        <a:rPr sz="800" b="0" i="0">
                          <a:solidFill>
                            <a:srgbClr val="262626"/>
                          </a:solidFill>
                          <a:latin typeface="Arial"/>
                        </a:rPr>
                        <a:t>19:26</a:t>
                      </a:r>
                    </a:p>
                  </a:txBody>
                  <a:tcPr marT="41390" marB="41390">
                    <a:solidFill>
                      <a:srgbClr val="F2F2F2"/>
                    </a:solidFill>
                  </a:tcPr>
                </a:tc>
                <a:tc>
                  <a:txBody>
                    <a:bodyPr/>
                    <a:lstStyle/>
                    <a:p>
                      <a:pPr algn="ctr"/>
                      <a:r>
                        <a:rPr sz="800" b="0" i="0">
                          <a:solidFill>
                            <a:srgbClr val="262626"/>
                          </a:solidFill>
                          <a:latin typeface="Arial"/>
                        </a:rPr>
                        <a:t>19:28
+2s</a:t>
                      </a:r>
                    </a:p>
                  </a:txBody>
                  <a:tcPr marT="41390" marB="41390">
                    <a:solidFill>
                      <a:srgbClr val="F2F2F2"/>
                    </a:solidFill>
                  </a:tcPr>
                </a:tc>
                <a:tc>
                  <a:txBody>
                    <a:bodyPr/>
                    <a:lstStyle/>
                    <a:p>
                      <a:pPr algn="ctr"/>
                      <a:r>
                        <a:rPr sz="800" b="0" i="0">
                          <a:solidFill>
                            <a:srgbClr val="262626"/>
                          </a:solidFill>
                          <a:latin typeface="Arial"/>
                        </a:rPr>
                        <a:t>19:28
+2s</a:t>
                      </a:r>
                    </a:p>
                  </a:txBody>
                  <a:tcPr marT="41390" marB="41390">
                    <a:solidFill>
                      <a:srgbClr val="F2F2F2"/>
                    </a:solidFill>
                  </a:tcPr>
                </a:tc>
                <a:tc>
                  <a:txBody>
                    <a:bodyPr/>
                    <a:lstStyle/>
                    <a:p>
                      <a:pPr algn="ctr"/>
                      <a:r>
                        <a:rPr sz="800" b="0" i="0">
                          <a:solidFill>
                            <a:srgbClr val="262626"/>
                          </a:solidFill>
                          <a:latin typeface="Arial"/>
                        </a:rPr>
                        <a:t>19:33
+7s</a:t>
                      </a:r>
                    </a:p>
                  </a:txBody>
                  <a:tcPr marT="41390" marB="41390">
                    <a:solidFill>
                      <a:srgbClr val="F2F2F2"/>
                    </a:solidFill>
                  </a:tcPr>
                </a:tc>
                <a:tc>
                  <a:txBody>
                    <a:bodyPr/>
                    <a:lstStyle/>
                    <a:p>
                      <a:pPr algn="ctr"/>
                      <a:r>
                        <a:rPr sz="800" b="0" i="0">
                          <a:solidFill>
                            <a:srgbClr val="262626"/>
                          </a:solidFill>
                          <a:latin typeface="Arial"/>
                        </a:rPr>
                        <a:t>19:52
+26s</a:t>
                      </a:r>
                    </a:p>
                  </a:txBody>
                  <a:tcPr marT="41390" marB="41390">
                    <a:solidFill>
                      <a:srgbClr val="F2F2F2"/>
                    </a:solidFill>
                  </a:tcPr>
                </a:tc>
                <a:tc>
                  <a:txBody>
                    <a:bodyPr/>
                    <a:lstStyle/>
                    <a:p>
                      <a:pPr algn="ctr"/>
                      <a:r>
                        <a:rPr sz="800" b="0" i="0">
                          <a:solidFill>
                            <a:srgbClr val="262626"/>
                          </a:solidFill>
                          <a:latin typeface="Arial"/>
                        </a:rPr>
                        <a:t>21:48
+142s</a:t>
                      </a:r>
                    </a:p>
                  </a:txBody>
                  <a:tcPr marT="41390" marB="41390">
                    <a:solidFill>
                      <a:srgbClr val="F2F2F2"/>
                    </a:solidFill>
                  </a:tcPr>
                </a:tc>
                <a:extLst>
                  <a:ext uri="{0D108BD9-81ED-4DB2-BD59-A6C34878D82A}">
                    <a16:rowId xmlns:a16="http://schemas.microsoft.com/office/drawing/2014/main" val="10006"/>
                  </a:ext>
                </a:extLst>
              </a:tr>
              <a:tr h="324206">
                <a:tc>
                  <a:txBody>
                    <a:bodyPr/>
                    <a:lstStyle/>
                    <a:p>
                      <a:pPr algn="ctr"/>
                      <a:r>
                        <a:rPr sz="1000" b="1" i="0">
                          <a:solidFill>
                            <a:srgbClr val="262626"/>
                          </a:solidFill>
                          <a:latin typeface="Arial"/>
                        </a:rPr>
                        <a:t>2024</a:t>
                      </a:r>
                    </a:p>
                  </a:txBody>
                  <a:tcPr marT="41390" marB="41390">
                    <a:solidFill>
                      <a:srgbClr val="FFFFFF"/>
                    </a:solidFill>
                  </a:tcPr>
                </a:tc>
                <a:tc>
                  <a:txBody>
                    <a:bodyPr/>
                    <a:lstStyle/>
                    <a:p>
                      <a:pPr algn="ctr"/>
                      <a:r>
                        <a:rPr sz="800" b="0" i="0">
                          <a:solidFill>
                            <a:srgbClr val="262626"/>
                          </a:solidFill>
                          <a:latin typeface="Arial"/>
                        </a:rPr>
                        <a:t>50:03</a:t>
                      </a:r>
                    </a:p>
                  </a:txBody>
                  <a:tcPr marT="41390" marB="41390">
                    <a:solidFill>
                      <a:srgbClr val="FFFFFF"/>
                    </a:solidFill>
                  </a:tcPr>
                </a:tc>
                <a:tc>
                  <a:txBody>
                    <a:bodyPr/>
                    <a:lstStyle/>
                    <a:p>
                      <a:pPr algn="ctr"/>
                      <a:r>
                        <a:rPr sz="800" b="0" i="0">
                          <a:solidFill>
                            <a:srgbClr val="262626"/>
                          </a:solidFill>
                          <a:latin typeface="Arial"/>
                        </a:rPr>
                        <a:t>50:09
+6s</a:t>
                      </a:r>
                    </a:p>
                  </a:txBody>
                  <a:tcPr marT="41390" marB="41390">
                    <a:solidFill>
                      <a:srgbClr val="FFFFFF"/>
                    </a:solidFill>
                  </a:tcPr>
                </a:tc>
                <a:tc>
                  <a:txBody>
                    <a:bodyPr/>
                    <a:lstStyle/>
                    <a:p>
                      <a:pPr algn="ctr"/>
                      <a:r>
                        <a:rPr sz="800" b="0" i="0">
                          <a:solidFill>
                            <a:srgbClr val="262626"/>
                          </a:solidFill>
                          <a:latin typeface="Arial"/>
                        </a:rPr>
                        <a:t>50:10
+7s</a:t>
                      </a:r>
                    </a:p>
                  </a:txBody>
                  <a:tcPr marT="41390" marB="41390">
                    <a:solidFill>
                      <a:srgbClr val="FFFFFF"/>
                    </a:solidFill>
                  </a:tcPr>
                </a:tc>
                <a:tc>
                  <a:txBody>
                    <a:bodyPr/>
                    <a:lstStyle/>
                    <a:p>
                      <a:pPr algn="ctr"/>
                      <a:r>
                        <a:rPr sz="800" b="0" i="0">
                          <a:solidFill>
                            <a:srgbClr val="262626"/>
                          </a:solidFill>
                          <a:latin typeface="Arial"/>
                        </a:rPr>
                        <a:t>50:19
+16s</a:t>
                      </a:r>
                    </a:p>
                  </a:txBody>
                  <a:tcPr marT="41390" marB="41390">
                    <a:solidFill>
                      <a:srgbClr val="FFFFFF"/>
                    </a:solidFill>
                  </a:tcPr>
                </a:tc>
                <a:tc>
                  <a:txBody>
                    <a:bodyPr/>
                    <a:lstStyle/>
                    <a:p>
                      <a:pPr algn="ctr"/>
                      <a:r>
                        <a:rPr sz="800" b="0" i="0">
                          <a:solidFill>
                            <a:srgbClr val="262626"/>
                          </a:solidFill>
                          <a:latin typeface="Arial"/>
                        </a:rPr>
                        <a:t>50:41
+38s</a:t>
                      </a:r>
                    </a:p>
                  </a:txBody>
                  <a:tcPr marT="41390" marB="41390">
                    <a:solidFill>
                      <a:srgbClr val="FFFFFF"/>
                    </a:solidFill>
                  </a:tcPr>
                </a:tc>
                <a:tc>
                  <a:txBody>
                    <a:bodyPr/>
                    <a:lstStyle/>
                    <a:p>
                      <a:pPr algn="ctr"/>
                      <a:r>
                        <a:rPr sz="800" b="0" i="0">
                          <a:solidFill>
                            <a:srgbClr val="262626"/>
                          </a:solidFill>
                          <a:latin typeface="Arial"/>
                        </a:rPr>
                        <a:t>51:11
+68s</a:t>
                      </a:r>
                    </a:p>
                  </a:txBody>
                  <a:tcPr marT="41390" marB="41390">
                    <a:solidFill>
                      <a:srgbClr val="FFFFFF"/>
                    </a:solidFill>
                  </a:tcPr>
                </a:tc>
                <a:extLst>
                  <a:ext uri="{0D108BD9-81ED-4DB2-BD59-A6C34878D82A}">
                    <a16:rowId xmlns:a16="http://schemas.microsoft.com/office/drawing/2014/main" val="10007"/>
                  </a:ext>
                </a:extLst>
              </a:tr>
              <a:tr h="324206">
                <a:tc>
                  <a:txBody>
                    <a:bodyPr/>
                    <a:lstStyle/>
                    <a:p>
                      <a:pPr algn="ctr"/>
                      <a:r>
                        <a:rPr sz="1000" b="1" i="0">
                          <a:solidFill>
                            <a:srgbClr val="262626"/>
                          </a:solidFill>
                          <a:latin typeface="Arial"/>
                        </a:rPr>
                        <a:t>2025</a:t>
                      </a:r>
                    </a:p>
                  </a:txBody>
                  <a:tcPr marT="41390" marB="41390">
                    <a:solidFill>
                      <a:srgbClr val="F2F2F2"/>
                    </a:solidFill>
                  </a:tcPr>
                </a:tc>
                <a:tc>
                  <a:txBody>
                    <a:bodyPr/>
                    <a:lstStyle/>
                    <a:p>
                      <a:pPr algn="ctr"/>
                      <a:r>
                        <a:rPr sz="800" b="0" i="0">
                          <a:solidFill>
                            <a:srgbClr val="262626"/>
                          </a:solidFill>
                          <a:latin typeface="Arial"/>
                        </a:rPr>
                        <a:t>50:07</a:t>
                      </a:r>
                    </a:p>
                  </a:txBody>
                  <a:tcPr marT="41390" marB="41390">
                    <a:solidFill>
                      <a:srgbClr val="F2F2F2"/>
                    </a:solidFill>
                  </a:tcPr>
                </a:tc>
                <a:tc>
                  <a:txBody>
                    <a:bodyPr/>
                    <a:lstStyle/>
                    <a:p>
                      <a:pPr algn="ctr"/>
                      <a:r>
                        <a:rPr sz="800" b="0" i="0">
                          <a:solidFill>
                            <a:srgbClr val="262626"/>
                          </a:solidFill>
                          <a:latin typeface="Arial"/>
                        </a:rPr>
                        <a:t>50:14
+7s</a:t>
                      </a:r>
                    </a:p>
                  </a:txBody>
                  <a:tcPr marT="41390" marB="41390">
                    <a:solidFill>
                      <a:srgbClr val="F2F2F2"/>
                    </a:solidFill>
                  </a:tcPr>
                </a:tc>
                <a:tc>
                  <a:txBody>
                    <a:bodyPr/>
                    <a:lstStyle/>
                    <a:p>
                      <a:pPr algn="ctr"/>
                      <a:r>
                        <a:rPr sz="800" b="0" i="0">
                          <a:solidFill>
                            <a:srgbClr val="262626"/>
                          </a:solidFill>
                          <a:latin typeface="Arial"/>
                        </a:rPr>
                        <a:t>50:36
+29s</a:t>
                      </a:r>
                    </a:p>
                  </a:txBody>
                  <a:tcPr marT="41390" marB="41390">
                    <a:solidFill>
                      <a:srgbClr val="F2F2F2"/>
                    </a:solidFill>
                  </a:tcPr>
                </a:tc>
                <a:tc>
                  <a:txBody>
                    <a:bodyPr/>
                    <a:lstStyle/>
                    <a:p>
                      <a:pPr algn="ctr"/>
                      <a:r>
                        <a:rPr sz="800" b="0" i="0">
                          <a:solidFill>
                            <a:srgbClr val="262626"/>
                          </a:solidFill>
                          <a:latin typeface="Arial"/>
                        </a:rPr>
                        <a:t>50:47
+40s</a:t>
                      </a:r>
                    </a:p>
                  </a:txBody>
                  <a:tcPr marT="41390" marB="41390">
                    <a:solidFill>
                      <a:srgbClr val="F2F2F2"/>
                    </a:solidFill>
                  </a:tcPr>
                </a:tc>
                <a:tc>
                  <a:txBody>
                    <a:bodyPr/>
                    <a:lstStyle/>
                    <a:p>
                      <a:pPr algn="ctr"/>
                      <a:r>
                        <a:rPr sz="800" b="0" i="0">
                          <a:solidFill>
                            <a:srgbClr val="262626"/>
                          </a:solidFill>
                          <a:latin typeface="Arial"/>
                        </a:rPr>
                        <a:t>51:13
+66s</a:t>
                      </a:r>
                    </a:p>
                  </a:txBody>
                  <a:tcPr marT="41390" marB="41390">
                    <a:solidFill>
                      <a:srgbClr val="F2F2F2"/>
                    </a:solidFill>
                  </a:tcPr>
                </a:tc>
                <a:tc>
                  <a:txBody>
                    <a:bodyPr/>
                    <a:lstStyle/>
                    <a:p>
                      <a:pPr algn="ctr"/>
                      <a:r>
                        <a:rPr sz="800" b="0" i="0" dirty="0">
                          <a:solidFill>
                            <a:srgbClr val="262626"/>
                          </a:solidFill>
                          <a:latin typeface="Arial"/>
                        </a:rPr>
                        <a:t>51:43
+96s</a:t>
                      </a:r>
                    </a:p>
                  </a:txBody>
                  <a:tcPr marT="41390" marB="41390">
                    <a:solidFill>
                      <a:srgbClr val="F2F2F2"/>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4114800"/>
        </p:xfrm>
        <a:graphic>
          <a:graphicData uri="http://schemas.openxmlformats.org/drawingml/2006/table">
            <a:tbl>
              <a:tblPr firstRow="1" bandRow="1">
                <a:tableStyleId>{5C22544A-7EE6-4342-B048-85BDC9FD1C3A}</a:tableStyleId>
              </a:tblPr>
              <a:tblGrid>
                <a:gridCol w="591571">
                  <a:extLst>
                    <a:ext uri="{9D8B030D-6E8A-4147-A177-3AD203B41FA5}">
                      <a16:colId xmlns:a16="http://schemas.microsoft.com/office/drawing/2014/main" val="20000"/>
                    </a:ext>
                  </a:extLst>
                </a:gridCol>
                <a:gridCol w="864604">
                  <a:extLst>
                    <a:ext uri="{9D8B030D-6E8A-4147-A177-3AD203B41FA5}">
                      <a16:colId xmlns:a16="http://schemas.microsoft.com/office/drawing/2014/main" val="20001"/>
                    </a:ext>
                  </a:extLst>
                </a:gridCol>
                <a:gridCol w="910110">
                  <a:extLst>
                    <a:ext uri="{9D8B030D-6E8A-4147-A177-3AD203B41FA5}">
                      <a16:colId xmlns:a16="http://schemas.microsoft.com/office/drawing/2014/main" val="20002"/>
                    </a:ext>
                  </a:extLst>
                </a:gridCol>
                <a:gridCol w="819099">
                  <a:extLst>
                    <a:ext uri="{9D8B030D-6E8A-4147-A177-3AD203B41FA5}">
                      <a16:colId xmlns:a16="http://schemas.microsoft.com/office/drawing/2014/main" val="20003"/>
                    </a:ext>
                  </a:extLst>
                </a:gridCol>
                <a:gridCol w="910110">
                  <a:extLst>
                    <a:ext uri="{9D8B030D-6E8A-4147-A177-3AD203B41FA5}">
                      <a16:colId xmlns:a16="http://schemas.microsoft.com/office/drawing/2014/main" val="20004"/>
                    </a:ext>
                  </a:extLst>
                </a:gridCol>
                <a:gridCol w="864604">
                  <a:extLst>
                    <a:ext uri="{9D8B030D-6E8A-4147-A177-3AD203B41FA5}">
                      <a16:colId xmlns:a16="http://schemas.microsoft.com/office/drawing/2014/main" val="20005"/>
                    </a:ext>
                  </a:extLst>
                </a:gridCol>
                <a:gridCol w="864604">
                  <a:extLst>
                    <a:ext uri="{9D8B030D-6E8A-4147-A177-3AD203B41FA5}">
                      <a16:colId xmlns:a16="http://schemas.microsoft.com/office/drawing/2014/main" val="20006"/>
                    </a:ext>
                  </a:extLst>
                </a:gridCol>
                <a:gridCol w="819099">
                  <a:extLst>
                    <a:ext uri="{9D8B030D-6E8A-4147-A177-3AD203B41FA5}">
                      <a16:colId xmlns:a16="http://schemas.microsoft.com/office/drawing/2014/main" val="20007"/>
                    </a:ext>
                  </a:extLst>
                </a:gridCol>
                <a:gridCol w="4996506">
                  <a:extLst>
                    <a:ext uri="{9D8B030D-6E8A-4147-A177-3AD203B41FA5}">
                      <a16:colId xmlns:a16="http://schemas.microsoft.com/office/drawing/2014/main" val="20008"/>
                    </a:ext>
                  </a:extLst>
                </a:gridCol>
              </a:tblGrid>
              <a:tr h="457200">
                <a:tc>
                  <a:txBody>
                    <a:bodyPr/>
                    <a:lstStyle/>
                    <a:p>
                      <a:pPr algn="ctr"/>
                      <a:r>
                        <a:rPr sz="1200" b="1" i="0">
                          <a:solidFill>
                            <a:srgbClr val="FFFFFF"/>
                          </a:solidFill>
                          <a:latin typeface="Arial"/>
                        </a:rPr>
                        <a:t>Year</a:t>
                      </a:r>
                    </a:p>
                  </a:txBody>
                  <a:tcPr>
                    <a:solidFill>
                      <a:srgbClr val="002060"/>
                    </a:solidFill>
                  </a:tcPr>
                </a:tc>
                <a:tc>
                  <a:txBody>
                    <a:bodyPr/>
                    <a:lstStyle/>
                    <a:p>
                      <a:pPr algn="ctr"/>
                      <a:r>
                        <a:rPr sz="1200" b="1" i="0">
                          <a:solidFill>
                            <a:srgbClr val="FFFFFF"/>
                          </a:solidFill>
                          <a:latin typeface="Arial"/>
                        </a:rPr>
                        <a:t>Date</a:t>
                      </a:r>
                    </a:p>
                  </a:txBody>
                  <a:tcPr>
                    <a:solidFill>
                      <a:srgbClr val="002060"/>
                    </a:solidFill>
                  </a:tcPr>
                </a:tc>
                <a:tc>
                  <a:txBody>
                    <a:bodyPr/>
                    <a:lstStyle/>
                    <a:p>
                      <a:pPr algn="ctr"/>
                      <a:r>
                        <a:rPr sz="1200" b="1" i="0">
                          <a:solidFill>
                            <a:srgbClr val="FFFFFF"/>
                          </a:solidFill>
                          <a:latin typeface="Arial"/>
                        </a:rPr>
                        <a:t>Air Temp</a:t>
                      </a:r>
                    </a:p>
                  </a:txBody>
                  <a:tcPr>
                    <a:solidFill>
                      <a:srgbClr val="002060"/>
                    </a:solidFill>
                  </a:tcPr>
                </a:tc>
                <a:tc>
                  <a:txBody>
                    <a:bodyPr/>
                    <a:lstStyle/>
                    <a:p>
                      <a:pPr algn="ctr"/>
                      <a:r>
                        <a:rPr sz="1200" b="1" i="0">
                          <a:solidFill>
                            <a:srgbClr val="FFFFFF"/>
                          </a:solidFill>
                          <a:latin typeface="Arial"/>
                        </a:rPr>
                        <a:t>Humidity</a:t>
                      </a:r>
                    </a:p>
                  </a:txBody>
                  <a:tcPr>
                    <a:solidFill>
                      <a:srgbClr val="002060"/>
                    </a:solidFill>
                  </a:tcPr>
                </a:tc>
                <a:tc>
                  <a:txBody>
                    <a:bodyPr/>
                    <a:lstStyle/>
                    <a:p>
                      <a:pPr algn="ctr"/>
                      <a:r>
                        <a:rPr sz="1200" b="1" i="0">
                          <a:solidFill>
                            <a:srgbClr val="FFFFFF"/>
                          </a:solidFill>
                          <a:latin typeface="Arial"/>
                        </a:rPr>
                        <a:t>Wind (km/h)</a:t>
                      </a:r>
                    </a:p>
                  </a:txBody>
                  <a:tcPr>
                    <a:solidFill>
                      <a:srgbClr val="002060"/>
                    </a:solidFill>
                  </a:tcPr>
                </a:tc>
                <a:tc>
                  <a:txBody>
                    <a:bodyPr/>
                    <a:lstStyle/>
                    <a:p>
                      <a:pPr algn="ctr"/>
                      <a:r>
                        <a:rPr sz="1200" b="1" i="0">
                          <a:solidFill>
                            <a:srgbClr val="FFFFFF"/>
                          </a:solidFill>
                          <a:latin typeface="Arial"/>
                        </a:rPr>
                        <a:t>Precip (mm)</a:t>
                      </a:r>
                    </a:p>
                  </a:txBody>
                  <a:tcPr>
                    <a:solidFill>
                      <a:srgbClr val="002060"/>
                    </a:solidFill>
                  </a:tcPr>
                </a:tc>
                <a:tc>
                  <a:txBody>
                    <a:bodyPr/>
                    <a:lstStyle/>
                    <a:p>
                      <a:pPr algn="ctr"/>
                      <a:r>
                        <a:rPr sz="1200" b="1" i="0">
                          <a:solidFill>
                            <a:srgbClr val="FFFFFF"/>
                          </a:solidFill>
                          <a:latin typeface="Arial"/>
                        </a:rPr>
                        <a:t>Water Temp</a:t>
                      </a:r>
                    </a:p>
                  </a:txBody>
                  <a:tcPr>
                    <a:solidFill>
                      <a:srgbClr val="002060"/>
                    </a:solidFill>
                  </a:tcPr>
                </a:tc>
                <a:tc>
                  <a:txBody>
                    <a:bodyPr/>
                    <a:lstStyle/>
                    <a:p>
                      <a:pPr algn="ctr"/>
                      <a:r>
                        <a:rPr sz="1200" b="1" i="0">
                          <a:solidFill>
                            <a:srgbClr val="FFFFFF"/>
                          </a:solidFill>
                          <a:latin typeface="Arial"/>
                        </a:rPr>
                        <a:t>Wetsuit</a:t>
                      </a:r>
                    </a:p>
                  </a:txBody>
                  <a:tcPr>
                    <a:solidFill>
                      <a:srgbClr val="002060"/>
                    </a:solidFill>
                  </a:tcPr>
                </a:tc>
                <a:tc>
                  <a:txBody>
                    <a:bodyPr/>
                    <a:lstStyle/>
                    <a:p>
                      <a:pPr algn="ctr"/>
                      <a:r>
                        <a:rPr sz="1200" b="1" i="0">
                          <a:solidFill>
                            <a:srgbClr val="FFFFFF"/>
                          </a:solidFill>
                          <a:latin typeface="Arial"/>
                        </a:rPr>
                        <a:t>Conditions</a:t>
                      </a:r>
                    </a:p>
                  </a:txBody>
                  <a:tcPr>
                    <a:solidFill>
                      <a:srgbClr val="002060"/>
                    </a:solidFill>
                  </a:tcPr>
                </a:tc>
                <a:extLst>
                  <a:ext uri="{0D108BD9-81ED-4DB2-BD59-A6C34878D82A}">
                    <a16:rowId xmlns:a16="http://schemas.microsoft.com/office/drawing/2014/main" val="10000"/>
                  </a:ext>
                </a:extLst>
              </a:tr>
              <a:tr h="457200">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Jul 14</a:t>
                      </a:r>
                    </a:p>
                  </a:txBody>
                  <a:tcPr>
                    <a:solidFill>
                      <a:srgbClr val="FFFFFF"/>
                    </a:solidFill>
                  </a:tcPr>
                </a:tc>
                <a:tc>
                  <a:txBody>
                    <a:bodyPr/>
                    <a:lstStyle/>
                    <a:p>
                      <a:pPr algn="ctr"/>
                      <a:r>
                        <a:rPr sz="1000" b="0" i="0">
                          <a:solidFill>
                            <a:srgbClr val="262626"/>
                          </a:solidFill>
                          <a:latin typeface="Arial"/>
                        </a:rPr>
                        <a:t>21</a:t>
                      </a:r>
                    </a:p>
                  </a:txBody>
                  <a:tcPr>
                    <a:solidFill>
                      <a:srgbClr val="FFFFFF"/>
                    </a:solidFill>
                  </a:tcPr>
                </a:tc>
                <a:tc>
                  <a:txBody>
                    <a:bodyPr/>
                    <a:lstStyle/>
                    <a:p>
                      <a:pPr algn="ctr"/>
                      <a:r>
                        <a:rPr sz="1000" b="0" i="0">
                          <a:solidFill>
                            <a:srgbClr val="262626"/>
                          </a:solidFill>
                          <a:latin typeface="Arial"/>
                        </a:rPr>
                        <a:t>67%</a:t>
                      </a:r>
                    </a:p>
                  </a:txBody>
                  <a:tcPr>
                    <a:solidFill>
                      <a:srgbClr val="FFFFFF"/>
                    </a:solidFill>
                  </a:tcPr>
                </a:tc>
                <a:tc>
                  <a:txBody>
                    <a:bodyPr/>
                    <a:lstStyle/>
                    <a:p>
                      <a:pPr algn="ctr"/>
                      <a:r>
                        <a:rPr sz="1000" b="0" i="0">
                          <a:solidFill>
                            <a:srgbClr val="262626"/>
                          </a:solidFill>
                          <a:latin typeface="Arial"/>
                        </a:rPr>
                        <a:t>11</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20.9</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457200">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Jul 06</a:t>
                      </a:r>
                    </a:p>
                  </a:txBody>
                  <a:tcPr>
                    <a:solidFill>
                      <a:srgbClr val="F2F2F2"/>
                    </a:solidFill>
                  </a:tcPr>
                </a:tc>
                <a:tc>
                  <a:txBody>
                    <a:bodyPr/>
                    <a:lstStyle/>
                    <a:p>
                      <a:pPr algn="ctr"/>
                      <a:r>
                        <a:rPr sz="1000" b="0" i="0">
                          <a:solidFill>
                            <a:srgbClr val="262626"/>
                          </a:solidFill>
                          <a:latin typeface="Arial"/>
                        </a:rPr>
                        <a:t>15.0°*</a:t>
                      </a:r>
                    </a:p>
                  </a:txBody>
                  <a:tcPr>
                    <a:solidFill>
                      <a:srgbClr val="F2F2F2"/>
                    </a:solidFill>
                  </a:tcPr>
                </a:tc>
                <a:tc>
                  <a:txBody>
                    <a:bodyPr/>
                    <a:lstStyle/>
                    <a:p>
                      <a:pPr algn="ctr"/>
                      <a:r>
                        <a:rPr sz="1000" b="0" i="0">
                          <a:solidFill>
                            <a:srgbClr val="262626"/>
                          </a:solidFill>
                          <a:latin typeface="Arial"/>
                        </a:rPr>
                        <a:t>87%</a:t>
                      </a:r>
                    </a:p>
                  </a:txBody>
                  <a:tcPr>
                    <a:solidFill>
                      <a:srgbClr val="F2F2F2"/>
                    </a:solidFill>
                  </a:tcPr>
                </a:tc>
                <a:tc>
                  <a:txBody>
                    <a:bodyPr/>
                    <a:lstStyle/>
                    <a:p>
                      <a:pPr algn="ctr"/>
                      <a:r>
                        <a:rPr sz="1000" b="0" i="0">
                          <a:solidFill>
                            <a:srgbClr val="262626"/>
                          </a:solidFill>
                          <a:latin typeface="Arial"/>
                        </a:rPr>
                        <a:t>16</a:t>
                      </a:r>
                    </a:p>
                  </a:txBody>
                  <a:tcPr>
                    <a:solidFill>
                      <a:srgbClr val="F2F2F2"/>
                    </a:solidFill>
                  </a:tcPr>
                </a:tc>
                <a:tc>
                  <a:txBody>
                    <a:bodyPr/>
                    <a:lstStyle/>
                    <a:p>
                      <a:pPr algn="ctr"/>
                      <a:r>
                        <a:rPr sz="1000" b="0" i="0">
                          <a:solidFill>
                            <a:srgbClr val="262626"/>
                          </a:solidFill>
                          <a:latin typeface="Arial"/>
                        </a:rPr>
                        <a:t>1.1</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457200">
                <a:tc>
                  <a:txBody>
                    <a:bodyPr/>
                    <a:lstStyle/>
                    <a:p>
                      <a:pPr algn="ctr"/>
                      <a:r>
                        <a:rPr sz="1000" b="0" i="0">
                          <a:solidFill>
                            <a:srgbClr val="262626"/>
                          </a:solidFill>
                          <a:latin typeface="Arial"/>
                        </a:rPr>
                        <a:t>2020</a:t>
                      </a:r>
                    </a:p>
                  </a:txBody>
                  <a:tcPr>
                    <a:solidFill>
                      <a:srgbClr val="FFFFFF"/>
                    </a:solidFill>
                  </a:tcPr>
                </a:tc>
                <a:tc>
                  <a:txBody>
                    <a:bodyPr/>
                    <a:lstStyle/>
                    <a:p>
                      <a:pPr algn="ctr"/>
                      <a:r>
                        <a:rPr sz="1000" b="0" i="0">
                          <a:solidFill>
                            <a:srgbClr val="262626"/>
                          </a:solidFill>
                          <a:latin typeface="Arial"/>
                        </a:rPr>
                        <a:t>Sep 05</a:t>
                      </a:r>
                    </a:p>
                  </a:txBody>
                  <a:tcPr>
                    <a:solidFill>
                      <a:srgbClr val="FFFFFF"/>
                    </a:solidFill>
                  </a:tcPr>
                </a:tc>
                <a:tc>
                  <a:txBody>
                    <a:bodyPr/>
                    <a:lstStyle/>
                    <a:p>
                      <a:pPr algn="ctr"/>
                      <a:r>
                        <a:rPr sz="1000" b="0" i="0">
                          <a:solidFill>
                            <a:srgbClr val="262626"/>
                          </a:solidFill>
                          <a:latin typeface="Arial"/>
                        </a:rPr>
                        <a:t>13.8°*</a:t>
                      </a:r>
                    </a:p>
                  </a:txBody>
                  <a:tcPr>
                    <a:solidFill>
                      <a:srgbClr val="FFFFFF"/>
                    </a:solidFill>
                  </a:tcPr>
                </a:tc>
                <a:tc>
                  <a:txBody>
                    <a:bodyPr/>
                    <a:lstStyle/>
                    <a:p>
                      <a:pPr algn="ctr"/>
                      <a:r>
                        <a:rPr sz="1000" b="0" i="0">
                          <a:solidFill>
                            <a:srgbClr val="262626"/>
                          </a:solidFill>
                          <a:latin typeface="Arial"/>
                        </a:rPr>
                        <a:t>94%</a:t>
                      </a:r>
                    </a:p>
                  </a:txBody>
                  <a:tcPr>
                    <a:solidFill>
                      <a:srgbClr val="FFFFFF"/>
                    </a:solidFill>
                  </a:tcPr>
                </a:tc>
                <a:tc>
                  <a:txBody>
                    <a:bodyPr/>
                    <a:lstStyle/>
                    <a:p>
                      <a:pPr algn="ctr"/>
                      <a:r>
                        <a:rPr sz="1000" b="0" i="0">
                          <a:solidFill>
                            <a:srgbClr val="262626"/>
                          </a:solidFill>
                          <a:latin typeface="Arial"/>
                        </a:rPr>
                        <a:t>14</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457200">
                <a:tc>
                  <a:txBody>
                    <a:bodyPr/>
                    <a:lstStyle/>
                    <a:p>
                      <a:pPr algn="ctr"/>
                      <a:r>
                        <a:rPr sz="1000" b="0" i="0">
                          <a:solidFill>
                            <a:srgbClr val="262626"/>
                          </a:solidFill>
                          <a:latin typeface="Arial"/>
                        </a:rPr>
                        <a:t>2021</a:t>
                      </a:r>
                    </a:p>
                  </a:txBody>
                  <a:tcPr>
                    <a:solidFill>
                      <a:srgbClr val="F2F2F2"/>
                    </a:solidFill>
                  </a:tcPr>
                </a:tc>
                <a:tc>
                  <a:txBody>
                    <a:bodyPr/>
                    <a:lstStyle/>
                    <a:p>
                      <a:pPr algn="ctr"/>
                      <a:r>
                        <a:rPr sz="1000" b="0" i="0">
                          <a:solidFill>
                            <a:srgbClr val="262626"/>
                          </a:solidFill>
                          <a:latin typeface="Arial"/>
                        </a:rPr>
                        <a:t>Sep 18</a:t>
                      </a:r>
                    </a:p>
                  </a:txBody>
                  <a:tcPr>
                    <a:solidFill>
                      <a:srgbClr val="F2F2F2"/>
                    </a:solidFill>
                  </a:tcPr>
                </a:tc>
                <a:tc>
                  <a:txBody>
                    <a:bodyPr/>
                    <a:lstStyle/>
                    <a:p>
                      <a:pPr algn="ctr"/>
                      <a:r>
                        <a:rPr sz="1000" b="0" i="0">
                          <a:solidFill>
                            <a:srgbClr val="262626"/>
                          </a:solidFill>
                          <a:latin typeface="Arial"/>
                        </a:rPr>
                        <a:t>15.5°*</a:t>
                      </a:r>
                    </a:p>
                  </a:txBody>
                  <a:tcPr>
                    <a:solidFill>
                      <a:srgbClr val="F2F2F2"/>
                    </a:solidFill>
                  </a:tcPr>
                </a:tc>
                <a:tc>
                  <a:txBody>
                    <a:bodyPr/>
                    <a:lstStyle/>
                    <a:p>
                      <a:pPr algn="ctr"/>
                      <a:r>
                        <a:rPr sz="1000" b="0" i="0">
                          <a:solidFill>
                            <a:srgbClr val="262626"/>
                          </a:solidFill>
                          <a:latin typeface="Arial"/>
                        </a:rPr>
                        <a:t>84%</a:t>
                      </a:r>
                    </a:p>
                  </a:txBody>
                  <a:tcPr>
                    <a:solidFill>
                      <a:srgbClr val="F2F2F2"/>
                    </a:solidFill>
                  </a:tcPr>
                </a:tc>
                <a:tc>
                  <a:txBody>
                    <a:bodyPr/>
                    <a:lstStyle/>
                    <a:p>
                      <a:pPr algn="ctr"/>
                      <a:r>
                        <a:rPr sz="1000" b="0" i="0">
                          <a:solidFill>
                            <a:srgbClr val="262626"/>
                          </a:solidFill>
                          <a:latin typeface="Arial"/>
                        </a:rPr>
                        <a:t>10</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457200">
                <a:tc>
                  <a:txBody>
                    <a:bodyPr/>
                    <a:lstStyle/>
                    <a:p>
                      <a:pPr algn="ctr"/>
                      <a:r>
                        <a:rPr sz="1000" b="0" i="0">
                          <a:solidFill>
                            <a:srgbClr val="262626"/>
                          </a:solidFill>
                          <a:latin typeface="Arial"/>
                        </a:rPr>
                        <a:t>2022</a:t>
                      </a:r>
                    </a:p>
                  </a:txBody>
                  <a:tcPr>
                    <a:solidFill>
                      <a:srgbClr val="FFFFFF"/>
                    </a:solidFill>
                  </a:tcPr>
                </a:tc>
                <a:tc>
                  <a:txBody>
                    <a:bodyPr/>
                    <a:lstStyle/>
                    <a:p>
                      <a:pPr algn="ctr"/>
                      <a:r>
                        <a:rPr sz="1000" b="0" i="0">
                          <a:solidFill>
                            <a:srgbClr val="262626"/>
                          </a:solidFill>
                          <a:latin typeface="Arial"/>
                        </a:rPr>
                        <a:t>Jul 09</a:t>
                      </a:r>
                    </a:p>
                  </a:txBody>
                  <a:tcPr>
                    <a:solidFill>
                      <a:srgbClr val="FFFFFF"/>
                    </a:solidFill>
                  </a:tcPr>
                </a:tc>
                <a:tc>
                  <a:txBody>
                    <a:bodyPr/>
                    <a:lstStyle/>
                    <a:p>
                      <a:pPr algn="ctr"/>
                      <a:r>
                        <a:rPr sz="1000" b="0" i="0">
                          <a:solidFill>
                            <a:srgbClr val="262626"/>
                          </a:solidFill>
                          <a:latin typeface="Arial"/>
                        </a:rPr>
                        <a:t>23.4</a:t>
                      </a:r>
                    </a:p>
                  </a:txBody>
                  <a:tcPr>
                    <a:solidFill>
                      <a:srgbClr val="FFFFFF"/>
                    </a:solidFill>
                  </a:tcPr>
                </a:tc>
                <a:tc>
                  <a:txBody>
                    <a:bodyPr/>
                    <a:lstStyle/>
                    <a:p>
                      <a:pPr algn="ctr"/>
                      <a:r>
                        <a:rPr sz="1000" b="0" i="0">
                          <a:solidFill>
                            <a:srgbClr val="262626"/>
                          </a:solidFill>
                          <a:latin typeface="Arial"/>
                        </a:rPr>
                        <a:t>81%</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0.1</a:t>
                      </a:r>
                    </a:p>
                  </a:txBody>
                  <a:tcPr>
                    <a:solidFill>
                      <a:srgbClr val="FFFFFF"/>
                    </a:solidFill>
                  </a:tcPr>
                </a:tc>
                <a:tc>
                  <a:txBody>
                    <a:bodyPr/>
                    <a:lstStyle/>
                    <a:p>
                      <a:pPr algn="ctr"/>
                      <a:r>
                        <a:rPr sz="1000" b="0" i="0">
                          <a:solidFill>
                            <a:srgbClr val="262626"/>
                          </a:solidFill>
                          <a:latin typeface="Arial"/>
                        </a:rPr>
                        <a:t>20.8</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r h="457200">
                <a:tc>
                  <a:txBody>
                    <a:bodyPr/>
                    <a:lstStyle/>
                    <a:p>
                      <a:pPr algn="ctr"/>
                      <a:r>
                        <a:rPr sz="1000" b="0" i="0">
                          <a:solidFill>
                            <a:srgbClr val="262626"/>
                          </a:solidFill>
                          <a:latin typeface="Arial"/>
                        </a:rPr>
                        <a:t>2023</a:t>
                      </a:r>
                    </a:p>
                  </a:txBody>
                  <a:tcPr>
                    <a:solidFill>
                      <a:srgbClr val="F2F2F2"/>
                    </a:solidFill>
                  </a:tcPr>
                </a:tc>
                <a:tc>
                  <a:txBody>
                    <a:bodyPr/>
                    <a:lstStyle/>
                    <a:p>
                      <a:pPr algn="ctr"/>
                      <a:r>
                        <a:rPr sz="1000" b="0" i="0">
                          <a:solidFill>
                            <a:srgbClr val="262626"/>
                          </a:solidFill>
                          <a:latin typeface="Arial"/>
                        </a:rPr>
                        <a:t>Jul 15</a:t>
                      </a:r>
                    </a:p>
                  </a:txBody>
                  <a:tcPr>
                    <a:solidFill>
                      <a:srgbClr val="F2F2F2"/>
                    </a:solidFill>
                  </a:tcPr>
                </a:tc>
                <a:tc>
                  <a:txBody>
                    <a:bodyPr/>
                    <a:lstStyle/>
                    <a:p>
                      <a:pPr algn="ctr"/>
                      <a:r>
                        <a:rPr sz="1000" b="0" i="0">
                          <a:solidFill>
                            <a:srgbClr val="262626"/>
                          </a:solidFill>
                          <a:latin typeface="Arial"/>
                        </a:rPr>
                        <a:t>24.4°*</a:t>
                      </a:r>
                    </a:p>
                  </a:txBody>
                  <a:tcPr>
                    <a:solidFill>
                      <a:srgbClr val="F2F2F2"/>
                    </a:solidFill>
                  </a:tcPr>
                </a:tc>
                <a:tc>
                  <a:txBody>
                    <a:bodyPr/>
                    <a:lstStyle/>
                    <a:p>
                      <a:pPr algn="ctr"/>
                      <a:r>
                        <a:rPr sz="1000" b="0" i="0">
                          <a:solidFill>
                            <a:srgbClr val="262626"/>
                          </a:solidFill>
                          <a:latin typeface="Arial"/>
                        </a:rPr>
                        <a:t>54%</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forbidden</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6"/>
                  </a:ext>
                </a:extLst>
              </a:tr>
              <a:tr h="457200">
                <a:tc>
                  <a:txBody>
                    <a:bodyPr/>
                    <a:lstStyle/>
                    <a:p>
                      <a:pPr algn="ctr"/>
                      <a:r>
                        <a:rPr sz="1000" b="0" i="0">
                          <a:solidFill>
                            <a:srgbClr val="262626"/>
                          </a:solidFill>
                          <a:latin typeface="Arial"/>
                        </a:rPr>
                        <a:t>2024</a:t>
                      </a:r>
                    </a:p>
                  </a:txBody>
                  <a:tcPr>
                    <a:solidFill>
                      <a:srgbClr val="FFFFFF"/>
                    </a:solidFill>
                  </a:tcPr>
                </a:tc>
                <a:tc>
                  <a:txBody>
                    <a:bodyPr/>
                    <a:lstStyle/>
                    <a:p>
                      <a:pPr algn="ctr"/>
                      <a:r>
                        <a:rPr sz="1000" b="0" i="0">
                          <a:solidFill>
                            <a:srgbClr val="262626"/>
                          </a:solidFill>
                          <a:latin typeface="Arial"/>
                        </a:rPr>
                        <a:t>Jul 13</a:t>
                      </a:r>
                    </a:p>
                  </a:txBody>
                  <a:tcPr>
                    <a:solidFill>
                      <a:srgbClr val="FFFFFF"/>
                    </a:solidFill>
                  </a:tcPr>
                </a:tc>
                <a:tc>
                  <a:txBody>
                    <a:bodyPr/>
                    <a:lstStyle/>
                    <a:p>
                      <a:pPr algn="ctr"/>
                      <a:r>
                        <a:rPr sz="1000" b="0" i="0">
                          <a:solidFill>
                            <a:srgbClr val="262626"/>
                          </a:solidFill>
                          <a:latin typeface="Arial"/>
                        </a:rPr>
                        <a:t>18.9</a:t>
                      </a:r>
                    </a:p>
                  </a:txBody>
                  <a:tcPr>
                    <a:solidFill>
                      <a:srgbClr val="FFFFFF"/>
                    </a:solidFill>
                  </a:tcPr>
                </a:tc>
                <a:tc>
                  <a:txBody>
                    <a:bodyPr/>
                    <a:lstStyle/>
                    <a:p>
                      <a:pPr algn="ctr"/>
                      <a:r>
                        <a:rPr sz="1000" b="0" i="0">
                          <a:solidFill>
                            <a:srgbClr val="262626"/>
                          </a:solidFill>
                          <a:latin typeface="Arial"/>
                        </a:rPr>
                        <a:t>79%</a:t>
                      </a:r>
                    </a:p>
                  </a:txBody>
                  <a:tcPr>
                    <a:solidFill>
                      <a:srgbClr val="FFFFFF"/>
                    </a:solidFill>
                  </a:tcPr>
                </a:tc>
                <a:tc>
                  <a:txBody>
                    <a:bodyPr/>
                    <a:lstStyle/>
                    <a:p>
                      <a:pPr algn="ctr"/>
                      <a:r>
                        <a:rPr sz="1000" b="0" i="0">
                          <a:solidFill>
                            <a:srgbClr val="262626"/>
                          </a:solidFill>
                          <a:latin typeface="Arial"/>
                        </a:rPr>
                        <a:t>22</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21.3</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7"/>
                  </a:ext>
                </a:extLst>
              </a:tr>
              <a:tr h="457200">
                <a:tc>
                  <a:txBody>
                    <a:bodyPr/>
                    <a:lstStyle/>
                    <a:p>
                      <a:pPr algn="ctr"/>
                      <a:r>
                        <a:rPr sz="1000" b="0" i="0">
                          <a:solidFill>
                            <a:srgbClr val="262626"/>
                          </a:solidFill>
                          <a:latin typeface="Arial"/>
                        </a:rPr>
                        <a:t>2025</a:t>
                      </a:r>
                    </a:p>
                  </a:txBody>
                  <a:tcPr>
                    <a:solidFill>
                      <a:srgbClr val="F2F2F2"/>
                    </a:solidFill>
                  </a:tcPr>
                </a:tc>
                <a:tc>
                  <a:txBody>
                    <a:bodyPr/>
                    <a:lstStyle/>
                    <a:p>
                      <a:pPr algn="ctr"/>
                      <a:r>
                        <a:rPr sz="1000" b="0" i="0">
                          <a:solidFill>
                            <a:srgbClr val="262626"/>
                          </a:solidFill>
                          <a:latin typeface="Arial"/>
                        </a:rPr>
                        <a:t>Jul 12</a:t>
                      </a:r>
                    </a:p>
                  </a:txBody>
                  <a:tcPr>
                    <a:solidFill>
                      <a:srgbClr val="F2F2F2"/>
                    </a:solidFill>
                  </a:tcPr>
                </a:tc>
                <a:tc>
                  <a:txBody>
                    <a:bodyPr/>
                    <a:lstStyle/>
                    <a:p>
                      <a:pPr algn="ctr"/>
                      <a:r>
                        <a:rPr sz="1000" b="0" i="0">
                          <a:solidFill>
                            <a:srgbClr val="262626"/>
                          </a:solidFill>
                          <a:latin typeface="Arial"/>
                        </a:rPr>
                        <a:t>23.6</a:t>
                      </a:r>
                    </a:p>
                  </a:txBody>
                  <a:tcPr>
                    <a:solidFill>
                      <a:srgbClr val="F2F2F2"/>
                    </a:solidFill>
                  </a:tcPr>
                </a:tc>
                <a:tc>
                  <a:txBody>
                    <a:bodyPr/>
                    <a:lstStyle/>
                    <a:p>
                      <a:pPr algn="ctr"/>
                      <a:r>
                        <a:rPr sz="1000" b="0" i="0">
                          <a:solidFill>
                            <a:srgbClr val="262626"/>
                          </a:solidFill>
                          <a:latin typeface="Arial"/>
                        </a:rPr>
                        <a:t>76%</a:t>
                      </a:r>
                    </a:p>
                  </a:txBody>
                  <a:tcPr>
                    <a:solidFill>
                      <a:srgbClr val="F2F2F2"/>
                    </a:solidFill>
                  </a:tcPr>
                </a:tc>
                <a:tc>
                  <a:txBody>
                    <a:bodyPr/>
                    <a:lstStyle/>
                    <a:p>
                      <a:pPr algn="ctr"/>
                      <a:r>
                        <a:rPr sz="1000" b="0" i="0">
                          <a:solidFill>
                            <a:srgbClr val="262626"/>
                          </a:solidFill>
                          <a:latin typeface="Arial"/>
                        </a:rPr>
                        <a:t>14</a:t>
                      </a:r>
                    </a:p>
                  </a:txBody>
                  <a:tcPr>
                    <a:solidFill>
                      <a:srgbClr val="F2F2F2"/>
                    </a:solidFill>
                  </a:tcPr>
                </a:tc>
                <a:tc>
                  <a:txBody>
                    <a:bodyPr/>
                    <a:lstStyle/>
                    <a:p>
                      <a:pPr algn="ctr"/>
                      <a:r>
                        <a:rPr sz="1000" b="0" i="0">
                          <a:solidFill>
                            <a:srgbClr val="262626"/>
                          </a:solidFill>
                          <a:latin typeface="Arial"/>
                        </a:rPr>
                        <a:t>0.2</a:t>
                      </a:r>
                    </a:p>
                  </a:txBody>
                  <a:tcPr>
                    <a:solidFill>
                      <a:srgbClr val="F2F2F2"/>
                    </a:solidFill>
                  </a:tcPr>
                </a:tc>
                <a:tc>
                  <a:txBody>
                    <a:bodyPr/>
                    <a:lstStyle/>
                    <a:p>
                      <a:pPr algn="ctr"/>
                      <a:r>
                        <a:rPr sz="1000" b="0" i="0">
                          <a:solidFill>
                            <a:srgbClr val="262626"/>
                          </a:solidFill>
                          <a:latin typeface="Arial"/>
                        </a:rPr>
                        <a:t>21.1</a:t>
                      </a:r>
                    </a:p>
                  </a:txBody>
                  <a:tcPr>
                    <a:solidFill>
                      <a:srgbClr val="F2F2F2"/>
                    </a:solidFill>
                  </a:tcPr>
                </a:tc>
                <a:tc>
                  <a:txBody>
                    <a:bodyPr/>
                    <a:lstStyle/>
                    <a:p>
                      <a:pPr algn="ctr"/>
                      <a:r>
                        <a:rPr sz="1000" b="0" i="0">
                          <a:solidFill>
                            <a:srgbClr val="262626"/>
                          </a:solidFill>
                          <a:latin typeface="Arial"/>
                        </a:rPr>
                        <a:t>forbidden</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08:00–11:00 local) where WT API data is absent. Values marked * are Open-Meteo estimates. Water temp and wetsuit ruling are from the World Triathlon API per program.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WOMEN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Overview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640080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115568"/>
            <a:ext cx="6035040" cy="274320"/>
          </a:xfrm>
          <a:prstGeom prst="rect">
            <a:avLst/>
          </a:prstGeom>
          <a:noFill/>
        </p:spPr>
        <p:txBody>
          <a:bodyPr wrap="square">
            <a:spAutoFit/>
          </a:bodyPr>
          <a:lstStyle/>
          <a:p>
            <a:pPr algn="l"/>
            <a:r>
              <a:rPr sz="1200" b="1" i="0">
                <a:solidFill>
                  <a:srgbClr val="FFFFFF"/>
                </a:solidFill>
                <a:latin typeface="Arial"/>
              </a:rPr>
              <a:t>RACE HISTORY AT HAMBURG</a:t>
            </a:r>
          </a:p>
        </p:txBody>
      </p:sp>
      <p:sp>
        <p:nvSpPr>
          <p:cNvPr id="10" name="TextBox 9"/>
          <p:cNvSpPr txBox="1"/>
          <p:nvPr/>
        </p:nvSpPr>
        <p:spPr>
          <a:xfrm>
            <a:off x="274320" y="1508760"/>
            <a:ext cx="6400800" cy="1323439"/>
          </a:xfrm>
          <a:prstGeom prst="rect">
            <a:avLst/>
          </a:prstGeom>
          <a:noFill/>
        </p:spPr>
        <p:txBody>
          <a:bodyPr wrap="square">
            <a:spAutoFit/>
          </a:bodyPr>
          <a:lstStyle/>
          <a:p>
            <a:pPr algn="l"/>
            <a:r>
              <a:rPr sz="1600" b="0" i="0" dirty="0">
                <a:solidFill>
                  <a:srgbClr val="262626"/>
                </a:solidFill>
                <a:latin typeface="Arial"/>
              </a:rPr>
              <a:t>The Elite Women race at Hamburg has been held 8 times in this analysis window (2018–2025). Cassandre Beaugrand is the most successful athlete in this span with 3 victories. </a:t>
            </a:r>
            <a:r>
              <a:rPr lang="en-US" sz="1600" b="0" i="0" dirty="0">
                <a:solidFill>
                  <a:srgbClr val="262626"/>
                </a:solidFill>
                <a:latin typeface="Arial"/>
              </a:rPr>
              <a:t>However, last year Leonie </a:t>
            </a:r>
            <a:r>
              <a:rPr lang="en-US" sz="1600" b="0" i="0" dirty="0" err="1">
                <a:solidFill>
                  <a:srgbClr val="262626"/>
                </a:solidFill>
                <a:latin typeface="Arial"/>
              </a:rPr>
              <a:t>Periault</a:t>
            </a:r>
            <a:r>
              <a:rPr lang="en-US" sz="1600" b="0" i="0" dirty="0">
                <a:solidFill>
                  <a:srgbClr val="262626"/>
                </a:solidFill>
                <a:latin typeface="Arial"/>
              </a:rPr>
              <a:t> took the win after nearly the entire group came together on the bike. </a:t>
            </a:r>
            <a:endParaRPr sz="1600" b="0" i="0" dirty="0">
              <a:solidFill>
                <a:srgbClr val="262626"/>
              </a:solidFill>
              <a:latin typeface="Arial"/>
            </a:endParaRPr>
          </a:p>
        </p:txBody>
      </p:sp>
      <p:sp>
        <p:nvSpPr>
          <p:cNvPr id="11" name="Rectangle 10"/>
          <p:cNvSpPr/>
          <p:nvPr/>
        </p:nvSpPr>
        <p:spPr>
          <a:xfrm>
            <a:off x="6903720" y="1097280"/>
            <a:ext cx="4983480"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0" y="1115568"/>
            <a:ext cx="4663440"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p:cNvSpPr/>
          <p:nvPr/>
        </p:nvSpPr>
        <p:spPr>
          <a:xfrm>
            <a:off x="6949440" y="155448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4" name="TextBox 13"/>
          <p:cNvSpPr txBox="1"/>
          <p:nvPr/>
        </p:nvSpPr>
        <p:spPr>
          <a:xfrm>
            <a:off x="7452360" y="1536192"/>
            <a:ext cx="4434840" cy="1292662"/>
          </a:xfrm>
          <a:prstGeom prst="rect">
            <a:avLst/>
          </a:prstGeom>
          <a:noFill/>
        </p:spPr>
        <p:txBody>
          <a:bodyPr wrap="square">
            <a:spAutoFit/>
          </a:bodyPr>
          <a:lstStyle/>
          <a:p>
            <a:pPr algn="l"/>
            <a:r>
              <a:rPr lang="en-US" sz="1300" b="0" i="0" dirty="0">
                <a:solidFill>
                  <a:srgbClr val="262626"/>
                </a:solidFill>
                <a:latin typeface="Arial"/>
              </a:rPr>
              <a:t>Disregarding the shortened 2023 course, the swim here has typically significantly shortened the field. 2025 had a very small breakaway of 4 athletes emerge, and ‘21 and ’22 both had only 15 athletes within the 15 second benchmark. Expect for strong swimmer to push the pace with the non wetsuit conditions. </a:t>
            </a:r>
            <a:endParaRPr sz="1300" b="0" i="0" dirty="0">
              <a:solidFill>
                <a:srgbClr val="262626"/>
              </a:solidFill>
              <a:latin typeface="Arial"/>
            </a:endParaRPr>
          </a:p>
        </p:txBody>
      </p:sp>
      <p:sp>
        <p:nvSpPr>
          <p:cNvPr id="15" name="Rectangle 14"/>
          <p:cNvSpPr/>
          <p:nvPr/>
        </p:nvSpPr>
        <p:spPr>
          <a:xfrm>
            <a:off x="6949440" y="324612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6" name="TextBox 15"/>
          <p:cNvSpPr txBox="1"/>
          <p:nvPr/>
        </p:nvSpPr>
        <p:spPr>
          <a:xfrm>
            <a:off x="7452360" y="3227832"/>
            <a:ext cx="4434840" cy="261610"/>
          </a:xfrm>
          <a:prstGeom prst="rect">
            <a:avLst/>
          </a:prstGeom>
          <a:noFill/>
        </p:spPr>
        <p:txBody>
          <a:bodyPr wrap="square">
            <a:spAutoFit/>
          </a:bodyPr>
          <a:lstStyle/>
          <a:p>
            <a:pPr algn="l"/>
            <a:endParaRPr sz="1100" b="0" i="0" dirty="0">
              <a:solidFill>
                <a:srgbClr val="262626"/>
              </a:solidFill>
              <a:latin typeface="Arial"/>
            </a:endParaRPr>
          </a:p>
        </p:txBody>
      </p:sp>
      <p:sp>
        <p:nvSpPr>
          <p:cNvPr id="17" name="Rectangle 16"/>
          <p:cNvSpPr/>
          <p:nvPr/>
        </p:nvSpPr>
        <p:spPr>
          <a:xfrm>
            <a:off x="6949440" y="493776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8" name="TextBox 17"/>
          <p:cNvSpPr txBox="1"/>
          <p:nvPr/>
        </p:nvSpPr>
        <p:spPr>
          <a:xfrm>
            <a:off x="7452360" y="4919472"/>
            <a:ext cx="4434840" cy="1092607"/>
          </a:xfrm>
          <a:prstGeom prst="rect">
            <a:avLst/>
          </a:prstGeom>
          <a:noFill/>
        </p:spPr>
        <p:txBody>
          <a:bodyPr wrap="square">
            <a:spAutoFit/>
          </a:bodyPr>
          <a:lstStyle/>
          <a:p>
            <a:pPr algn="l"/>
            <a:r>
              <a:rPr lang="en-US" sz="1300" b="0" i="0" dirty="0">
                <a:solidFill>
                  <a:srgbClr val="262626"/>
                </a:solidFill>
                <a:latin typeface="Arial"/>
              </a:rPr>
              <a:t>Run time have continued to progress on the Hamburg course. With the leaders running 15:20 and 15:28 respectively over the past two years. Gap last year to the podium were also quite tight with 2</a:t>
            </a:r>
            <a:r>
              <a:rPr lang="en-US" sz="1300" b="0" i="0" baseline="30000" dirty="0">
                <a:solidFill>
                  <a:srgbClr val="262626"/>
                </a:solidFill>
                <a:latin typeface="Arial"/>
              </a:rPr>
              <a:t>nd</a:t>
            </a:r>
            <a:r>
              <a:rPr lang="en-US" sz="1300" b="0" i="0" dirty="0">
                <a:solidFill>
                  <a:srgbClr val="262626"/>
                </a:solidFill>
                <a:latin typeface="Arial"/>
              </a:rPr>
              <a:t> and 3</a:t>
            </a:r>
            <a:r>
              <a:rPr lang="en-US" sz="1300" b="0" i="0" baseline="30000" dirty="0">
                <a:solidFill>
                  <a:srgbClr val="262626"/>
                </a:solidFill>
                <a:latin typeface="Arial"/>
              </a:rPr>
              <a:t>rd</a:t>
            </a:r>
            <a:r>
              <a:rPr lang="en-US" sz="1300" b="0" i="0" dirty="0">
                <a:solidFill>
                  <a:srgbClr val="262626"/>
                </a:solidFill>
                <a:latin typeface="Arial"/>
              </a:rPr>
              <a:t> only 4 and 7 seconds back from </a:t>
            </a:r>
            <a:r>
              <a:rPr lang="en-US" sz="1300" b="0" i="0">
                <a:solidFill>
                  <a:srgbClr val="262626"/>
                </a:solidFill>
                <a:latin typeface="Arial"/>
              </a:rPr>
              <a:t>the </a:t>
            </a:r>
            <a:r>
              <a:rPr lang="en-US" sz="1300">
                <a:solidFill>
                  <a:srgbClr val="262626"/>
                </a:solidFill>
                <a:latin typeface="Arial"/>
              </a:rPr>
              <a:t>winner.</a:t>
            </a:r>
            <a:r>
              <a:rPr lang="en-US" sz="1300" b="0" i="0">
                <a:solidFill>
                  <a:srgbClr val="262626"/>
                </a:solidFill>
                <a:latin typeface="Arial"/>
              </a:rPr>
              <a:t> </a:t>
            </a:r>
            <a:endParaRPr sz="1300" b="0" i="0" dirty="0">
              <a:solidFill>
                <a:srgbClr val="262626"/>
              </a:solidFill>
              <a:latin typeface="Arial"/>
            </a:endParaRPr>
          </a:p>
        </p:txBody>
      </p:sp>
      <p:sp>
        <p:nvSpPr>
          <p:cNvPr id="20" name="TextBox 19">
            <a:extLst>
              <a:ext uri="{FF2B5EF4-FFF2-40B4-BE49-F238E27FC236}">
                <a16:creationId xmlns:a16="http://schemas.microsoft.com/office/drawing/2014/main" id="{9F54E4B7-EB01-83B0-CF54-61853BD379AC}"/>
              </a:ext>
            </a:extLst>
          </p:cNvPr>
          <p:cNvSpPr txBox="1"/>
          <p:nvPr/>
        </p:nvSpPr>
        <p:spPr>
          <a:xfrm>
            <a:off x="7452360" y="3037022"/>
            <a:ext cx="4434840" cy="1492716"/>
          </a:xfrm>
          <a:prstGeom prst="rect">
            <a:avLst/>
          </a:prstGeom>
          <a:noFill/>
        </p:spPr>
        <p:txBody>
          <a:bodyPr wrap="square">
            <a:spAutoFit/>
          </a:bodyPr>
          <a:lstStyle/>
          <a:p>
            <a:pPr algn="l"/>
            <a:r>
              <a:rPr lang="en-US" sz="1300" dirty="0">
                <a:solidFill>
                  <a:srgbClr val="262626"/>
                </a:solidFill>
                <a:latin typeface="Arial"/>
              </a:rPr>
              <a:t>Historically, the women’s race has seen a bike group be able to put a gap on the chasers. While typically this lead group isn’t a small pack of less than 10, it also usually remains less than 30 riders. That changed last year though when the front pack ballooned to 45. The dynamic will depend on if the lead remains small enough to cooperate and hold speed through the turns. </a:t>
            </a:r>
            <a:endParaRPr sz="1300" b="0" i="0" dirty="0">
              <a:solidFill>
                <a:srgbClr val="262626"/>
              </a:solid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5266944"/>
        </p:xfrm>
        <a:graphic>
          <a:graphicData uri="http://schemas.openxmlformats.org/drawingml/2006/table">
            <a:tbl>
              <a:tblPr firstRow="1" bandRow="1">
                <a:tableStyleId>{5C22544A-7EE6-4342-B048-85BDC9FD1C3A}</a:tableStyleId>
              </a:tblPr>
              <a:tblGrid>
                <a:gridCol w="655082">
                  <a:extLst>
                    <a:ext uri="{9D8B030D-6E8A-4147-A177-3AD203B41FA5}">
                      <a16:colId xmlns:a16="http://schemas.microsoft.com/office/drawing/2014/main" val="20000"/>
                    </a:ext>
                  </a:extLst>
                </a:gridCol>
                <a:gridCol w="957428">
                  <a:extLst>
                    <a:ext uri="{9D8B030D-6E8A-4147-A177-3AD203B41FA5}">
                      <a16:colId xmlns:a16="http://schemas.microsoft.com/office/drawing/2014/main" val="20001"/>
                    </a:ext>
                  </a:extLst>
                </a:gridCol>
                <a:gridCol w="1914856">
                  <a:extLst>
                    <a:ext uri="{9D8B030D-6E8A-4147-A177-3AD203B41FA5}">
                      <a16:colId xmlns:a16="http://schemas.microsoft.com/office/drawing/2014/main" val="20002"/>
                    </a:ext>
                  </a:extLst>
                </a:gridCol>
                <a:gridCol w="554300">
                  <a:extLst>
                    <a:ext uri="{9D8B030D-6E8A-4147-A177-3AD203B41FA5}">
                      <a16:colId xmlns:a16="http://schemas.microsoft.com/office/drawing/2014/main" val="20003"/>
                    </a:ext>
                  </a:extLst>
                </a:gridCol>
                <a:gridCol w="755864">
                  <a:extLst>
                    <a:ext uri="{9D8B030D-6E8A-4147-A177-3AD203B41FA5}">
                      <a16:colId xmlns:a16="http://schemas.microsoft.com/office/drawing/2014/main" val="20004"/>
                    </a:ext>
                  </a:extLst>
                </a:gridCol>
                <a:gridCol w="2015638">
                  <a:extLst>
                    <a:ext uri="{9D8B030D-6E8A-4147-A177-3AD203B41FA5}">
                      <a16:colId xmlns:a16="http://schemas.microsoft.com/office/drawing/2014/main" val="20005"/>
                    </a:ext>
                  </a:extLst>
                </a:gridCol>
                <a:gridCol w="1007819">
                  <a:extLst>
                    <a:ext uri="{9D8B030D-6E8A-4147-A177-3AD203B41FA5}">
                      <a16:colId xmlns:a16="http://schemas.microsoft.com/office/drawing/2014/main" val="20006"/>
                    </a:ext>
                  </a:extLst>
                </a:gridCol>
                <a:gridCol w="806255">
                  <a:extLst>
                    <a:ext uri="{9D8B030D-6E8A-4147-A177-3AD203B41FA5}">
                      <a16:colId xmlns:a16="http://schemas.microsoft.com/office/drawing/2014/main" val="20007"/>
                    </a:ext>
                  </a:extLst>
                </a:gridCol>
                <a:gridCol w="856646">
                  <a:extLst>
                    <a:ext uri="{9D8B030D-6E8A-4147-A177-3AD203B41FA5}">
                      <a16:colId xmlns:a16="http://schemas.microsoft.com/office/drawing/2014/main" val="20008"/>
                    </a:ext>
                  </a:extLst>
                </a:gridCol>
                <a:gridCol w="705473">
                  <a:extLst>
                    <a:ext uri="{9D8B030D-6E8A-4147-A177-3AD203B41FA5}">
                      <a16:colId xmlns:a16="http://schemas.microsoft.com/office/drawing/2014/main" val="20009"/>
                    </a:ext>
                  </a:extLst>
                </a:gridCol>
                <a:gridCol w="705473">
                  <a:extLst>
                    <a:ext uri="{9D8B030D-6E8A-4147-A177-3AD203B41FA5}">
                      <a16:colId xmlns:a16="http://schemas.microsoft.com/office/drawing/2014/main" val="20010"/>
                    </a:ext>
                  </a:extLst>
                </a:gridCol>
                <a:gridCol w="705473">
                  <a:extLst>
                    <a:ext uri="{9D8B030D-6E8A-4147-A177-3AD203B41FA5}">
                      <a16:colId xmlns:a16="http://schemas.microsoft.com/office/drawing/2014/main" val="20011"/>
                    </a:ext>
                  </a:extLst>
                </a:gridCol>
              </a:tblGrid>
              <a:tr h="512064">
                <a:tc>
                  <a:txBody>
                    <a:bodyPr/>
                    <a:lstStyle/>
                    <a:p>
                      <a:pPr algn="ctr"/>
                      <a:r>
                        <a:rPr sz="1400" b="1" i="0">
                          <a:solidFill>
                            <a:srgbClr val="FFFFFF"/>
                          </a:solidFill>
                          <a:latin typeface="Arial"/>
                        </a:rPr>
                        <a:t>Year</a:t>
                      </a:r>
                    </a:p>
                  </a:txBody>
                  <a:tcPr>
                    <a:solidFill>
                      <a:srgbClr val="002060"/>
                    </a:solidFill>
                  </a:tcPr>
                </a:tc>
                <a:tc>
                  <a:txBody>
                    <a:bodyPr/>
                    <a:lstStyle/>
                    <a:p>
                      <a:pPr algn="ctr"/>
                      <a:r>
                        <a:rPr sz="1400" b="1" i="0">
                          <a:solidFill>
                            <a:srgbClr val="FFFFFF"/>
                          </a:solidFill>
                          <a:latin typeface="Arial"/>
                        </a:rPr>
                        <a:t>Date</a:t>
                      </a:r>
                    </a:p>
                  </a:txBody>
                  <a:tcPr>
                    <a:solidFill>
                      <a:srgbClr val="002060"/>
                    </a:solidFill>
                  </a:tcPr>
                </a:tc>
                <a:tc>
                  <a:txBody>
                    <a:bodyPr/>
                    <a:lstStyle/>
                    <a:p>
                      <a:pPr algn="ctr"/>
                      <a:r>
                        <a:rPr sz="1400" b="1" i="0">
                          <a:solidFill>
                            <a:srgbClr val="FFFFFF"/>
                          </a:solidFill>
                          <a:latin typeface="Arial"/>
                        </a:rPr>
                        <a:t>Category</a:t>
                      </a:r>
                    </a:p>
                  </a:txBody>
                  <a:tcPr>
                    <a:solidFill>
                      <a:srgbClr val="002060"/>
                    </a:solidFill>
                  </a:tcPr>
                </a:tc>
                <a:tc>
                  <a:txBody>
                    <a:bodyPr/>
                    <a:lstStyle/>
                    <a:p>
                      <a:pPr algn="ctr"/>
                      <a:r>
                        <a:rPr sz="1400" b="1" i="0">
                          <a:solidFill>
                            <a:srgbClr val="FFFFFF"/>
                          </a:solidFill>
                          <a:latin typeface="Arial"/>
                        </a:rPr>
                        <a:t>Field</a:t>
                      </a:r>
                    </a:p>
                  </a:txBody>
                  <a:tcPr>
                    <a:solidFill>
                      <a:srgbClr val="002060"/>
                    </a:solidFill>
                  </a:tcPr>
                </a:tc>
                <a:tc>
                  <a:txBody>
                    <a:bodyPr/>
                    <a:lstStyle/>
                    <a:p>
                      <a:pPr algn="ctr"/>
                      <a:r>
                        <a:rPr sz="1400" b="1" i="0">
                          <a:solidFill>
                            <a:srgbClr val="FFFFFF"/>
                          </a:solidFill>
                          <a:latin typeface="Arial"/>
                        </a:rPr>
                        <a:t>DNF/LAP/DNS</a:t>
                      </a:r>
                    </a:p>
                  </a:txBody>
                  <a:tcPr>
                    <a:solidFill>
                      <a:srgbClr val="002060"/>
                    </a:solidFill>
                  </a:tcPr>
                </a:tc>
                <a:tc>
                  <a:txBody>
                    <a:bodyPr/>
                    <a:lstStyle/>
                    <a:p>
                      <a:pPr algn="ctr"/>
                      <a:r>
                        <a:rPr sz="1400" b="1" i="0">
                          <a:solidFill>
                            <a:srgbClr val="FFFFFF"/>
                          </a:solidFill>
                          <a:latin typeface="Arial"/>
                        </a:rPr>
                        <a:t>Winner</a:t>
                      </a:r>
                    </a:p>
                  </a:txBody>
                  <a:tcPr>
                    <a:solidFill>
                      <a:srgbClr val="002060"/>
                    </a:solidFill>
                  </a:tcPr>
                </a:tc>
                <a:tc>
                  <a:txBody>
                    <a:bodyPr/>
                    <a:lstStyle/>
                    <a:p>
                      <a:pPr algn="ctr"/>
                      <a:r>
                        <a:rPr sz="1400" b="1" i="0">
                          <a:solidFill>
                            <a:srgbClr val="FFFFFF"/>
                          </a:solidFill>
                          <a:latin typeface="Arial"/>
                        </a:rPr>
                        <a:t>Winner Time</a:t>
                      </a:r>
                    </a:p>
                  </a:txBody>
                  <a:tcPr>
                    <a:solidFill>
                      <a:srgbClr val="002060"/>
                    </a:solidFill>
                  </a:tcPr>
                </a:tc>
                <a:tc>
                  <a:txBody>
                    <a:bodyPr/>
                    <a:lstStyle/>
                    <a:p>
                      <a:pPr algn="ctr"/>
                      <a:r>
                        <a:rPr sz="1400" b="1" i="0">
                          <a:solidFill>
                            <a:srgbClr val="FFFFFF"/>
                          </a:solidFill>
                          <a:latin typeface="Arial"/>
                        </a:rPr>
                        <a:t>Air Temp</a:t>
                      </a:r>
                    </a:p>
                  </a:txBody>
                  <a:tcPr>
                    <a:solidFill>
                      <a:srgbClr val="002060"/>
                    </a:solidFill>
                  </a:tcPr>
                </a:tc>
                <a:tc>
                  <a:txBody>
                    <a:bodyPr/>
                    <a:lstStyle/>
                    <a:p>
                      <a:pPr algn="ctr"/>
                      <a:r>
                        <a:rPr sz="1400" b="1" i="0">
                          <a:solidFill>
                            <a:srgbClr val="FFFFFF"/>
                          </a:solidFill>
                          <a:latin typeface="Arial"/>
                        </a:rPr>
                        <a:t>Water Temp</a:t>
                      </a:r>
                    </a:p>
                  </a:txBody>
                  <a:tcPr>
                    <a:solidFill>
                      <a:srgbClr val="002060"/>
                    </a:solidFill>
                  </a:tcPr>
                </a:tc>
                <a:tc>
                  <a:txBody>
                    <a:bodyPr/>
                    <a:lstStyle/>
                    <a:p>
                      <a:pPr algn="ctr"/>
                      <a:r>
                        <a:rPr sz="1400" b="1" i="0">
                          <a:solidFill>
                            <a:srgbClr val="FFFFFF"/>
                          </a:solidFill>
                          <a:latin typeface="Arial"/>
                        </a:rPr>
                        <a:t>Swim km</a:t>
                      </a:r>
                    </a:p>
                  </a:txBody>
                  <a:tcPr>
                    <a:solidFill>
                      <a:srgbClr val="002060"/>
                    </a:solidFill>
                  </a:tcPr>
                </a:tc>
                <a:tc>
                  <a:txBody>
                    <a:bodyPr/>
                    <a:lstStyle/>
                    <a:p>
                      <a:pPr algn="ctr"/>
                      <a:r>
                        <a:rPr sz="1400" b="1" i="0">
                          <a:solidFill>
                            <a:srgbClr val="FFFFFF"/>
                          </a:solidFill>
                          <a:latin typeface="Arial"/>
                        </a:rPr>
                        <a:t>Bike km</a:t>
                      </a:r>
                    </a:p>
                  </a:txBody>
                  <a:tcPr>
                    <a:solidFill>
                      <a:srgbClr val="002060"/>
                    </a:solidFill>
                  </a:tcPr>
                </a:tc>
                <a:tc>
                  <a:txBody>
                    <a:bodyPr/>
                    <a:lstStyle/>
                    <a:p>
                      <a:pPr algn="ctr"/>
                      <a:r>
                        <a:rPr sz="1400" b="1" i="0">
                          <a:solidFill>
                            <a:srgbClr val="FFFFFF"/>
                          </a:solidFill>
                          <a:latin typeface="Arial"/>
                        </a:rPr>
                        <a:t>Run km</a:t>
                      </a:r>
                    </a:p>
                  </a:txBody>
                  <a:tcPr>
                    <a:solidFill>
                      <a:srgbClr val="002060"/>
                    </a:solidFill>
                  </a:tcPr>
                </a:tc>
                <a:extLst>
                  <a:ext uri="{0D108BD9-81ED-4DB2-BD59-A6C34878D82A}">
                    <a16:rowId xmlns:a16="http://schemas.microsoft.com/office/drawing/2014/main" val="10000"/>
                  </a:ext>
                </a:extLst>
              </a:tr>
              <a:tr h="512064">
                <a:tc>
                  <a:txBody>
                    <a:bodyPr/>
                    <a:lstStyle/>
                    <a:p>
                      <a:pPr algn="ctr"/>
                      <a:r>
                        <a:rPr sz="1400" b="0" i="0">
                          <a:solidFill>
                            <a:srgbClr val="262626"/>
                          </a:solidFill>
                          <a:latin typeface="Arial"/>
                        </a:rPr>
                        <a:t>2018</a:t>
                      </a:r>
                    </a:p>
                  </a:txBody>
                  <a:tcPr>
                    <a:solidFill>
                      <a:srgbClr val="FFFFFF"/>
                    </a:solidFill>
                  </a:tcPr>
                </a:tc>
                <a:tc>
                  <a:txBody>
                    <a:bodyPr/>
                    <a:lstStyle/>
                    <a:p>
                      <a:pPr algn="ctr"/>
                      <a:r>
                        <a:rPr sz="1400" b="0" i="0">
                          <a:solidFill>
                            <a:srgbClr val="262626"/>
                          </a:solidFill>
                          <a:latin typeface="Arial"/>
                        </a:rPr>
                        <a:t>Jul 14</a:t>
                      </a:r>
                    </a:p>
                  </a:txBody>
                  <a:tcPr>
                    <a:solidFill>
                      <a:srgbClr val="FFFFFF"/>
                    </a:solidFill>
                  </a:tcPr>
                </a:tc>
                <a:tc>
                  <a:txBody>
                    <a:bodyPr/>
                    <a:lstStyle/>
                    <a:p>
                      <a:pPr algn="l"/>
                      <a:r>
                        <a:rPr sz="1200" b="0" i="0">
                          <a:solidFill>
                            <a:srgbClr val="262626"/>
                          </a:solidFill>
                          <a:latin typeface="Arial"/>
                        </a:rPr>
                        <a:t>World Championship Series</a:t>
                      </a:r>
                    </a:p>
                  </a:txBody>
                  <a:tcPr>
                    <a:solidFill>
                      <a:srgbClr val="FFFFFF"/>
                    </a:solidFill>
                  </a:tcPr>
                </a:tc>
                <a:tc>
                  <a:txBody>
                    <a:bodyPr/>
                    <a:lstStyle/>
                    <a:p>
                      <a:pPr algn="ctr"/>
                      <a:r>
                        <a:rPr sz="1400" b="0" i="0">
                          <a:solidFill>
                            <a:srgbClr val="262626"/>
                          </a:solidFill>
                          <a:latin typeface="Arial"/>
                        </a:rPr>
                        <a:t>56</a:t>
                      </a:r>
                    </a:p>
                  </a:txBody>
                  <a:tcPr>
                    <a:solidFill>
                      <a:srgbClr val="FFFFFF"/>
                    </a:solidFill>
                  </a:tcPr>
                </a:tc>
                <a:tc>
                  <a:txBody>
                    <a:bodyPr/>
                    <a:lstStyle/>
                    <a:p>
                      <a:pPr algn="ctr"/>
                      <a:r>
                        <a:rPr sz="1400" b="0" i="0">
                          <a:solidFill>
                            <a:srgbClr val="262626"/>
                          </a:solidFill>
                          <a:latin typeface="Arial"/>
                        </a:rPr>
                        <a:t>8</a:t>
                      </a:r>
                    </a:p>
                  </a:txBody>
                  <a:tcPr>
                    <a:solidFill>
                      <a:srgbClr val="FFFFFF"/>
                    </a:solidFill>
                  </a:tcPr>
                </a:tc>
                <a:tc>
                  <a:txBody>
                    <a:bodyPr/>
                    <a:lstStyle/>
                    <a:p>
                      <a:pPr algn="l"/>
                      <a:r>
                        <a:rPr sz="1400" b="0" i="0">
                          <a:solidFill>
                            <a:srgbClr val="262626"/>
                          </a:solidFill>
                          <a:latin typeface="Arial"/>
                        </a:rPr>
                        <a:t>Beaugrand</a:t>
                      </a:r>
                    </a:p>
                  </a:txBody>
                  <a:tcPr>
                    <a:solidFill>
                      <a:srgbClr val="FFFFFF"/>
                    </a:solidFill>
                  </a:tcPr>
                </a:tc>
                <a:tc>
                  <a:txBody>
                    <a:bodyPr/>
                    <a:lstStyle/>
                    <a:p>
                      <a:pPr algn="ctr"/>
                      <a:r>
                        <a:rPr sz="1400" b="0" i="0">
                          <a:solidFill>
                            <a:srgbClr val="262626"/>
                          </a:solidFill>
                          <a:latin typeface="Arial"/>
                        </a:rPr>
                        <a:t>58:06</a:t>
                      </a:r>
                    </a:p>
                  </a:txBody>
                  <a:tcPr>
                    <a:solidFill>
                      <a:srgbClr val="FFFFFF"/>
                    </a:solidFill>
                  </a:tcPr>
                </a:tc>
                <a:tc>
                  <a:txBody>
                    <a:bodyPr/>
                    <a:lstStyle/>
                    <a:p>
                      <a:pPr algn="ctr"/>
                      <a:r>
                        <a:rPr sz="1400" b="0" i="0">
                          <a:solidFill>
                            <a:srgbClr val="262626"/>
                          </a:solidFill>
                          <a:latin typeface="Arial"/>
                        </a:rPr>
                        <a:t>20.9</a:t>
                      </a:r>
                    </a:p>
                  </a:txBody>
                  <a:tcPr>
                    <a:solidFill>
                      <a:srgbClr val="FFFFFF"/>
                    </a:solidFill>
                  </a:tcPr>
                </a:tc>
                <a:tc>
                  <a:txBody>
                    <a:bodyPr/>
                    <a:lstStyle/>
                    <a:p>
                      <a:pPr algn="ctr"/>
                      <a:r>
                        <a:rPr sz="1400" b="0" i="0">
                          <a:solidFill>
                            <a:srgbClr val="262626"/>
                          </a:solidFill>
                          <a:latin typeface="Arial"/>
                        </a:rPr>
                        <a:t>21.3</a:t>
                      </a:r>
                    </a:p>
                  </a:txBody>
                  <a:tcPr>
                    <a:solidFill>
                      <a:srgbClr val="FFFFFF"/>
                    </a:solidFill>
                  </a:tcPr>
                </a:tc>
                <a:tc>
                  <a:txBody>
                    <a:bodyPr/>
                    <a:lstStyle/>
                    <a:p>
                      <a:pPr algn="ctr"/>
                      <a:r>
                        <a:rPr sz="1400" b="0" i="0">
                          <a:solidFill>
                            <a:srgbClr val="262626"/>
                          </a:solidFill>
                          <a:latin typeface="Arial"/>
                        </a:rPr>
                        <a:t>0.75</a:t>
                      </a:r>
                    </a:p>
                  </a:txBody>
                  <a:tcPr>
                    <a:solidFill>
                      <a:srgbClr val="FFFFFF"/>
                    </a:solidFill>
                  </a:tcPr>
                </a:tc>
                <a:tc>
                  <a:txBody>
                    <a:bodyPr/>
                    <a:lstStyle/>
                    <a:p>
                      <a:pPr algn="ctr"/>
                      <a:r>
                        <a:rPr sz="1400" b="0" i="0">
                          <a:solidFill>
                            <a:srgbClr val="262626"/>
                          </a:solidFill>
                          <a:latin typeface="Arial"/>
                        </a:rPr>
                        <a:t>21.0</a:t>
                      </a:r>
                    </a:p>
                  </a:txBody>
                  <a:tcPr>
                    <a:solidFill>
                      <a:srgbClr val="FFFFFF"/>
                    </a:solidFill>
                  </a:tcPr>
                </a:tc>
                <a:tc>
                  <a:txBody>
                    <a:bodyPr/>
                    <a:lstStyle/>
                    <a:p>
                      <a:pPr algn="ctr"/>
                      <a:r>
                        <a:rPr sz="1400" b="0" i="0">
                          <a:solidFill>
                            <a:srgbClr val="262626"/>
                          </a:solidFill>
                          <a:latin typeface="Arial"/>
                        </a:rPr>
                        <a:t>5.0</a:t>
                      </a:r>
                    </a:p>
                  </a:txBody>
                  <a:tcPr>
                    <a:solidFill>
                      <a:srgbClr val="FFFFFF"/>
                    </a:solidFill>
                  </a:tcPr>
                </a:tc>
                <a:extLst>
                  <a:ext uri="{0D108BD9-81ED-4DB2-BD59-A6C34878D82A}">
                    <a16:rowId xmlns:a16="http://schemas.microsoft.com/office/drawing/2014/main" val="10001"/>
                  </a:ext>
                </a:extLst>
              </a:tr>
              <a:tr h="512064">
                <a:tc>
                  <a:txBody>
                    <a:bodyPr/>
                    <a:lstStyle/>
                    <a:p>
                      <a:pPr algn="ctr"/>
                      <a:r>
                        <a:rPr sz="1400" b="0" i="0">
                          <a:solidFill>
                            <a:srgbClr val="262626"/>
                          </a:solidFill>
                          <a:latin typeface="Arial"/>
                        </a:rPr>
                        <a:t>2019</a:t>
                      </a:r>
                    </a:p>
                  </a:txBody>
                  <a:tcPr>
                    <a:solidFill>
                      <a:srgbClr val="F2F2F2"/>
                    </a:solidFill>
                  </a:tcPr>
                </a:tc>
                <a:tc>
                  <a:txBody>
                    <a:bodyPr/>
                    <a:lstStyle/>
                    <a:p>
                      <a:pPr algn="ctr"/>
                      <a:r>
                        <a:rPr sz="1400" b="0" i="0">
                          <a:solidFill>
                            <a:srgbClr val="262626"/>
                          </a:solidFill>
                          <a:latin typeface="Arial"/>
                        </a:rPr>
                        <a:t>Jul 06</a:t>
                      </a:r>
                    </a:p>
                  </a:txBody>
                  <a:tcPr>
                    <a:solidFill>
                      <a:srgbClr val="F2F2F2"/>
                    </a:solidFill>
                  </a:tcPr>
                </a:tc>
                <a:tc>
                  <a:txBody>
                    <a:bodyPr/>
                    <a:lstStyle/>
                    <a:p>
                      <a:pPr algn="l"/>
                      <a:r>
                        <a:rPr sz="1200" b="0" i="0">
                          <a:solidFill>
                            <a:srgbClr val="262626"/>
                          </a:solidFill>
                          <a:latin typeface="Arial"/>
                        </a:rPr>
                        <a:t>World Championship Series *</a:t>
                      </a:r>
                    </a:p>
                  </a:txBody>
                  <a:tcPr>
                    <a:solidFill>
                      <a:srgbClr val="F2F2F2"/>
                    </a:solidFill>
                  </a:tcPr>
                </a:tc>
                <a:tc>
                  <a:txBody>
                    <a:bodyPr/>
                    <a:lstStyle/>
                    <a:p>
                      <a:pPr algn="ctr"/>
                      <a:r>
                        <a:rPr sz="1400" b="0" i="0">
                          <a:solidFill>
                            <a:srgbClr val="262626"/>
                          </a:solidFill>
                          <a:latin typeface="Arial"/>
                        </a:rPr>
                        <a:t>53</a:t>
                      </a:r>
                    </a:p>
                  </a:txBody>
                  <a:tcPr>
                    <a:solidFill>
                      <a:srgbClr val="F2F2F2"/>
                    </a:solidFill>
                  </a:tcPr>
                </a:tc>
                <a:tc>
                  <a:txBody>
                    <a:bodyPr/>
                    <a:lstStyle/>
                    <a:p>
                      <a:pPr algn="ctr"/>
                      <a:r>
                        <a:rPr sz="1400" b="0" i="0">
                          <a:solidFill>
                            <a:srgbClr val="262626"/>
                          </a:solidFill>
                          <a:latin typeface="Arial"/>
                        </a:rPr>
                        <a:t>6</a:t>
                      </a:r>
                    </a:p>
                  </a:txBody>
                  <a:tcPr>
                    <a:solidFill>
                      <a:srgbClr val="F2F2F2"/>
                    </a:solidFill>
                  </a:tcPr>
                </a:tc>
                <a:tc>
                  <a:txBody>
                    <a:bodyPr/>
                    <a:lstStyle/>
                    <a:p>
                      <a:pPr algn="l"/>
                      <a:r>
                        <a:rPr sz="1400" b="0" i="0">
                          <a:solidFill>
                            <a:srgbClr val="262626"/>
                          </a:solidFill>
                          <a:latin typeface="Arial"/>
                        </a:rPr>
                        <a:t>Stanford</a:t>
                      </a:r>
                    </a:p>
                  </a:txBody>
                  <a:tcPr>
                    <a:solidFill>
                      <a:srgbClr val="F2F2F2"/>
                    </a:solidFill>
                  </a:tcPr>
                </a:tc>
                <a:tc>
                  <a:txBody>
                    <a:bodyPr/>
                    <a:lstStyle/>
                    <a:p>
                      <a:pPr algn="ctr"/>
                      <a:r>
                        <a:rPr sz="1400" b="0" i="0">
                          <a:solidFill>
                            <a:srgbClr val="262626"/>
                          </a:solidFill>
                          <a:latin typeface="Arial"/>
                        </a:rPr>
                        <a:t>59:24</a:t>
                      </a:r>
                    </a:p>
                  </a:txBody>
                  <a:tcPr>
                    <a:solidFill>
                      <a:srgbClr val="F2F2F2"/>
                    </a:solidFill>
                  </a:tcPr>
                </a:tc>
                <a:tc>
                  <a:txBody>
                    <a:bodyPr/>
                    <a:lstStyle/>
                    <a:p>
                      <a:pPr algn="ctr"/>
                      <a:r>
                        <a:rPr sz="1400" b="0" i="0">
                          <a:solidFill>
                            <a:srgbClr val="262626"/>
                          </a:solidFill>
                          <a:latin typeface="Arial"/>
                        </a:rPr>
                        <a:t>15.0°*</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512064">
                <a:tc>
                  <a:txBody>
                    <a:bodyPr/>
                    <a:lstStyle/>
                    <a:p>
                      <a:pPr algn="ctr"/>
                      <a:r>
                        <a:rPr sz="1400" b="0" i="0">
                          <a:solidFill>
                            <a:srgbClr val="262626"/>
                          </a:solidFill>
                          <a:latin typeface="Arial"/>
                        </a:rPr>
                        <a:t>2020</a:t>
                      </a:r>
                    </a:p>
                  </a:txBody>
                  <a:tcPr>
                    <a:solidFill>
                      <a:srgbClr val="FFFFFF"/>
                    </a:solidFill>
                  </a:tcPr>
                </a:tc>
                <a:tc>
                  <a:txBody>
                    <a:bodyPr/>
                    <a:lstStyle/>
                    <a:p>
                      <a:pPr algn="ctr"/>
                      <a:r>
                        <a:rPr sz="1400" b="0" i="0">
                          <a:solidFill>
                            <a:srgbClr val="262626"/>
                          </a:solidFill>
                          <a:latin typeface="Arial"/>
                        </a:rPr>
                        <a:t>Sep 05</a:t>
                      </a:r>
                    </a:p>
                  </a:txBody>
                  <a:tcPr>
                    <a:solidFill>
                      <a:srgbClr val="FFFFFF"/>
                    </a:solidFill>
                  </a:tcPr>
                </a:tc>
                <a:tc>
                  <a:txBody>
                    <a:bodyPr/>
                    <a:lstStyle/>
                    <a:p>
                      <a:pPr algn="l"/>
                      <a:r>
                        <a:rPr sz="1200" b="0" i="0">
                          <a:solidFill>
                            <a:srgbClr val="262626"/>
                          </a:solidFill>
                          <a:latin typeface="Arial"/>
                        </a:rPr>
                        <a:t>World Championships, World Championship Series</a:t>
                      </a:r>
                    </a:p>
                  </a:txBody>
                  <a:tcPr>
                    <a:solidFill>
                      <a:srgbClr val="FFFFFF"/>
                    </a:solidFill>
                  </a:tcPr>
                </a:tc>
                <a:tc>
                  <a:txBody>
                    <a:bodyPr/>
                    <a:lstStyle/>
                    <a:p>
                      <a:pPr algn="ctr"/>
                      <a:r>
                        <a:rPr sz="1400" b="0" i="0">
                          <a:solidFill>
                            <a:srgbClr val="262626"/>
                          </a:solidFill>
                          <a:latin typeface="Arial"/>
                        </a:rPr>
                        <a:t>65</a:t>
                      </a:r>
                    </a:p>
                  </a:txBody>
                  <a:tcPr>
                    <a:solidFill>
                      <a:srgbClr val="FFFFFF"/>
                    </a:solidFill>
                  </a:tcPr>
                </a:tc>
                <a:tc>
                  <a:txBody>
                    <a:bodyPr/>
                    <a:lstStyle/>
                    <a:p>
                      <a:pPr algn="ctr"/>
                      <a:r>
                        <a:rPr sz="1400" b="0" i="0">
                          <a:solidFill>
                            <a:srgbClr val="262626"/>
                          </a:solidFill>
                          <a:latin typeface="Arial"/>
                        </a:rPr>
                        <a:t>5</a:t>
                      </a:r>
                    </a:p>
                  </a:txBody>
                  <a:tcPr>
                    <a:solidFill>
                      <a:srgbClr val="FFFFFF"/>
                    </a:solidFill>
                  </a:tcPr>
                </a:tc>
                <a:tc>
                  <a:txBody>
                    <a:bodyPr/>
                    <a:lstStyle/>
                    <a:p>
                      <a:pPr algn="l"/>
                      <a:r>
                        <a:rPr sz="1400" b="0" i="0">
                          <a:solidFill>
                            <a:srgbClr val="262626"/>
                          </a:solidFill>
                          <a:latin typeface="Arial"/>
                        </a:rPr>
                        <a:t>Taylor-Brown</a:t>
                      </a:r>
                    </a:p>
                  </a:txBody>
                  <a:tcPr>
                    <a:solidFill>
                      <a:srgbClr val="FFFFFF"/>
                    </a:solidFill>
                  </a:tcPr>
                </a:tc>
                <a:tc>
                  <a:txBody>
                    <a:bodyPr/>
                    <a:lstStyle/>
                    <a:p>
                      <a:pPr algn="ctr"/>
                      <a:r>
                        <a:rPr sz="1400" b="0" i="0">
                          <a:solidFill>
                            <a:srgbClr val="262626"/>
                          </a:solidFill>
                          <a:latin typeface="Arial"/>
                        </a:rPr>
                        <a:t>54:16</a:t>
                      </a:r>
                    </a:p>
                  </a:txBody>
                  <a:tcPr>
                    <a:solidFill>
                      <a:srgbClr val="FFFFFF"/>
                    </a:solidFill>
                  </a:tcPr>
                </a:tc>
                <a:tc>
                  <a:txBody>
                    <a:bodyPr/>
                    <a:lstStyle/>
                    <a:p>
                      <a:pPr algn="ctr"/>
                      <a:r>
                        <a:rPr sz="1400" b="0" i="0">
                          <a:solidFill>
                            <a:srgbClr val="262626"/>
                          </a:solidFill>
                          <a:latin typeface="Arial"/>
                        </a:rPr>
                        <a:t>13.8°*</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tc>
                  <a:txBody>
                    <a:bodyPr/>
                    <a:lstStyle/>
                    <a:p>
                      <a:pPr algn="ctr"/>
                      <a:r>
                        <a:rPr sz="14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512064">
                <a:tc>
                  <a:txBody>
                    <a:bodyPr/>
                    <a:lstStyle/>
                    <a:p>
                      <a:pPr algn="ctr"/>
                      <a:r>
                        <a:rPr sz="1400" b="0" i="0">
                          <a:solidFill>
                            <a:srgbClr val="262626"/>
                          </a:solidFill>
                          <a:latin typeface="Arial"/>
                        </a:rPr>
                        <a:t>2021</a:t>
                      </a:r>
                    </a:p>
                  </a:txBody>
                  <a:tcPr>
                    <a:solidFill>
                      <a:srgbClr val="F2F2F2"/>
                    </a:solidFill>
                  </a:tcPr>
                </a:tc>
                <a:tc>
                  <a:txBody>
                    <a:bodyPr/>
                    <a:lstStyle/>
                    <a:p>
                      <a:pPr algn="ctr"/>
                      <a:r>
                        <a:rPr sz="1400" b="0" i="0">
                          <a:solidFill>
                            <a:srgbClr val="262626"/>
                          </a:solidFill>
                          <a:latin typeface="Arial"/>
                        </a:rPr>
                        <a:t>Sep 18</a:t>
                      </a:r>
                    </a:p>
                  </a:txBody>
                  <a:tcPr>
                    <a:solidFill>
                      <a:srgbClr val="F2F2F2"/>
                    </a:solidFill>
                  </a:tcPr>
                </a:tc>
                <a:tc>
                  <a:txBody>
                    <a:bodyPr/>
                    <a:lstStyle/>
                    <a:p>
                      <a:pPr algn="l"/>
                      <a:r>
                        <a:rPr sz="1200" b="0" i="0">
                          <a:solidFill>
                            <a:srgbClr val="262626"/>
                          </a:solidFill>
                          <a:latin typeface="Arial"/>
                        </a:rPr>
                        <a:t>World Championship Series</a:t>
                      </a:r>
                    </a:p>
                  </a:txBody>
                  <a:tcPr>
                    <a:solidFill>
                      <a:srgbClr val="F2F2F2"/>
                    </a:solidFill>
                  </a:tcPr>
                </a:tc>
                <a:tc>
                  <a:txBody>
                    <a:bodyPr/>
                    <a:lstStyle/>
                    <a:p>
                      <a:pPr algn="ctr"/>
                      <a:r>
                        <a:rPr sz="1400" b="0" i="0">
                          <a:solidFill>
                            <a:srgbClr val="262626"/>
                          </a:solidFill>
                          <a:latin typeface="Arial"/>
                        </a:rPr>
                        <a:t>46</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l"/>
                      <a:r>
                        <a:rPr sz="1400" b="0" i="0">
                          <a:solidFill>
                            <a:srgbClr val="262626"/>
                          </a:solidFill>
                          <a:latin typeface="Arial"/>
                        </a:rPr>
                        <a:t>Lindemann</a:t>
                      </a:r>
                    </a:p>
                  </a:txBody>
                  <a:tcPr>
                    <a:solidFill>
                      <a:srgbClr val="F2F2F2"/>
                    </a:solidFill>
                  </a:tcPr>
                </a:tc>
                <a:tc>
                  <a:txBody>
                    <a:bodyPr/>
                    <a:lstStyle/>
                    <a:p>
                      <a:pPr algn="ctr"/>
                      <a:r>
                        <a:rPr sz="1400" b="0" i="0">
                          <a:solidFill>
                            <a:srgbClr val="262626"/>
                          </a:solidFill>
                          <a:latin typeface="Arial"/>
                        </a:rPr>
                        <a:t>58:17</a:t>
                      </a:r>
                    </a:p>
                  </a:txBody>
                  <a:tcPr>
                    <a:solidFill>
                      <a:srgbClr val="F2F2F2"/>
                    </a:solidFill>
                  </a:tcPr>
                </a:tc>
                <a:tc>
                  <a:txBody>
                    <a:bodyPr/>
                    <a:lstStyle/>
                    <a:p>
                      <a:pPr algn="ctr"/>
                      <a:r>
                        <a:rPr sz="1400" b="0" i="0">
                          <a:solidFill>
                            <a:srgbClr val="262626"/>
                          </a:solidFill>
                          <a:latin typeface="Arial"/>
                        </a:rPr>
                        <a:t>15.5°*</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512064">
                <a:tc>
                  <a:txBody>
                    <a:bodyPr/>
                    <a:lstStyle/>
                    <a:p>
                      <a:pPr algn="ctr"/>
                      <a:r>
                        <a:rPr sz="1400" b="0" i="0">
                          <a:solidFill>
                            <a:srgbClr val="262626"/>
                          </a:solidFill>
                          <a:latin typeface="Arial"/>
                        </a:rPr>
                        <a:t>2022</a:t>
                      </a:r>
                    </a:p>
                  </a:txBody>
                  <a:tcPr>
                    <a:solidFill>
                      <a:srgbClr val="FFFFFF"/>
                    </a:solidFill>
                  </a:tcPr>
                </a:tc>
                <a:tc>
                  <a:txBody>
                    <a:bodyPr/>
                    <a:lstStyle/>
                    <a:p>
                      <a:pPr algn="ctr"/>
                      <a:r>
                        <a:rPr sz="1400" b="0" i="0">
                          <a:solidFill>
                            <a:srgbClr val="262626"/>
                          </a:solidFill>
                          <a:latin typeface="Arial"/>
                        </a:rPr>
                        <a:t>Jul 09</a:t>
                      </a:r>
                    </a:p>
                  </a:txBody>
                  <a:tcPr>
                    <a:solidFill>
                      <a:srgbClr val="FFFFFF"/>
                    </a:solidFill>
                  </a:tcPr>
                </a:tc>
                <a:tc>
                  <a:txBody>
                    <a:bodyPr/>
                    <a:lstStyle/>
                    <a:p>
                      <a:pPr algn="l"/>
                      <a:r>
                        <a:rPr sz="1200" b="0" i="0">
                          <a:solidFill>
                            <a:srgbClr val="262626"/>
                          </a:solidFill>
                          <a:latin typeface="Arial"/>
                        </a:rPr>
                        <a:t>World Championship Series *</a:t>
                      </a:r>
                    </a:p>
                  </a:txBody>
                  <a:tcPr>
                    <a:solidFill>
                      <a:srgbClr val="FFFFFF"/>
                    </a:solidFill>
                  </a:tcPr>
                </a:tc>
                <a:tc>
                  <a:txBody>
                    <a:bodyPr/>
                    <a:lstStyle/>
                    <a:p>
                      <a:pPr algn="ctr"/>
                      <a:r>
                        <a:rPr sz="1400" b="0" i="0">
                          <a:solidFill>
                            <a:srgbClr val="262626"/>
                          </a:solidFill>
                          <a:latin typeface="Arial"/>
                        </a:rPr>
                        <a:t>56</a:t>
                      </a:r>
                    </a:p>
                  </a:txBody>
                  <a:tcPr>
                    <a:solidFill>
                      <a:srgbClr val="FFFFFF"/>
                    </a:solidFill>
                  </a:tcPr>
                </a:tc>
                <a:tc>
                  <a:txBody>
                    <a:bodyPr/>
                    <a:lstStyle/>
                    <a:p>
                      <a:pPr algn="ctr"/>
                      <a:r>
                        <a:rPr sz="1400" b="0" i="0">
                          <a:solidFill>
                            <a:srgbClr val="262626"/>
                          </a:solidFill>
                          <a:latin typeface="Arial"/>
                        </a:rPr>
                        <a:t>3</a:t>
                      </a:r>
                    </a:p>
                  </a:txBody>
                  <a:tcPr>
                    <a:solidFill>
                      <a:srgbClr val="FFFFFF"/>
                    </a:solidFill>
                  </a:tcPr>
                </a:tc>
                <a:tc>
                  <a:txBody>
                    <a:bodyPr/>
                    <a:lstStyle/>
                    <a:p>
                      <a:pPr algn="l"/>
                      <a:r>
                        <a:rPr sz="1400" b="0" i="0">
                          <a:solidFill>
                            <a:srgbClr val="262626"/>
                          </a:solidFill>
                          <a:latin typeface="Arial"/>
                        </a:rPr>
                        <a:t>Duffy</a:t>
                      </a:r>
                    </a:p>
                  </a:txBody>
                  <a:tcPr>
                    <a:solidFill>
                      <a:srgbClr val="FFFFFF"/>
                    </a:solidFill>
                  </a:tcPr>
                </a:tc>
                <a:tc>
                  <a:txBody>
                    <a:bodyPr/>
                    <a:lstStyle/>
                    <a:p>
                      <a:pPr algn="ctr"/>
                      <a:r>
                        <a:rPr sz="1400" b="0" i="0">
                          <a:solidFill>
                            <a:srgbClr val="262626"/>
                          </a:solidFill>
                          <a:latin typeface="Arial"/>
                        </a:rPr>
                        <a:t>58:37</a:t>
                      </a:r>
                    </a:p>
                  </a:txBody>
                  <a:tcPr>
                    <a:solidFill>
                      <a:srgbClr val="FFFFFF"/>
                    </a:solidFill>
                  </a:tcPr>
                </a:tc>
                <a:tc>
                  <a:txBody>
                    <a:bodyPr/>
                    <a:lstStyle/>
                    <a:p>
                      <a:pPr algn="ctr"/>
                      <a:r>
                        <a:rPr sz="1400" b="0" i="0">
                          <a:solidFill>
                            <a:srgbClr val="262626"/>
                          </a:solidFill>
                          <a:latin typeface="Arial"/>
                        </a:rPr>
                        <a:t>22.5</a:t>
                      </a:r>
                    </a:p>
                  </a:txBody>
                  <a:tcPr>
                    <a:solidFill>
                      <a:srgbClr val="FFFFFF"/>
                    </a:solidFill>
                  </a:tcPr>
                </a:tc>
                <a:tc>
                  <a:txBody>
                    <a:bodyPr/>
                    <a:lstStyle/>
                    <a:p>
                      <a:pPr algn="ctr"/>
                      <a:r>
                        <a:rPr sz="1400" b="0" i="0">
                          <a:solidFill>
                            <a:srgbClr val="262626"/>
                          </a:solidFill>
                          <a:latin typeface="Arial"/>
                        </a:rPr>
                        <a:t>20.4</a:t>
                      </a:r>
                    </a:p>
                  </a:txBody>
                  <a:tcPr>
                    <a:solidFill>
                      <a:srgbClr val="FFFFFF"/>
                    </a:solidFill>
                  </a:tcPr>
                </a:tc>
                <a:tc>
                  <a:txBody>
                    <a:bodyPr/>
                    <a:lstStyle/>
                    <a:p>
                      <a:pPr algn="ctr"/>
                      <a:r>
                        <a:rPr sz="1400" b="0" i="0">
                          <a:solidFill>
                            <a:srgbClr val="262626"/>
                          </a:solidFill>
                          <a:latin typeface="Arial"/>
                        </a:rPr>
                        <a:t>0.75</a:t>
                      </a:r>
                    </a:p>
                  </a:txBody>
                  <a:tcPr>
                    <a:solidFill>
                      <a:srgbClr val="FFFFFF"/>
                    </a:solidFill>
                  </a:tcPr>
                </a:tc>
                <a:tc>
                  <a:txBody>
                    <a:bodyPr/>
                    <a:lstStyle/>
                    <a:p>
                      <a:pPr algn="ctr"/>
                      <a:r>
                        <a:rPr sz="1400" b="0" i="0">
                          <a:solidFill>
                            <a:srgbClr val="262626"/>
                          </a:solidFill>
                          <a:latin typeface="Arial"/>
                        </a:rPr>
                        <a:t>21.0</a:t>
                      </a:r>
                    </a:p>
                  </a:txBody>
                  <a:tcPr>
                    <a:solidFill>
                      <a:srgbClr val="FFFFFF"/>
                    </a:solidFill>
                  </a:tcPr>
                </a:tc>
                <a:tc>
                  <a:txBody>
                    <a:bodyPr/>
                    <a:lstStyle/>
                    <a:p>
                      <a:pPr algn="ctr"/>
                      <a:r>
                        <a:rPr sz="1400" b="0" i="0">
                          <a:solidFill>
                            <a:srgbClr val="262626"/>
                          </a:solidFill>
                          <a:latin typeface="Arial"/>
                        </a:rPr>
                        <a:t>5.0</a:t>
                      </a:r>
                    </a:p>
                  </a:txBody>
                  <a:tcPr>
                    <a:solidFill>
                      <a:srgbClr val="FFFFFF"/>
                    </a:solidFill>
                  </a:tcPr>
                </a:tc>
                <a:extLst>
                  <a:ext uri="{0D108BD9-81ED-4DB2-BD59-A6C34878D82A}">
                    <a16:rowId xmlns:a16="http://schemas.microsoft.com/office/drawing/2014/main" val="10005"/>
                  </a:ext>
                </a:extLst>
              </a:tr>
              <a:tr h="512064">
                <a:tc>
                  <a:txBody>
                    <a:bodyPr/>
                    <a:lstStyle/>
                    <a:p>
                      <a:pPr algn="ctr"/>
                      <a:r>
                        <a:rPr sz="1400" b="0" i="0">
                          <a:solidFill>
                            <a:srgbClr val="262626"/>
                          </a:solidFill>
                          <a:latin typeface="Arial"/>
                        </a:rPr>
                        <a:t>2023</a:t>
                      </a:r>
                    </a:p>
                  </a:txBody>
                  <a:tcPr>
                    <a:solidFill>
                      <a:srgbClr val="F2F2F2"/>
                    </a:solidFill>
                  </a:tcPr>
                </a:tc>
                <a:tc>
                  <a:txBody>
                    <a:bodyPr/>
                    <a:lstStyle/>
                    <a:p>
                      <a:pPr algn="ctr"/>
                      <a:r>
                        <a:rPr sz="1400" b="0" i="0">
                          <a:solidFill>
                            <a:srgbClr val="262626"/>
                          </a:solidFill>
                          <a:latin typeface="Arial"/>
                        </a:rPr>
                        <a:t>Jul 15</a:t>
                      </a:r>
                    </a:p>
                  </a:txBody>
                  <a:tcPr>
                    <a:solidFill>
                      <a:srgbClr val="F2F2F2"/>
                    </a:solidFill>
                  </a:tcPr>
                </a:tc>
                <a:tc>
                  <a:txBody>
                    <a:bodyPr/>
                    <a:lstStyle/>
                    <a:p>
                      <a:pPr algn="l"/>
                      <a:r>
                        <a:rPr sz="1200" b="0" i="0">
                          <a:solidFill>
                            <a:srgbClr val="262626"/>
                          </a:solidFill>
                          <a:latin typeface="Arial"/>
                        </a:rPr>
                        <a:t>World Championships, World Championship Series, Age-Group Event *</a:t>
                      </a:r>
                    </a:p>
                  </a:txBody>
                  <a:tcPr>
                    <a:solidFill>
                      <a:srgbClr val="F2F2F2"/>
                    </a:solidFill>
                  </a:tcPr>
                </a:tc>
                <a:tc>
                  <a:txBody>
                    <a:bodyPr/>
                    <a:lstStyle/>
                    <a:p>
                      <a:pPr algn="ctr"/>
                      <a:r>
                        <a:rPr sz="1400" b="0" i="0">
                          <a:solidFill>
                            <a:srgbClr val="262626"/>
                          </a:solidFill>
                          <a:latin typeface="Arial"/>
                        </a:rPr>
                        <a:t>57</a:t>
                      </a:r>
                    </a:p>
                  </a:txBody>
                  <a:tcPr>
                    <a:solidFill>
                      <a:srgbClr val="F2F2F2"/>
                    </a:solidFill>
                  </a:tcPr>
                </a:tc>
                <a:tc>
                  <a:txBody>
                    <a:bodyPr/>
                    <a:lstStyle/>
                    <a:p>
                      <a:pPr algn="ctr"/>
                      <a:r>
                        <a:rPr sz="1400" b="0" i="0">
                          <a:solidFill>
                            <a:srgbClr val="262626"/>
                          </a:solidFill>
                          <a:latin typeface="Arial"/>
                        </a:rPr>
                        <a:t>1</a:t>
                      </a:r>
                    </a:p>
                  </a:txBody>
                  <a:tcPr>
                    <a:solidFill>
                      <a:srgbClr val="F2F2F2"/>
                    </a:solidFill>
                  </a:tcPr>
                </a:tc>
                <a:tc>
                  <a:txBody>
                    <a:bodyPr/>
                    <a:lstStyle/>
                    <a:p>
                      <a:pPr algn="l"/>
                      <a:r>
                        <a:rPr sz="1400" b="0" i="0">
                          <a:solidFill>
                            <a:srgbClr val="262626"/>
                          </a:solidFill>
                          <a:latin typeface="Arial"/>
                        </a:rPr>
                        <a:t>Beaugrand</a:t>
                      </a:r>
                    </a:p>
                  </a:txBody>
                  <a:tcPr>
                    <a:solidFill>
                      <a:srgbClr val="F2F2F2"/>
                    </a:solidFill>
                  </a:tcPr>
                </a:tc>
                <a:tc>
                  <a:txBody>
                    <a:bodyPr/>
                    <a:lstStyle/>
                    <a:p>
                      <a:pPr algn="ctr"/>
                      <a:r>
                        <a:rPr sz="1400" b="0" i="0">
                          <a:solidFill>
                            <a:srgbClr val="262626"/>
                          </a:solidFill>
                          <a:latin typeface="Arial"/>
                        </a:rPr>
                        <a:t>21:35</a:t>
                      </a:r>
                    </a:p>
                  </a:txBody>
                  <a:tcPr>
                    <a:solidFill>
                      <a:srgbClr val="F2F2F2"/>
                    </a:solidFill>
                  </a:tcPr>
                </a:tc>
                <a:tc>
                  <a:txBody>
                    <a:bodyPr/>
                    <a:lstStyle/>
                    <a:p>
                      <a:pPr algn="ctr"/>
                      <a:r>
                        <a:rPr sz="1400" b="0" i="0">
                          <a:solidFill>
                            <a:srgbClr val="262626"/>
                          </a:solidFill>
                          <a:latin typeface="Arial"/>
                        </a:rPr>
                        <a:t>24.4°*</a:t>
                      </a:r>
                    </a:p>
                  </a:txBody>
                  <a:tcPr>
                    <a:solidFill>
                      <a:srgbClr val="F2F2F2"/>
                    </a:solidFill>
                  </a:tcPr>
                </a:tc>
                <a:tc>
                  <a:txBody>
                    <a:bodyPr/>
                    <a:lstStyle/>
                    <a:p>
                      <a:pPr algn="ctr"/>
                      <a:r>
                        <a:rPr sz="1400" b="0" i="0">
                          <a:solidFill>
                            <a:srgbClr val="262626"/>
                          </a:solidFill>
                          <a:latin typeface="Arial"/>
                        </a:rPr>
                        <a:t>—</a:t>
                      </a:r>
                    </a:p>
                  </a:txBody>
                  <a:tcPr>
                    <a:solidFill>
                      <a:srgbClr val="F2F2F2"/>
                    </a:solidFill>
                  </a:tcPr>
                </a:tc>
                <a:tc>
                  <a:txBody>
                    <a:bodyPr/>
                    <a:lstStyle/>
                    <a:p>
                      <a:pPr algn="ctr"/>
                      <a:r>
                        <a:rPr sz="1400" b="0" i="0">
                          <a:solidFill>
                            <a:srgbClr val="262626"/>
                          </a:solidFill>
                          <a:latin typeface="Arial"/>
                        </a:rPr>
                        <a:t>0.30</a:t>
                      </a:r>
                    </a:p>
                  </a:txBody>
                  <a:tcPr>
                    <a:solidFill>
                      <a:srgbClr val="F2F2F2"/>
                    </a:solidFill>
                  </a:tcPr>
                </a:tc>
                <a:tc>
                  <a:txBody>
                    <a:bodyPr/>
                    <a:lstStyle/>
                    <a:p>
                      <a:pPr algn="ctr"/>
                      <a:r>
                        <a:rPr sz="1400" b="0" i="0">
                          <a:solidFill>
                            <a:srgbClr val="262626"/>
                          </a:solidFill>
                          <a:latin typeface="Arial"/>
                        </a:rPr>
                        <a:t>7.5</a:t>
                      </a:r>
                    </a:p>
                  </a:txBody>
                  <a:tcPr>
                    <a:solidFill>
                      <a:srgbClr val="F2F2F2"/>
                    </a:solidFill>
                  </a:tcPr>
                </a:tc>
                <a:tc>
                  <a:txBody>
                    <a:bodyPr/>
                    <a:lstStyle/>
                    <a:p>
                      <a:pPr algn="ctr"/>
                      <a:r>
                        <a:rPr sz="1400" b="0" i="0">
                          <a:solidFill>
                            <a:srgbClr val="262626"/>
                          </a:solidFill>
                          <a:latin typeface="Arial"/>
                        </a:rPr>
                        <a:t>1.75</a:t>
                      </a:r>
                    </a:p>
                  </a:txBody>
                  <a:tcPr>
                    <a:solidFill>
                      <a:srgbClr val="F2F2F2"/>
                    </a:solidFill>
                  </a:tcPr>
                </a:tc>
                <a:extLst>
                  <a:ext uri="{0D108BD9-81ED-4DB2-BD59-A6C34878D82A}">
                    <a16:rowId xmlns:a16="http://schemas.microsoft.com/office/drawing/2014/main" val="10006"/>
                  </a:ext>
                </a:extLst>
              </a:tr>
              <a:tr h="512064">
                <a:tc>
                  <a:txBody>
                    <a:bodyPr/>
                    <a:lstStyle/>
                    <a:p>
                      <a:pPr algn="ctr"/>
                      <a:r>
                        <a:rPr sz="1400" b="0" i="0">
                          <a:solidFill>
                            <a:srgbClr val="262626"/>
                          </a:solidFill>
                          <a:latin typeface="Arial"/>
                        </a:rPr>
                        <a:t>2024</a:t>
                      </a:r>
                    </a:p>
                  </a:txBody>
                  <a:tcPr>
                    <a:solidFill>
                      <a:srgbClr val="FFFFFF"/>
                    </a:solidFill>
                  </a:tcPr>
                </a:tc>
                <a:tc>
                  <a:txBody>
                    <a:bodyPr/>
                    <a:lstStyle/>
                    <a:p>
                      <a:pPr algn="ctr"/>
                      <a:r>
                        <a:rPr sz="1400" b="0" i="0">
                          <a:solidFill>
                            <a:srgbClr val="262626"/>
                          </a:solidFill>
                          <a:latin typeface="Arial"/>
                        </a:rPr>
                        <a:t>Jul 13</a:t>
                      </a:r>
                    </a:p>
                  </a:txBody>
                  <a:tcPr>
                    <a:solidFill>
                      <a:srgbClr val="FFFFFF"/>
                    </a:solidFill>
                  </a:tcPr>
                </a:tc>
                <a:tc>
                  <a:txBody>
                    <a:bodyPr/>
                    <a:lstStyle/>
                    <a:p>
                      <a:pPr algn="l"/>
                      <a:r>
                        <a:rPr sz="1200" b="0" i="0">
                          <a:solidFill>
                            <a:srgbClr val="262626"/>
                          </a:solidFill>
                          <a:latin typeface="Arial"/>
                        </a:rPr>
                        <a:t>World Championship Series *</a:t>
                      </a:r>
                    </a:p>
                  </a:txBody>
                  <a:tcPr>
                    <a:solidFill>
                      <a:srgbClr val="FFFFFF"/>
                    </a:solidFill>
                  </a:tcPr>
                </a:tc>
                <a:tc>
                  <a:txBody>
                    <a:bodyPr/>
                    <a:lstStyle/>
                    <a:p>
                      <a:pPr algn="ctr"/>
                      <a:r>
                        <a:rPr sz="1400" b="0" i="0">
                          <a:solidFill>
                            <a:srgbClr val="262626"/>
                          </a:solidFill>
                          <a:latin typeface="Arial"/>
                        </a:rPr>
                        <a:t>55</a:t>
                      </a:r>
                    </a:p>
                  </a:txBody>
                  <a:tcPr>
                    <a:solidFill>
                      <a:srgbClr val="FFFFFF"/>
                    </a:solidFill>
                  </a:tcPr>
                </a:tc>
                <a:tc>
                  <a:txBody>
                    <a:bodyPr/>
                    <a:lstStyle/>
                    <a:p>
                      <a:pPr algn="ctr"/>
                      <a:r>
                        <a:rPr sz="1400" b="0" i="0">
                          <a:solidFill>
                            <a:srgbClr val="262626"/>
                          </a:solidFill>
                          <a:latin typeface="Arial"/>
                        </a:rPr>
                        <a:t>4</a:t>
                      </a:r>
                    </a:p>
                  </a:txBody>
                  <a:tcPr>
                    <a:solidFill>
                      <a:srgbClr val="FFFFFF"/>
                    </a:solidFill>
                  </a:tcPr>
                </a:tc>
                <a:tc>
                  <a:txBody>
                    <a:bodyPr/>
                    <a:lstStyle/>
                    <a:p>
                      <a:pPr algn="l"/>
                      <a:r>
                        <a:rPr sz="1400" b="0" i="0">
                          <a:solidFill>
                            <a:srgbClr val="262626"/>
                          </a:solidFill>
                          <a:latin typeface="Arial"/>
                        </a:rPr>
                        <a:t>Beaugrand</a:t>
                      </a:r>
                    </a:p>
                  </a:txBody>
                  <a:tcPr>
                    <a:solidFill>
                      <a:srgbClr val="FFFFFF"/>
                    </a:solidFill>
                  </a:tcPr>
                </a:tc>
                <a:tc>
                  <a:txBody>
                    <a:bodyPr/>
                    <a:lstStyle/>
                    <a:p>
                      <a:pPr algn="ctr"/>
                      <a:r>
                        <a:rPr sz="1400" b="0" i="0">
                          <a:solidFill>
                            <a:srgbClr val="262626"/>
                          </a:solidFill>
                          <a:latin typeface="Arial"/>
                        </a:rPr>
                        <a:t>55:19</a:t>
                      </a:r>
                    </a:p>
                  </a:txBody>
                  <a:tcPr>
                    <a:solidFill>
                      <a:srgbClr val="FFFFFF"/>
                    </a:solidFill>
                  </a:tcPr>
                </a:tc>
                <a:tc>
                  <a:txBody>
                    <a:bodyPr/>
                    <a:lstStyle/>
                    <a:p>
                      <a:pPr algn="ctr"/>
                      <a:r>
                        <a:rPr sz="1400" b="0" i="0">
                          <a:solidFill>
                            <a:srgbClr val="262626"/>
                          </a:solidFill>
                          <a:latin typeface="Arial"/>
                        </a:rPr>
                        <a:t>19.2</a:t>
                      </a:r>
                    </a:p>
                  </a:txBody>
                  <a:tcPr>
                    <a:solidFill>
                      <a:srgbClr val="FFFFFF"/>
                    </a:solidFill>
                  </a:tcPr>
                </a:tc>
                <a:tc>
                  <a:txBody>
                    <a:bodyPr/>
                    <a:lstStyle/>
                    <a:p>
                      <a:pPr algn="ctr"/>
                      <a:r>
                        <a:rPr sz="1400" b="0" i="0">
                          <a:solidFill>
                            <a:srgbClr val="262626"/>
                          </a:solidFill>
                          <a:latin typeface="Arial"/>
                        </a:rPr>
                        <a:t>21.2</a:t>
                      </a:r>
                    </a:p>
                  </a:txBody>
                  <a:tcPr>
                    <a:solidFill>
                      <a:srgbClr val="FFFFFF"/>
                    </a:solidFill>
                  </a:tcPr>
                </a:tc>
                <a:tc>
                  <a:txBody>
                    <a:bodyPr/>
                    <a:lstStyle/>
                    <a:p>
                      <a:pPr algn="ctr"/>
                      <a:r>
                        <a:rPr sz="1400" b="0" i="0">
                          <a:solidFill>
                            <a:srgbClr val="262626"/>
                          </a:solidFill>
                          <a:latin typeface="Arial"/>
                        </a:rPr>
                        <a:t>0.75</a:t>
                      </a:r>
                    </a:p>
                  </a:txBody>
                  <a:tcPr>
                    <a:solidFill>
                      <a:srgbClr val="FFFFFF"/>
                    </a:solidFill>
                  </a:tcPr>
                </a:tc>
                <a:tc>
                  <a:txBody>
                    <a:bodyPr/>
                    <a:lstStyle/>
                    <a:p>
                      <a:pPr algn="ctr"/>
                      <a:r>
                        <a:rPr sz="1400" b="0" i="0">
                          <a:solidFill>
                            <a:srgbClr val="262626"/>
                          </a:solidFill>
                          <a:latin typeface="Arial"/>
                        </a:rPr>
                        <a:t>19.8</a:t>
                      </a:r>
                    </a:p>
                  </a:txBody>
                  <a:tcPr>
                    <a:solidFill>
                      <a:srgbClr val="FFFFFF"/>
                    </a:solidFill>
                  </a:tcPr>
                </a:tc>
                <a:tc>
                  <a:txBody>
                    <a:bodyPr/>
                    <a:lstStyle/>
                    <a:p>
                      <a:pPr algn="ctr"/>
                      <a:r>
                        <a:rPr sz="1400" b="0" i="0">
                          <a:solidFill>
                            <a:srgbClr val="262626"/>
                          </a:solidFill>
                          <a:latin typeface="Arial"/>
                        </a:rPr>
                        <a:t>4.9</a:t>
                      </a:r>
                    </a:p>
                  </a:txBody>
                  <a:tcPr>
                    <a:solidFill>
                      <a:srgbClr val="FFFFFF"/>
                    </a:solidFill>
                  </a:tcPr>
                </a:tc>
                <a:extLst>
                  <a:ext uri="{0D108BD9-81ED-4DB2-BD59-A6C34878D82A}">
                    <a16:rowId xmlns:a16="http://schemas.microsoft.com/office/drawing/2014/main" val="10007"/>
                  </a:ext>
                </a:extLst>
              </a:tr>
              <a:tr h="512064">
                <a:tc>
                  <a:txBody>
                    <a:bodyPr/>
                    <a:lstStyle/>
                    <a:p>
                      <a:pPr algn="ctr"/>
                      <a:r>
                        <a:rPr sz="1400" b="0" i="0">
                          <a:solidFill>
                            <a:srgbClr val="262626"/>
                          </a:solidFill>
                          <a:latin typeface="Arial"/>
                        </a:rPr>
                        <a:t>2025</a:t>
                      </a:r>
                    </a:p>
                  </a:txBody>
                  <a:tcPr>
                    <a:solidFill>
                      <a:srgbClr val="F2F2F2"/>
                    </a:solidFill>
                  </a:tcPr>
                </a:tc>
                <a:tc>
                  <a:txBody>
                    <a:bodyPr/>
                    <a:lstStyle/>
                    <a:p>
                      <a:pPr algn="ctr"/>
                      <a:r>
                        <a:rPr sz="1400" b="0" i="0">
                          <a:solidFill>
                            <a:srgbClr val="262626"/>
                          </a:solidFill>
                          <a:latin typeface="Arial"/>
                        </a:rPr>
                        <a:t>Jul 12</a:t>
                      </a:r>
                    </a:p>
                  </a:txBody>
                  <a:tcPr>
                    <a:solidFill>
                      <a:srgbClr val="F2F2F2"/>
                    </a:solidFill>
                  </a:tcPr>
                </a:tc>
                <a:tc>
                  <a:txBody>
                    <a:bodyPr/>
                    <a:lstStyle/>
                    <a:p>
                      <a:pPr algn="l"/>
                      <a:r>
                        <a:rPr sz="1200" b="0" i="0">
                          <a:solidFill>
                            <a:srgbClr val="262626"/>
                          </a:solidFill>
                          <a:latin typeface="Arial"/>
                        </a:rPr>
                        <a:t>World Championship Series *</a:t>
                      </a:r>
                    </a:p>
                  </a:txBody>
                  <a:tcPr>
                    <a:solidFill>
                      <a:srgbClr val="F2F2F2"/>
                    </a:solidFill>
                  </a:tcPr>
                </a:tc>
                <a:tc>
                  <a:txBody>
                    <a:bodyPr/>
                    <a:lstStyle/>
                    <a:p>
                      <a:pPr algn="ctr"/>
                      <a:r>
                        <a:rPr sz="1400" b="0" i="0">
                          <a:solidFill>
                            <a:srgbClr val="262626"/>
                          </a:solidFill>
                          <a:latin typeface="Arial"/>
                        </a:rPr>
                        <a:t>55</a:t>
                      </a:r>
                    </a:p>
                  </a:txBody>
                  <a:tcPr>
                    <a:solidFill>
                      <a:srgbClr val="F2F2F2"/>
                    </a:solidFill>
                  </a:tcPr>
                </a:tc>
                <a:tc>
                  <a:txBody>
                    <a:bodyPr/>
                    <a:lstStyle/>
                    <a:p>
                      <a:pPr algn="ctr"/>
                      <a:r>
                        <a:rPr sz="1400" b="0" i="0">
                          <a:solidFill>
                            <a:srgbClr val="262626"/>
                          </a:solidFill>
                          <a:latin typeface="Arial"/>
                        </a:rPr>
                        <a:t>3</a:t>
                      </a:r>
                    </a:p>
                  </a:txBody>
                  <a:tcPr>
                    <a:solidFill>
                      <a:srgbClr val="F2F2F2"/>
                    </a:solidFill>
                  </a:tcPr>
                </a:tc>
                <a:tc>
                  <a:txBody>
                    <a:bodyPr/>
                    <a:lstStyle/>
                    <a:p>
                      <a:pPr algn="l"/>
                      <a:r>
                        <a:rPr sz="1400" b="0" i="0">
                          <a:solidFill>
                            <a:srgbClr val="262626"/>
                          </a:solidFill>
                          <a:latin typeface="Arial"/>
                        </a:rPr>
                        <a:t>Periault</a:t>
                      </a:r>
                    </a:p>
                  </a:txBody>
                  <a:tcPr>
                    <a:solidFill>
                      <a:srgbClr val="F2F2F2"/>
                    </a:solidFill>
                  </a:tcPr>
                </a:tc>
                <a:tc>
                  <a:txBody>
                    <a:bodyPr/>
                    <a:lstStyle/>
                    <a:p>
                      <a:pPr algn="ctr"/>
                      <a:r>
                        <a:rPr sz="1400" b="0" i="0">
                          <a:solidFill>
                            <a:srgbClr val="262626"/>
                          </a:solidFill>
                          <a:latin typeface="Arial"/>
                        </a:rPr>
                        <a:t>56:25</a:t>
                      </a:r>
                    </a:p>
                  </a:txBody>
                  <a:tcPr>
                    <a:solidFill>
                      <a:srgbClr val="F2F2F2"/>
                    </a:solidFill>
                  </a:tcPr>
                </a:tc>
                <a:tc>
                  <a:txBody>
                    <a:bodyPr/>
                    <a:lstStyle/>
                    <a:p>
                      <a:pPr algn="ctr"/>
                      <a:r>
                        <a:rPr sz="1400" b="0" i="0">
                          <a:solidFill>
                            <a:srgbClr val="262626"/>
                          </a:solidFill>
                          <a:latin typeface="Arial"/>
                        </a:rPr>
                        <a:t>21.3</a:t>
                      </a:r>
                    </a:p>
                  </a:txBody>
                  <a:tcPr>
                    <a:solidFill>
                      <a:srgbClr val="F2F2F2"/>
                    </a:solidFill>
                  </a:tcPr>
                </a:tc>
                <a:tc>
                  <a:txBody>
                    <a:bodyPr/>
                    <a:lstStyle/>
                    <a:p>
                      <a:pPr algn="ctr"/>
                      <a:r>
                        <a:rPr sz="1400" b="0" i="0">
                          <a:solidFill>
                            <a:srgbClr val="262626"/>
                          </a:solidFill>
                          <a:latin typeface="Arial"/>
                        </a:rPr>
                        <a:t>21.</a:t>
                      </a:r>
                    </a:p>
                  </a:txBody>
                  <a:tcPr>
                    <a:solidFill>
                      <a:srgbClr val="F2F2F2"/>
                    </a:solidFill>
                  </a:tcPr>
                </a:tc>
                <a:tc>
                  <a:txBody>
                    <a:bodyPr/>
                    <a:lstStyle/>
                    <a:p>
                      <a:pPr algn="ctr"/>
                      <a:r>
                        <a:rPr sz="1400" b="0" i="0">
                          <a:solidFill>
                            <a:srgbClr val="262626"/>
                          </a:solidFill>
                          <a:latin typeface="Arial"/>
                        </a:rPr>
                        <a:t>0.75</a:t>
                      </a:r>
                    </a:p>
                  </a:txBody>
                  <a:tcPr>
                    <a:solidFill>
                      <a:srgbClr val="F2F2F2"/>
                    </a:solidFill>
                  </a:tcPr>
                </a:tc>
                <a:tc>
                  <a:txBody>
                    <a:bodyPr/>
                    <a:lstStyle/>
                    <a:p>
                      <a:pPr algn="ctr"/>
                      <a:r>
                        <a:rPr sz="1400" b="0" i="0">
                          <a:solidFill>
                            <a:srgbClr val="262626"/>
                          </a:solidFill>
                          <a:latin typeface="Arial"/>
                        </a:rPr>
                        <a:t>19.8</a:t>
                      </a:r>
                    </a:p>
                  </a:txBody>
                  <a:tcPr>
                    <a:solidFill>
                      <a:srgbClr val="F2F2F2"/>
                    </a:solidFill>
                  </a:tcPr>
                </a:tc>
                <a:tc>
                  <a:txBody>
                    <a:bodyPr/>
                    <a:lstStyle/>
                    <a:p>
                      <a:pPr algn="ctr"/>
                      <a:r>
                        <a:rPr sz="1400" b="0" i="0">
                          <a:solidFill>
                            <a:srgbClr val="262626"/>
                          </a:solidFill>
                          <a:latin typeface="Arial"/>
                        </a:rPr>
                        <a:t>5.0</a:t>
                      </a:r>
                    </a:p>
                  </a:txBody>
                  <a:tcPr>
                    <a:solidFill>
                      <a:srgbClr val="F2F2F2"/>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274320" y="6492240"/>
            <a:ext cx="5486400" cy="256032"/>
          </a:xfrm>
          <a:prstGeom prst="rect">
            <a:avLst/>
          </a:prstGeom>
          <a:noFill/>
        </p:spPr>
        <p:txBody>
          <a:bodyPr wrap="square">
            <a:spAutoFit/>
          </a:bodyPr>
          <a:lstStyle/>
          <a:p>
            <a:pPr algn="l"/>
            <a:r>
              <a:rPr sz="800" b="0" i="1">
                <a:solidFill>
                  <a:srgbClr val="BFBFBF"/>
                </a:solidFill>
                <a:latin typeface="Arial"/>
              </a:rPr>
              <a:t>* Course distance changed vs. prior year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78992"/>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3"/>
          <a:stretch>
            <a:fillRect/>
          </a:stretch>
        </p:blipFill>
        <p:spPr>
          <a:xfrm>
            <a:off x="929384" y="1318493"/>
            <a:ext cx="10330185" cy="3327079"/>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282500132"/>
              </p:ext>
            </p:extLst>
          </p:nvPr>
        </p:nvGraphicFramePr>
        <p:xfrm>
          <a:off x="274320" y="4597525"/>
          <a:ext cx="11640311" cy="198732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3822191">
                  <a:extLst>
                    <a:ext uri="{9D8B030D-6E8A-4147-A177-3AD203B41FA5}">
                      <a16:colId xmlns:a16="http://schemas.microsoft.com/office/drawing/2014/main" val="20005"/>
                    </a:ext>
                  </a:extLst>
                </a:gridCol>
              </a:tblGrid>
              <a:tr h="232851">
                <a:tc>
                  <a:txBody>
                    <a:bodyPr/>
                    <a:lstStyle/>
                    <a:p>
                      <a:pPr algn="ctr"/>
                      <a:r>
                        <a:rPr sz="1000" b="1" i="0">
                          <a:solidFill>
                            <a:srgbClr val="FFFFFF"/>
                          </a:solidFill>
                          <a:latin typeface="Arial"/>
                        </a:rPr>
                        <a:t>Year</a:t>
                      </a:r>
                    </a:p>
                  </a:txBody>
                  <a:tcPr marT="40980" marB="40980">
                    <a:solidFill>
                      <a:srgbClr val="002060"/>
                    </a:solidFill>
                  </a:tcPr>
                </a:tc>
                <a:tc>
                  <a:txBody>
                    <a:bodyPr/>
                    <a:lstStyle/>
                    <a:p>
                      <a:pPr algn="ctr"/>
                      <a:r>
                        <a:rPr sz="1000" b="1" i="0">
                          <a:solidFill>
                            <a:srgbClr val="FFFFFF"/>
                          </a:solidFill>
                          <a:latin typeface="Arial"/>
                        </a:rPr>
                        <a:t>Lead Size @ T1</a:t>
                      </a:r>
                    </a:p>
                  </a:txBody>
                  <a:tcPr marT="40980" marB="40980">
                    <a:solidFill>
                      <a:srgbClr val="002060"/>
                    </a:solidFill>
                  </a:tcPr>
                </a:tc>
                <a:tc>
                  <a:txBody>
                    <a:bodyPr/>
                    <a:lstStyle/>
                    <a:p>
                      <a:pPr algn="ctr"/>
                      <a:r>
                        <a:rPr sz="1000" b="1" i="0" dirty="0">
                          <a:solidFill>
                            <a:srgbClr val="FFFFFF"/>
                          </a:solidFill>
                          <a:latin typeface="Arial"/>
                        </a:rPr>
                        <a:t>Lead Size @ T2</a:t>
                      </a:r>
                    </a:p>
                  </a:txBody>
                  <a:tcPr marT="40980" marB="40980">
                    <a:solidFill>
                      <a:srgbClr val="002060"/>
                    </a:solidFill>
                  </a:tcPr>
                </a:tc>
                <a:tc>
                  <a:txBody>
                    <a:bodyPr/>
                    <a:lstStyle/>
                    <a:p>
                      <a:pPr algn="ctr"/>
                      <a:r>
                        <a:rPr sz="1000" b="1" i="0">
                          <a:solidFill>
                            <a:srgbClr val="FFFFFF"/>
                          </a:solidFill>
                          <a:latin typeface="Arial"/>
                        </a:rPr>
                        <a:t>Change</a:t>
                      </a:r>
                    </a:p>
                  </a:txBody>
                  <a:tcPr marT="40980" marB="40980">
                    <a:solidFill>
                      <a:srgbClr val="002060"/>
                    </a:solidFill>
                  </a:tcPr>
                </a:tc>
                <a:tc>
                  <a:txBody>
                    <a:bodyPr/>
                    <a:lstStyle/>
                    <a:p>
                      <a:pPr algn="ctr"/>
                      <a:r>
                        <a:rPr sz="1000" b="1" i="0">
                          <a:solidFill>
                            <a:srgbClr val="FFFFFF"/>
                          </a:solidFill>
                          <a:latin typeface="Arial"/>
                        </a:rPr>
                        <a:t>Chase Group @ T2</a:t>
                      </a:r>
                    </a:p>
                  </a:txBody>
                  <a:tcPr marT="40980" marB="40980">
                    <a:solidFill>
                      <a:srgbClr val="002060"/>
                    </a:solidFill>
                  </a:tcPr>
                </a:tc>
                <a:tc>
                  <a:txBody>
                    <a:bodyPr/>
                    <a:lstStyle/>
                    <a:p>
                      <a:pPr algn="ctr"/>
                      <a:r>
                        <a:rPr sz="1000" b="1" i="0">
                          <a:solidFill>
                            <a:srgbClr val="FFFFFF"/>
                          </a:solidFill>
                          <a:latin typeface="Arial"/>
                        </a:rPr>
                        <a:t>Chase Gap*</a:t>
                      </a:r>
                    </a:p>
                  </a:txBody>
                  <a:tcPr marT="40980" marB="40980">
                    <a:solidFill>
                      <a:srgbClr val="002060"/>
                    </a:solidFill>
                  </a:tcPr>
                </a:tc>
                <a:extLst>
                  <a:ext uri="{0D108BD9-81ED-4DB2-BD59-A6C34878D82A}">
                    <a16:rowId xmlns:a16="http://schemas.microsoft.com/office/drawing/2014/main" val="10000"/>
                  </a:ext>
                </a:extLst>
              </a:tr>
              <a:tr h="217762">
                <a:tc>
                  <a:txBody>
                    <a:bodyPr/>
                    <a:lstStyle/>
                    <a:p>
                      <a:pPr algn="ctr"/>
                      <a:r>
                        <a:rPr sz="900" b="0" i="0">
                          <a:solidFill>
                            <a:srgbClr val="262626"/>
                          </a:solidFill>
                          <a:latin typeface="Arial"/>
                        </a:rPr>
                        <a:t>2018</a:t>
                      </a:r>
                    </a:p>
                  </a:txBody>
                  <a:tcPr marT="40980" marB="40980">
                    <a:solidFill>
                      <a:srgbClr val="FFFFFF"/>
                    </a:solidFill>
                  </a:tcPr>
                </a:tc>
                <a:tc>
                  <a:txBody>
                    <a:bodyPr/>
                    <a:lstStyle/>
                    <a:p>
                      <a:pPr algn="ctr"/>
                      <a:r>
                        <a:rPr sz="900" b="0" i="0">
                          <a:solidFill>
                            <a:srgbClr val="262626"/>
                          </a:solidFill>
                          <a:latin typeface="Arial"/>
                        </a:rPr>
                        <a:t>11</a:t>
                      </a:r>
                    </a:p>
                  </a:txBody>
                  <a:tcPr marT="40980" marB="40980">
                    <a:solidFill>
                      <a:srgbClr val="FFFFFF"/>
                    </a:solidFill>
                  </a:tcPr>
                </a:tc>
                <a:tc>
                  <a:txBody>
                    <a:bodyPr/>
                    <a:lstStyle/>
                    <a:p>
                      <a:pPr algn="ctr"/>
                      <a:r>
                        <a:rPr sz="900" b="0" i="0">
                          <a:solidFill>
                            <a:srgbClr val="262626"/>
                          </a:solidFill>
                          <a:latin typeface="Arial"/>
                        </a:rPr>
                        <a:t>25</a:t>
                      </a:r>
                    </a:p>
                  </a:txBody>
                  <a:tcPr marT="40980" marB="40980">
                    <a:solidFill>
                      <a:srgbClr val="FFFFFF"/>
                    </a:solidFill>
                  </a:tcPr>
                </a:tc>
                <a:tc>
                  <a:txBody>
                    <a:bodyPr/>
                    <a:lstStyle/>
                    <a:p>
                      <a:pPr algn="ctr"/>
                      <a:r>
                        <a:rPr sz="900" b="0" i="0">
                          <a:solidFill>
                            <a:srgbClr val="262626"/>
                          </a:solidFill>
                          <a:latin typeface="Arial"/>
                        </a:rPr>
                        <a:t>+14</a:t>
                      </a:r>
                    </a:p>
                  </a:txBody>
                  <a:tcPr marT="40980" marB="40980">
                    <a:solidFill>
                      <a:srgbClr val="FFFFFF"/>
                    </a:solidFill>
                  </a:tcPr>
                </a:tc>
                <a:tc>
                  <a:txBody>
                    <a:bodyPr/>
                    <a:lstStyle/>
                    <a:p>
                      <a:pPr algn="ctr"/>
                      <a:r>
                        <a:rPr sz="900" b="0" i="0">
                          <a:solidFill>
                            <a:srgbClr val="262626"/>
                          </a:solidFill>
                          <a:latin typeface="Arial"/>
                        </a:rPr>
                        <a:t>12</a:t>
                      </a:r>
                    </a:p>
                  </a:txBody>
                  <a:tcPr marT="40980" marB="40980">
                    <a:solidFill>
                      <a:srgbClr val="FFFFFF"/>
                    </a:solidFill>
                  </a:tcPr>
                </a:tc>
                <a:tc>
                  <a:txBody>
                    <a:bodyPr/>
                    <a:lstStyle/>
                    <a:p>
                      <a:pPr algn="ctr"/>
                      <a:r>
                        <a:rPr sz="900" b="0" i="0">
                          <a:solidFill>
                            <a:srgbClr val="262626"/>
                          </a:solidFill>
                          <a:latin typeface="Arial"/>
                        </a:rPr>
                        <a:t>71s</a:t>
                      </a:r>
                    </a:p>
                  </a:txBody>
                  <a:tcPr marT="40980" marB="40980">
                    <a:solidFill>
                      <a:srgbClr val="FFFFFF"/>
                    </a:solidFill>
                  </a:tcPr>
                </a:tc>
                <a:extLst>
                  <a:ext uri="{0D108BD9-81ED-4DB2-BD59-A6C34878D82A}">
                    <a16:rowId xmlns:a16="http://schemas.microsoft.com/office/drawing/2014/main" val="10001"/>
                  </a:ext>
                </a:extLst>
              </a:tr>
              <a:tr h="217762">
                <a:tc>
                  <a:txBody>
                    <a:bodyPr/>
                    <a:lstStyle/>
                    <a:p>
                      <a:pPr algn="ctr"/>
                      <a:r>
                        <a:rPr sz="900" b="0" i="0">
                          <a:solidFill>
                            <a:srgbClr val="262626"/>
                          </a:solidFill>
                          <a:latin typeface="Arial"/>
                        </a:rPr>
                        <a:t>2019</a:t>
                      </a:r>
                    </a:p>
                  </a:txBody>
                  <a:tcPr marT="40980" marB="40980">
                    <a:solidFill>
                      <a:srgbClr val="F2F2F2"/>
                    </a:solidFill>
                  </a:tcPr>
                </a:tc>
                <a:tc>
                  <a:txBody>
                    <a:bodyPr/>
                    <a:lstStyle/>
                    <a:p>
                      <a:pPr algn="ctr"/>
                      <a:r>
                        <a:rPr sz="900" b="0" i="0">
                          <a:solidFill>
                            <a:srgbClr val="262626"/>
                          </a:solidFill>
                          <a:latin typeface="Arial"/>
                        </a:rPr>
                        <a:t>13</a:t>
                      </a:r>
                    </a:p>
                  </a:txBody>
                  <a:tcPr marT="40980" marB="40980">
                    <a:solidFill>
                      <a:srgbClr val="F2F2F2"/>
                    </a:solidFill>
                  </a:tcPr>
                </a:tc>
                <a:tc>
                  <a:txBody>
                    <a:bodyPr/>
                    <a:lstStyle/>
                    <a:p>
                      <a:pPr algn="ctr"/>
                      <a:r>
                        <a:rPr sz="900" b="0" i="0">
                          <a:solidFill>
                            <a:srgbClr val="262626"/>
                          </a:solidFill>
                          <a:latin typeface="Arial"/>
                        </a:rPr>
                        <a:t>18</a:t>
                      </a:r>
                    </a:p>
                  </a:txBody>
                  <a:tcPr marT="40980" marB="40980">
                    <a:solidFill>
                      <a:srgbClr val="F2F2F2"/>
                    </a:solidFill>
                  </a:tcPr>
                </a:tc>
                <a:tc>
                  <a:txBody>
                    <a:bodyPr/>
                    <a:lstStyle/>
                    <a:p>
                      <a:pPr algn="ctr"/>
                      <a:r>
                        <a:rPr sz="900" b="0" i="0">
                          <a:solidFill>
                            <a:srgbClr val="262626"/>
                          </a:solidFill>
                          <a:latin typeface="Arial"/>
                        </a:rPr>
                        <a:t>+5</a:t>
                      </a:r>
                    </a:p>
                  </a:txBody>
                  <a:tcPr marT="40980" marB="40980">
                    <a:solidFill>
                      <a:srgbClr val="F2F2F2"/>
                    </a:solidFill>
                  </a:tcPr>
                </a:tc>
                <a:tc>
                  <a:txBody>
                    <a:bodyPr/>
                    <a:lstStyle/>
                    <a:p>
                      <a:pPr algn="ctr"/>
                      <a:r>
                        <a:rPr sz="900" b="0" i="0">
                          <a:solidFill>
                            <a:srgbClr val="262626"/>
                          </a:solidFill>
                          <a:latin typeface="Arial"/>
                        </a:rPr>
                        <a:t>7</a:t>
                      </a:r>
                    </a:p>
                  </a:txBody>
                  <a:tcPr marT="40980" marB="40980">
                    <a:solidFill>
                      <a:srgbClr val="F2F2F2"/>
                    </a:solidFill>
                  </a:tcPr>
                </a:tc>
                <a:tc>
                  <a:txBody>
                    <a:bodyPr/>
                    <a:lstStyle/>
                    <a:p>
                      <a:pPr algn="ctr"/>
                      <a:r>
                        <a:rPr sz="900" b="0" i="0">
                          <a:solidFill>
                            <a:srgbClr val="262626"/>
                          </a:solidFill>
                          <a:latin typeface="Arial"/>
                        </a:rPr>
                        <a:t>58s</a:t>
                      </a:r>
                    </a:p>
                  </a:txBody>
                  <a:tcPr marT="40980" marB="40980">
                    <a:solidFill>
                      <a:srgbClr val="F2F2F2"/>
                    </a:solidFill>
                  </a:tcPr>
                </a:tc>
                <a:extLst>
                  <a:ext uri="{0D108BD9-81ED-4DB2-BD59-A6C34878D82A}">
                    <a16:rowId xmlns:a16="http://schemas.microsoft.com/office/drawing/2014/main" val="10002"/>
                  </a:ext>
                </a:extLst>
              </a:tr>
              <a:tr h="217762">
                <a:tc>
                  <a:txBody>
                    <a:bodyPr/>
                    <a:lstStyle/>
                    <a:p>
                      <a:pPr algn="ctr"/>
                      <a:r>
                        <a:rPr sz="900" b="0" i="0">
                          <a:solidFill>
                            <a:srgbClr val="262626"/>
                          </a:solidFill>
                          <a:latin typeface="Arial"/>
                        </a:rPr>
                        <a:t>2020</a:t>
                      </a:r>
                    </a:p>
                  </a:txBody>
                  <a:tcPr marT="40980" marB="40980">
                    <a:solidFill>
                      <a:srgbClr val="FFFFFF"/>
                    </a:solidFill>
                  </a:tcPr>
                </a:tc>
                <a:tc>
                  <a:txBody>
                    <a:bodyPr/>
                    <a:lstStyle/>
                    <a:p>
                      <a:pPr algn="ctr"/>
                      <a:r>
                        <a:rPr sz="900" b="0" i="0">
                          <a:solidFill>
                            <a:srgbClr val="262626"/>
                          </a:solidFill>
                          <a:latin typeface="Arial"/>
                        </a:rPr>
                        <a:t>15</a:t>
                      </a:r>
                    </a:p>
                  </a:txBody>
                  <a:tcPr marT="40980" marB="40980">
                    <a:solidFill>
                      <a:srgbClr val="FFFFFF"/>
                    </a:solidFill>
                  </a:tcPr>
                </a:tc>
                <a:tc>
                  <a:txBody>
                    <a:bodyPr/>
                    <a:lstStyle/>
                    <a:p>
                      <a:pPr algn="ctr"/>
                      <a:r>
                        <a:rPr sz="900" b="0" i="0">
                          <a:solidFill>
                            <a:srgbClr val="262626"/>
                          </a:solidFill>
                          <a:latin typeface="Arial"/>
                        </a:rPr>
                        <a:t>12</a:t>
                      </a:r>
                    </a:p>
                  </a:txBody>
                  <a:tcPr marT="40980" marB="40980">
                    <a:solidFill>
                      <a:srgbClr val="FFFFFF"/>
                    </a:solidFill>
                  </a:tcPr>
                </a:tc>
                <a:tc>
                  <a:txBody>
                    <a:bodyPr/>
                    <a:lstStyle/>
                    <a:p>
                      <a:pPr algn="ctr"/>
                      <a:r>
                        <a:rPr sz="900" b="0" i="0" dirty="0">
                          <a:solidFill>
                            <a:srgbClr val="262626"/>
                          </a:solidFill>
                          <a:latin typeface="Arial"/>
                        </a:rPr>
                        <a:t>-3</a:t>
                      </a:r>
                    </a:p>
                  </a:txBody>
                  <a:tcPr marT="40980" marB="40980">
                    <a:solidFill>
                      <a:srgbClr val="FFFFFF"/>
                    </a:solidFill>
                  </a:tcPr>
                </a:tc>
                <a:tc>
                  <a:txBody>
                    <a:bodyPr/>
                    <a:lstStyle/>
                    <a:p>
                      <a:pPr algn="ctr"/>
                      <a:r>
                        <a:rPr sz="900" b="0" i="0">
                          <a:solidFill>
                            <a:srgbClr val="262626"/>
                          </a:solidFill>
                          <a:latin typeface="Arial"/>
                        </a:rPr>
                        <a:t>5</a:t>
                      </a:r>
                    </a:p>
                  </a:txBody>
                  <a:tcPr marT="40980" marB="40980">
                    <a:solidFill>
                      <a:srgbClr val="FFFFFF"/>
                    </a:solidFill>
                  </a:tcPr>
                </a:tc>
                <a:tc>
                  <a:txBody>
                    <a:bodyPr/>
                    <a:lstStyle/>
                    <a:p>
                      <a:pPr algn="ctr"/>
                      <a:r>
                        <a:rPr sz="900" b="0" i="0">
                          <a:solidFill>
                            <a:srgbClr val="262626"/>
                          </a:solidFill>
                          <a:latin typeface="Arial"/>
                        </a:rPr>
                        <a:t>41s</a:t>
                      </a:r>
                    </a:p>
                  </a:txBody>
                  <a:tcPr marT="40980" marB="40980">
                    <a:solidFill>
                      <a:srgbClr val="FFFFFF"/>
                    </a:solidFill>
                  </a:tcPr>
                </a:tc>
                <a:extLst>
                  <a:ext uri="{0D108BD9-81ED-4DB2-BD59-A6C34878D82A}">
                    <a16:rowId xmlns:a16="http://schemas.microsoft.com/office/drawing/2014/main" val="10003"/>
                  </a:ext>
                </a:extLst>
              </a:tr>
              <a:tr h="217762">
                <a:tc>
                  <a:txBody>
                    <a:bodyPr/>
                    <a:lstStyle/>
                    <a:p>
                      <a:pPr algn="ctr"/>
                      <a:r>
                        <a:rPr sz="900" b="0" i="0">
                          <a:solidFill>
                            <a:srgbClr val="262626"/>
                          </a:solidFill>
                          <a:latin typeface="Arial"/>
                        </a:rPr>
                        <a:t>2021</a:t>
                      </a:r>
                    </a:p>
                  </a:txBody>
                  <a:tcPr marT="40980" marB="40980">
                    <a:solidFill>
                      <a:srgbClr val="F2F2F2"/>
                    </a:solidFill>
                  </a:tcPr>
                </a:tc>
                <a:tc>
                  <a:txBody>
                    <a:bodyPr/>
                    <a:lstStyle/>
                    <a:p>
                      <a:pPr algn="ctr"/>
                      <a:r>
                        <a:rPr sz="900" b="0" i="0">
                          <a:solidFill>
                            <a:srgbClr val="262626"/>
                          </a:solidFill>
                          <a:latin typeface="Arial"/>
                        </a:rPr>
                        <a:t>11</a:t>
                      </a:r>
                    </a:p>
                  </a:txBody>
                  <a:tcPr marT="40980" marB="40980">
                    <a:solidFill>
                      <a:srgbClr val="F2F2F2"/>
                    </a:solidFill>
                  </a:tcPr>
                </a:tc>
                <a:tc>
                  <a:txBody>
                    <a:bodyPr/>
                    <a:lstStyle/>
                    <a:p>
                      <a:pPr algn="ctr"/>
                      <a:r>
                        <a:rPr sz="900" b="0" i="0">
                          <a:solidFill>
                            <a:srgbClr val="262626"/>
                          </a:solidFill>
                          <a:latin typeface="Arial"/>
                        </a:rPr>
                        <a:t>18</a:t>
                      </a:r>
                    </a:p>
                  </a:txBody>
                  <a:tcPr marT="40980" marB="40980">
                    <a:solidFill>
                      <a:srgbClr val="F2F2F2"/>
                    </a:solidFill>
                  </a:tcPr>
                </a:tc>
                <a:tc>
                  <a:txBody>
                    <a:bodyPr/>
                    <a:lstStyle/>
                    <a:p>
                      <a:pPr algn="ctr"/>
                      <a:r>
                        <a:rPr sz="900" b="0" i="0">
                          <a:solidFill>
                            <a:srgbClr val="262626"/>
                          </a:solidFill>
                          <a:latin typeface="Arial"/>
                        </a:rPr>
                        <a:t>+7</a:t>
                      </a:r>
                    </a:p>
                  </a:txBody>
                  <a:tcPr marT="40980" marB="40980">
                    <a:solidFill>
                      <a:srgbClr val="F2F2F2"/>
                    </a:solidFill>
                  </a:tcPr>
                </a:tc>
                <a:tc>
                  <a:txBody>
                    <a:bodyPr/>
                    <a:lstStyle/>
                    <a:p>
                      <a:pPr algn="ctr"/>
                      <a:r>
                        <a:rPr sz="900" b="0" i="0">
                          <a:solidFill>
                            <a:srgbClr val="262626"/>
                          </a:solidFill>
                          <a:latin typeface="Arial"/>
                        </a:rPr>
                        <a:t>13</a:t>
                      </a:r>
                    </a:p>
                  </a:txBody>
                  <a:tcPr marT="40980" marB="40980">
                    <a:solidFill>
                      <a:srgbClr val="F2F2F2"/>
                    </a:solidFill>
                  </a:tcPr>
                </a:tc>
                <a:tc>
                  <a:txBody>
                    <a:bodyPr/>
                    <a:lstStyle/>
                    <a:p>
                      <a:pPr algn="ctr"/>
                      <a:r>
                        <a:rPr sz="900" b="0" i="0">
                          <a:solidFill>
                            <a:srgbClr val="262626"/>
                          </a:solidFill>
                          <a:latin typeface="Arial"/>
                        </a:rPr>
                        <a:t>37s</a:t>
                      </a:r>
                    </a:p>
                  </a:txBody>
                  <a:tcPr marT="40980" marB="40980">
                    <a:solidFill>
                      <a:srgbClr val="F2F2F2"/>
                    </a:solidFill>
                  </a:tcPr>
                </a:tc>
                <a:extLst>
                  <a:ext uri="{0D108BD9-81ED-4DB2-BD59-A6C34878D82A}">
                    <a16:rowId xmlns:a16="http://schemas.microsoft.com/office/drawing/2014/main" val="10004"/>
                  </a:ext>
                </a:extLst>
              </a:tr>
              <a:tr h="217762">
                <a:tc>
                  <a:txBody>
                    <a:bodyPr/>
                    <a:lstStyle/>
                    <a:p>
                      <a:pPr algn="ctr"/>
                      <a:r>
                        <a:rPr sz="900" b="0" i="0">
                          <a:solidFill>
                            <a:srgbClr val="262626"/>
                          </a:solidFill>
                          <a:latin typeface="Arial"/>
                        </a:rPr>
                        <a:t>2022</a:t>
                      </a:r>
                    </a:p>
                  </a:txBody>
                  <a:tcPr marT="40980" marB="40980">
                    <a:solidFill>
                      <a:srgbClr val="FFFFFF"/>
                    </a:solidFill>
                  </a:tcPr>
                </a:tc>
                <a:tc>
                  <a:txBody>
                    <a:bodyPr/>
                    <a:lstStyle/>
                    <a:p>
                      <a:pPr algn="ctr"/>
                      <a:r>
                        <a:rPr sz="900" b="0" i="0">
                          <a:solidFill>
                            <a:srgbClr val="262626"/>
                          </a:solidFill>
                          <a:latin typeface="Arial"/>
                        </a:rPr>
                        <a:t>18</a:t>
                      </a:r>
                    </a:p>
                  </a:txBody>
                  <a:tcPr marT="40980" marB="40980">
                    <a:solidFill>
                      <a:srgbClr val="FFFFFF"/>
                    </a:solidFill>
                  </a:tcPr>
                </a:tc>
                <a:tc>
                  <a:txBody>
                    <a:bodyPr/>
                    <a:lstStyle/>
                    <a:p>
                      <a:pPr algn="ctr"/>
                      <a:r>
                        <a:rPr sz="900" b="0" i="0">
                          <a:solidFill>
                            <a:srgbClr val="262626"/>
                          </a:solidFill>
                          <a:latin typeface="Arial"/>
                        </a:rPr>
                        <a:t>15</a:t>
                      </a:r>
                    </a:p>
                  </a:txBody>
                  <a:tcPr marT="40980" marB="40980">
                    <a:solidFill>
                      <a:srgbClr val="FFFFFF"/>
                    </a:solidFill>
                  </a:tcPr>
                </a:tc>
                <a:tc>
                  <a:txBody>
                    <a:bodyPr/>
                    <a:lstStyle/>
                    <a:p>
                      <a:pPr algn="ctr"/>
                      <a:r>
                        <a:rPr sz="900" b="0" i="0">
                          <a:solidFill>
                            <a:srgbClr val="262626"/>
                          </a:solidFill>
                          <a:latin typeface="Arial"/>
                        </a:rPr>
                        <a:t>-3</a:t>
                      </a:r>
                    </a:p>
                  </a:txBody>
                  <a:tcPr marT="40980" marB="40980">
                    <a:solidFill>
                      <a:srgbClr val="FFFFFF"/>
                    </a:solidFill>
                  </a:tcPr>
                </a:tc>
                <a:tc>
                  <a:txBody>
                    <a:bodyPr/>
                    <a:lstStyle/>
                    <a:p>
                      <a:pPr algn="ctr"/>
                      <a:r>
                        <a:rPr sz="900" b="0" i="0">
                          <a:solidFill>
                            <a:srgbClr val="262626"/>
                          </a:solidFill>
                          <a:latin typeface="Arial"/>
                        </a:rPr>
                        <a:t>27</a:t>
                      </a:r>
                    </a:p>
                  </a:txBody>
                  <a:tcPr marT="40980" marB="40980">
                    <a:solidFill>
                      <a:srgbClr val="FFFFFF"/>
                    </a:solidFill>
                  </a:tcPr>
                </a:tc>
                <a:tc>
                  <a:txBody>
                    <a:bodyPr/>
                    <a:lstStyle/>
                    <a:p>
                      <a:pPr algn="ctr"/>
                      <a:r>
                        <a:rPr sz="900" b="0" i="0">
                          <a:solidFill>
                            <a:srgbClr val="262626"/>
                          </a:solidFill>
                          <a:latin typeface="Arial"/>
                        </a:rPr>
                        <a:t>30s</a:t>
                      </a:r>
                    </a:p>
                  </a:txBody>
                  <a:tcPr marT="40980" marB="40980">
                    <a:solidFill>
                      <a:srgbClr val="FFFFFF"/>
                    </a:solidFill>
                  </a:tcPr>
                </a:tc>
                <a:extLst>
                  <a:ext uri="{0D108BD9-81ED-4DB2-BD59-A6C34878D82A}">
                    <a16:rowId xmlns:a16="http://schemas.microsoft.com/office/drawing/2014/main" val="10005"/>
                  </a:ext>
                </a:extLst>
              </a:tr>
              <a:tr h="217762">
                <a:tc>
                  <a:txBody>
                    <a:bodyPr/>
                    <a:lstStyle/>
                    <a:p>
                      <a:pPr algn="ctr"/>
                      <a:r>
                        <a:rPr sz="900" b="0" i="0">
                          <a:solidFill>
                            <a:srgbClr val="262626"/>
                          </a:solidFill>
                          <a:latin typeface="Arial"/>
                        </a:rPr>
                        <a:t>2023</a:t>
                      </a:r>
                    </a:p>
                  </a:txBody>
                  <a:tcPr marT="40980" marB="40980">
                    <a:solidFill>
                      <a:srgbClr val="F2F2F2"/>
                    </a:solidFill>
                  </a:tcPr>
                </a:tc>
                <a:tc>
                  <a:txBody>
                    <a:bodyPr/>
                    <a:lstStyle/>
                    <a:p>
                      <a:pPr algn="ctr"/>
                      <a:r>
                        <a:rPr sz="900" b="0" i="0">
                          <a:solidFill>
                            <a:srgbClr val="262626"/>
                          </a:solidFill>
                          <a:latin typeface="Arial"/>
                        </a:rPr>
                        <a:t>34</a:t>
                      </a:r>
                    </a:p>
                  </a:txBody>
                  <a:tcPr marT="40980" marB="40980">
                    <a:solidFill>
                      <a:srgbClr val="F2F2F2"/>
                    </a:solidFill>
                  </a:tcPr>
                </a:tc>
                <a:tc>
                  <a:txBody>
                    <a:bodyPr/>
                    <a:lstStyle/>
                    <a:p>
                      <a:pPr algn="ctr"/>
                      <a:r>
                        <a:rPr sz="900" b="0" i="0">
                          <a:solidFill>
                            <a:srgbClr val="262626"/>
                          </a:solidFill>
                          <a:latin typeface="Arial"/>
                        </a:rPr>
                        <a:t>36</a:t>
                      </a:r>
                    </a:p>
                  </a:txBody>
                  <a:tcPr marT="40980" marB="40980">
                    <a:solidFill>
                      <a:srgbClr val="F2F2F2"/>
                    </a:solidFill>
                  </a:tcPr>
                </a:tc>
                <a:tc>
                  <a:txBody>
                    <a:bodyPr/>
                    <a:lstStyle/>
                    <a:p>
                      <a:pPr algn="ctr"/>
                      <a:r>
                        <a:rPr sz="900" b="0" i="0">
                          <a:solidFill>
                            <a:srgbClr val="262626"/>
                          </a:solidFill>
                          <a:latin typeface="Arial"/>
                        </a:rPr>
                        <a:t>+2</a:t>
                      </a:r>
                    </a:p>
                  </a:txBody>
                  <a:tcPr marT="40980" marB="40980">
                    <a:solidFill>
                      <a:srgbClr val="F2F2F2"/>
                    </a:solidFill>
                  </a:tcPr>
                </a:tc>
                <a:tc>
                  <a:txBody>
                    <a:bodyPr/>
                    <a:lstStyle/>
                    <a:p>
                      <a:pPr algn="ctr"/>
                      <a:r>
                        <a:rPr sz="900" b="0" i="0">
                          <a:solidFill>
                            <a:srgbClr val="262626"/>
                          </a:solidFill>
                          <a:latin typeface="Arial"/>
                        </a:rPr>
                        <a:t>11</a:t>
                      </a:r>
                    </a:p>
                  </a:txBody>
                  <a:tcPr marT="40980" marB="40980">
                    <a:solidFill>
                      <a:srgbClr val="F2F2F2"/>
                    </a:solidFill>
                  </a:tcPr>
                </a:tc>
                <a:tc>
                  <a:txBody>
                    <a:bodyPr/>
                    <a:lstStyle/>
                    <a:p>
                      <a:pPr algn="ctr"/>
                      <a:r>
                        <a:rPr sz="900" b="0" i="0">
                          <a:solidFill>
                            <a:srgbClr val="262626"/>
                          </a:solidFill>
                          <a:latin typeface="Arial"/>
                        </a:rPr>
                        <a:t>1s</a:t>
                      </a:r>
                    </a:p>
                  </a:txBody>
                  <a:tcPr marT="40980" marB="40980">
                    <a:solidFill>
                      <a:srgbClr val="F2F2F2"/>
                    </a:solidFill>
                  </a:tcPr>
                </a:tc>
                <a:extLst>
                  <a:ext uri="{0D108BD9-81ED-4DB2-BD59-A6C34878D82A}">
                    <a16:rowId xmlns:a16="http://schemas.microsoft.com/office/drawing/2014/main" val="10006"/>
                  </a:ext>
                </a:extLst>
              </a:tr>
              <a:tr h="217762">
                <a:tc>
                  <a:txBody>
                    <a:bodyPr/>
                    <a:lstStyle/>
                    <a:p>
                      <a:pPr algn="ctr"/>
                      <a:r>
                        <a:rPr sz="900" b="0" i="0">
                          <a:solidFill>
                            <a:srgbClr val="262626"/>
                          </a:solidFill>
                          <a:latin typeface="Arial"/>
                        </a:rPr>
                        <a:t>2024</a:t>
                      </a:r>
                    </a:p>
                  </a:txBody>
                  <a:tcPr marT="40980" marB="40980">
                    <a:solidFill>
                      <a:srgbClr val="FFFFFF"/>
                    </a:solidFill>
                  </a:tcPr>
                </a:tc>
                <a:tc>
                  <a:txBody>
                    <a:bodyPr/>
                    <a:lstStyle/>
                    <a:p>
                      <a:pPr algn="ctr"/>
                      <a:r>
                        <a:rPr sz="900" b="0" i="0">
                          <a:solidFill>
                            <a:srgbClr val="262626"/>
                          </a:solidFill>
                          <a:latin typeface="Arial"/>
                        </a:rPr>
                        <a:t>19</a:t>
                      </a:r>
                    </a:p>
                  </a:txBody>
                  <a:tcPr marT="40980" marB="40980">
                    <a:solidFill>
                      <a:srgbClr val="FFFFFF"/>
                    </a:solidFill>
                  </a:tcPr>
                </a:tc>
                <a:tc>
                  <a:txBody>
                    <a:bodyPr/>
                    <a:lstStyle/>
                    <a:p>
                      <a:pPr algn="ctr"/>
                      <a:r>
                        <a:rPr sz="900" b="0" i="0">
                          <a:solidFill>
                            <a:srgbClr val="262626"/>
                          </a:solidFill>
                          <a:latin typeface="Arial"/>
                        </a:rPr>
                        <a:t>26</a:t>
                      </a:r>
                    </a:p>
                  </a:txBody>
                  <a:tcPr marT="40980" marB="40980">
                    <a:solidFill>
                      <a:srgbClr val="FFFFFF"/>
                    </a:solidFill>
                  </a:tcPr>
                </a:tc>
                <a:tc>
                  <a:txBody>
                    <a:bodyPr/>
                    <a:lstStyle/>
                    <a:p>
                      <a:pPr algn="ctr"/>
                      <a:r>
                        <a:rPr sz="900" b="0" i="0">
                          <a:solidFill>
                            <a:srgbClr val="262626"/>
                          </a:solidFill>
                          <a:latin typeface="Arial"/>
                        </a:rPr>
                        <a:t>+7</a:t>
                      </a:r>
                    </a:p>
                  </a:txBody>
                  <a:tcPr marT="40980" marB="40980">
                    <a:solidFill>
                      <a:srgbClr val="FFFFFF"/>
                    </a:solidFill>
                  </a:tcPr>
                </a:tc>
                <a:tc>
                  <a:txBody>
                    <a:bodyPr/>
                    <a:lstStyle/>
                    <a:p>
                      <a:pPr algn="ctr"/>
                      <a:r>
                        <a:rPr sz="900" b="0" i="0">
                          <a:solidFill>
                            <a:srgbClr val="262626"/>
                          </a:solidFill>
                          <a:latin typeface="Arial"/>
                        </a:rPr>
                        <a:t>10</a:t>
                      </a:r>
                    </a:p>
                  </a:txBody>
                  <a:tcPr marT="40980" marB="40980">
                    <a:solidFill>
                      <a:srgbClr val="FFFFFF"/>
                    </a:solidFill>
                  </a:tcPr>
                </a:tc>
                <a:tc>
                  <a:txBody>
                    <a:bodyPr/>
                    <a:lstStyle/>
                    <a:p>
                      <a:pPr algn="ctr"/>
                      <a:r>
                        <a:rPr sz="900" b="0" i="0">
                          <a:solidFill>
                            <a:srgbClr val="262626"/>
                          </a:solidFill>
                          <a:latin typeface="Arial"/>
                        </a:rPr>
                        <a:t>47s</a:t>
                      </a:r>
                    </a:p>
                  </a:txBody>
                  <a:tcPr marT="40980" marB="40980">
                    <a:solidFill>
                      <a:srgbClr val="FFFFFF"/>
                    </a:solidFill>
                  </a:tcPr>
                </a:tc>
                <a:extLst>
                  <a:ext uri="{0D108BD9-81ED-4DB2-BD59-A6C34878D82A}">
                    <a16:rowId xmlns:a16="http://schemas.microsoft.com/office/drawing/2014/main" val="10007"/>
                  </a:ext>
                </a:extLst>
              </a:tr>
              <a:tr h="217762">
                <a:tc>
                  <a:txBody>
                    <a:bodyPr/>
                    <a:lstStyle/>
                    <a:p>
                      <a:pPr algn="ctr"/>
                      <a:r>
                        <a:rPr sz="900" b="0" i="0">
                          <a:solidFill>
                            <a:srgbClr val="262626"/>
                          </a:solidFill>
                          <a:latin typeface="Arial"/>
                        </a:rPr>
                        <a:t>2025</a:t>
                      </a:r>
                    </a:p>
                  </a:txBody>
                  <a:tcPr marT="40980" marB="40980">
                    <a:solidFill>
                      <a:srgbClr val="F2F2F2"/>
                    </a:solidFill>
                  </a:tcPr>
                </a:tc>
                <a:tc>
                  <a:txBody>
                    <a:bodyPr/>
                    <a:lstStyle/>
                    <a:p>
                      <a:pPr algn="ctr"/>
                      <a:r>
                        <a:rPr sz="900" b="0" i="0">
                          <a:solidFill>
                            <a:srgbClr val="262626"/>
                          </a:solidFill>
                          <a:latin typeface="Arial"/>
                        </a:rPr>
                        <a:t>2</a:t>
                      </a:r>
                    </a:p>
                  </a:txBody>
                  <a:tcPr marT="40980" marB="40980">
                    <a:solidFill>
                      <a:srgbClr val="F2F2F2"/>
                    </a:solidFill>
                  </a:tcPr>
                </a:tc>
                <a:tc>
                  <a:txBody>
                    <a:bodyPr/>
                    <a:lstStyle/>
                    <a:p>
                      <a:pPr algn="ctr"/>
                      <a:r>
                        <a:rPr sz="900" b="0" i="0" dirty="0">
                          <a:solidFill>
                            <a:srgbClr val="262626"/>
                          </a:solidFill>
                          <a:latin typeface="Arial"/>
                        </a:rPr>
                        <a:t>45</a:t>
                      </a:r>
                    </a:p>
                  </a:txBody>
                  <a:tcPr marT="40980" marB="40980">
                    <a:solidFill>
                      <a:srgbClr val="F2F2F2"/>
                    </a:solidFill>
                  </a:tcPr>
                </a:tc>
                <a:tc>
                  <a:txBody>
                    <a:bodyPr/>
                    <a:lstStyle/>
                    <a:p>
                      <a:pPr algn="ctr"/>
                      <a:r>
                        <a:rPr sz="900" b="0" i="0">
                          <a:solidFill>
                            <a:srgbClr val="262626"/>
                          </a:solidFill>
                          <a:latin typeface="Arial"/>
                        </a:rPr>
                        <a:t>+43</a:t>
                      </a:r>
                    </a:p>
                  </a:txBody>
                  <a:tcPr marT="40980" marB="40980">
                    <a:solidFill>
                      <a:srgbClr val="F2F2F2"/>
                    </a:solidFill>
                  </a:tcPr>
                </a:tc>
                <a:tc>
                  <a:txBody>
                    <a:bodyPr/>
                    <a:lstStyle/>
                    <a:p>
                      <a:pPr algn="ctr"/>
                      <a:r>
                        <a:rPr sz="900" b="0" i="0">
                          <a:solidFill>
                            <a:srgbClr val="262626"/>
                          </a:solidFill>
                          <a:latin typeface="Arial"/>
                        </a:rPr>
                        <a:t>7</a:t>
                      </a:r>
                    </a:p>
                  </a:txBody>
                  <a:tcPr marT="40980" marB="40980">
                    <a:solidFill>
                      <a:srgbClr val="F2F2F2"/>
                    </a:solidFill>
                  </a:tcPr>
                </a:tc>
                <a:tc>
                  <a:txBody>
                    <a:bodyPr/>
                    <a:lstStyle/>
                    <a:p>
                      <a:pPr algn="ctr"/>
                      <a:r>
                        <a:rPr sz="900" b="0" i="0" dirty="0">
                          <a:solidFill>
                            <a:srgbClr val="262626"/>
                          </a:solidFill>
                          <a:latin typeface="Arial"/>
                        </a:rPr>
                        <a:t>82s</a:t>
                      </a:r>
                    </a:p>
                  </a:txBody>
                  <a:tcPr marT="40980" marB="40980">
                    <a:solidFill>
                      <a:srgbClr val="F2F2F2"/>
                    </a:solidFill>
                  </a:tcPr>
                </a:tc>
                <a:extLst>
                  <a:ext uri="{0D108BD9-81ED-4DB2-BD59-A6C34878D82A}">
                    <a16:rowId xmlns:a16="http://schemas.microsoft.com/office/drawing/2014/main" val="10008"/>
                  </a:ext>
                </a:extLst>
              </a:tr>
            </a:tbl>
          </a:graphicData>
        </a:graphic>
      </p:graphicFrame>
      <p:sp>
        <p:nvSpPr>
          <p:cNvPr id="11" name="TextBox 10"/>
          <p:cNvSpPr txBox="1"/>
          <p:nvPr/>
        </p:nvSpPr>
        <p:spPr>
          <a:xfrm>
            <a:off x="274320" y="6565392"/>
            <a:ext cx="11640312" cy="201168"/>
          </a:xfrm>
          <a:prstGeom prst="rect">
            <a:avLst/>
          </a:prstGeom>
          <a:noFill/>
        </p:spPr>
        <p:txBody>
          <a:bodyPr wrap="square">
            <a:spAutoFit/>
          </a:bodyPr>
          <a:lstStyle/>
          <a:p>
            <a:pPr algn="l"/>
            <a:r>
              <a:rPr sz="800" b="0" i="1">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p>
        </p:txBody>
      </p:sp>
      <p:sp>
        <p:nvSpPr>
          <p:cNvPr id="12" name="TextBox 11"/>
          <p:cNvSpPr txBox="1"/>
          <p:nvPr/>
        </p:nvSpPr>
        <p:spPr>
          <a:xfrm>
            <a:off x="274320" y="6720840"/>
            <a:ext cx="11640312" cy="164592"/>
          </a:xfrm>
          <a:prstGeom prst="rect">
            <a:avLst/>
          </a:prstGeom>
          <a:noFill/>
        </p:spPr>
        <p:txBody>
          <a:bodyPr wrap="square">
            <a:spAutoFit/>
          </a:bodyPr>
          <a:lstStyle/>
          <a:p>
            <a:pPr algn="l"/>
            <a:r>
              <a:rPr sz="750" b="0" i="1">
                <a:solidFill>
                  <a:srgbClr val="BFBFBF"/>
                </a:solidFill>
                <a:latin typeface="Arial"/>
              </a:rPr>
              <a:t>Dropouts: 2018: 6 DNF/LAP  |  2019: 5 DNF/LAP  |  2020: 5 DNF/LAP  |  2022: 2 DNF/LAP (1 in lead group at t1)  |  2024: 3 DNF/LAP (1 in lead group at t1)  |  2025: 3 DNF/LAP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772876" y="1035703"/>
            <a:ext cx="10643200" cy="2759039"/>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2652138421"/>
              </p:ext>
            </p:extLst>
          </p:nvPr>
        </p:nvGraphicFramePr>
        <p:xfrm>
          <a:off x="274320" y="3776724"/>
          <a:ext cx="11640312" cy="2879602"/>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833372">
                  <a:extLst>
                    <a:ext uri="{9D8B030D-6E8A-4147-A177-3AD203B41FA5}">
                      <a16:colId xmlns:a16="http://schemas.microsoft.com/office/drawing/2014/main" val="20001"/>
                    </a:ext>
                  </a:extLst>
                </a:gridCol>
                <a:gridCol w="1833372">
                  <a:extLst>
                    <a:ext uri="{9D8B030D-6E8A-4147-A177-3AD203B41FA5}">
                      <a16:colId xmlns:a16="http://schemas.microsoft.com/office/drawing/2014/main" val="20002"/>
                    </a:ext>
                  </a:extLst>
                </a:gridCol>
                <a:gridCol w="1833372">
                  <a:extLst>
                    <a:ext uri="{9D8B030D-6E8A-4147-A177-3AD203B41FA5}">
                      <a16:colId xmlns:a16="http://schemas.microsoft.com/office/drawing/2014/main" val="20003"/>
                    </a:ext>
                  </a:extLst>
                </a:gridCol>
                <a:gridCol w="1833372">
                  <a:extLst>
                    <a:ext uri="{9D8B030D-6E8A-4147-A177-3AD203B41FA5}">
                      <a16:colId xmlns:a16="http://schemas.microsoft.com/office/drawing/2014/main" val="20004"/>
                    </a:ext>
                  </a:extLst>
                </a:gridCol>
                <a:gridCol w="1833372">
                  <a:extLst>
                    <a:ext uri="{9D8B030D-6E8A-4147-A177-3AD203B41FA5}">
                      <a16:colId xmlns:a16="http://schemas.microsoft.com/office/drawing/2014/main" val="20005"/>
                    </a:ext>
                  </a:extLst>
                </a:gridCol>
                <a:gridCol w="1833372">
                  <a:extLst>
                    <a:ext uri="{9D8B030D-6E8A-4147-A177-3AD203B41FA5}">
                      <a16:colId xmlns:a16="http://schemas.microsoft.com/office/drawing/2014/main" val="20006"/>
                    </a:ext>
                  </a:extLst>
                </a:gridCol>
              </a:tblGrid>
              <a:tr h="253330">
                <a:tc>
                  <a:txBody>
                    <a:bodyPr/>
                    <a:lstStyle/>
                    <a:p>
                      <a:pPr algn="ctr"/>
                      <a:r>
                        <a:rPr sz="1000" b="1" i="0">
                          <a:solidFill>
                            <a:srgbClr val="FFFFFF"/>
                          </a:solidFill>
                          <a:latin typeface="Arial"/>
                        </a:rPr>
                        <a:t>Year</a:t>
                      </a:r>
                    </a:p>
                  </a:txBody>
                  <a:tcPr marT="42222" marB="42222">
                    <a:solidFill>
                      <a:srgbClr val="002060"/>
                    </a:solidFill>
                  </a:tcPr>
                </a:tc>
                <a:tc>
                  <a:txBody>
                    <a:bodyPr/>
                    <a:lstStyle/>
                    <a:p>
                      <a:pPr algn="ctr"/>
                      <a:r>
                        <a:rPr sz="1000" b="1" i="0">
                          <a:solidFill>
                            <a:srgbClr val="FFFFFF"/>
                          </a:solidFill>
                          <a:latin typeface="Arial"/>
                        </a:rPr>
                        <a:t>1st</a:t>
                      </a:r>
                    </a:p>
                  </a:txBody>
                  <a:tcPr marT="42222" marB="42222">
                    <a:solidFill>
                      <a:srgbClr val="002060"/>
                    </a:solidFill>
                  </a:tcPr>
                </a:tc>
                <a:tc>
                  <a:txBody>
                    <a:bodyPr/>
                    <a:lstStyle/>
                    <a:p>
                      <a:pPr algn="ctr"/>
                      <a:r>
                        <a:rPr sz="1000" b="1" i="0">
                          <a:solidFill>
                            <a:srgbClr val="FFFFFF"/>
                          </a:solidFill>
                          <a:latin typeface="Arial"/>
                        </a:rPr>
                        <a:t>2nd</a:t>
                      </a:r>
                    </a:p>
                  </a:txBody>
                  <a:tcPr marT="42222" marB="42222">
                    <a:solidFill>
                      <a:srgbClr val="002060"/>
                    </a:solidFill>
                  </a:tcPr>
                </a:tc>
                <a:tc>
                  <a:txBody>
                    <a:bodyPr/>
                    <a:lstStyle/>
                    <a:p>
                      <a:pPr algn="ctr"/>
                      <a:r>
                        <a:rPr sz="1000" b="1" i="0">
                          <a:solidFill>
                            <a:srgbClr val="FFFFFF"/>
                          </a:solidFill>
                          <a:latin typeface="Arial"/>
                        </a:rPr>
                        <a:t>3rd</a:t>
                      </a:r>
                    </a:p>
                  </a:txBody>
                  <a:tcPr marT="42222" marB="42222">
                    <a:solidFill>
                      <a:srgbClr val="002060"/>
                    </a:solidFill>
                  </a:tcPr>
                </a:tc>
                <a:tc>
                  <a:txBody>
                    <a:bodyPr/>
                    <a:lstStyle/>
                    <a:p>
                      <a:pPr algn="ctr"/>
                      <a:r>
                        <a:rPr sz="1000" b="1" i="0">
                          <a:solidFill>
                            <a:srgbClr val="FFFFFF"/>
                          </a:solidFill>
                          <a:latin typeface="Arial"/>
                        </a:rPr>
                        <a:t>5th</a:t>
                      </a:r>
                    </a:p>
                  </a:txBody>
                  <a:tcPr marT="42222" marB="42222">
                    <a:solidFill>
                      <a:srgbClr val="002060"/>
                    </a:solidFill>
                  </a:tcPr>
                </a:tc>
                <a:tc>
                  <a:txBody>
                    <a:bodyPr/>
                    <a:lstStyle/>
                    <a:p>
                      <a:pPr algn="ctr"/>
                      <a:r>
                        <a:rPr sz="1000" b="1" i="0">
                          <a:solidFill>
                            <a:srgbClr val="FFFFFF"/>
                          </a:solidFill>
                          <a:latin typeface="Arial"/>
                        </a:rPr>
                        <a:t>10th</a:t>
                      </a:r>
                    </a:p>
                  </a:txBody>
                  <a:tcPr marT="42222" marB="42222">
                    <a:solidFill>
                      <a:srgbClr val="002060"/>
                    </a:solidFill>
                  </a:tcPr>
                </a:tc>
                <a:tc>
                  <a:txBody>
                    <a:bodyPr/>
                    <a:lstStyle/>
                    <a:p>
                      <a:pPr algn="ctr"/>
                      <a:r>
                        <a:rPr sz="1000" b="1" i="0">
                          <a:solidFill>
                            <a:srgbClr val="FFFFFF"/>
                          </a:solidFill>
                          <a:latin typeface="Arial"/>
                        </a:rPr>
                        <a:t>20th</a:t>
                      </a:r>
                    </a:p>
                  </a:txBody>
                  <a:tcPr marT="42222" marB="42222">
                    <a:solidFill>
                      <a:srgbClr val="002060"/>
                    </a:solidFill>
                  </a:tcPr>
                </a:tc>
                <a:extLst>
                  <a:ext uri="{0D108BD9-81ED-4DB2-BD59-A6C34878D82A}">
                    <a16:rowId xmlns:a16="http://schemas.microsoft.com/office/drawing/2014/main" val="10000"/>
                  </a:ext>
                </a:extLst>
              </a:tr>
              <a:tr h="325869">
                <a:tc>
                  <a:txBody>
                    <a:bodyPr/>
                    <a:lstStyle/>
                    <a:p>
                      <a:pPr algn="ctr"/>
                      <a:r>
                        <a:rPr sz="1000" b="1" i="0">
                          <a:solidFill>
                            <a:srgbClr val="262626"/>
                          </a:solidFill>
                          <a:latin typeface="Arial"/>
                        </a:rPr>
                        <a:t>2018</a:t>
                      </a:r>
                    </a:p>
                  </a:txBody>
                  <a:tcPr marT="42222" marB="42222">
                    <a:solidFill>
                      <a:srgbClr val="FFFFFF"/>
                    </a:solidFill>
                  </a:tcPr>
                </a:tc>
                <a:tc>
                  <a:txBody>
                    <a:bodyPr/>
                    <a:lstStyle/>
                    <a:p>
                      <a:pPr algn="ctr"/>
                      <a:r>
                        <a:rPr sz="800" b="0" i="0">
                          <a:solidFill>
                            <a:srgbClr val="262626"/>
                          </a:solidFill>
                          <a:latin typeface="Arial"/>
                        </a:rPr>
                        <a:t>58:06</a:t>
                      </a:r>
                    </a:p>
                  </a:txBody>
                  <a:tcPr marT="42222" marB="42222">
                    <a:solidFill>
                      <a:srgbClr val="FFFFFF"/>
                    </a:solidFill>
                  </a:tcPr>
                </a:tc>
                <a:tc>
                  <a:txBody>
                    <a:bodyPr/>
                    <a:lstStyle/>
                    <a:p>
                      <a:pPr algn="ctr"/>
                      <a:r>
                        <a:rPr sz="800" b="0" i="0">
                          <a:solidFill>
                            <a:srgbClr val="262626"/>
                          </a:solidFill>
                          <a:latin typeface="Arial"/>
                        </a:rPr>
                        <a:t>58:36
+30s</a:t>
                      </a:r>
                    </a:p>
                  </a:txBody>
                  <a:tcPr marT="42222" marB="42222">
                    <a:solidFill>
                      <a:srgbClr val="FFFFFF"/>
                    </a:solidFill>
                  </a:tcPr>
                </a:tc>
                <a:tc>
                  <a:txBody>
                    <a:bodyPr/>
                    <a:lstStyle/>
                    <a:p>
                      <a:pPr algn="ctr"/>
                      <a:r>
                        <a:rPr sz="800" b="0" i="0">
                          <a:solidFill>
                            <a:srgbClr val="262626"/>
                          </a:solidFill>
                          <a:latin typeface="Arial"/>
                        </a:rPr>
                        <a:t>58:37
+31s</a:t>
                      </a:r>
                    </a:p>
                  </a:txBody>
                  <a:tcPr marT="42222" marB="42222">
                    <a:solidFill>
                      <a:srgbClr val="FFFFFF"/>
                    </a:solidFill>
                  </a:tcPr>
                </a:tc>
                <a:tc>
                  <a:txBody>
                    <a:bodyPr/>
                    <a:lstStyle/>
                    <a:p>
                      <a:pPr algn="ctr"/>
                      <a:r>
                        <a:rPr sz="800" b="0" i="0">
                          <a:solidFill>
                            <a:srgbClr val="262626"/>
                          </a:solidFill>
                          <a:latin typeface="Arial"/>
                        </a:rPr>
                        <a:t>58:44
+38s</a:t>
                      </a:r>
                    </a:p>
                  </a:txBody>
                  <a:tcPr marT="42222" marB="42222">
                    <a:solidFill>
                      <a:srgbClr val="FFFFFF"/>
                    </a:solidFill>
                  </a:tcPr>
                </a:tc>
                <a:tc>
                  <a:txBody>
                    <a:bodyPr/>
                    <a:lstStyle/>
                    <a:p>
                      <a:pPr algn="ctr"/>
                      <a:r>
                        <a:rPr sz="800" b="0" i="0">
                          <a:solidFill>
                            <a:srgbClr val="262626"/>
                          </a:solidFill>
                          <a:latin typeface="Arial"/>
                        </a:rPr>
                        <a:t>59:10
+64s</a:t>
                      </a:r>
                    </a:p>
                  </a:txBody>
                  <a:tcPr marT="42222" marB="42222">
                    <a:solidFill>
                      <a:srgbClr val="FFFFFF"/>
                    </a:solidFill>
                  </a:tcPr>
                </a:tc>
                <a:tc>
                  <a:txBody>
                    <a:bodyPr/>
                    <a:lstStyle/>
                    <a:p>
                      <a:pPr algn="ctr"/>
                      <a:r>
                        <a:rPr sz="800" b="0" i="0">
                          <a:solidFill>
                            <a:srgbClr val="262626"/>
                          </a:solidFill>
                          <a:latin typeface="Arial"/>
                        </a:rPr>
                        <a:t>1:00:01
+115s</a:t>
                      </a:r>
                    </a:p>
                  </a:txBody>
                  <a:tcPr marT="42222" marB="42222">
                    <a:solidFill>
                      <a:srgbClr val="FFFFFF"/>
                    </a:solidFill>
                  </a:tcPr>
                </a:tc>
                <a:extLst>
                  <a:ext uri="{0D108BD9-81ED-4DB2-BD59-A6C34878D82A}">
                    <a16:rowId xmlns:a16="http://schemas.microsoft.com/office/drawing/2014/main" val="10001"/>
                  </a:ext>
                </a:extLst>
              </a:tr>
              <a:tr h="325869">
                <a:tc>
                  <a:txBody>
                    <a:bodyPr/>
                    <a:lstStyle/>
                    <a:p>
                      <a:pPr algn="ctr"/>
                      <a:r>
                        <a:rPr sz="1000" b="1" i="0">
                          <a:solidFill>
                            <a:srgbClr val="262626"/>
                          </a:solidFill>
                          <a:latin typeface="Arial"/>
                        </a:rPr>
                        <a:t>2019</a:t>
                      </a:r>
                    </a:p>
                  </a:txBody>
                  <a:tcPr marT="42222" marB="42222">
                    <a:solidFill>
                      <a:srgbClr val="F2F2F2"/>
                    </a:solidFill>
                  </a:tcPr>
                </a:tc>
                <a:tc>
                  <a:txBody>
                    <a:bodyPr/>
                    <a:lstStyle/>
                    <a:p>
                      <a:pPr algn="ctr"/>
                      <a:r>
                        <a:rPr sz="800" b="0" i="0">
                          <a:solidFill>
                            <a:srgbClr val="262626"/>
                          </a:solidFill>
                          <a:latin typeface="Arial"/>
                        </a:rPr>
                        <a:t>59:24</a:t>
                      </a:r>
                    </a:p>
                  </a:txBody>
                  <a:tcPr marT="42222" marB="42222">
                    <a:solidFill>
                      <a:srgbClr val="F2F2F2"/>
                    </a:solidFill>
                  </a:tcPr>
                </a:tc>
                <a:tc>
                  <a:txBody>
                    <a:bodyPr/>
                    <a:lstStyle/>
                    <a:p>
                      <a:pPr algn="ctr"/>
                      <a:r>
                        <a:rPr sz="800" b="0" i="0">
                          <a:solidFill>
                            <a:srgbClr val="262626"/>
                          </a:solidFill>
                          <a:latin typeface="Arial"/>
                        </a:rPr>
                        <a:t>59:31
+7s</a:t>
                      </a:r>
                    </a:p>
                  </a:txBody>
                  <a:tcPr marT="42222" marB="42222">
                    <a:solidFill>
                      <a:srgbClr val="F2F2F2"/>
                    </a:solidFill>
                  </a:tcPr>
                </a:tc>
                <a:tc>
                  <a:txBody>
                    <a:bodyPr/>
                    <a:lstStyle/>
                    <a:p>
                      <a:pPr algn="ctr"/>
                      <a:r>
                        <a:rPr sz="800" b="0" i="0" dirty="0">
                          <a:solidFill>
                            <a:srgbClr val="262626"/>
                          </a:solidFill>
                          <a:latin typeface="Arial"/>
                        </a:rPr>
                        <a:t>59:42
+18s</a:t>
                      </a:r>
                    </a:p>
                  </a:txBody>
                  <a:tcPr marT="42222" marB="42222">
                    <a:solidFill>
                      <a:srgbClr val="F2F2F2"/>
                    </a:solidFill>
                  </a:tcPr>
                </a:tc>
                <a:tc>
                  <a:txBody>
                    <a:bodyPr/>
                    <a:lstStyle/>
                    <a:p>
                      <a:pPr algn="ctr"/>
                      <a:r>
                        <a:rPr sz="800" b="0" i="0">
                          <a:solidFill>
                            <a:srgbClr val="262626"/>
                          </a:solidFill>
                          <a:latin typeface="Arial"/>
                        </a:rPr>
                        <a:t>59:49
+25s</a:t>
                      </a:r>
                    </a:p>
                  </a:txBody>
                  <a:tcPr marT="42222" marB="42222">
                    <a:solidFill>
                      <a:srgbClr val="F2F2F2"/>
                    </a:solidFill>
                  </a:tcPr>
                </a:tc>
                <a:tc>
                  <a:txBody>
                    <a:bodyPr/>
                    <a:lstStyle/>
                    <a:p>
                      <a:pPr algn="ctr"/>
                      <a:r>
                        <a:rPr sz="800" b="0" i="0">
                          <a:solidFill>
                            <a:srgbClr val="262626"/>
                          </a:solidFill>
                          <a:latin typeface="Arial"/>
                        </a:rPr>
                        <a:t>1:00:06
+42s</a:t>
                      </a:r>
                    </a:p>
                  </a:txBody>
                  <a:tcPr marT="42222" marB="42222">
                    <a:solidFill>
                      <a:srgbClr val="F2F2F2"/>
                    </a:solidFill>
                  </a:tcPr>
                </a:tc>
                <a:tc>
                  <a:txBody>
                    <a:bodyPr/>
                    <a:lstStyle/>
                    <a:p>
                      <a:pPr algn="ctr"/>
                      <a:r>
                        <a:rPr sz="800" b="0" i="0">
                          <a:solidFill>
                            <a:srgbClr val="262626"/>
                          </a:solidFill>
                          <a:latin typeface="Arial"/>
                        </a:rPr>
                        <a:t>1:01:13
+109s</a:t>
                      </a:r>
                    </a:p>
                  </a:txBody>
                  <a:tcPr marT="42222" marB="42222">
                    <a:solidFill>
                      <a:srgbClr val="F2F2F2"/>
                    </a:solidFill>
                  </a:tcPr>
                </a:tc>
                <a:extLst>
                  <a:ext uri="{0D108BD9-81ED-4DB2-BD59-A6C34878D82A}">
                    <a16:rowId xmlns:a16="http://schemas.microsoft.com/office/drawing/2014/main" val="10002"/>
                  </a:ext>
                </a:extLst>
              </a:tr>
              <a:tr h="325869">
                <a:tc>
                  <a:txBody>
                    <a:bodyPr/>
                    <a:lstStyle/>
                    <a:p>
                      <a:pPr algn="ctr"/>
                      <a:r>
                        <a:rPr sz="1000" b="1" i="0">
                          <a:solidFill>
                            <a:srgbClr val="262626"/>
                          </a:solidFill>
                          <a:latin typeface="Arial"/>
                        </a:rPr>
                        <a:t>2020</a:t>
                      </a:r>
                    </a:p>
                  </a:txBody>
                  <a:tcPr marT="42222" marB="42222">
                    <a:solidFill>
                      <a:srgbClr val="FFFFFF"/>
                    </a:solidFill>
                  </a:tcPr>
                </a:tc>
                <a:tc>
                  <a:txBody>
                    <a:bodyPr/>
                    <a:lstStyle/>
                    <a:p>
                      <a:pPr algn="ctr"/>
                      <a:r>
                        <a:rPr sz="800" b="0" i="0">
                          <a:solidFill>
                            <a:srgbClr val="262626"/>
                          </a:solidFill>
                          <a:latin typeface="Arial"/>
                        </a:rPr>
                        <a:t>54:16</a:t>
                      </a:r>
                    </a:p>
                  </a:txBody>
                  <a:tcPr marT="42222" marB="42222">
                    <a:solidFill>
                      <a:srgbClr val="FFFFFF"/>
                    </a:solidFill>
                  </a:tcPr>
                </a:tc>
                <a:tc>
                  <a:txBody>
                    <a:bodyPr/>
                    <a:lstStyle/>
                    <a:p>
                      <a:pPr algn="ctr"/>
                      <a:r>
                        <a:rPr sz="800" b="0" i="0">
                          <a:solidFill>
                            <a:srgbClr val="262626"/>
                          </a:solidFill>
                          <a:latin typeface="Arial"/>
                        </a:rPr>
                        <a:t>54:25
+9s</a:t>
                      </a:r>
                    </a:p>
                  </a:txBody>
                  <a:tcPr marT="42222" marB="42222">
                    <a:solidFill>
                      <a:srgbClr val="FFFFFF"/>
                    </a:solidFill>
                  </a:tcPr>
                </a:tc>
                <a:tc>
                  <a:txBody>
                    <a:bodyPr/>
                    <a:lstStyle/>
                    <a:p>
                      <a:pPr algn="ctr"/>
                      <a:r>
                        <a:rPr sz="800" b="0" i="0">
                          <a:solidFill>
                            <a:srgbClr val="262626"/>
                          </a:solidFill>
                          <a:latin typeface="Arial"/>
                        </a:rPr>
                        <a:t>54:39
+23s</a:t>
                      </a:r>
                    </a:p>
                  </a:txBody>
                  <a:tcPr marT="42222" marB="42222">
                    <a:solidFill>
                      <a:srgbClr val="FFFFFF"/>
                    </a:solidFill>
                  </a:tcPr>
                </a:tc>
                <a:tc>
                  <a:txBody>
                    <a:bodyPr/>
                    <a:lstStyle/>
                    <a:p>
                      <a:pPr algn="ctr"/>
                      <a:r>
                        <a:rPr sz="800" b="0" i="0">
                          <a:solidFill>
                            <a:srgbClr val="262626"/>
                          </a:solidFill>
                          <a:latin typeface="Arial"/>
                        </a:rPr>
                        <a:t>54:50
+34s</a:t>
                      </a:r>
                    </a:p>
                  </a:txBody>
                  <a:tcPr marT="42222" marB="42222">
                    <a:solidFill>
                      <a:srgbClr val="FFFFFF"/>
                    </a:solidFill>
                  </a:tcPr>
                </a:tc>
                <a:tc>
                  <a:txBody>
                    <a:bodyPr/>
                    <a:lstStyle/>
                    <a:p>
                      <a:pPr algn="ctr"/>
                      <a:r>
                        <a:rPr sz="800" b="0" i="0">
                          <a:solidFill>
                            <a:srgbClr val="262626"/>
                          </a:solidFill>
                          <a:latin typeface="Arial"/>
                        </a:rPr>
                        <a:t>55:32
+76s</a:t>
                      </a:r>
                    </a:p>
                  </a:txBody>
                  <a:tcPr marT="42222" marB="42222">
                    <a:solidFill>
                      <a:srgbClr val="FFFFFF"/>
                    </a:solidFill>
                  </a:tcPr>
                </a:tc>
                <a:tc>
                  <a:txBody>
                    <a:bodyPr/>
                    <a:lstStyle/>
                    <a:p>
                      <a:pPr algn="ctr"/>
                      <a:r>
                        <a:rPr sz="800" b="0" i="0">
                          <a:solidFill>
                            <a:srgbClr val="262626"/>
                          </a:solidFill>
                          <a:latin typeface="Arial"/>
                        </a:rPr>
                        <a:t>56:11
+115s</a:t>
                      </a:r>
                    </a:p>
                  </a:txBody>
                  <a:tcPr marT="42222" marB="42222">
                    <a:solidFill>
                      <a:srgbClr val="FFFFFF"/>
                    </a:solidFill>
                  </a:tcPr>
                </a:tc>
                <a:extLst>
                  <a:ext uri="{0D108BD9-81ED-4DB2-BD59-A6C34878D82A}">
                    <a16:rowId xmlns:a16="http://schemas.microsoft.com/office/drawing/2014/main" val="10003"/>
                  </a:ext>
                </a:extLst>
              </a:tr>
              <a:tr h="325869">
                <a:tc>
                  <a:txBody>
                    <a:bodyPr/>
                    <a:lstStyle/>
                    <a:p>
                      <a:pPr algn="ctr"/>
                      <a:r>
                        <a:rPr sz="1000" b="1" i="0">
                          <a:solidFill>
                            <a:srgbClr val="262626"/>
                          </a:solidFill>
                          <a:latin typeface="Arial"/>
                        </a:rPr>
                        <a:t>2021</a:t>
                      </a:r>
                    </a:p>
                  </a:txBody>
                  <a:tcPr marT="42222" marB="42222">
                    <a:solidFill>
                      <a:srgbClr val="F2F2F2"/>
                    </a:solidFill>
                  </a:tcPr>
                </a:tc>
                <a:tc>
                  <a:txBody>
                    <a:bodyPr/>
                    <a:lstStyle/>
                    <a:p>
                      <a:pPr algn="ctr"/>
                      <a:r>
                        <a:rPr sz="800" b="0" i="0">
                          <a:solidFill>
                            <a:srgbClr val="262626"/>
                          </a:solidFill>
                          <a:latin typeface="Arial"/>
                        </a:rPr>
                        <a:t>58:17</a:t>
                      </a:r>
                    </a:p>
                  </a:txBody>
                  <a:tcPr marT="42222" marB="42222">
                    <a:solidFill>
                      <a:srgbClr val="F2F2F2"/>
                    </a:solidFill>
                  </a:tcPr>
                </a:tc>
                <a:tc>
                  <a:txBody>
                    <a:bodyPr/>
                    <a:lstStyle/>
                    <a:p>
                      <a:pPr algn="ctr"/>
                      <a:r>
                        <a:rPr sz="800" b="0" i="0">
                          <a:solidFill>
                            <a:srgbClr val="262626"/>
                          </a:solidFill>
                          <a:latin typeface="Arial"/>
                        </a:rPr>
                        <a:t>58:21
+4s</a:t>
                      </a:r>
                    </a:p>
                  </a:txBody>
                  <a:tcPr marT="42222" marB="42222">
                    <a:solidFill>
                      <a:srgbClr val="F2F2F2"/>
                    </a:solidFill>
                  </a:tcPr>
                </a:tc>
                <a:tc>
                  <a:txBody>
                    <a:bodyPr/>
                    <a:lstStyle/>
                    <a:p>
                      <a:pPr algn="ctr"/>
                      <a:r>
                        <a:rPr sz="800" b="0" i="0">
                          <a:solidFill>
                            <a:srgbClr val="262626"/>
                          </a:solidFill>
                          <a:latin typeface="Arial"/>
                        </a:rPr>
                        <a:t>58:26
+9s</a:t>
                      </a:r>
                    </a:p>
                  </a:txBody>
                  <a:tcPr marT="42222" marB="42222">
                    <a:solidFill>
                      <a:srgbClr val="F2F2F2"/>
                    </a:solidFill>
                  </a:tcPr>
                </a:tc>
                <a:tc>
                  <a:txBody>
                    <a:bodyPr/>
                    <a:lstStyle/>
                    <a:p>
                      <a:pPr algn="ctr"/>
                      <a:r>
                        <a:rPr sz="800" b="0" i="0">
                          <a:solidFill>
                            <a:srgbClr val="262626"/>
                          </a:solidFill>
                          <a:latin typeface="Arial"/>
                        </a:rPr>
                        <a:t>58:36
+19s</a:t>
                      </a:r>
                    </a:p>
                  </a:txBody>
                  <a:tcPr marT="42222" marB="42222">
                    <a:solidFill>
                      <a:srgbClr val="F2F2F2"/>
                    </a:solidFill>
                  </a:tcPr>
                </a:tc>
                <a:tc>
                  <a:txBody>
                    <a:bodyPr/>
                    <a:lstStyle/>
                    <a:p>
                      <a:pPr algn="ctr"/>
                      <a:r>
                        <a:rPr sz="800" b="0" i="0">
                          <a:solidFill>
                            <a:srgbClr val="262626"/>
                          </a:solidFill>
                          <a:latin typeface="Arial"/>
                        </a:rPr>
                        <a:t>58:48
+31s</a:t>
                      </a:r>
                    </a:p>
                  </a:txBody>
                  <a:tcPr marT="42222" marB="42222">
                    <a:solidFill>
                      <a:srgbClr val="F2F2F2"/>
                    </a:solidFill>
                  </a:tcPr>
                </a:tc>
                <a:tc>
                  <a:txBody>
                    <a:bodyPr/>
                    <a:lstStyle/>
                    <a:p>
                      <a:pPr algn="ctr"/>
                      <a:r>
                        <a:rPr sz="800" b="0" i="0">
                          <a:solidFill>
                            <a:srgbClr val="262626"/>
                          </a:solidFill>
                          <a:latin typeface="Arial"/>
                        </a:rPr>
                        <a:t>59:30
+73s</a:t>
                      </a:r>
                    </a:p>
                  </a:txBody>
                  <a:tcPr marT="42222" marB="42222">
                    <a:solidFill>
                      <a:srgbClr val="F2F2F2"/>
                    </a:solidFill>
                  </a:tcPr>
                </a:tc>
                <a:extLst>
                  <a:ext uri="{0D108BD9-81ED-4DB2-BD59-A6C34878D82A}">
                    <a16:rowId xmlns:a16="http://schemas.microsoft.com/office/drawing/2014/main" val="10004"/>
                  </a:ext>
                </a:extLst>
              </a:tr>
              <a:tr h="325869">
                <a:tc>
                  <a:txBody>
                    <a:bodyPr/>
                    <a:lstStyle/>
                    <a:p>
                      <a:pPr algn="ctr"/>
                      <a:r>
                        <a:rPr sz="1000" b="1" i="0">
                          <a:solidFill>
                            <a:srgbClr val="262626"/>
                          </a:solidFill>
                          <a:latin typeface="Arial"/>
                        </a:rPr>
                        <a:t>2022</a:t>
                      </a:r>
                    </a:p>
                  </a:txBody>
                  <a:tcPr marT="42222" marB="42222">
                    <a:solidFill>
                      <a:srgbClr val="FFFFFF"/>
                    </a:solidFill>
                  </a:tcPr>
                </a:tc>
                <a:tc>
                  <a:txBody>
                    <a:bodyPr/>
                    <a:lstStyle/>
                    <a:p>
                      <a:pPr algn="ctr"/>
                      <a:r>
                        <a:rPr sz="800" b="0" i="0">
                          <a:solidFill>
                            <a:srgbClr val="262626"/>
                          </a:solidFill>
                          <a:latin typeface="Arial"/>
                        </a:rPr>
                        <a:t>58:37</a:t>
                      </a:r>
                    </a:p>
                  </a:txBody>
                  <a:tcPr marT="42222" marB="42222">
                    <a:solidFill>
                      <a:srgbClr val="FFFFFF"/>
                    </a:solidFill>
                  </a:tcPr>
                </a:tc>
                <a:tc>
                  <a:txBody>
                    <a:bodyPr/>
                    <a:lstStyle/>
                    <a:p>
                      <a:pPr algn="ctr"/>
                      <a:r>
                        <a:rPr sz="800" b="0" i="0">
                          <a:solidFill>
                            <a:srgbClr val="262626"/>
                          </a:solidFill>
                          <a:latin typeface="Arial"/>
                        </a:rPr>
                        <a:t>58:43
+6s</a:t>
                      </a:r>
                    </a:p>
                  </a:txBody>
                  <a:tcPr marT="42222" marB="42222">
                    <a:solidFill>
                      <a:srgbClr val="FFFFFF"/>
                    </a:solidFill>
                  </a:tcPr>
                </a:tc>
                <a:tc>
                  <a:txBody>
                    <a:bodyPr/>
                    <a:lstStyle/>
                    <a:p>
                      <a:pPr algn="ctr"/>
                      <a:r>
                        <a:rPr sz="800" b="0" i="0">
                          <a:solidFill>
                            <a:srgbClr val="262626"/>
                          </a:solidFill>
                          <a:latin typeface="Arial"/>
                        </a:rPr>
                        <a:t>58:53
+16s</a:t>
                      </a:r>
                    </a:p>
                  </a:txBody>
                  <a:tcPr marT="42222" marB="42222">
                    <a:solidFill>
                      <a:srgbClr val="FFFFFF"/>
                    </a:solidFill>
                  </a:tcPr>
                </a:tc>
                <a:tc>
                  <a:txBody>
                    <a:bodyPr/>
                    <a:lstStyle/>
                    <a:p>
                      <a:pPr algn="ctr"/>
                      <a:r>
                        <a:rPr sz="800" b="0" i="0">
                          <a:solidFill>
                            <a:srgbClr val="262626"/>
                          </a:solidFill>
                          <a:latin typeface="Arial"/>
                        </a:rPr>
                        <a:t>59:00
+23s</a:t>
                      </a:r>
                    </a:p>
                  </a:txBody>
                  <a:tcPr marT="42222" marB="42222">
                    <a:solidFill>
                      <a:srgbClr val="FFFFFF"/>
                    </a:solidFill>
                  </a:tcPr>
                </a:tc>
                <a:tc>
                  <a:txBody>
                    <a:bodyPr/>
                    <a:lstStyle/>
                    <a:p>
                      <a:pPr algn="ctr"/>
                      <a:r>
                        <a:rPr sz="800" b="0" i="0">
                          <a:solidFill>
                            <a:srgbClr val="262626"/>
                          </a:solidFill>
                          <a:latin typeface="Arial"/>
                        </a:rPr>
                        <a:t>59:11
+34s</a:t>
                      </a:r>
                    </a:p>
                  </a:txBody>
                  <a:tcPr marT="42222" marB="42222">
                    <a:solidFill>
                      <a:srgbClr val="FFFFFF"/>
                    </a:solidFill>
                  </a:tcPr>
                </a:tc>
                <a:tc>
                  <a:txBody>
                    <a:bodyPr/>
                    <a:lstStyle/>
                    <a:p>
                      <a:pPr algn="ctr"/>
                      <a:r>
                        <a:rPr sz="800" b="0" i="0">
                          <a:solidFill>
                            <a:srgbClr val="262626"/>
                          </a:solidFill>
                          <a:latin typeface="Arial"/>
                        </a:rPr>
                        <a:t>59:45
+68s</a:t>
                      </a:r>
                    </a:p>
                  </a:txBody>
                  <a:tcPr marT="42222" marB="42222">
                    <a:solidFill>
                      <a:srgbClr val="FFFFFF"/>
                    </a:solidFill>
                  </a:tcPr>
                </a:tc>
                <a:extLst>
                  <a:ext uri="{0D108BD9-81ED-4DB2-BD59-A6C34878D82A}">
                    <a16:rowId xmlns:a16="http://schemas.microsoft.com/office/drawing/2014/main" val="10005"/>
                  </a:ext>
                </a:extLst>
              </a:tr>
              <a:tr h="325869">
                <a:tc>
                  <a:txBody>
                    <a:bodyPr/>
                    <a:lstStyle/>
                    <a:p>
                      <a:pPr algn="ctr"/>
                      <a:r>
                        <a:rPr sz="1000" b="1" i="0">
                          <a:solidFill>
                            <a:srgbClr val="262626"/>
                          </a:solidFill>
                          <a:latin typeface="Arial"/>
                        </a:rPr>
                        <a:t>2023</a:t>
                      </a:r>
                    </a:p>
                  </a:txBody>
                  <a:tcPr marT="42222" marB="42222">
                    <a:solidFill>
                      <a:srgbClr val="F2F2F2"/>
                    </a:solidFill>
                  </a:tcPr>
                </a:tc>
                <a:tc>
                  <a:txBody>
                    <a:bodyPr/>
                    <a:lstStyle/>
                    <a:p>
                      <a:pPr algn="ctr"/>
                      <a:r>
                        <a:rPr sz="800" b="0" i="0">
                          <a:solidFill>
                            <a:srgbClr val="262626"/>
                          </a:solidFill>
                          <a:latin typeface="Arial"/>
                        </a:rPr>
                        <a:t>21:35</a:t>
                      </a:r>
                    </a:p>
                  </a:txBody>
                  <a:tcPr marT="42222" marB="42222">
                    <a:solidFill>
                      <a:srgbClr val="F2F2F2"/>
                    </a:solidFill>
                  </a:tcPr>
                </a:tc>
                <a:tc>
                  <a:txBody>
                    <a:bodyPr/>
                    <a:lstStyle/>
                    <a:p>
                      <a:pPr algn="ctr"/>
                      <a:r>
                        <a:rPr sz="800" b="0" i="0">
                          <a:solidFill>
                            <a:srgbClr val="262626"/>
                          </a:solidFill>
                          <a:latin typeface="Arial"/>
                        </a:rPr>
                        <a:t>21:45
+10s</a:t>
                      </a:r>
                    </a:p>
                  </a:txBody>
                  <a:tcPr marT="42222" marB="42222">
                    <a:solidFill>
                      <a:srgbClr val="F2F2F2"/>
                    </a:solidFill>
                  </a:tcPr>
                </a:tc>
                <a:tc>
                  <a:txBody>
                    <a:bodyPr/>
                    <a:lstStyle/>
                    <a:p>
                      <a:pPr algn="ctr"/>
                      <a:r>
                        <a:rPr sz="800" b="0" i="0">
                          <a:solidFill>
                            <a:srgbClr val="262626"/>
                          </a:solidFill>
                          <a:latin typeface="Arial"/>
                        </a:rPr>
                        <a:t>21:47
+12s</a:t>
                      </a:r>
                    </a:p>
                  </a:txBody>
                  <a:tcPr marT="42222" marB="42222">
                    <a:solidFill>
                      <a:srgbClr val="F2F2F2"/>
                    </a:solidFill>
                  </a:tcPr>
                </a:tc>
                <a:tc>
                  <a:txBody>
                    <a:bodyPr/>
                    <a:lstStyle/>
                    <a:p>
                      <a:pPr algn="ctr"/>
                      <a:r>
                        <a:rPr sz="800" b="0" i="0">
                          <a:solidFill>
                            <a:srgbClr val="262626"/>
                          </a:solidFill>
                          <a:latin typeface="Arial"/>
                        </a:rPr>
                        <a:t>21:55
+20s</a:t>
                      </a:r>
                    </a:p>
                  </a:txBody>
                  <a:tcPr marT="42222" marB="42222">
                    <a:solidFill>
                      <a:srgbClr val="F2F2F2"/>
                    </a:solidFill>
                  </a:tcPr>
                </a:tc>
                <a:tc>
                  <a:txBody>
                    <a:bodyPr/>
                    <a:lstStyle/>
                    <a:p>
                      <a:pPr algn="ctr"/>
                      <a:r>
                        <a:rPr sz="800" b="0" i="0">
                          <a:solidFill>
                            <a:srgbClr val="262626"/>
                          </a:solidFill>
                          <a:latin typeface="Arial"/>
                        </a:rPr>
                        <a:t>22:30
+55s</a:t>
                      </a:r>
                    </a:p>
                  </a:txBody>
                  <a:tcPr marT="42222" marB="42222">
                    <a:solidFill>
                      <a:srgbClr val="F2F2F2"/>
                    </a:solidFill>
                  </a:tcPr>
                </a:tc>
                <a:tc>
                  <a:txBody>
                    <a:bodyPr/>
                    <a:lstStyle/>
                    <a:p>
                      <a:pPr algn="ctr"/>
                      <a:r>
                        <a:rPr sz="800" b="0" i="0">
                          <a:solidFill>
                            <a:srgbClr val="262626"/>
                          </a:solidFill>
                          <a:latin typeface="Arial"/>
                        </a:rPr>
                        <a:t>—</a:t>
                      </a:r>
                    </a:p>
                  </a:txBody>
                  <a:tcPr marT="42222" marB="42222">
                    <a:solidFill>
                      <a:srgbClr val="F2F2F2"/>
                    </a:solidFill>
                  </a:tcPr>
                </a:tc>
                <a:extLst>
                  <a:ext uri="{0D108BD9-81ED-4DB2-BD59-A6C34878D82A}">
                    <a16:rowId xmlns:a16="http://schemas.microsoft.com/office/drawing/2014/main" val="10006"/>
                  </a:ext>
                </a:extLst>
              </a:tr>
              <a:tr h="325869">
                <a:tc>
                  <a:txBody>
                    <a:bodyPr/>
                    <a:lstStyle/>
                    <a:p>
                      <a:pPr algn="ctr"/>
                      <a:r>
                        <a:rPr sz="1000" b="1" i="0">
                          <a:solidFill>
                            <a:srgbClr val="262626"/>
                          </a:solidFill>
                          <a:latin typeface="Arial"/>
                        </a:rPr>
                        <a:t>2024</a:t>
                      </a:r>
                    </a:p>
                  </a:txBody>
                  <a:tcPr marT="42222" marB="42222">
                    <a:solidFill>
                      <a:srgbClr val="FFFFFF"/>
                    </a:solidFill>
                  </a:tcPr>
                </a:tc>
                <a:tc>
                  <a:txBody>
                    <a:bodyPr/>
                    <a:lstStyle/>
                    <a:p>
                      <a:pPr algn="ctr"/>
                      <a:r>
                        <a:rPr sz="800" b="0" i="0">
                          <a:solidFill>
                            <a:srgbClr val="262626"/>
                          </a:solidFill>
                          <a:latin typeface="Arial"/>
                        </a:rPr>
                        <a:t>55:19</a:t>
                      </a:r>
                    </a:p>
                  </a:txBody>
                  <a:tcPr marT="42222" marB="42222">
                    <a:solidFill>
                      <a:srgbClr val="FFFFFF"/>
                    </a:solidFill>
                  </a:tcPr>
                </a:tc>
                <a:tc>
                  <a:txBody>
                    <a:bodyPr/>
                    <a:lstStyle/>
                    <a:p>
                      <a:pPr algn="ctr"/>
                      <a:r>
                        <a:rPr sz="800" b="0" i="0">
                          <a:solidFill>
                            <a:srgbClr val="262626"/>
                          </a:solidFill>
                          <a:latin typeface="Arial"/>
                        </a:rPr>
                        <a:t>55:30
+11s</a:t>
                      </a:r>
                    </a:p>
                  </a:txBody>
                  <a:tcPr marT="42222" marB="42222">
                    <a:solidFill>
                      <a:srgbClr val="FFFFFF"/>
                    </a:solidFill>
                  </a:tcPr>
                </a:tc>
                <a:tc>
                  <a:txBody>
                    <a:bodyPr/>
                    <a:lstStyle/>
                    <a:p>
                      <a:pPr algn="ctr"/>
                      <a:r>
                        <a:rPr sz="800" b="0" i="0">
                          <a:solidFill>
                            <a:srgbClr val="262626"/>
                          </a:solidFill>
                          <a:latin typeface="Arial"/>
                        </a:rPr>
                        <a:t>55:31
+12s</a:t>
                      </a:r>
                    </a:p>
                  </a:txBody>
                  <a:tcPr marT="42222" marB="42222">
                    <a:solidFill>
                      <a:srgbClr val="FFFFFF"/>
                    </a:solidFill>
                  </a:tcPr>
                </a:tc>
                <a:tc>
                  <a:txBody>
                    <a:bodyPr/>
                    <a:lstStyle/>
                    <a:p>
                      <a:pPr algn="ctr"/>
                      <a:r>
                        <a:rPr sz="800" b="0" i="0">
                          <a:solidFill>
                            <a:srgbClr val="262626"/>
                          </a:solidFill>
                          <a:latin typeface="Arial"/>
                        </a:rPr>
                        <a:t>55:35
+16s</a:t>
                      </a:r>
                    </a:p>
                  </a:txBody>
                  <a:tcPr marT="42222" marB="42222">
                    <a:solidFill>
                      <a:srgbClr val="FFFFFF"/>
                    </a:solidFill>
                  </a:tcPr>
                </a:tc>
                <a:tc>
                  <a:txBody>
                    <a:bodyPr/>
                    <a:lstStyle/>
                    <a:p>
                      <a:pPr algn="ctr"/>
                      <a:r>
                        <a:rPr sz="800" b="0" i="0">
                          <a:solidFill>
                            <a:srgbClr val="262626"/>
                          </a:solidFill>
                          <a:latin typeface="Arial"/>
                        </a:rPr>
                        <a:t>56:17
+58s</a:t>
                      </a:r>
                    </a:p>
                  </a:txBody>
                  <a:tcPr marT="42222" marB="42222">
                    <a:solidFill>
                      <a:srgbClr val="FFFFFF"/>
                    </a:solidFill>
                  </a:tcPr>
                </a:tc>
                <a:tc>
                  <a:txBody>
                    <a:bodyPr/>
                    <a:lstStyle/>
                    <a:p>
                      <a:pPr algn="ctr"/>
                      <a:r>
                        <a:rPr sz="800" b="0" i="0">
                          <a:solidFill>
                            <a:srgbClr val="262626"/>
                          </a:solidFill>
                          <a:latin typeface="Arial"/>
                        </a:rPr>
                        <a:t>56:44
+85s</a:t>
                      </a:r>
                    </a:p>
                  </a:txBody>
                  <a:tcPr marT="42222" marB="42222">
                    <a:solidFill>
                      <a:srgbClr val="FFFFFF"/>
                    </a:solidFill>
                  </a:tcPr>
                </a:tc>
                <a:extLst>
                  <a:ext uri="{0D108BD9-81ED-4DB2-BD59-A6C34878D82A}">
                    <a16:rowId xmlns:a16="http://schemas.microsoft.com/office/drawing/2014/main" val="10007"/>
                  </a:ext>
                </a:extLst>
              </a:tr>
              <a:tr h="325869">
                <a:tc>
                  <a:txBody>
                    <a:bodyPr/>
                    <a:lstStyle/>
                    <a:p>
                      <a:pPr algn="ctr"/>
                      <a:r>
                        <a:rPr sz="1000" b="1" i="0">
                          <a:solidFill>
                            <a:srgbClr val="262626"/>
                          </a:solidFill>
                          <a:latin typeface="Arial"/>
                        </a:rPr>
                        <a:t>2025</a:t>
                      </a:r>
                    </a:p>
                  </a:txBody>
                  <a:tcPr marT="42222" marB="42222">
                    <a:solidFill>
                      <a:srgbClr val="F2F2F2"/>
                    </a:solidFill>
                  </a:tcPr>
                </a:tc>
                <a:tc>
                  <a:txBody>
                    <a:bodyPr/>
                    <a:lstStyle/>
                    <a:p>
                      <a:pPr algn="ctr"/>
                      <a:r>
                        <a:rPr sz="800" b="0" i="0">
                          <a:solidFill>
                            <a:srgbClr val="262626"/>
                          </a:solidFill>
                          <a:latin typeface="Arial"/>
                        </a:rPr>
                        <a:t>56:25</a:t>
                      </a:r>
                    </a:p>
                  </a:txBody>
                  <a:tcPr marT="42222" marB="42222">
                    <a:solidFill>
                      <a:srgbClr val="F2F2F2"/>
                    </a:solidFill>
                  </a:tcPr>
                </a:tc>
                <a:tc>
                  <a:txBody>
                    <a:bodyPr/>
                    <a:lstStyle/>
                    <a:p>
                      <a:pPr algn="ctr"/>
                      <a:r>
                        <a:rPr sz="800" b="0" i="0">
                          <a:solidFill>
                            <a:srgbClr val="262626"/>
                          </a:solidFill>
                          <a:latin typeface="Arial"/>
                        </a:rPr>
                        <a:t>56:29
+4s</a:t>
                      </a:r>
                    </a:p>
                  </a:txBody>
                  <a:tcPr marT="42222" marB="42222">
                    <a:solidFill>
                      <a:srgbClr val="F2F2F2"/>
                    </a:solidFill>
                  </a:tcPr>
                </a:tc>
                <a:tc>
                  <a:txBody>
                    <a:bodyPr/>
                    <a:lstStyle/>
                    <a:p>
                      <a:pPr algn="ctr"/>
                      <a:r>
                        <a:rPr sz="800" b="0" i="0">
                          <a:solidFill>
                            <a:srgbClr val="262626"/>
                          </a:solidFill>
                          <a:latin typeface="Arial"/>
                        </a:rPr>
                        <a:t>56:32
+7s</a:t>
                      </a:r>
                    </a:p>
                  </a:txBody>
                  <a:tcPr marT="42222" marB="42222">
                    <a:solidFill>
                      <a:srgbClr val="F2F2F2"/>
                    </a:solidFill>
                  </a:tcPr>
                </a:tc>
                <a:tc>
                  <a:txBody>
                    <a:bodyPr/>
                    <a:lstStyle/>
                    <a:p>
                      <a:pPr algn="ctr"/>
                      <a:r>
                        <a:rPr sz="800" b="0" i="0">
                          <a:solidFill>
                            <a:srgbClr val="262626"/>
                          </a:solidFill>
                          <a:latin typeface="Arial"/>
                        </a:rPr>
                        <a:t>56:47
+22s</a:t>
                      </a:r>
                    </a:p>
                  </a:txBody>
                  <a:tcPr marT="42222" marB="42222">
                    <a:solidFill>
                      <a:srgbClr val="F2F2F2"/>
                    </a:solidFill>
                  </a:tcPr>
                </a:tc>
                <a:tc>
                  <a:txBody>
                    <a:bodyPr/>
                    <a:lstStyle/>
                    <a:p>
                      <a:pPr algn="ctr"/>
                      <a:r>
                        <a:rPr sz="800" b="0" i="0">
                          <a:solidFill>
                            <a:srgbClr val="262626"/>
                          </a:solidFill>
                          <a:latin typeface="Arial"/>
                        </a:rPr>
                        <a:t>56:59
+34s</a:t>
                      </a:r>
                    </a:p>
                  </a:txBody>
                  <a:tcPr marT="42222" marB="42222">
                    <a:solidFill>
                      <a:srgbClr val="F2F2F2"/>
                    </a:solidFill>
                  </a:tcPr>
                </a:tc>
                <a:tc>
                  <a:txBody>
                    <a:bodyPr/>
                    <a:lstStyle/>
                    <a:p>
                      <a:pPr algn="ctr"/>
                      <a:r>
                        <a:rPr sz="800" b="0" i="0" dirty="0">
                          <a:solidFill>
                            <a:srgbClr val="262626"/>
                          </a:solidFill>
                          <a:latin typeface="Arial"/>
                        </a:rPr>
                        <a:t>57:21
+56s</a:t>
                      </a:r>
                    </a:p>
                  </a:txBody>
                  <a:tcPr marT="42222" marB="42222">
                    <a:solidFill>
                      <a:srgbClr val="F2F2F2"/>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Hamburg</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4114800"/>
        </p:xfrm>
        <a:graphic>
          <a:graphicData uri="http://schemas.openxmlformats.org/drawingml/2006/table">
            <a:tbl>
              <a:tblPr firstRow="1" bandRow="1">
                <a:tableStyleId>{5C22544A-7EE6-4342-B048-85BDC9FD1C3A}</a:tableStyleId>
              </a:tblPr>
              <a:tblGrid>
                <a:gridCol w="591571">
                  <a:extLst>
                    <a:ext uri="{9D8B030D-6E8A-4147-A177-3AD203B41FA5}">
                      <a16:colId xmlns:a16="http://schemas.microsoft.com/office/drawing/2014/main" val="20000"/>
                    </a:ext>
                  </a:extLst>
                </a:gridCol>
                <a:gridCol w="864604">
                  <a:extLst>
                    <a:ext uri="{9D8B030D-6E8A-4147-A177-3AD203B41FA5}">
                      <a16:colId xmlns:a16="http://schemas.microsoft.com/office/drawing/2014/main" val="20001"/>
                    </a:ext>
                  </a:extLst>
                </a:gridCol>
                <a:gridCol w="910110">
                  <a:extLst>
                    <a:ext uri="{9D8B030D-6E8A-4147-A177-3AD203B41FA5}">
                      <a16:colId xmlns:a16="http://schemas.microsoft.com/office/drawing/2014/main" val="20002"/>
                    </a:ext>
                  </a:extLst>
                </a:gridCol>
                <a:gridCol w="819099">
                  <a:extLst>
                    <a:ext uri="{9D8B030D-6E8A-4147-A177-3AD203B41FA5}">
                      <a16:colId xmlns:a16="http://schemas.microsoft.com/office/drawing/2014/main" val="20003"/>
                    </a:ext>
                  </a:extLst>
                </a:gridCol>
                <a:gridCol w="910110">
                  <a:extLst>
                    <a:ext uri="{9D8B030D-6E8A-4147-A177-3AD203B41FA5}">
                      <a16:colId xmlns:a16="http://schemas.microsoft.com/office/drawing/2014/main" val="20004"/>
                    </a:ext>
                  </a:extLst>
                </a:gridCol>
                <a:gridCol w="864604">
                  <a:extLst>
                    <a:ext uri="{9D8B030D-6E8A-4147-A177-3AD203B41FA5}">
                      <a16:colId xmlns:a16="http://schemas.microsoft.com/office/drawing/2014/main" val="20005"/>
                    </a:ext>
                  </a:extLst>
                </a:gridCol>
                <a:gridCol w="864604">
                  <a:extLst>
                    <a:ext uri="{9D8B030D-6E8A-4147-A177-3AD203B41FA5}">
                      <a16:colId xmlns:a16="http://schemas.microsoft.com/office/drawing/2014/main" val="20006"/>
                    </a:ext>
                  </a:extLst>
                </a:gridCol>
                <a:gridCol w="819099">
                  <a:extLst>
                    <a:ext uri="{9D8B030D-6E8A-4147-A177-3AD203B41FA5}">
                      <a16:colId xmlns:a16="http://schemas.microsoft.com/office/drawing/2014/main" val="20007"/>
                    </a:ext>
                  </a:extLst>
                </a:gridCol>
                <a:gridCol w="4996506">
                  <a:extLst>
                    <a:ext uri="{9D8B030D-6E8A-4147-A177-3AD203B41FA5}">
                      <a16:colId xmlns:a16="http://schemas.microsoft.com/office/drawing/2014/main" val="20008"/>
                    </a:ext>
                  </a:extLst>
                </a:gridCol>
              </a:tblGrid>
              <a:tr h="457200">
                <a:tc>
                  <a:txBody>
                    <a:bodyPr/>
                    <a:lstStyle/>
                    <a:p>
                      <a:pPr algn="ctr"/>
                      <a:r>
                        <a:rPr sz="1200" b="1" i="0">
                          <a:solidFill>
                            <a:srgbClr val="FFFFFF"/>
                          </a:solidFill>
                          <a:latin typeface="Arial"/>
                        </a:rPr>
                        <a:t>Year</a:t>
                      </a:r>
                    </a:p>
                  </a:txBody>
                  <a:tcPr>
                    <a:solidFill>
                      <a:srgbClr val="002060"/>
                    </a:solidFill>
                  </a:tcPr>
                </a:tc>
                <a:tc>
                  <a:txBody>
                    <a:bodyPr/>
                    <a:lstStyle/>
                    <a:p>
                      <a:pPr algn="ctr"/>
                      <a:r>
                        <a:rPr sz="1200" b="1" i="0">
                          <a:solidFill>
                            <a:srgbClr val="FFFFFF"/>
                          </a:solidFill>
                          <a:latin typeface="Arial"/>
                        </a:rPr>
                        <a:t>Date</a:t>
                      </a:r>
                    </a:p>
                  </a:txBody>
                  <a:tcPr>
                    <a:solidFill>
                      <a:srgbClr val="002060"/>
                    </a:solidFill>
                  </a:tcPr>
                </a:tc>
                <a:tc>
                  <a:txBody>
                    <a:bodyPr/>
                    <a:lstStyle/>
                    <a:p>
                      <a:pPr algn="ctr"/>
                      <a:r>
                        <a:rPr sz="1200" b="1" i="0">
                          <a:solidFill>
                            <a:srgbClr val="FFFFFF"/>
                          </a:solidFill>
                          <a:latin typeface="Arial"/>
                        </a:rPr>
                        <a:t>Air Temp</a:t>
                      </a:r>
                    </a:p>
                  </a:txBody>
                  <a:tcPr>
                    <a:solidFill>
                      <a:srgbClr val="002060"/>
                    </a:solidFill>
                  </a:tcPr>
                </a:tc>
                <a:tc>
                  <a:txBody>
                    <a:bodyPr/>
                    <a:lstStyle/>
                    <a:p>
                      <a:pPr algn="ctr"/>
                      <a:r>
                        <a:rPr sz="1200" b="1" i="0">
                          <a:solidFill>
                            <a:srgbClr val="FFFFFF"/>
                          </a:solidFill>
                          <a:latin typeface="Arial"/>
                        </a:rPr>
                        <a:t>Humidity</a:t>
                      </a:r>
                    </a:p>
                  </a:txBody>
                  <a:tcPr>
                    <a:solidFill>
                      <a:srgbClr val="002060"/>
                    </a:solidFill>
                  </a:tcPr>
                </a:tc>
                <a:tc>
                  <a:txBody>
                    <a:bodyPr/>
                    <a:lstStyle/>
                    <a:p>
                      <a:pPr algn="ctr"/>
                      <a:r>
                        <a:rPr sz="1200" b="1" i="0">
                          <a:solidFill>
                            <a:srgbClr val="FFFFFF"/>
                          </a:solidFill>
                          <a:latin typeface="Arial"/>
                        </a:rPr>
                        <a:t>Wind (km/h)</a:t>
                      </a:r>
                    </a:p>
                  </a:txBody>
                  <a:tcPr>
                    <a:solidFill>
                      <a:srgbClr val="002060"/>
                    </a:solidFill>
                  </a:tcPr>
                </a:tc>
                <a:tc>
                  <a:txBody>
                    <a:bodyPr/>
                    <a:lstStyle/>
                    <a:p>
                      <a:pPr algn="ctr"/>
                      <a:r>
                        <a:rPr sz="1200" b="1" i="0">
                          <a:solidFill>
                            <a:srgbClr val="FFFFFF"/>
                          </a:solidFill>
                          <a:latin typeface="Arial"/>
                        </a:rPr>
                        <a:t>Precip (mm)</a:t>
                      </a:r>
                    </a:p>
                  </a:txBody>
                  <a:tcPr>
                    <a:solidFill>
                      <a:srgbClr val="002060"/>
                    </a:solidFill>
                  </a:tcPr>
                </a:tc>
                <a:tc>
                  <a:txBody>
                    <a:bodyPr/>
                    <a:lstStyle/>
                    <a:p>
                      <a:pPr algn="ctr"/>
                      <a:r>
                        <a:rPr sz="1200" b="1" i="0">
                          <a:solidFill>
                            <a:srgbClr val="FFFFFF"/>
                          </a:solidFill>
                          <a:latin typeface="Arial"/>
                        </a:rPr>
                        <a:t>Water Temp</a:t>
                      </a:r>
                    </a:p>
                  </a:txBody>
                  <a:tcPr>
                    <a:solidFill>
                      <a:srgbClr val="002060"/>
                    </a:solidFill>
                  </a:tcPr>
                </a:tc>
                <a:tc>
                  <a:txBody>
                    <a:bodyPr/>
                    <a:lstStyle/>
                    <a:p>
                      <a:pPr algn="ctr"/>
                      <a:r>
                        <a:rPr sz="1200" b="1" i="0">
                          <a:solidFill>
                            <a:srgbClr val="FFFFFF"/>
                          </a:solidFill>
                          <a:latin typeface="Arial"/>
                        </a:rPr>
                        <a:t>Wetsuit</a:t>
                      </a:r>
                    </a:p>
                  </a:txBody>
                  <a:tcPr>
                    <a:solidFill>
                      <a:srgbClr val="002060"/>
                    </a:solidFill>
                  </a:tcPr>
                </a:tc>
                <a:tc>
                  <a:txBody>
                    <a:bodyPr/>
                    <a:lstStyle/>
                    <a:p>
                      <a:pPr algn="ctr"/>
                      <a:r>
                        <a:rPr sz="1200" b="1" i="0">
                          <a:solidFill>
                            <a:srgbClr val="FFFFFF"/>
                          </a:solidFill>
                          <a:latin typeface="Arial"/>
                        </a:rPr>
                        <a:t>Conditions</a:t>
                      </a:r>
                    </a:p>
                  </a:txBody>
                  <a:tcPr>
                    <a:solidFill>
                      <a:srgbClr val="002060"/>
                    </a:solidFill>
                  </a:tcPr>
                </a:tc>
                <a:extLst>
                  <a:ext uri="{0D108BD9-81ED-4DB2-BD59-A6C34878D82A}">
                    <a16:rowId xmlns:a16="http://schemas.microsoft.com/office/drawing/2014/main" val="10000"/>
                  </a:ext>
                </a:extLst>
              </a:tr>
              <a:tr h="457200">
                <a:tc>
                  <a:txBody>
                    <a:bodyPr/>
                    <a:lstStyle/>
                    <a:p>
                      <a:pPr algn="ctr"/>
                      <a:r>
                        <a:rPr sz="1000" b="0" i="0">
                          <a:solidFill>
                            <a:srgbClr val="262626"/>
                          </a:solidFill>
                          <a:latin typeface="Arial"/>
                        </a:rPr>
                        <a:t>2018</a:t>
                      </a:r>
                    </a:p>
                  </a:txBody>
                  <a:tcPr>
                    <a:solidFill>
                      <a:srgbClr val="FFFFFF"/>
                    </a:solidFill>
                  </a:tcPr>
                </a:tc>
                <a:tc>
                  <a:txBody>
                    <a:bodyPr/>
                    <a:lstStyle/>
                    <a:p>
                      <a:pPr algn="ctr"/>
                      <a:r>
                        <a:rPr sz="1000" b="0" i="0">
                          <a:solidFill>
                            <a:srgbClr val="262626"/>
                          </a:solidFill>
                          <a:latin typeface="Arial"/>
                        </a:rPr>
                        <a:t>Jul 14</a:t>
                      </a:r>
                    </a:p>
                  </a:txBody>
                  <a:tcPr>
                    <a:solidFill>
                      <a:srgbClr val="FFFFFF"/>
                    </a:solidFill>
                  </a:tcPr>
                </a:tc>
                <a:tc>
                  <a:txBody>
                    <a:bodyPr/>
                    <a:lstStyle/>
                    <a:p>
                      <a:pPr algn="ctr"/>
                      <a:r>
                        <a:rPr sz="1000" b="0" i="0">
                          <a:solidFill>
                            <a:srgbClr val="262626"/>
                          </a:solidFill>
                          <a:latin typeface="Arial"/>
                        </a:rPr>
                        <a:t>20.9</a:t>
                      </a:r>
                    </a:p>
                  </a:txBody>
                  <a:tcPr>
                    <a:solidFill>
                      <a:srgbClr val="FFFFFF"/>
                    </a:solidFill>
                  </a:tcPr>
                </a:tc>
                <a:tc>
                  <a:txBody>
                    <a:bodyPr/>
                    <a:lstStyle/>
                    <a:p>
                      <a:pPr algn="ctr"/>
                      <a:r>
                        <a:rPr sz="1000" b="0" i="0">
                          <a:solidFill>
                            <a:srgbClr val="262626"/>
                          </a:solidFill>
                          <a:latin typeface="Arial"/>
                        </a:rPr>
                        <a:t>67%</a:t>
                      </a:r>
                    </a:p>
                  </a:txBody>
                  <a:tcPr>
                    <a:solidFill>
                      <a:srgbClr val="FFFFFF"/>
                    </a:solidFill>
                  </a:tcPr>
                </a:tc>
                <a:tc>
                  <a:txBody>
                    <a:bodyPr/>
                    <a:lstStyle/>
                    <a:p>
                      <a:pPr algn="ctr"/>
                      <a:r>
                        <a:rPr sz="1000" b="0" i="0">
                          <a:solidFill>
                            <a:srgbClr val="262626"/>
                          </a:solidFill>
                          <a:latin typeface="Arial"/>
                        </a:rPr>
                        <a:t>11</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21.3</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r h="457200">
                <a:tc>
                  <a:txBody>
                    <a:bodyPr/>
                    <a:lstStyle/>
                    <a:p>
                      <a:pPr algn="ctr"/>
                      <a:r>
                        <a:rPr sz="1000" b="0" i="0">
                          <a:solidFill>
                            <a:srgbClr val="262626"/>
                          </a:solidFill>
                          <a:latin typeface="Arial"/>
                        </a:rPr>
                        <a:t>2019</a:t>
                      </a:r>
                    </a:p>
                  </a:txBody>
                  <a:tcPr>
                    <a:solidFill>
                      <a:srgbClr val="F2F2F2"/>
                    </a:solidFill>
                  </a:tcPr>
                </a:tc>
                <a:tc>
                  <a:txBody>
                    <a:bodyPr/>
                    <a:lstStyle/>
                    <a:p>
                      <a:pPr algn="ctr"/>
                      <a:r>
                        <a:rPr sz="1000" b="0" i="0">
                          <a:solidFill>
                            <a:srgbClr val="262626"/>
                          </a:solidFill>
                          <a:latin typeface="Arial"/>
                        </a:rPr>
                        <a:t>Jul 06</a:t>
                      </a:r>
                    </a:p>
                  </a:txBody>
                  <a:tcPr>
                    <a:solidFill>
                      <a:srgbClr val="F2F2F2"/>
                    </a:solidFill>
                  </a:tcPr>
                </a:tc>
                <a:tc>
                  <a:txBody>
                    <a:bodyPr/>
                    <a:lstStyle/>
                    <a:p>
                      <a:pPr algn="ctr"/>
                      <a:r>
                        <a:rPr sz="1000" b="0" i="0">
                          <a:solidFill>
                            <a:srgbClr val="262626"/>
                          </a:solidFill>
                          <a:latin typeface="Arial"/>
                        </a:rPr>
                        <a:t>15.0°*</a:t>
                      </a:r>
                    </a:p>
                  </a:txBody>
                  <a:tcPr>
                    <a:solidFill>
                      <a:srgbClr val="F2F2F2"/>
                    </a:solidFill>
                  </a:tcPr>
                </a:tc>
                <a:tc>
                  <a:txBody>
                    <a:bodyPr/>
                    <a:lstStyle/>
                    <a:p>
                      <a:pPr algn="ctr"/>
                      <a:r>
                        <a:rPr sz="1000" b="0" i="0">
                          <a:solidFill>
                            <a:srgbClr val="262626"/>
                          </a:solidFill>
                          <a:latin typeface="Arial"/>
                        </a:rPr>
                        <a:t>87%</a:t>
                      </a:r>
                    </a:p>
                  </a:txBody>
                  <a:tcPr>
                    <a:solidFill>
                      <a:srgbClr val="F2F2F2"/>
                    </a:solidFill>
                  </a:tcPr>
                </a:tc>
                <a:tc>
                  <a:txBody>
                    <a:bodyPr/>
                    <a:lstStyle/>
                    <a:p>
                      <a:pPr algn="ctr"/>
                      <a:r>
                        <a:rPr sz="1000" b="0" i="0">
                          <a:solidFill>
                            <a:srgbClr val="262626"/>
                          </a:solidFill>
                          <a:latin typeface="Arial"/>
                        </a:rPr>
                        <a:t>16</a:t>
                      </a:r>
                    </a:p>
                  </a:txBody>
                  <a:tcPr>
                    <a:solidFill>
                      <a:srgbClr val="F2F2F2"/>
                    </a:solidFill>
                  </a:tcPr>
                </a:tc>
                <a:tc>
                  <a:txBody>
                    <a:bodyPr/>
                    <a:lstStyle/>
                    <a:p>
                      <a:pPr algn="ctr"/>
                      <a:r>
                        <a:rPr sz="1000" b="0" i="0">
                          <a:solidFill>
                            <a:srgbClr val="262626"/>
                          </a:solidFill>
                          <a:latin typeface="Arial"/>
                        </a:rPr>
                        <a:t>1.1</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2"/>
                  </a:ext>
                </a:extLst>
              </a:tr>
              <a:tr h="457200">
                <a:tc>
                  <a:txBody>
                    <a:bodyPr/>
                    <a:lstStyle/>
                    <a:p>
                      <a:pPr algn="ctr"/>
                      <a:r>
                        <a:rPr sz="1000" b="0" i="0">
                          <a:solidFill>
                            <a:srgbClr val="262626"/>
                          </a:solidFill>
                          <a:latin typeface="Arial"/>
                        </a:rPr>
                        <a:t>2020</a:t>
                      </a:r>
                    </a:p>
                  </a:txBody>
                  <a:tcPr>
                    <a:solidFill>
                      <a:srgbClr val="FFFFFF"/>
                    </a:solidFill>
                  </a:tcPr>
                </a:tc>
                <a:tc>
                  <a:txBody>
                    <a:bodyPr/>
                    <a:lstStyle/>
                    <a:p>
                      <a:pPr algn="ctr"/>
                      <a:r>
                        <a:rPr sz="1000" b="0" i="0">
                          <a:solidFill>
                            <a:srgbClr val="262626"/>
                          </a:solidFill>
                          <a:latin typeface="Arial"/>
                        </a:rPr>
                        <a:t>Sep 05</a:t>
                      </a:r>
                    </a:p>
                  </a:txBody>
                  <a:tcPr>
                    <a:solidFill>
                      <a:srgbClr val="FFFFFF"/>
                    </a:solidFill>
                  </a:tcPr>
                </a:tc>
                <a:tc>
                  <a:txBody>
                    <a:bodyPr/>
                    <a:lstStyle/>
                    <a:p>
                      <a:pPr algn="ctr"/>
                      <a:r>
                        <a:rPr sz="1000" b="0" i="0">
                          <a:solidFill>
                            <a:srgbClr val="262626"/>
                          </a:solidFill>
                          <a:latin typeface="Arial"/>
                        </a:rPr>
                        <a:t>13.8°*</a:t>
                      </a:r>
                    </a:p>
                  </a:txBody>
                  <a:tcPr>
                    <a:solidFill>
                      <a:srgbClr val="FFFFFF"/>
                    </a:solidFill>
                  </a:tcPr>
                </a:tc>
                <a:tc>
                  <a:txBody>
                    <a:bodyPr/>
                    <a:lstStyle/>
                    <a:p>
                      <a:pPr algn="ctr"/>
                      <a:r>
                        <a:rPr sz="1000" b="0" i="0">
                          <a:solidFill>
                            <a:srgbClr val="262626"/>
                          </a:solidFill>
                          <a:latin typeface="Arial"/>
                        </a:rPr>
                        <a:t>94%</a:t>
                      </a:r>
                    </a:p>
                  </a:txBody>
                  <a:tcPr>
                    <a:solidFill>
                      <a:srgbClr val="FFFFFF"/>
                    </a:solidFill>
                  </a:tcPr>
                </a:tc>
                <a:tc>
                  <a:txBody>
                    <a:bodyPr/>
                    <a:lstStyle/>
                    <a:p>
                      <a:pPr algn="ctr"/>
                      <a:r>
                        <a:rPr sz="1000" b="0" i="0">
                          <a:solidFill>
                            <a:srgbClr val="262626"/>
                          </a:solidFill>
                          <a:latin typeface="Arial"/>
                        </a:rPr>
                        <a:t>14</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3"/>
                  </a:ext>
                </a:extLst>
              </a:tr>
              <a:tr h="457200">
                <a:tc>
                  <a:txBody>
                    <a:bodyPr/>
                    <a:lstStyle/>
                    <a:p>
                      <a:pPr algn="ctr"/>
                      <a:r>
                        <a:rPr sz="1000" b="0" i="0">
                          <a:solidFill>
                            <a:srgbClr val="262626"/>
                          </a:solidFill>
                          <a:latin typeface="Arial"/>
                        </a:rPr>
                        <a:t>2021</a:t>
                      </a:r>
                    </a:p>
                  </a:txBody>
                  <a:tcPr>
                    <a:solidFill>
                      <a:srgbClr val="F2F2F2"/>
                    </a:solidFill>
                  </a:tcPr>
                </a:tc>
                <a:tc>
                  <a:txBody>
                    <a:bodyPr/>
                    <a:lstStyle/>
                    <a:p>
                      <a:pPr algn="ctr"/>
                      <a:r>
                        <a:rPr sz="1000" b="0" i="0">
                          <a:solidFill>
                            <a:srgbClr val="262626"/>
                          </a:solidFill>
                          <a:latin typeface="Arial"/>
                        </a:rPr>
                        <a:t>Sep 18</a:t>
                      </a:r>
                    </a:p>
                  </a:txBody>
                  <a:tcPr>
                    <a:solidFill>
                      <a:srgbClr val="F2F2F2"/>
                    </a:solidFill>
                  </a:tcPr>
                </a:tc>
                <a:tc>
                  <a:txBody>
                    <a:bodyPr/>
                    <a:lstStyle/>
                    <a:p>
                      <a:pPr algn="ctr"/>
                      <a:r>
                        <a:rPr sz="1000" b="0" i="0">
                          <a:solidFill>
                            <a:srgbClr val="262626"/>
                          </a:solidFill>
                          <a:latin typeface="Arial"/>
                        </a:rPr>
                        <a:t>15.5°*</a:t>
                      </a:r>
                    </a:p>
                  </a:txBody>
                  <a:tcPr>
                    <a:solidFill>
                      <a:srgbClr val="F2F2F2"/>
                    </a:solidFill>
                  </a:tcPr>
                </a:tc>
                <a:tc>
                  <a:txBody>
                    <a:bodyPr/>
                    <a:lstStyle/>
                    <a:p>
                      <a:pPr algn="ctr"/>
                      <a:r>
                        <a:rPr sz="1000" b="0" i="0">
                          <a:solidFill>
                            <a:srgbClr val="262626"/>
                          </a:solidFill>
                          <a:latin typeface="Arial"/>
                        </a:rPr>
                        <a:t>84%</a:t>
                      </a:r>
                    </a:p>
                  </a:txBody>
                  <a:tcPr>
                    <a:solidFill>
                      <a:srgbClr val="F2F2F2"/>
                    </a:solidFill>
                  </a:tcPr>
                </a:tc>
                <a:tc>
                  <a:txBody>
                    <a:bodyPr/>
                    <a:lstStyle/>
                    <a:p>
                      <a:pPr algn="ctr"/>
                      <a:r>
                        <a:rPr sz="1000" b="0" i="0">
                          <a:solidFill>
                            <a:srgbClr val="262626"/>
                          </a:solidFill>
                          <a:latin typeface="Arial"/>
                        </a:rPr>
                        <a:t>10</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4"/>
                  </a:ext>
                </a:extLst>
              </a:tr>
              <a:tr h="457200">
                <a:tc>
                  <a:txBody>
                    <a:bodyPr/>
                    <a:lstStyle/>
                    <a:p>
                      <a:pPr algn="ctr"/>
                      <a:r>
                        <a:rPr sz="1000" b="0" i="0">
                          <a:solidFill>
                            <a:srgbClr val="262626"/>
                          </a:solidFill>
                          <a:latin typeface="Arial"/>
                        </a:rPr>
                        <a:t>2022</a:t>
                      </a:r>
                    </a:p>
                  </a:txBody>
                  <a:tcPr>
                    <a:solidFill>
                      <a:srgbClr val="FFFFFF"/>
                    </a:solidFill>
                  </a:tcPr>
                </a:tc>
                <a:tc>
                  <a:txBody>
                    <a:bodyPr/>
                    <a:lstStyle/>
                    <a:p>
                      <a:pPr algn="ctr"/>
                      <a:r>
                        <a:rPr sz="1000" b="0" i="0">
                          <a:solidFill>
                            <a:srgbClr val="262626"/>
                          </a:solidFill>
                          <a:latin typeface="Arial"/>
                        </a:rPr>
                        <a:t>Jul 09</a:t>
                      </a:r>
                    </a:p>
                  </a:txBody>
                  <a:tcPr>
                    <a:solidFill>
                      <a:srgbClr val="FFFFFF"/>
                    </a:solidFill>
                  </a:tcPr>
                </a:tc>
                <a:tc>
                  <a:txBody>
                    <a:bodyPr/>
                    <a:lstStyle/>
                    <a:p>
                      <a:pPr algn="ctr"/>
                      <a:r>
                        <a:rPr sz="1000" b="0" i="0">
                          <a:solidFill>
                            <a:srgbClr val="262626"/>
                          </a:solidFill>
                          <a:latin typeface="Arial"/>
                        </a:rPr>
                        <a:t>22.5</a:t>
                      </a:r>
                    </a:p>
                  </a:txBody>
                  <a:tcPr>
                    <a:solidFill>
                      <a:srgbClr val="FFFFFF"/>
                    </a:solidFill>
                  </a:tcPr>
                </a:tc>
                <a:tc>
                  <a:txBody>
                    <a:bodyPr/>
                    <a:lstStyle/>
                    <a:p>
                      <a:pPr algn="ctr"/>
                      <a:r>
                        <a:rPr sz="1000" b="0" i="0">
                          <a:solidFill>
                            <a:srgbClr val="262626"/>
                          </a:solidFill>
                          <a:latin typeface="Arial"/>
                        </a:rPr>
                        <a:t>81%</a:t>
                      </a:r>
                    </a:p>
                  </a:txBody>
                  <a:tcPr>
                    <a:solidFill>
                      <a:srgbClr val="FFFFFF"/>
                    </a:solidFill>
                  </a:tcPr>
                </a:tc>
                <a:tc>
                  <a:txBody>
                    <a:bodyPr/>
                    <a:lstStyle/>
                    <a:p>
                      <a:pPr algn="ctr"/>
                      <a:r>
                        <a:rPr sz="1000" b="0" i="0">
                          <a:solidFill>
                            <a:srgbClr val="262626"/>
                          </a:solidFill>
                          <a:latin typeface="Arial"/>
                        </a:rPr>
                        <a:t>—</a:t>
                      </a:r>
                    </a:p>
                  </a:txBody>
                  <a:tcPr>
                    <a:solidFill>
                      <a:srgbClr val="FFFFFF"/>
                    </a:solidFill>
                  </a:tcPr>
                </a:tc>
                <a:tc>
                  <a:txBody>
                    <a:bodyPr/>
                    <a:lstStyle/>
                    <a:p>
                      <a:pPr algn="ctr"/>
                      <a:r>
                        <a:rPr sz="1000" b="0" i="0">
                          <a:solidFill>
                            <a:srgbClr val="262626"/>
                          </a:solidFill>
                          <a:latin typeface="Arial"/>
                        </a:rPr>
                        <a:t>0.1</a:t>
                      </a:r>
                    </a:p>
                  </a:txBody>
                  <a:tcPr>
                    <a:solidFill>
                      <a:srgbClr val="FFFFFF"/>
                    </a:solidFill>
                  </a:tcPr>
                </a:tc>
                <a:tc>
                  <a:txBody>
                    <a:bodyPr/>
                    <a:lstStyle/>
                    <a:p>
                      <a:pPr algn="ctr"/>
                      <a:r>
                        <a:rPr sz="1000" b="0" i="0">
                          <a:solidFill>
                            <a:srgbClr val="262626"/>
                          </a:solidFill>
                          <a:latin typeface="Arial"/>
                        </a:rPr>
                        <a:t>20.4</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5"/>
                  </a:ext>
                </a:extLst>
              </a:tr>
              <a:tr h="457200">
                <a:tc>
                  <a:txBody>
                    <a:bodyPr/>
                    <a:lstStyle/>
                    <a:p>
                      <a:pPr algn="ctr"/>
                      <a:r>
                        <a:rPr sz="1000" b="0" i="0">
                          <a:solidFill>
                            <a:srgbClr val="262626"/>
                          </a:solidFill>
                          <a:latin typeface="Arial"/>
                        </a:rPr>
                        <a:t>2023</a:t>
                      </a:r>
                    </a:p>
                  </a:txBody>
                  <a:tcPr>
                    <a:solidFill>
                      <a:srgbClr val="F2F2F2"/>
                    </a:solidFill>
                  </a:tcPr>
                </a:tc>
                <a:tc>
                  <a:txBody>
                    <a:bodyPr/>
                    <a:lstStyle/>
                    <a:p>
                      <a:pPr algn="ctr"/>
                      <a:r>
                        <a:rPr sz="1000" b="0" i="0">
                          <a:solidFill>
                            <a:srgbClr val="262626"/>
                          </a:solidFill>
                          <a:latin typeface="Arial"/>
                        </a:rPr>
                        <a:t>Jul 15</a:t>
                      </a:r>
                    </a:p>
                  </a:txBody>
                  <a:tcPr>
                    <a:solidFill>
                      <a:srgbClr val="F2F2F2"/>
                    </a:solidFill>
                  </a:tcPr>
                </a:tc>
                <a:tc>
                  <a:txBody>
                    <a:bodyPr/>
                    <a:lstStyle/>
                    <a:p>
                      <a:pPr algn="ctr"/>
                      <a:r>
                        <a:rPr sz="1000" b="0" i="0">
                          <a:solidFill>
                            <a:srgbClr val="262626"/>
                          </a:solidFill>
                          <a:latin typeface="Arial"/>
                        </a:rPr>
                        <a:t>24.4°*</a:t>
                      </a:r>
                    </a:p>
                  </a:txBody>
                  <a:tcPr>
                    <a:solidFill>
                      <a:srgbClr val="F2F2F2"/>
                    </a:solidFill>
                  </a:tcPr>
                </a:tc>
                <a:tc>
                  <a:txBody>
                    <a:bodyPr/>
                    <a:lstStyle/>
                    <a:p>
                      <a:pPr algn="ctr"/>
                      <a:r>
                        <a:rPr sz="1000" b="0" i="0">
                          <a:solidFill>
                            <a:srgbClr val="262626"/>
                          </a:solidFill>
                          <a:latin typeface="Arial"/>
                        </a:rPr>
                        <a:t>54%</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0.0</a:t>
                      </a:r>
                    </a:p>
                  </a:txBody>
                  <a:tcPr>
                    <a:solidFill>
                      <a:srgbClr val="F2F2F2"/>
                    </a:solidFill>
                  </a:tcPr>
                </a:tc>
                <a:tc>
                  <a:txBody>
                    <a:bodyPr/>
                    <a:lstStyle/>
                    <a:p>
                      <a:pPr algn="ctr"/>
                      <a:r>
                        <a:rPr sz="1000" b="0" i="0">
                          <a:solidFill>
                            <a:srgbClr val="262626"/>
                          </a:solidFill>
                          <a:latin typeface="Arial"/>
                        </a:rPr>
                        <a:t>—</a:t>
                      </a:r>
                    </a:p>
                  </a:txBody>
                  <a:tcPr>
                    <a:solidFill>
                      <a:srgbClr val="F2F2F2"/>
                    </a:solidFill>
                  </a:tcPr>
                </a:tc>
                <a:tc>
                  <a:txBody>
                    <a:bodyPr/>
                    <a:lstStyle/>
                    <a:p>
                      <a:pPr algn="ctr"/>
                      <a:r>
                        <a:rPr sz="1000" b="0" i="0">
                          <a:solidFill>
                            <a:srgbClr val="262626"/>
                          </a:solidFill>
                          <a:latin typeface="Arial"/>
                        </a:rPr>
                        <a:t>forbidden</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6"/>
                  </a:ext>
                </a:extLst>
              </a:tr>
              <a:tr h="457200">
                <a:tc>
                  <a:txBody>
                    <a:bodyPr/>
                    <a:lstStyle/>
                    <a:p>
                      <a:pPr algn="ctr"/>
                      <a:r>
                        <a:rPr sz="1000" b="0" i="0">
                          <a:solidFill>
                            <a:srgbClr val="262626"/>
                          </a:solidFill>
                          <a:latin typeface="Arial"/>
                        </a:rPr>
                        <a:t>2024</a:t>
                      </a:r>
                    </a:p>
                  </a:txBody>
                  <a:tcPr>
                    <a:solidFill>
                      <a:srgbClr val="FFFFFF"/>
                    </a:solidFill>
                  </a:tcPr>
                </a:tc>
                <a:tc>
                  <a:txBody>
                    <a:bodyPr/>
                    <a:lstStyle/>
                    <a:p>
                      <a:pPr algn="ctr"/>
                      <a:r>
                        <a:rPr sz="1000" b="0" i="0">
                          <a:solidFill>
                            <a:srgbClr val="262626"/>
                          </a:solidFill>
                          <a:latin typeface="Arial"/>
                        </a:rPr>
                        <a:t>Jul 13</a:t>
                      </a:r>
                    </a:p>
                  </a:txBody>
                  <a:tcPr>
                    <a:solidFill>
                      <a:srgbClr val="FFFFFF"/>
                    </a:solidFill>
                  </a:tcPr>
                </a:tc>
                <a:tc>
                  <a:txBody>
                    <a:bodyPr/>
                    <a:lstStyle/>
                    <a:p>
                      <a:pPr algn="ctr"/>
                      <a:r>
                        <a:rPr sz="1000" b="0" i="0">
                          <a:solidFill>
                            <a:srgbClr val="262626"/>
                          </a:solidFill>
                          <a:latin typeface="Arial"/>
                        </a:rPr>
                        <a:t>19.2</a:t>
                      </a:r>
                    </a:p>
                  </a:txBody>
                  <a:tcPr>
                    <a:solidFill>
                      <a:srgbClr val="FFFFFF"/>
                    </a:solidFill>
                  </a:tcPr>
                </a:tc>
                <a:tc>
                  <a:txBody>
                    <a:bodyPr/>
                    <a:lstStyle/>
                    <a:p>
                      <a:pPr algn="ctr"/>
                      <a:r>
                        <a:rPr sz="1000" b="0" i="0">
                          <a:solidFill>
                            <a:srgbClr val="262626"/>
                          </a:solidFill>
                          <a:latin typeface="Arial"/>
                        </a:rPr>
                        <a:t>79%</a:t>
                      </a:r>
                    </a:p>
                  </a:txBody>
                  <a:tcPr>
                    <a:solidFill>
                      <a:srgbClr val="FFFFFF"/>
                    </a:solidFill>
                  </a:tcPr>
                </a:tc>
                <a:tc>
                  <a:txBody>
                    <a:bodyPr/>
                    <a:lstStyle/>
                    <a:p>
                      <a:pPr algn="ctr"/>
                      <a:r>
                        <a:rPr sz="1000" b="0" i="0">
                          <a:solidFill>
                            <a:srgbClr val="262626"/>
                          </a:solidFill>
                          <a:latin typeface="Arial"/>
                        </a:rPr>
                        <a:t>22</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21.2</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7"/>
                  </a:ext>
                </a:extLst>
              </a:tr>
              <a:tr h="457200">
                <a:tc>
                  <a:txBody>
                    <a:bodyPr/>
                    <a:lstStyle/>
                    <a:p>
                      <a:pPr algn="ctr"/>
                      <a:r>
                        <a:rPr sz="1000" b="0" i="0">
                          <a:solidFill>
                            <a:srgbClr val="262626"/>
                          </a:solidFill>
                          <a:latin typeface="Arial"/>
                        </a:rPr>
                        <a:t>2025</a:t>
                      </a:r>
                    </a:p>
                  </a:txBody>
                  <a:tcPr>
                    <a:solidFill>
                      <a:srgbClr val="F2F2F2"/>
                    </a:solidFill>
                  </a:tcPr>
                </a:tc>
                <a:tc>
                  <a:txBody>
                    <a:bodyPr/>
                    <a:lstStyle/>
                    <a:p>
                      <a:pPr algn="ctr"/>
                      <a:r>
                        <a:rPr sz="1000" b="0" i="0">
                          <a:solidFill>
                            <a:srgbClr val="262626"/>
                          </a:solidFill>
                          <a:latin typeface="Arial"/>
                        </a:rPr>
                        <a:t>Jul 12</a:t>
                      </a:r>
                    </a:p>
                  </a:txBody>
                  <a:tcPr>
                    <a:solidFill>
                      <a:srgbClr val="F2F2F2"/>
                    </a:solidFill>
                  </a:tcPr>
                </a:tc>
                <a:tc>
                  <a:txBody>
                    <a:bodyPr/>
                    <a:lstStyle/>
                    <a:p>
                      <a:pPr algn="ctr"/>
                      <a:r>
                        <a:rPr sz="1000" b="0" i="0">
                          <a:solidFill>
                            <a:srgbClr val="262626"/>
                          </a:solidFill>
                          <a:latin typeface="Arial"/>
                        </a:rPr>
                        <a:t>21.3</a:t>
                      </a:r>
                    </a:p>
                  </a:txBody>
                  <a:tcPr>
                    <a:solidFill>
                      <a:srgbClr val="F2F2F2"/>
                    </a:solidFill>
                  </a:tcPr>
                </a:tc>
                <a:tc>
                  <a:txBody>
                    <a:bodyPr/>
                    <a:lstStyle/>
                    <a:p>
                      <a:pPr algn="ctr"/>
                      <a:r>
                        <a:rPr sz="1000" b="0" i="0">
                          <a:solidFill>
                            <a:srgbClr val="262626"/>
                          </a:solidFill>
                          <a:latin typeface="Arial"/>
                        </a:rPr>
                        <a:t>76%</a:t>
                      </a:r>
                    </a:p>
                  </a:txBody>
                  <a:tcPr>
                    <a:solidFill>
                      <a:srgbClr val="F2F2F2"/>
                    </a:solidFill>
                  </a:tcPr>
                </a:tc>
                <a:tc>
                  <a:txBody>
                    <a:bodyPr/>
                    <a:lstStyle/>
                    <a:p>
                      <a:pPr algn="ctr"/>
                      <a:r>
                        <a:rPr sz="1000" b="0" i="0">
                          <a:solidFill>
                            <a:srgbClr val="262626"/>
                          </a:solidFill>
                          <a:latin typeface="Arial"/>
                        </a:rPr>
                        <a:t>14</a:t>
                      </a:r>
                    </a:p>
                  </a:txBody>
                  <a:tcPr>
                    <a:solidFill>
                      <a:srgbClr val="F2F2F2"/>
                    </a:solidFill>
                  </a:tcPr>
                </a:tc>
                <a:tc>
                  <a:txBody>
                    <a:bodyPr/>
                    <a:lstStyle/>
                    <a:p>
                      <a:pPr algn="ctr"/>
                      <a:r>
                        <a:rPr sz="1000" b="0" i="0">
                          <a:solidFill>
                            <a:srgbClr val="262626"/>
                          </a:solidFill>
                          <a:latin typeface="Arial"/>
                        </a:rPr>
                        <a:t>0.2</a:t>
                      </a:r>
                    </a:p>
                  </a:txBody>
                  <a:tcPr>
                    <a:solidFill>
                      <a:srgbClr val="F2F2F2"/>
                    </a:solidFill>
                  </a:tcPr>
                </a:tc>
                <a:tc>
                  <a:txBody>
                    <a:bodyPr/>
                    <a:lstStyle/>
                    <a:p>
                      <a:pPr algn="ctr"/>
                      <a:r>
                        <a:rPr sz="1000" b="0" i="0">
                          <a:solidFill>
                            <a:srgbClr val="262626"/>
                          </a:solidFill>
                          <a:latin typeface="Arial"/>
                        </a:rPr>
                        <a:t>21.</a:t>
                      </a:r>
                    </a:p>
                  </a:txBody>
                  <a:tcPr>
                    <a:solidFill>
                      <a:srgbClr val="F2F2F2"/>
                    </a:solidFill>
                  </a:tcPr>
                </a:tc>
                <a:tc>
                  <a:txBody>
                    <a:bodyPr/>
                    <a:lstStyle/>
                    <a:p>
                      <a:pPr algn="ctr"/>
                      <a:r>
                        <a:rPr sz="1000" b="0" i="0">
                          <a:solidFill>
                            <a:srgbClr val="262626"/>
                          </a:solidFill>
                          <a:latin typeface="Arial"/>
                        </a:rPr>
                        <a:t>forbidden</a:t>
                      </a:r>
                    </a:p>
                  </a:txBody>
                  <a:tcPr>
                    <a:solidFill>
                      <a:srgbClr val="F2F2F2"/>
                    </a:solidFill>
                  </a:tcPr>
                </a:tc>
                <a:tc>
                  <a:txBody>
                    <a:bodyPr/>
                    <a:lstStyle/>
                    <a:p>
                      <a:pPr algn="l"/>
                      <a:r>
                        <a:rPr sz="1000" b="0" i="0">
                          <a:solidFill>
                            <a:srgbClr val="262626"/>
                          </a:solidFill>
                          <a:latin typeface="Arial"/>
                        </a:rPr>
                        <a:t>—</a:t>
                      </a:r>
                    </a:p>
                  </a:txBody>
                  <a:tcPr>
                    <a:solidFill>
                      <a:srgbClr val="F2F2F2"/>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08:00–11:00 local) where WT API data is absent. Values marked * are Open-Meteo estimates. Water temp and wetsuit ruling are from the World Triathlon API per program.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1036</TotalTime>
  <Words>4882</Words>
  <Application>Microsoft Office PowerPoint</Application>
  <PresentationFormat>Custom</PresentationFormat>
  <Paragraphs>1756</Paragraphs>
  <Slides>29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High</cp:lastModifiedBy>
  <cp:revision>5</cp:revision>
  <dcterms:created xsi:type="dcterms:W3CDTF">2013-01-27T09:14:16Z</dcterms:created>
  <dcterms:modified xsi:type="dcterms:W3CDTF">2026-07-10T17:23:29Z</dcterms:modified>
  <cp:category/>
</cp:coreProperties>
</file>