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408" y="4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events.triathlon.org/2026-wtcs-hamburg/race-info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events.triathlon.org/2026-wtcs-hamburg/water-quality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430000" y="0"/>
            <a:ext cx="758952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3749039"/>
            <a:ext cx="1078992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65760"/>
            <a:ext cx="1920240" cy="1463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82880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Arial"/>
              </a:rPr>
              <a:t>HAMBURG RACE PREVIEW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937671"/>
            <a:ext cx="10789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0" i="0" dirty="0">
                <a:solidFill>
                  <a:srgbClr val="AABBDD"/>
                </a:solidFill>
                <a:latin typeface="Arial"/>
              </a:rPr>
              <a:t>Race</a:t>
            </a:r>
            <a:r>
              <a:rPr sz="1800" b="0" i="0" dirty="0">
                <a:solidFill>
                  <a:srgbClr val="AABBDD"/>
                </a:solidFill>
                <a:latin typeface="Arial"/>
              </a:rPr>
              <a:t> Analysis  ·  July 9 – 12,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720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090B0"/>
                </a:solidFill>
                <a:latin typeface="Arial"/>
              </a:rPr>
              <a:t>USA Triathlon High Performance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Race Week Schedule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Hamburg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11640312" cy="384048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116128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2060"/>
                </a:solidFill>
                <a:latin typeface="Arial"/>
              </a:rPr>
              <a:t>July 9 – 12, 2026   •   Rathausmarkt / Binnenalster, Hamburg, Germany (CEST, UTC+2)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2828" y="1691640"/>
            <a:ext cx="2738628" cy="4572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94268" y="1728216"/>
            <a:ext cx="25557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Fri • July 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4268" y="1929384"/>
            <a:ext cx="25557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AABBDD"/>
                </a:solidFill>
                <a:latin typeface="Arial"/>
              </a:rPr>
              <a:t>Familiarization &amp; Briefing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8336253"/>
              </p:ext>
            </p:extLst>
          </p:nvPr>
        </p:nvGraphicFramePr>
        <p:xfrm>
          <a:off x="302828" y="2240280"/>
          <a:ext cx="2738627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59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27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Course familiarization — swim, bike, run circuits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C00000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00000"/>
                          </a:solidFill>
                          <a:latin typeface="Arial"/>
                        </a:rPr>
                        <a:t>★ Mandatory Elite athlete briefing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Race package distribution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" name="Rectangle 17"/>
          <p:cNvSpPr/>
          <p:nvPr/>
        </p:nvSpPr>
        <p:spPr>
          <a:xfrm>
            <a:off x="4341437" y="1691640"/>
            <a:ext cx="3275803" cy="4572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50813" y="1728216"/>
            <a:ext cx="305705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Sat • July 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50813" y="1929384"/>
            <a:ext cx="305705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AABBDD"/>
                </a:solidFill>
                <a:latin typeface="Arial"/>
              </a:rPr>
              <a:t>ELITE SPRINT RACE DAY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3600318"/>
              </p:ext>
            </p:extLst>
          </p:nvPr>
        </p:nvGraphicFramePr>
        <p:xfrm>
          <a:off x="4305222" y="2216241"/>
          <a:ext cx="3326280" cy="43144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74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88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8229"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11:30 – 12:45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dirty="0">
                          <a:solidFill>
                            <a:srgbClr val="262626"/>
                          </a:solidFill>
                          <a:latin typeface="Arial"/>
                        </a:rPr>
                        <a:t>Elite Men — athletes' lounge check-in + warm-up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229"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12:15 – 13:00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Elite Men — swim warm-up + transition check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229"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13:10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Elite Men — athletes' introduction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9697"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C00000"/>
                          </a:solidFill>
                          <a:latin typeface="Arial"/>
                        </a:rPr>
                        <a:t>13:15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dirty="0">
                          <a:solidFill>
                            <a:srgbClr val="C00000"/>
                          </a:solidFill>
                          <a:latin typeface="Arial"/>
                        </a:rPr>
                        <a:t>★ ELITE MEN START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9697"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~14:06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Elite Men — projected finish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9697"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14:15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Elite Men medals ceremony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229"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13:45 – 14:45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Elite Women — athletes' lounge check-in + warm-up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229">
                <a:tc>
                  <a:txBody>
                    <a:bodyPr/>
                    <a:lstStyle/>
                    <a:p>
                      <a:pPr algn="ctr"/>
                      <a:r>
                        <a:rPr sz="900" b="0" i="0" dirty="0">
                          <a:solidFill>
                            <a:srgbClr val="262626"/>
                          </a:solidFill>
                          <a:latin typeface="Arial"/>
                        </a:rPr>
                        <a:t>14:15 – 14:55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Elite Women — swim warm-up + transition check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229"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14:50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Elite Women — athletes' introduction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9697"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C00000"/>
                          </a:solidFill>
                          <a:latin typeface="Arial"/>
                        </a:rPr>
                        <a:t>15:00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C00000"/>
                          </a:solidFill>
                          <a:latin typeface="Arial"/>
                        </a:rPr>
                        <a:t>★ ELITE WOMEN START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8229"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~15:55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Elite Women — projected finish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8229"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16:05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Elite Women medals ceremony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9697"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Evening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dirty="0">
                          <a:solidFill>
                            <a:srgbClr val="262626"/>
                          </a:solidFill>
                          <a:latin typeface="Arial"/>
                        </a:rPr>
                        <a:t>Mixed Relay team declaration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2" name="Rectangle 21"/>
          <p:cNvSpPr/>
          <p:nvPr/>
        </p:nvSpPr>
        <p:spPr>
          <a:xfrm>
            <a:off x="9091764" y="1677576"/>
            <a:ext cx="2907108" cy="48532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88830" y="1722028"/>
            <a:ext cx="2712977" cy="213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Sun • July 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8830" y="1923196"/>
            <a:ext cx="2712977" cy="213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AABBDD"/>
                </a:solidFill>
                <a:latin typeface="Arial"/>
              </a:rPr>
              <a:t>Mixed Relay Day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2557492"/>
              </p:ext>
            </p:extLst>
          </p:nvPr>
        </p:nvGraphicFramePr>
        <p:xfrm>
          <a:off x="9091764" y="2178401"/>
          <a:ext cx="2907107" cy="2135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65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05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859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97066" marR="97066" marT="48533" marB="48533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Mixed Relay team managers' meeting</a:t>
                      </a:r>
                    </a:p>
                  </a:txBody>
                  <a:tcPr marL="97066" marR="97066" marT="48533" marB="48533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859"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C00000"/>
                          </a:solidFill>
                          <a:latin typeface="Arial"/>
                        </a:rPr>
                        <a:t>17:30</a:t>
                      </a:r>
                    </a:p>
                  </a:txBody>
                  <a:tcPr marL="97066" marR="97066" marT="48533" marB="48533"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00000"/>
                          </a:solidFill>
                          <a:latin typeface="Arial"/>
                        </a:rPr>
                        <a:t>★ MIXED RELAY START</a:t>
                      </a:r>
                    </a:p>
                  </a:txBody>
                  <a:tcPr marL="97066" marR="97066" marT="48533" marB="48533">
                    <a:solidFill>
                      <a:srgbClr val="FD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859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~18:45</a:t>
                      </a:r>
                    </a:p>
                  </a:txBody>
                  <a:tcPr marL="97066" marR="97066" marT="48533" marB="48533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Mixed Relay projected finish</a:t>
                      </a:r>
                    </a:p>
                  </a:txBody>
                  <a:tcPr marL="97066" marR="97066" marT="48533" marB="48533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859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Post-finish</a:t>
                      </a:r>
                    </a:p>
                  </a:txBody>
                  <a:tcPr marL="97066" marR="97066" marT="48533" marB="48533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Mixed Relay medals ceremony</a:t>
                      </a:r>
                    </a:p>
                  </a:txBody>
                  <a:tcPr marL="97066" marR="97066" marT="48533" marB="48533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274320" y="5774229"/>
            <a:ext cx="30267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Times Rathausmarkt / Binnenalster, Hamburg, Germany (CEST, UTC+2). Schedule confirmed from World Triathlon race-info page / athlete guide; subject to organiser updates.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Key Course Differentiators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Hamburg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1097280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2060"/>
                </a:solidFill>
                <a:latin typeface="Arial"/>
              </a:rPr>
              <a:t>HAMBURG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627632"/>
            <a:ext cx="603504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262626"/>
                </a:solidFill>
                <a:latin typeface="Arial"/>
              </a:rPr>
              <a:t>WTCS Hamburg is one of the sport's flagship city-center races, set in the heart of Hamburg along the </a:t>
            </a:r>
            <a:r>
              <a:rPr sz="1400" b="0" i="0" dirty="0" err="1">
                <a:solidFill>
                  <a:srgbClr val="262626"/>
                </a:solidFill>
                <a:latin typeface="Arial"/>
              </a:rPr>
              <a:t>Binnenalster</a:t>
            </a:r>
            <a:r>
              <a:rPr sz="1400" b="0" i="0" dirty="0">
                <a:solidFill>
                  <a:srgbClr val="262626"/>
                </a:solidFill>
                <a:latin typeface="Arial"/>
              </a:rPr>
              <a:t> and the historic </a:t>
            </a:r>
            <a:r>
              <a:rPr sz="1400" b="0" i="0" dirty="0" err="1">
                <a:solidFill>
                  <a:srgbClr val="262626"/>
                </a:solidFill>
                <a:latin typeface="Arial"/>
              </a:rPr>
              <a:t>Rathausmarkt</a:t>
            </a:r>
            <a:r>
              <a:rPr sz="1400" b="0" i="0" dirty="0">
                <a:solidFill>
                  <a:srgbClr val="262626"/>
                </a:solidFill>
                <a:latin typeface="Arial"/>
              </a:rPr>
              <a:t>. </a:t>
            </a:r>
            <a:r>
              <a:rPr lang="en-US" sz="1400" b="0" i="0" dirty="0">
                <a:solidFill>
                  <a:srgbClr val="262626"/>
                </a:solidFill>
                <a:latin typeface="Arial"/>
              </a:rPr>
              <a:t>This is the first year that the city is hosting a Para Series event. </a:t>
            </a:r>
            <a:endParaRPr sz="1400" b="0" i="0" dirty="0">
              <a:solidFill>
                <a:srgbClr val="262626"/>
              </a:solidFill>
              <a:latin typeface="Arial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74320" y="3293856"/>
            <a:ext cx="6035040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0040" y="3306393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COURSE 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699585"/>
            <a:ext cx="58521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262626"/>
                </a:solidFill>
                <a:latin typeface="Arial"/>
              </a:rPr>
              <a:t>•  Sheltered 750 m </a:t>
            </a:r>
            <a:r>
              <a:rPr sz="1400" b="0" i="0" dirty="0" err="1">
                <a:solidFill>
                  <a:srgbClr val="262626"/>
                </a:solidFill>
                <a:latin typeface="Arial"/>
              </a:rPr>
              <a:t>Binnenalster</a:t>
            </a:r>
            <a:r>
              <a:rPr sz="1400" b="0" i="0" dirty="0">
                <a:solidFill>
                  <a:srgbClr val="262626"/>
                </a:solidFill>
                <a:latin typeface="Arial"/>
              </a:rPr>
              <a:t> swim</a:t>
            </a:r>
            <a:r>
              <a:rPr lang="en-US" sz="1400" b="0" i="0" dirty="0">
                <a:solidFill>
                  <a:srgbClr val="262626"/>
                </a:solidFill>
                <a:latin typeface="Arial"/>
              </a:rPr>
              <a:t>. Typically </a:t>
            </a:r>
            <a:r>
              <a:rPr sz="1400" b="0" i="0" dirty="0">
                <a:solidFill>
                  <a:srgbClr val="262626"/>
                </a:solidFill>
                <a:latin typeface="Arial"/>
              </a:rPr>
              <a:t>flat fresh water</a:t>
            </a:r>
            <a:r>
              <a:rPr lang="en-US" sz="1400" b="0" i="0" dirty="0">
                <a:solidFill>
                  <a:srgbClr val="262626"/>
                </a:solidFill>
                <a:latin typeface="Arial"/>
              </a:rPr>
              <a:t>.</a:t>
            </a:r>
            <a:r>
              <a:rPr sz="14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lang="en-US" sz="1400" b="0" i="0" dirty="0">
                <a:solidFill>
                  <a:srgbClr val="262626"/>
                </a:solidFill>
                <a:latin typeface="Arial"/>
              </a:rPr>
              <a:t>P</a:t>
            </a:r>
            <a:r>
              <a:rPr sz="1400" b="0" i="0" dirty="0">
                <a:solidFill>
                  <a:srgbClr val="262626"/>
                </a:solidFill>
                <a:latin typeface="Arial"/>
              </a:rPr>
              <a:t>ontoon start</a:t>
            </a:r>
            <a:r>
              <a:rPr lang="en-US" sz="1400" b="0" i="0" dirty="0">
                <a:solidFill>
                  <a:srgbClr val="262626"/>
                </a:solidFill>
                <a:latin typeface="Arial"/>
              </a:rPr>
              <a:t> and likely a</a:t>
            </a:r>
            <a:r>
              <a:rPr sz="1400" b="0" i="0" dirty="0">
                <a:solidFill>
                  <a:srgbClr val="262626"/>
                </a:solidFill>
                <a:latin typeface="Arial"/>
              </a:rPr>
              <a:t> non-wetsuit</a:t>
            </a:r>
            <a:r>
              <a:rPr lang="en-US" sz="1400" b="0" i="0" dirty="0">
                <a:solidFill>
                  <a:srgbClr val="262626"/>
                </a:solidFill>
                <a:latin typeface="Arial"/>
              </a:rPr>
              <a:t> swim</a:t>
            </a:r>
            <a:r>
              <a:rPr sz="1100" b="0" i="0" dirty="0">
                <a:solidFill>
                  <a:srgbClr val="262626"/>
                </a:solidFill>
                <a:latin typeface="Arial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357953"/>
            <a:ext cx="58521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262626"/>
                </a:solidFill>
                <a:latin typeface="Arial"/>
              </a:rPr>
              <a:t>•  </a:t>
            </a:r>
            <a:r>
              <a:rPr lang="en-US" sz="1400" b="0" i="0" dirty="0">
                <a:solidFill>
                  <a:srgbClr val="262626"/>
                </a:solidFill>
                <a:latin typeface="Arial"/>
              </a:rPr>
              <a:t>2</a:t>
            </a:r>
            <a:r>
              <a:rPr sz="1400" b="0" i="0" dirty="0">
                <a:solidFill>
                  <a:srgbClr val="262626"/>
                </a:solidFill>
                <a:latin typeface="Arial"/>
              </a:rPr>
              <a:t> × </a:t>
            </a:r>
            <a:r>
              <a:rPr lang="en-US" sz="1400" b="0" i="0" dirty="0">
                <a:solidFill>
                  <a:srgbClr val="262626"/>
                </a:solidFill>
                <a:latin typeface="Arial"/>
              </a:rPr>
              <a:t>8.4</a:t>
            </a:r>
            <a:r>
              <a:rPr sz="1400" b="0" i="0" dirty="0">
                <a:solidFill>
                  <a:srgbClr val="262626"/>
                </a:solidFill>
                <a:latin typeface="Arial"/>
              </a:rPr>
              <a:t> km urban bike (1</a:t>
            </a:r>
            <a:r>
              <a:rPr lang="en-US" sz="1400" b="0" i="0" dirty="0">
                <a:solidFill>
                  <a:srgbClr val="262626"/>
                </a:solidFill>
                <a:latin typeface="Arial"/>
              </a:rPr>
              <a:t>7</a:t>
            </a:r>
            <a:r>
              <a:rPr sz="1400" b="0" i="0" dirty="0">
                <a:solidFill>
                  <a:srgbClr val="262626"/>
                </a:solidFill>
                <a:latin typeface="Arial"/>
              </a:rPr>
              <a:t>.8 km)</a:t>
            </a:r>
            <a:r>
              <a:rPr lang="en-US" sz="1400" b="0" i="0" dirty="0">
                <a:solidFill>
                  <a:srgbClr val="262626"/>
                </a:solidFill>
                <a:latin typeface="Arial"/>
              </a:rPr>
              <a:t>. </a:t>
            </a:r>
            <a:r>
              <a:rPr lang="en-US" sz="1400" dirty="0">
                <a:solidFill>
                  <a:srgbClr val="262626"/>
                </a:solidFill>
                <a:latin typeface="Arial"/>
              </a:rPr>
              <a:t>F</a:t>
            </a:r>
            <a:r>
              <a:rPr sz="1400" b="0" i="0" dirty="0">
                <a:solidFill>
                  <a:srgbClr val="262626"/>
                </a:solidFill>
                <a:latin typeface="Arial"/>
              </a:rPr>
              <a:t>lat but highly technical </a:t>
            </a:r>
            <a:r>
              <a:rPr lang="en-US" sz="1400" b="0" i="0" dirty="0">
                <a:solidFill>
                  <a:srgbClr val="262626"/>
                </a:solidFill>
                <a:latin typeface="Arial"/>
              </a:rPr>
              <a:t>course </a:t>
            </a:r>
            <a:r>
              <a:rPr sz="1400" b="0" i="0" dirty="0">
                <a:solidFill>
                  <a:srgbClr val="262626"/>
                </a:solidFill>
                <a:latin typeface="Arial"/>
              </a:rPr>
              <a:t>with multiple turns</a:t>
            </a:r>
            <a:r>
              <a:rPr lang="en-US" sz="1400" b="0" i="0" dirty="0">
                <a:solidFill>
                  <a:srgbClr val="262626"/>
                </a:solidFill>
                <a:latin typeface="Arial"/>
              </a:rPr>
              <a:t>.</a:t>
            </a:r>
            <a:r>
              <a:rPr sz="1400" b="0" i="0" dirty="0">
                <a:solidFill>
                  <a:srgbClr val="262626"/>
                </a:solidFill>
                <a:latin typeface="Arial"/>
              </a:rPr>
              <a:t>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016321"/>
            <a:ext cx="585216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262626"/>
                </a:solidFill>
                <a:latin typeface="Arial"/>
              </a:rPr>
              <a:t>•  </a:t>
            </a:r>
            <a:r>
              <a:rPr lang="en-US" sz="1400" b="0" i="0" dirty="0">
                <a:solidFill>
                  <a:srgbClr val="262626"/>
                </a:solidFill>
                <a:latin typeface="Arial"/>
              </a:rPr>
              <a:t>3</a:t>
            </a:r>
            <a:r>
              <a:rPr sz="1400" b="0" i="0" dirty="0">
                <a:solidFill>
                  <a:srgbClr val="262626"/>
                </a:solidFill>
                <a:latin typeface="Arial"/>
              </a:rPr>
              <a:t> × </a:t>
            </a:r>
            <a:r>
              <a:rPr lang="en-US" sz="1400" dirty="0">
                <a:solidFill>
                  <a:srgbClr val="262626"/>
                </a:solidFill>
                <a:latin typeface="Arial"/>
              </a:rPr>
              <a:t>1.8</a:t>
            </a:r>
            <a:r>
              <a:rPr sz="1400" b="0" i="0" dirty="0">
                <a:solidFill>
                  <a:srgbClr val="262626"/>
                </a:solidFill>
                <a:latin typeface="Arial"/>
              </a:rPr>
              <a:t> km flat run through city-center streets</a:t>
            </a:r>
            <a:r>
              <a:rPr lang="en-US" sz="1400" b="0" i="0" dirty="0">
                <a:solidFill>
                  <a:srgbClr val="262626"/>
                </a:solidFill>
                <a:latin typeface="Arial"/>
              </a:rPr>
              <a:t>. Despite some cobblestone sections this is typically a fast run that comes down to a late surge. </a:t>
            </a:r>
            <a:endParaRPr sz="1400" b="0" i="0" dirty="0">
              <a:solidFill>
                <a:srgbClr val="262626"/>
              </a:solidFill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65760" y="5783958"/>
            <a:ext cx="5852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262626"/>
                </a:solidFill>
                <a:latin typeface="Arial"/>
              </a:rPr>
              <a:t>•  </a:t>
            </a:r>
            <a:r>
              <a:rPr lang="en-US" sz="1400" b="0" i="0" dirty="0">
                <a:solidFill>
                  <a:srgbClr val="262626"/>
                </a:solidFill>
                <a:latin typeface="Arial"/>
              </a:rPr>
              <a:t>Sunday 13:45 Start Time</a:t>
            </a:r>
            <a:endParaRPr sz="1400" b="0" i="0" dirty="0">
              <a:solidFill>
                <a:srgbClr val="262626"/>
              </a:solidFill>
              <a:latin typeface="Arial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583680" y="1097280"/>
            <a:ext cx="5303520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29400" y="111556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COURSE AT A GLANCE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1508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060"/>
                </a:solidFill>
                <a:latin typeface="Arial"/>
              </a:rPr>
              <a:t>Swim: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1508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262626"/>
                </a:solidFill>
                <a:latin typeface="Arial"/>
              </a:rPr>
              <a:t>750 m – 1 lap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18470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060"/>
                </a:solidFill>
                <a:latin typeface="Arial"/>
              </a:rPr>
              <a:t>Bike: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1847088"/>
            <a:ext cx="3657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262626"/>
                </a:solidFill>
                <a:latin typeface="Arial"/>
              </a:rPr>
              <a:t>1</a:t>
            </a:r>
            <a:r>
              <a:rPr lang="en-US" sz="1200" dirty="0">
                <a:solidFill>
                  <a:srgbClr val="262626"/>
                </a:solidFill>
                <a:latin typeface="Arial"/>
              </a:rPr>
              <a:t>7</a:t>
            </a:r>
            <a:r>
              <a:rPr sz="1200" b="0" i="0" dirty="0">
                <a:solidFill>
                  <a:srgbClr val="262626"/>
                </a:solidFill>
                <a:latin typeface="Arial"/>
              </a:rPr>
              <a:t>.8 km – </a:t>
            </a:r>
            <a:r>
              <a:rPr lang="en-US" sz="1200" b="0" i="0" dirty="0">
                <a:solidFill>
                  <a:srgbClr val="262626"/>
                </a:solidFill>
                <a:latin typeface="Arial"/>
              </a:rPr>
              <a:t>2</a:t>
            </a:r>
            <a:r>
              <a:rPr sz="1200" b="0" i="0" dirty="0">
                <a:solidFill>
                  <a:srgbClr val="262626"/>
                </a:solidFill>
                <a:latin typeface="Arial"/>
              </a:rPr>
              <a:t> laps × </a:t>
            </a:r>
            <a:r>
              <a:rPr lang="en-US" sz="1200" dirty="0">
                <a:solidFill>
                  <a:srgbClr val="262626"/>
                </a:solidFill>
                <a:latin typeface="Arial"/>
              </a:rPr>
              <a:t>8.4</a:t>
            </a:r>
            <a:r>
              <a:rPr sz="1200" b="0" i="0" dirty="0">
                <a:solidFill>
                  <a:srgbClr val="262626"/>
                </a:solidFill>
                <a:latin typeface="Arial"/>
              </a:rPr>
              <a:t> km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185415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060"/>
                </a:solidFill>
                <a:latin typeface="Arial"/>
              </a:rPr>
              <a:t>Run: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185415"/>
            <a:ext cx="3657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dirty="0">
                <a:solidFill>
                  <a:srgbClr val="262626"/>
                </a:solidFill>
                <a:latin typeface="Arial"/>
              </a:rPr>
              <a:t>5.4</a:t>
            </a:r>
            <a:r>
              <a:rPr sz="1200" b="0" i="0" dirty="0">
                <a:solidFill>
                  <a:srgbClr val="262626"/>
                </a:solidFill>
                <a:latin typeface="Arial"/>
              </a:rPr>
              <a:t> km – </a:t>
            </a:r>
            <a:r>
              <a:rPr lang="en-US" sz="1200" b="0" i="0" dirty="0">
                <a:solidFill>
                  <a:srgbClr val="262626"/>
                </a:solidFill>
                <a:latin typeface="Arial"/>
              </a:rPr>
              <a:t>3</a:t>
            </a:r>
            <a:r>
              <a:rPr sz="1200" b="0" i="0" dirty="0">
                <a:solidFill>
                  <a:srgbClr val="262626"/>
                </a:solidFill>
                <a:latin typeface="Arial"/>
              </a:rPr>
              <a:t> laps × </a:t>
            </a:r>
            <a:r>
              <a:rPr lang="en-US" sz="1200" b="0" i="0" dirty="0">
                <a:solidFill>
                  <a:srgbClr val="262626"/>
                </a:solidFill>
                <a:latin typeface="Arial"/>
              </a:rPr>
              <a:t>1.8</a:t>
            </a:r>
            <a:r>
              <a:rPr sz="1200" b="0" i="0" dirty="0">
                <a:solidFill>
                  <a:srgbClr val="262626"/>
                </a:solidFill>
                <a:latin typeface="Arial"/>
              </a:rPr>
              <a:t> km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252374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060"/>
                </a:solidFill>
                <a:latin typeface="Arial"/>
              </a:rPr>
              <a:t>Format: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2523744"/>
            <a:ext cx="3657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262626"/>
                </a:solidFill>
                <a:latin typeface="Arial"/>
              </a:rPr>
              <a:t>Sprint Triathlon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28620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060"/>
                </a:solidFill>
                <a:latin typeface="Arial"/>
              </a:rPr>
              <a:t>Bike Laps: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2862072"/>
            <a:ext cx="3657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b="0" i="0" dirty="0">
                <a:solidFill>
                  <a:srgbClr val="262626"/>
                </a:solidFill>
                <a:latin typeface="Arial"/>
              </a:rPr>
              <a:t>2</a:t>
            </a:r>
            <a:endParaRPr sz="1200" b="0" i="0" dirty="0">
              <a:solidFill>
                <a:srgbClr val="262626"/>
              </a:solidFill>
              <a:latin typeface="Arial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675120" y="3200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060"/>
                </a:solidFill>
                <a:latin typeface="Arial"/>
              </a:rPr>
              <a:t>Run Laps: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3200400"/>
            <a:ext cx="3657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dirty="0">
                <a:solidFill>
                  <a:srgbClr val="262626"/>
                </a:solidFill>
                <a:latin typeface="Arial"/>
              </a:rPr>
              <a:t>3</a:t>
            </a:r>
            <a:endParaRPr sz="1200" b="0" i="0" dirty="0">
              <a:solidFill>
                <a:srgbClr val="262626"/>
              </a:solidFill>
              <a:latin typeface="Arial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583680" y="3657600"/>
            <a:ext cx="5303520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629400" y="3675887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QUICK LINKS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40690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060"/>
                </a:solidFill>
                <a:latin typeface="Arial"/>
              </a:rPr>
              <a:t>Current Race Info: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4370832"/>
            <a:ext cx="51206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 dirty="0">
                <a:solidFill>
                  <a:srgbClr val="262626"/>
                </a:solidFill>
                <a:latin typeface="Arial"/>
                <a:hlinkClick r:id="rId3"/>
              </a:rPr>
              <a:t>Race Info | 2026 World Triathlon Championship Series Hamburg</a:t>
            </a:r>
            <a:endParaRPr sz="1000" b="0" i="1" dirty="0">
              <a:solidFill>
                <a:srgbClr val="262626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Swim Course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Hamburg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5120640" cy="38404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251460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BFBFBF"/>
                </a:solidFill>
                <a:latin typeface="Arial"/>
              </a:rPr>
              <a:t>[Drop swim course map here]
Save the organiser map as:
ppt files/support/hamburg_swim_course.png
It will be embedded automatically on the next run.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02920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Source: World Triathlon race info — 2026 WTCS Hamburg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77840" y="1143000"/>
            <a:ext cx="6309360" cy="8229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577840" y="1252728"/>
            <a:ext cx="6309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750 m   •   single lap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1636776"/>
            <a:ext cx="6309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AABBDD"/>
                </a:solidFill>
                <a:latin typeface="Arial"/>
              </a:rPr>
              <a:t>Sheltered urban lake — fresh water, calm conditions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23560" y="2103120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0" y="2139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Distance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234086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750 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26680" y="2103120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0" y="2139696"/>
            <a:ext cx="19202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b="1" i="0" dirty="0">
                <a:solidFill>
                  <a:srgbClr val="002060"/>
                </a:solidFill>
                <a:latin typeface="Arial"/>
              </a:rPr>
              <a:t>Body of Water</a:t>
            </a:r>
            <a:endParaRPr sz="900" b="1" i="0" dirty="0">
              <a:solidFill>
                <a:srgbClr val="002060"/>
              </a:solidFill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772400" y="2340864"/>
            <a:ext cx="19202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0" dirty="0">
                <a:solidFill>
                  <a:srgbClr val="262626"/>
                </a:solidFill>
                <a:latin typeface="Arial"/>
              </a:rPr>
              <a:t>River</a:t>
            </a:r>
            <a:endParaRPr sz="1400" b="1" i="0" dirty="0">
              <a:solidFill>
                <a:srgbClr val="262626"/>
              </a:solidFill>
              <a:latin typeface="Arial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9829800" y="2103120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875520" y="2139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Start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234086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Pontoon start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23560" y="2816352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6928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Water Temp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3054096"/>
            <a:ext cx="19202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262626"/>
                </a:solidFill>
                <a:latin typeface="Arial"/>
              </a:rPr>
              <a:t>18.0–22.0 °C 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26680" y="2816352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40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Wetsuit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3054096"/>
            <a:ext cx="19202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0" dirty="0">
                <a:solidFill>
                  <a:srgbClr val="262626"/>
                </a:solidFill>
                <a:latin typeface="Arial"/>
              </a:rPr>
              <a:t>N/A</a:t>
            </a:r>
            <a:endParaRPr sz="1400" b="1" i="0" dirty="0">
              <a:solidFill>
                <a:srgbClr val="262626"/>
              </a:solidFill>
              <a:latin typeface="Arial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9829800" y="2816352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87552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Lap Count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305409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577840" y="3611880"/>
            <a:ext cx="6309360" cy="2926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669280" y="363931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Tactical Notes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3977640"/>
            <a:ext cx="6126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262626"/>
                </a:solidFill>
                <a:latin typeface="Arial"/>
              </a:rPr>
              <a:t>•  Single 750 m loop </a:t>
            </a:r>
            <a:r>
              <a:rPr lang="en-US" sz="1400" b="0" i="0" dirty="0">
                <a:solidFill>
                  <a:srgbClr val="262626"/>
                </a:solidFill>
                <a:latin typeface="Arial"/>
              </a:rPr>
              <a:t>with a pontoon start into the Alster canal.</a:t>
            </a:r>
            <a:endParaRPr sz="1400" b="0" i="0" dirty="0">
              <a:solidFill>
                <a:srgbClr val="262626"/>
              </a:solidFill>
              <a:latin typeface="Arial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669280" y="4295970"/>
            <a:ext cx="6126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262626"/>
                </a:solidFill>
                <a:latin typeface="Arial"/>
              </a:rPr>
              <a:t>•  Fresh water lake in city center. Typically calm conditions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0" y="4614300"/>
            <a:ext cx="6126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262626"/>
                </a:solidFill>
                <a:latin typeface="Arial"/>
              </a:rPr>
              <a:t>•  July morning water mid-to-high teens Celsius.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0" y="5148072"/>
            <a:ext cx="6126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0" i="0" dirty="0">
                <a:solidFill>
                  <a:srgbClr val="262626"/>
                </a:solidFill>
                <a:latin typeface="Arial"/>
              </a:rPr>
              <a:t>•  Finish in same starting location</a:t>
            </a:r>
            <a:endParaRPr sz="1400" b="0" i="0" dirty="0">
              <a:solidFill>
                <a:srgbClr val="262626"/>
              </a:solidFill>
              <a:latin typeface="Arial"/>
            </a:endParaRPr>
          </a:p>
        </p:txBody>
      </p:sp>
      <p:pic>
        <p:nvPicPr>
          <p:cNvPr id="39" name="Picture 38" descr="The image depicts a map overlay showing a navigational route across a water body, with landmarks and a distance measurement of 100 meters.&#10;&#10;AI-generated content may be incorrect.">
            <a:extLst>
              <a:ext uri="{FF2B5EF4-FFF2-40B4-BE49-F238E27FC236}">
                <a16:creationId xmlns:a16="http://schemas.microsoft.com/office/drawing/2014/main" id="{594D4A42-5905-98B2-50B7-1C08F89F65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327" y="1143000"/>
            <a:ext cx="5210213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/>
          <p:cNvSpPr/>
          <p:nvPr/>
        </p:nvSpPr>
        <p:spPr>
          <a:xfrm>
            <a:off x="274320" y="5120640"/>
            <a:ext cx="11640312" cy="141732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74320" y="5577840"/>
            <a:ext cx="116403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BFBFBF"/>
                </a:solidFill>
                <a:latin typeface="Arial"/>
              </a:rPr>
              <a:t>Flat course — published profile shows no significant climbs.
No elevation chart synthesized; if a race GPS FIT becomes available, real contours will replace this block.</a:t>
            </a: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Bike Course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Hamburg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5120640" cy="329184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224028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BFBFBF"/>
                </a:solidFill>
                <a:latin typeface="Arial"/>
              </a:rPr>
              <a:t>[Drop course map here]
Save the organiser course map as:
ppt files/support/hamburg_bike_course.png
It will be embedded automatically on the next run.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8056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Source: World Triathlon race info — 2026 WTCS Hamburg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77840" y="1143000"/>
            <a:ext cx="6309360" cy="8229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577840" y="1252728"/>
            <a:ext cx="63093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 dirty="0">
                <a:solidFill>
                  <a:srgbClr val="FFFFFF"/>
                </a:solidFill>
                <a:latin typeface="Arial"/>
              </a:rPr>
              <a:t>1</a:t>
            </a:r>
            <a:r>
              <a:rPr lang="en-US" sz="2200" b="1" i="0" dirty="0">
                <a:solidFill>
                  <a:srgbClr val="FFFFFF"/>
                </a:solidFill>
                <a:latin typeface="Arial"/>
              </a:rPr>
              <a:t>7</a:t>
            </a:r>
            <a:r>
              <a:rPr sz="2200" b="1" i="0" dirty="0">
                <a:solidFill>
                  <a:srgbClr val="FFFFFF"/>
                </a:solidFill>
                <a:latin typeface="Arial"/>
              </a:rPr>
              <a:t>.8 km   •   </a:t>
            </a:r>
            <a:r>
              <a:rPr lang="en-US" sz="2200" b="1" dirty="0">
                <a:solidFill>
                  <a:srgbClr val="FFFFFF"/>
                </a:solidFill>
                <a:latin typeface="Arial"/>
              </a:rPr>
              <a:t>2</a:t>
            </a:r>
            <a:r>
              <a:rPr sz="2200" b="1" i="0" dirty="0">
                <a:solidFill>
                  <a:srgbClr val="FFFFFF"/>
                </a:solidFill>
                <a:latin typeface="Arial"/>
              </a:rPr>
              <a:t> × </a:t>
            </a:r>
            <a:r>
              <a:rPr lang="en-US" sz="2200" b="1" i="0" dirty="0">
                <a:solidFill>
                  <a:srgbClr val="FFFFFF"/>
                </a:solidFill>
                <a:latin typeface="Arial"/>
              </a:rPr>
              <a:t>8.4</a:t>
            </a:r>
            <a:r>
              <a:rPr sz="2200" b="1" i="0" dirty="0">
                <a:solidFill>
                  <a:srgbClr val="FFFFFF"/>
                </a:solidFill>
                <a:latin typeface="Arial"/>
              </a:rPr>
              <a:t> km loops</a:t>
            </a:r>
            <a:r>
              <a:rPr lang="en-US" sz="2200" b="1" i="0" dirty="0">
                <a:solidFill>
                  <a:srgbClr val="FFFFFF"/>
                </a:solidFill>
                <a:latin typeface="Arial"/>
              </a:rPr>
              <a:t>?</a:t>
            </a:r>
            <a:endParaRPr sz="22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577840" y="1636776"/>
            <a:ext cx="6309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 dirty="0">
                <a:solidFill>
                  <a:srgbClr val="AABBDD"/>
                </a:solidFill>
                <a:latin typeface="Arial"/>
              </a:rPr>
              <a:t>Closed urban circuit — </a:t>
            </a:r>
            <a:r>
              <a:rPr sz="1100" b="0" i="1" dirty="0" err="1">
                <a:solidFill>
                  <a:srgbClr val="AABBDD"/>
                </a:solidFill>
                <a:latin typeface="Arial"/>
              </a:rPr>
              <a:t>Rathausmarkt</a:t>
            </a:r>
            <a:r>
              <a:rPr sz="1100" b="0" i="1" dirty="0">
                <a:solidFill>
                  <a:srgbClr val="AABBDD"/>
                </a:solidFill>
                <a:latin typeface="Arial"/>
              </a:rPr>
              <a:t>, </a:t>
            </a:r>
            <a:r>
              <a:rPr sz="1100" b="0" i="1" dirty="0" err="1">
                <a:solidFill>
                  <a:srgbClr val="AABBDD"/>
                </a:solidFill>
                <a:latin typeface="Arial"/>
              </a:rPr>
              <a:t>Alsterufer</a:t>
            </a:r>
            <a:r>
              <a:rPr sz="1100" b="0" i="1" dirty="0">
                <a:solidFill>
                  <a:srgbClr val="AABBDD"/>
                </a:solidFill>
                <a:latin typeface="Arial"/>
              </a:rPr>
              <a:t>, </a:t>
            </a:r>
            <a:r>
              <a:rPr sz="1100" b="0" i="1" dirty="0" err="1">
                <a:solidFill>
                  <a:srgbClr val="AABBDD"/>
                </a:solidFill>
                <a:latin typeface="Arial"/>
              </a:rPr>
              <a:t>Jungfernstieg</a:t>
            </a:r>
            <a:endParaRPr sz="1100" b="0" i="1" dirty="0">
              <a:solidFill>
                <a:srgbClr val="AABBDD"/>
              </a:solidFill>
              <a:latin typeface="Arial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623560" y="2103120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0" y="2139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Elevation / Lap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2340864"/>
            <a:ext cx="192024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500" b="1" dirty="0">
                <a:solidFill>
                  <a:srgbClr val="262626"/>
                </a:solidFill>
                <a:latin typeface="Arial"/>
              </a:rPr>
              <a:t>41</a:t>
            </a:r>
            <a:r>
              <a:rPr lang="en-US" sz="1500" b="1" i="0" dirty="0">
                <a:solidFill>
                  <a:srgbClr val="262626"/>
                </a:solidFill>
                <a:latin typeface="Arial"/>
              </a:rPr>
              <a:t> m / lap</a:t>
            </a:r>
            <a:endParaRPr sz="1500" b="1" i="0" dirty="0">
              <a:solidFill>
                <a:srgbClr val="262626"/>
              </a:solidFill>
              <a:latin typeface="Arial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726680" y="2103120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0" y="2139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Total Climb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2340864"/>
            <a:ext cx="192024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500" b="1" i="0" dirty="0">
                <a:solidFill>
                  <a:srgbClr val="262626"/>
                </a:solidFill>
                <a:latin typeface="Arial"/>
              </a:rPr>
              <a:t>?ft</a:t>
            </a:r>
            <a:endParaRPr sz="1500" b="1" i="0" dirty="0">
              <a:solidFill>
                <a:srgbClr val="262626"/>
              </a:solidFill>
              <a:latin typeface="Arial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9829800" y="2103120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875520" y="2139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Avg Grade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2340864"/>
            <a:ext cx="192024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500" b="1" i="0" dirty="0">
                <a:solidFill>
                  <a:srgbClr val="262626"/>
                </a:solidFill>
                <a:latin typeface="Arial"/>
              </a:rPr>
              <a:t>~0-1%</a:t>
            </a:r>
            <a:endParaRPr sz="1500" b="1" i="0" dirty="0">
              <a:solidFill>
                <a:srgbClr val="262626"/>
              </a:solidFill>
              <a:latin typeface="Arial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623560" y="2816352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6928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Max Climb Grade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3054096"/>
            <a:ext cx="192024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500" b="1" i="0" dirty="0">
                <a:solidFill>
                  <a:srgbClr val="262626"/>
                </a:solidFill>
                <a:latin typeface="Arial"/>
              </a:rPr>
              <a:t>7%</a:t>
            </a:r>
            <a:endParaRPr sz="1500" b="1" i="0" dirty="0">
              <a:solidFill>
                <a:srgbClr val="262626"/>
              </a:solidFill>
              <a:latin typeface="Arial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7726680" y="2816352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40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Wind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3054096"/>
            <a:ext cx="192024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 dirty="0">
                <a:solidFill>
                  <a:srgbClr val="262626"/>
                </a:solidFill>
                <a:latin typeface="Arial"/>
              </a:rPr>
              <a:t>City-center setting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829800" y="2816352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87552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Loops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3054096"/>
            <a:ext cx="192024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500" b="1" i="0" dirty="0">
                <a:solidFill>
                  <a:srgbClr val="262626"/>
                </a:solidFill>
                <a:latin typeface="Arial"/>
              </a:rPr>
              <a:t>NA</a:t>
            </a:r>
            <a:endParaRPr sz="1500" b="1" i="0" dirty="0">
              <a:solidFill>
                <a:srgbClr val="262626"/>
              </a:solidFill>
              <a:latin typeface="Arial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5577840" y="3703320"/>
            <a:ext cx="6309360" cy="2926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669280" y="373075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Tactical Implications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4069080"/>
            <a:ext cx="61264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262626"/>
                </a:solidFill>
                <a:latin typeface="Arial"/>
              </a:rPr>
              <a:t>•  </a:t>
            </a:r>
            <a:r>
              <a:rPr sz="1200" b="0" i="0" dirty="0">
                <a:solidFill>
                  <a:srgbClr val="262626"/>
                </a:solidFill>
                <a:latin typeface="Arial"/>
              </a:rPr>
              <a:t>Hamburg's city center</a:t>
            </a:r>
            <a:r>
              <a:rPr lang="en-US" sz="1200" b="0" i="0" dirty="0">
                <a:solidFill>
                  <a:srgbClr val="262626"/>
                </a:solidFill>
                <a:latin typeface="Arial"/>
              </a:rPr>
              <a:t> bike represents </a:t>
            </a:r>
            <a:r>
              <a:rPr sz="1200" b="0" i="0" dirty="0">
                <a:solidFill>
                  <a:srgbClr val="262626"/>
                </a:solidFill>
                <a:latin typeface="Arial"/>
              </a:rPr>
              <a:t>one of the most technical WTCS bike courses</a:t>
            </a:r>
            <a:r>
              <a:rPr lang="en-US" sz="1200" dirty="0">
                <a:solidFill>
                  <a:srgbClr val="262626"/>
                </a:solidFill>
                <a:latin typeface="Arial"/>
              </a:rPr>
              <a:t>. Pancake-flat throughout, but high-frequency turns reward bike-handling skills alongside power.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0" y="4654296"/>
            <a:ext cx="61264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dirty="0">
                <a:solidFill>
                  <a:srgbClr val="262626"/>
                </a:solidFill>
                <a:latin typeface="Arial"/>
              </a:rPr>
              <a:t>•  </a:t>
            </a:r>
            <a:r>
              <a:rPr lang="en-US" sz="1200" dirty="0">
                <a:solidFill>
                  <a:srgbClr val="262626"/>
                </a:solidFill>
                <a:latin typeface="Arial"/>
              </a:rPr>
              <a:t>Cobblestone sections add additional complexity</a:t>
            </a:r>
          </a:p>
          <a:p>
            <a:pPr algn="l"/>
            <a:endParaRPr sz="1200" b="0" i="0" dirty="0">
              <a:solidFill>
                <a:srgbClr val="262626"/>
              </a:solidFill>
              <a:latin typeface="Arial"/>
            </a:endParaRPr>
          </a:p>
        </p:txBody>
      </p:sp>
      <p:pic>
        <p:nvPicPr>
          <p:cNvPr id="37" name="Picture 36" descr="The image depicts a map with a route marked in red, indicating a 500-meter walk from St. Georg to Neustadt via Alsterfleet in Hamburg.&#10;&#10;AI-generated content may be incorrect.">
            <a:extLst>
              <a:ext uri="{FF2B5EF4-FFF2-40B4-BE49-F238E27FC236}">
                <a16:creationId xmlns:a16="http://schemas.microsoft.com/office/drawing/2014/main" id="{018ED7CC-A412-7606-1D4C-6FE28DD1C9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938" y="1136712"/>
            <a:ext cx="5074937" cy="3307271"/>
          </a:xfrm>
          <a:prstGeom prst="rect">
            <a:avLst/>
          </a:prstGeom>
        </p:spPr>
      </p:pic>
      <p:pic>
        <p:nvPicPr>
          <p:cNvPr id="41" name="Picture 40" descr="The image depicts a distance traveled of 8.0 kilometers, with incremental markers at 100, 50, and 0 meters, as well as 2.0 and 4.0 kilometers.&#10;&#10;AI-generated content may be incorrect.">
            <a:extLst>
              <a:ext uri="{FF2B5EF4-FFF2-40B4-BE49-F238E27FC236}">
                <a16:creationId xmlns:a16="http://schemas.microsoft.com/office/drawing/2014/main" id="{2ABF1CEC-84BA-44E7-D7A8-9C24B9BFBF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4629" y="5113403"/>
            <a:ext cx="9263958" cy="136681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Run Course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Hamburg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5120640" cy="38404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251460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BFBFBF"/>
                </a:solidFill>
                <a:latin typeface="Arial"/>
              </a:rPr>
              <a:t>[Drop run course map here]
Save the organiser map as:
ppt files/support/hamburg_run_course.png
It will be embedded automatically on the next run.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02920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Source: World Triathlon race info — 2026 WTCS Hamburg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77840" y="1143000"/>
            <a:ext cx="6309360" cy="8229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577840" y="1252728"/>
            <a:ext cx="63093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b="1" dirty="0">
                <a:solidFill>
                  <a:srgbClr val="FFFFFF"/>
                </a:solidFill>
                <a:latin typeface="Arial"/>
              </a:rPr>
              <a:t>5</a:t>
            </a:r>
            <a:r>
              <a:rPr sz="2200" b="1" i="0" dirty="0">
                <a:solidFill>
                  <a:srgbClr val="FFFFFF"/>
                </a:solidFill>
                <a:latin typeface="Arial"/>
              </a:rPr>
              <a:t>.0 km   •   </a:t>
            </a:r>
            <a:r>
              <a:rPr lang="en-US" sz="2200" b="1" i="0" dirty="0">
                <a:solidFill>
                  <a:srgbClr val="FFFFFF"/>
                </a:solidFill>
                <a:latin typeface="Arial"/>
              </a:rPr>
              <a:t>3?</a:t>
            </a:r>
            <a:r>
              <a:rPr sz="2200" b="1" i="0" dirty="0">
                <a:solidFill>
                  <a:srgbClr val="FFFFFF"/>
                </a:solidFill>
                <a:latin typeface="Arial"/>
              </a:rPr>
              <a:t> × </a:t>
            </a:r>
            <a:r>
              <a:rPr lang="en-US" sz="2200" b="1" dirty="0">
                <a:solidFill>
                  <a:srgbClr val="FFFFFF"/>
                </a:solidFill>
                <a:latin typeface="Arial"/>
              </a:rPr>
              <a:t>1.8</a:t>
            </a:r>
            <a:r>
              <a:rPr sz="2200" b="1" i="0" dirty="0">
                <a:solidFill>
                  <a:srgbClr val="FFFFFF"/>
                </a:solidFill>
                <a:latin typeface="Arial"/>
              </a:rPr>
              <a:t> km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1636776"/>
            <a:ext cx="6309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AABBDD"/>
                </a:solidFill>
                <a:latin typeface="Arial"/>
              </a:rPr>
              <a:t>Closed urban — Rathausmarkt, Alsterarkaden, city hall precinct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23560" y="2103120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0" y="2139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Distance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2340864"/>
            <a:ext cx="19202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rgbClr val="262626"/>
                </a:solidFill>
                <a:latin typeface="Arial"/>
              </a:rPr>
              <a:t>5</a:t>
            </a:r>
            <a:r>
              <a:rPr sz="1400" b="1" i="0" dirty="0">
                <a:solidFill>
                  <a:srgbClr val="262626"/>
                </a:solidFill>
                <a:latin typeface="Arial"/>
              </a:rPr>
              <a:t>.0 km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26680" y="2103120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0" y="2139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Lap Structure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2340864"/>
            <a:ext cx="19202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0" dirty="0">
                <a:solidFill>
                  <a:srgbClr val="262626"/>
                </a:solidFill>
                <a:latin typeface="Arial"/>
              </a:rPr>
              <a:t>3 X1.8 </a:t>
            </a:r>
            <a:r>
              <a:rPr sz="1400" b="1" i="0" dirty="0">
                <a:solidFill>
                  <a:srgbClr val="262626"/>
                </a:solidFill>
                <a:latin typeface="Arial"/>
              </a:rPr>
              <a:t>km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29800" y="2103120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875520" y="2139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Total Climb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2340864"/>
            <a:ext cx="19202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rgbClr val="262626"/>
                </a:solidFill>
                <a:latin typeface="Arial"/>
              </a:rPr>
              <a:t>6</a:t>
            </a:r>
            <a:r>
              <a:rPr lang="en-US" sz="1400" b="1" i="0" dirty="0">
                <a:solidFill>
                  <a:srgbClr val="262626"/>
                </a:solidFill>
                <a:latin typeface="Arial"/>
              </a:rPr>
              <a:t> m</a:t>
            </a:r>
            <a:endParaRPr sz="1400" b="1" i="0" dirty="0">
              <a:solidFill>
                <a:srgbClr val="262626"/>
              </a:solidFill>
              <a:latin typeface="Arial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623560" y="2816352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6928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Avg Grade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3054096"/>
            <a:ext cx="19202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0" dirty="0">
                <a:solidFill>
                  <a:srgbClr val="262626"/>
                </a:solidFill>
                <a:latin typeface="Arial"/>
              </a:rPr>
              <a:t>~0-1%</a:t>
            </a:r>
            <a:endParaRPr sz="1400" b="1" i="0" dirty="0">
              <a:solidFill>
                <a:srgbClr val="262626"/>
              </a:solidFill>
              <a:latin typeface="Arial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7726680" y="2816352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40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Max ▲ / 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3054096"/>
            <a:ext cx="19202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0" dirty="0">
                <a:solidFill>
                  <a:srgbClr val="262626"/>
                </a:solidFill>
                <a:latin typeface="Arial"/>
              </a:rPr>
              <a:t>+ 1.8% </a:t>
            </a:r>
            <a:endParaRPr sz="1400" b="1" i="0" dirty="0">
              <a:solidFill>
                <a:srgbClr val="262626"/>
              </a:solidFill>
              <a:latin typeface="Arial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9829800" y="2816352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87552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Heat Risk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305409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LOW–MODERATE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577840" y="3611880"/>
            <a:ext cx="6309360" cy="2926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669280" y="363931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Tactical Notes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3977640"/>
            <a:ext cx="61264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262626"/>
                </a:solidFill>
                <a:latin typeface="Arial"/>
              </a:rPr>
              <a:t>•  </a:t>
            </a:r>
            <a:r>
              <a:rPr lang="en-US" sz="1400" b="0" i="0" dirty="0">
                <a:solidFill>
                  <a:srgbClr val="262626"/>
                </a:solidFill>
                <a:latin typeface="Arial"/>
              </a:rPr>
              <a:t>3 X 1.8</a:t>
            </a:r>
            <a:r>
              <a:rPr sz="1400" b="0" i="0" dirty="0">
                <a:solidFill>
                  <a:srgbClr val="262626"/>
                </a:solidFill>
                <a:latin typeface="Arial"/>
              </a:rPr>
              <a:t> km laps through Hamburg's historic city center</a:t>
            </a:r>
            <a:r>
              <a:rPr lang="en-US" sz="1400" b="0" i="0" dirty="0">
                <a:solidFill>
                  <a:srgbClr val="262626"/>
                </a:solidFill>
                <a:latin typeface="Arial"/>
              </a:rPr>
              <a:t> offers a </a:t>
            </a:r>
            <a:r>
              <a:rPr sz="1400" b="0" i="0" dirty="0">
                <a:solidFill>
                  <a:srgbClr val="262626"/>
                </a:solidFill>
                <a:latin typeface="Arial"/>
              </a:rPr>
              <a:t>flat, fast,</a:t>
            </a:r>
            <a:r>
              <a:rPr lang="en-US" sz="1400" b="0" i="0" dirty="0">
                <a:solidFill>
                  <a:srgbClr val="262626"/>
                </a:solidFill>
                <a:latin typeface="Arial"/>
              </a:rPr>
              <a:t> and most importantly a</a:t>
            </a:r>
            <a:r>
              <a:rPr sz="1400" b="0" i="0" dirty="0">
                <a:solidFill>
                  <a:srgbClr val="262626"/>
                </a:solidFill>
                <a:latin typeface="Arial"/>
              </a:rPr>
              <a:t> spectator-dense course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0" y="4524274"/>
            <a:ext cx="6126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262626"/>
                </a:solidFill>
                <a:latin typeface="Arial"/>
              </a:rPr>
              <a:t>•  Cobblestone sections</a:t>
            </a:r>
            <a:r>
              <a:rPr lang="en-US" sz="1400" dirty="0">
                <a:solidFill>
                  <a:srgbClr val="262626"/>
                </a:solidFill>
                <a:latin typeface="Arial"/>
              </a:rPr>
              <a:t> add additional terrain from typically road surfaces. </a:t>
            </a:r>
            <a:endParaRPr sz="1400" b="0" i="0" dirty="0">
              <a:solidFill>
                <a:srgbClr val="262626"/>
              </a:solidFill>
              <a:latin typeface="Arial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669280" y="4855464"/>
            <a:ext cx="6126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0" i="0" dirty="0">
                <a:solidFill>
                  <a:srgbClr val="262626"/>
                </a:solidFill>
                <a:latin typeface="Arial"/>
              </a:rPr>
              <a:t>•  </a:t>
            </a:r>
            <a:r>
              <a:rPr sz="1400" b="0" i="0" dirty="0">
                <a:solidFill>
                  <a:srgbClr val="262626"/>
                </a:solidFill>
                <a:latin typeface="Arial"/>
              </a:rPr>
              <a:t>July Hamburg averages ~22 °C, manageable but warm</a:t>
            </a:r>
          </a:p>
        </p:txBody>
      </p:sp>
      <p:pic>
        <p:nvPicPr>
          <p:cNvPr id="38" name="Picture 37" descr="The image shows a map or diagram with various street names and locations, including Gￃﾤnsmarkt, Stravk, Alster, Brands, Neuel, Jungfernstieg, Vexsuￃﾟe, Bleic nfleet, station, Mￃﾶnc, and a measurement of 200 meters.&#10;&#10;AI-generated content may be incorrect.">
            <a:extLst>
              <a:ext uri="{FF2B5EF4-FFF2-40B4-BE49-F238E27FC236}">
                <a16:creationId xmlns:a16="http://schemas.microsoft.com/office/drawing/2014/main" id="{3B0E25CE-3D5F-D00A-5640-6D843CE0B0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1" y="1143000"/>
            <a:ext cx="5120640" cy="3886199"/>
          </a:xfrm>
          <a:prstGeom prst="rect">
            <a:avLst/>
          </a:prstGeom>
        </p:spPr>
      </p:pic>
      <p:pic>
        <p:nvPicPr>
          <p:cNvPr id="41" name="Picture 40" descr="The image appears to be a running track or race course with distance markers indicating intervals of 0.5 km, 1.0 km, 1.5 km, and up to 100 meters.&#10;&#10;AI-generated content may be incorrect.">
            <a:extLst>
              <a:ext uri="{FF2B5EF4-FFF2-40B4-BE49-F238E27FC236}">
                <a16:creationId xmlns:a16="http://schemas.microsoft.com/office/drawing/2014/main" id="{7EDAA271-2DC0-5FFE-607C-735AE69A24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7820" y="5217808"/>
            <a:ext cx="7614328" cy="149218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Travel &amp; Arrival Load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Denver, CO → Hamburg race week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11640312" cy="960120"/>
          </a:xfrm>
          <a:prstGeom prst="rect">
            <a:avLst/>
          </a:prstGeom>
          <a:solidFill>
            <a:srgbClr val="E9EFF9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116128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2060"/>
                </a:solidFill>
                <a:latin typeface="Arial"/>
              </a:rPr>
              <a:t>Core travel read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44752"/>
            <a:ext cx="11247120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 dirty="0">
                <a:solidFill>
                  <a:srgbClr val="262626"/>
                </a:solidFill>
                <a:latin typeface="Arial"/>
              </a:rPr>
              <a:t>Denver → Hamburg requires one or two stops</a:t>
            </a:r>
            <a:r>
              <a:rPr lang="en-US" sz="1050" b="0" i="0" dirty="0">
                <a:solidFill>
                  <a:srgbClr val="262626"/>
                </a:solidFill>
                <a:latin typeface="Arial"/>
              </a:rPr>
              <a:t>. T</a:t>
            </a:r>
            <a:r>
              <a:rPr sz="1050" b="0" i="0" dirty="0">
                <a:solidFill>
                  <a:srgbClr val="262626"/>
                </a:solidFill>
                <a:latin typeface="Arial"/>
              </a:rPr>
              <a:t>ypical routes connect through London (LHR), Amsterdam (AMS), Frankfurt (FRA), or Paris (CDG) before the short </a:t>
            </a:r>
            <a:r>
              <a:rPr lang="en-US" sz="1050" dirty="0">
                <a:solidFill>
                  <a:srgbClr val="262626"/>
                </a:solidFill>
                <a:latin typeface="Arial"/>
              </a:rPr>
              <a:t>connection</a:t>
            </a:r>
            <a:r>
              <a:rPr sz="1050" b="0" i="0" dirty="0">
                <a:solidFill>
                  <a:srgbClr val="262626"/>
                </a:solidFill>
                <a:latin typeface="Arial"/>
              </a:rPr>
              <a:t> into Hamburg (HAM). Lufthansa and United operate the </a:t>
            </a:r>
            <a:r>
              <a:rPr lang="en-US" sz="1050" b="0" i="0" dirty="0">
                <a:solidFill>
                  <a:srgbClr val="262626"/>
                </a:solidFill>
                <a:latin typeface="Arial"/>
              </a:rPr>
              <a:t>best options </a:t>
            </a:r>
            <a:r>
              <a:rPr sz="1050" b="0" i="0" dirty="0">
                <a:solidFill>
                  <a:srgbClr val="262626"/>
                </a:solidFill>
                <a:latin typeface="Arial"/>
              </a:rPr>
              <a:t>from DEN. CEST (UTC+2) is 8 hours ahead of MDT. Hamburg Airport (HAM) is 10 km from the city center</a:t>
            </a:r>
            <a:r>
              <a:rPr lang="en-US" sz="1050" b="0" i="0" dirty="0">
                <a:solidFill>
                  <a:srgbClr val="262626"/>
                </a:solidFill>
                <a:latin typeface="Arial"/>
              </a:rPr>
              <a:t>. </a:t>
            </a:r>
            <a:r>
              <a:rPr lang="en-US" sz="1050" dirty="0">
                <a:solidFill>
                  <a:srgbClr val="262626"/>
                </a:solidFill>
                <a:latin typeface="Arial"/>
              </a:rPr>
              <a:t>T</a:t>
            </a:r>
            <a:r>
              <a:rPr sz="1050" b="0" i="0" dirty="0">
                <a:solidFill>
                  <a:srgbClr val="262626"/>
                </a:solidFill>
                <a:latin typeface="Arial"/>
              </a:rPr>
              <a:t>axi/rideshare ~20 min, S-Bahn line S1 links the airport to the </a:t>
            </a:r>
            <a:r>
              <a:rPr sz="1050" b="0" i="0" dirty="0" err="1">
                <a:solidFill>
                  <a:srgbClr val="262626"/>
                </a:solidFill>
                <a:latin typeface="Arial"/>
              </a:rPr>
              <a:t>Hauptbahnhof</a:t>
            </a:r>
            <a:r>
              <a:rPr sz="1050" b="0" i="0" dirty="0">
                <a:solidFill>
                  <a:srgbClr val="262626"/>
                </a:solidFill>
                <a:latin typeface="Arial"/>
              </a:rPr>
              <a:t> in ~25 min. Most WTCS hotels sit within 1–2 km of the Alster.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240280"/>
            <a:ext cx="2218334" cy="86868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" y="2286000"/>
            <a:ext cx="207203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2060"/>
                </a:solidFill>
                <a:latin typeface="Arial"/>
              </a:rPr>
              <a:t>Primary route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" y="2496312"/>
            <a:ext cx="207203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DEN → HAM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" y="2807208"/>
            <a:ext cx="207203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 dirty="0">
                <a:solidFill>
                  <a:srgbClr val="BFBFBF"/>
                </a:solidFill>
                <a:latin typeface="Arial"/>
              </a:rPr>
              <a:t>1–2 stops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29814" y="2240280"/>
            <a:ext cx="2218334" cy="86868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02966" y="2286000"/>
            <a:ext cx="207203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2060"/>
                </a:solidFill>
                <a:latin typeface="Arial"/>
              </a:rPr>
              <a:t>Flight 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02966" y="2496312"/>
            <a:ext cx="207203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~14–16h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2966" y="2807208"/>
            <a:ext cx="207203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Including layover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85308" y="2240280"/>
            <a:ext cx="2218334" cy="86868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58460" y="2286000"/>
            <a:ext cx="207203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2060"/>
                </a:solidFill>
                <a:latin typeface="Arial"/>
              </a:rPr>
              <a:t>Time zones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58460" y="2496312"/>
            <a:ext cx="207203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+8h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58460" y="2807208"/>
            <a:ext cx="207203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CEST ahead of MDT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40803" y="2240280"/>
            <a:ext cx="2218334" cy="86868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413955" y="2286000"/>
            <a:ext cx="207203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2060"/>
                </a:solidFill>
                <a:latin typeface="Arial"/>
              </a:rPr>
              <a:t>Airport Transfer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13955" y="2496312"/>
            <a:ext cx="207203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HAM → City Center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13955" y="2807208"/>
            <a:ext cx="207203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S-Bahn S1 ~25 min or taxi ~20 min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96297" y="2240280"/>
            <a:ext cx="2218334" cy="86868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769449" y="2286000"/>
            <a:ext cx="207203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2060"/>
                </a:solidFill>
                <a:latin typeface="Arial"/>
              </a:rPr>
              <a:t>Transfer Distance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69449" y="2496312"/>
            <a:ext cx="207203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~10 km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69449" y="2807208"/>
            <a:ext cx="207203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HAM Airport to Binnenalster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3291840"/>
            <a:ext cx="5669280" cy="237744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11480" y="3401568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2060"/>
                </a:solidFill>
                <a:latin typeface="Arial"/>
              </a:rPr>
              <a:t>Host Hotel / Official Accommodation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" y="3749040"/>
            <a:ext cx="53400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262626"/>
                </a:solidFill>
                <a:latin typeface="Arial"/>
              </a:rPr>
              <a:t>•  Historic WTCS host hotels cluster along the </a:t>
            </a:r>
            <a:r>
              <a:rPr sz="1200" b="0" i="0" dirty="0" err="1">
                <a:solidFill>
                  <a:srgbClr val="262626"/>
                </a:solidFill>
                <a:latin typeface="Arial"/>
              </a:rPr>
              <a:t>Außenalster</a:t>
            </a:r>
            <a:r>
              <a:rPr sz="1200" b="0" i="0" dirty="0">
                <a:solidFill>
                  <a:srgbClr val="262626"/>
                </a:solidFill>
                <a:latin typeface="Arial"/>
              </a:rPr>
              <a:t> and inner city: Radisson Blu, Fairmont Hotel Vier Jahreszeiten, and NH Hotels are common LOC choices.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" y="4439819"/>
            <a:ext cx="53400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262626"/>
                </a:solidFill>
                <a:latin typeface="Arial"/>
              </a:rPr>
              <a:t>•  </a:t>
            </a:r>
            <a:r>
              <a:rPr sz="1200" b="0" i="0" dirty="0" err="1">
                <a:solidFill>
                  <a:srgbClr val="262626"/>
                </a:solidFill>
                <a:latin typeface="Arial"/>
              </a:rPr>
              <a:t>Binnenalster</a:t>
            </a:r>
            <a:r>
              <a:rPr sz="1200" b="0" i="0" dirty="0">
                <a:solidFill>
                  <a:srgbClr val="262626"/>
                </a:solidFill>
                <a:latin typeface="Arial"/>
              </a:rPr>
              <a:t> / </a:t>
            </a:r>
            <a:r>
              <a:rPr sz="1200" b="0" i="0" dirty="0" err="1">
                <a:solidFill>
                  <a:srgbClr val="262626"/>
                </a:solidFill>
                <a:latin typeface="Arial"/>
              </a:rPr>
              <a:t>Rathausmarkt</a:t>
            </a:r>
            <a:r>
              <a:rPr sz="1200" b="0" i="0" dirty="0">
                <a:solidFill>
                  <a:srgbClr val="262626"/>
                </a:solidFill>
                <a:latin typeface="Arial"/>
              </a:rPr>
              <a:t> area gives walking distance to transition</a:t>
            </a:r>
            <a:r>
              <a:rPr lang="en-US" sz="1200" b="0" i="0" dirty="0">
                <a:solidFill>
                  <a:srgbClr val="262626"/>
                </a:solidFill>
                <a:latin typeface="Arial"/>
              </a:rPr>
              <a:t>. </a:t>
            </a:r>
            <a:r>
              <a:rPr lang="en-US" sz="1200" dirty="0">
                <a:solidFill>
                  <a:srgbClr val="262626"/>
                </a:solidFill>
                <a:latin typeface="Arial"/>
              </a:rPr>
              <a:t>N</a:t>
            </a:r>
            <a:r>
              <a:rPr sz="1200" b="0" i="0" dirty="0">
                <a:solidFill>
                  <a:srgbClr val="262626"/>
                </a:solidFill>
                <a:latin typeface="Arial"/>
              </a:rPr>
              <a:t>o shuttle needed for pre-race check-in or familiarization.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" y="4945932"/>
            <a:ext cx="53400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262626"/>
                </a:solidFill>
                <a:latin typeface="Arial"/>
              </a:rPr>
              <a:t>•  City </a:t>
            </a:r>
            <a:r>
              <a:rPr sz="1200" b="0" i="0" dirty="0" err="1">
                <a:solidFill>
                  <a:srgbClr val="262626"/>
                </a:solidFill>
                <a:latin typeface="Arial"/>
              </a:rPr>
              <a:t>centre</a:t>
            </a:r>
            <a:r>
              <a:rPr sz="1200" b="0" i="0" dirty="0">
                <a:solidFill>
                  <a:srgbClr val="262626"/>
                </a:solidFill>
                <a:latin typeface="Arial"/>
              </a:rPr>
              <a:t> parking is limited and expensive</a:t>
            </a:r>
            <a:r>
              <a:rPr lang="en-US" sz="1200" b="0" i="0" dirty="0">
                <a:solidFill>
                  <a:srgbClr val="262626"/>
                </a:solidFill>
                <a:latin typeface="Arial"/>
              </a:rPr>
              <a:t>. </a:t>
            </a:r>
            <a:r>
              <a:rPr sz="1200" b="0" i="0" dirty="0">
                <a:solidFill>
                  <a:srgbClr val="262626"/>
                </a:solidFill>
                <a:latin typeface="Arial"/>
              </a:rPr>
              <a:t>most athletes walk or use S-Bahn from the hotel to the venue.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3291840"/>
            <a:ext cx="5669280" cy="237744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355080" y="3401568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2060"/>
                </a:solidFill>
                <a:latin typeface="Arial"/>
              </a:rPr>
              <a:t>Food / Grocery Options Near Hotel + Venue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82512" y="3749040"/>
            <a:ext cx="53400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262626"/>
                </a:solidFill>
                <a:latin typeface="Arial"/>
              </a:rPr>
              <a:t>•  Best stock-up: REWE, Edeka, or Aldi branches within 10 min walk of the </a:t>
            </a:r>
            <a:r>
              <a:rPr sz="1200" b="0" i="0" dirty="0" err="1">
                <a:solidFill>
                  <a:srgbClr val="262626"/>
                </a:solidFill>
                <a:latin typeface="Arial"/>
              </a:rPr>
              <a:t>Binnenalster</a:t>
            </a:r>
            <a:r>
              <a:rPr sz="1200" b="0" i="0" dirty="0">
                <a:solidFill>
                  <a:srgbClr val="262626"/>
                </a:solidFill>
                <a:latin typeface="Arial"/>
              </a:rPr>
              <a:t> area; Hamburger Str / </a:t>
            </a:r>
            <a:r>
              <a:rPr sz="1200" b="0" i="0" dirty="0" err="1">
                <a:solidFill>
                  <a:srgbClr val="262626"/>
                </a:solidFill>
                <a:latin typeface="Arial"/>
              </a:rPr>
              <a:t>Mönckebergstraße</a:t>
            </a:r>
            <a:r>
              <a:rPr sz="1200" b="0" i="0" dirty="0">
                <a:solidFill>
                  <a:srgbClr val="262626"/>
                </a:solidFill>
                <a:latin typeface="Arial"/>
              </a:rPr>
              <a:t> corridor has most options.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82512" y="4454197"/>
            <a:ext cx="53400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262626"/>
                </a:solidFill>
                <a:latin typeface="Arial"/>
              </a:rPr>
              <a:t>•  Quick basics: </a:t>
            </a:r>
            <a:r>
              <a:rPr lang="en-US" sz="1200" b="0" i="0" dirty="0">
                <a:solidFill>
                  <a:srgbClr val="262626"/>
                </a:solidFill>
                <a:latin typeface="Arial"/>
              </a:rPr>
              <a:t>dm (pharmacy), </a:t>
            </a:r>
            <a:r>
              <a:rPr sz="1200" b="0" i="0" dirty="0">
                <a:solidFill>
                  <a:srgbClr val="262626"/>
                </a:solidFill>
                <a:latin typeface="Arial"/>
              </a:rPr>
              <a:t>Starbucks, </a:t>
            </a:r>
            <a:r>
              <a:rPr sz="1200" b="0" i="0" dirty="0" err="1">
                <a:solidFill>
                  <a:srgbClr val="262626"/>
                </a:solidFill>
                <a:latin typeface="Arial"/>
              </a:rPr>
              <a:t>Backwerk</a:t>
            </a:r>
            <a:r>
              <a:rPr sz="1200" b="0" i="0" dirty="0">
                <a:solidFill>
                  <a:srgbClr val="262626"/>
                </a:solidFill>
                <a:latin typeface="Arial"/>
              </a:rPr>
              <a:t>, and bakeries throughout the </a:t>
            </a:r>
            <a:r>
              <a:rPr sz="1200" b="0" i="0" dirty="0" err="1">
                <a:solidFill>
                  <a:srgbClr val="262626"/>
                </a:solidFill>
                <a:latin typeface="Arial"/>
              </a:rPr>
              <a:t>Rathausmarkt</a:t>
            </a:r>
            <a:r>
              <a:rPr sz="1200" b="0" i="0" dirty="0">
                <a:solidFill>
                  <a:srgbClr val="262626"/>
                </a:solidFill>
                <a:latin typeface="Arial"/>
              </a:rPr>
              <a:t> pedestrian zone.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82512" y="4974687"/>
            <a:ext cx="53400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262626"/>
                </a:solidFill>
                <a:latin typeface="Arial"/>
              </a:rPr>
              <a:t>•  Athlete-friendly meals: Zum </a:t>
            </a:r>
            <a:r>
              <a:rPr sz="1200" b="0" i="0" dirty="0" err="1">
                <a:solidFill>
                  <a:srgbClr val="262626"/>
                </a:solidFill>
                <a:latin typeface="Arial"/>
              </a:rPr>
              <a:t>Alten</a:t>
            </a:r>
            <a:r>
              <a:rPr sz="1200" b="0" i="0" dirty="0">
                <a:solidFill>
                  <a:srgbClr val="262626"/>
                </a:solidFill>
                <a:latin typeface="Arial"/>
              </a:rPr>
              <a:t> Rathaus, Block House (Hamburg chain</a:t>
            </a:r>
            <a:r>
              <a:rPr lang="en-US" sz="1200" b="0" i="0" dirty="0">
                <a:solidFill>
                  <a:srgbClr val="262626"/>
                </a:solidFill>
                <a:latin typeface="Arial"/>
              </a:rPr>
              <a:t>)</a:t>
            </a:r>
            <a:r>
              <a:rPr sz="1200" b="0" i="0" dirty="0">
                <a:solidFill>
                  <a:srgbClr val="262626"/>
                </a:solidFill>
                <a:latin typeface="Arial"/>
              </a:rPr>
              <a:t>, and </a:t>
            </a:r>
            <a:r>
              <a:rPr sz="1200" b="0" i="0" dirty="0" err="1">
                <a:solidFill>
                  <a:srgbClr val="262626"/>
                </a:solidFill>
                <a:latin typeface="Arial"/>
              </a:rPr>
              <a:t>Superkitchen</a:t>
            </a:r>
            <a:r>
              <a:rPr sz="1200" b="0" i="0" dirty="0">
                <a:solidFill>
                  <a:srgbClr val="262626"/>
                </a:solidFill>
                <a:latin typeface="Arial"/>
              </a:rPr>
              <a:t> near the Alster area.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274320" y="1088134"/>
            <a:ext cx="8961118" cy="25603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20040" y="1088135"/>
            <a:ext cx="8915398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 dirty="0">
                <a:solidFill>
                  <a:schemeClr val="bg1"/>
                </a:solidFill>
                <a:latin typeface="Arial"/>
              </a:rPr>
              <a:t>RACE-DAY WEATHER (08:00–11:00 local)</a:t>
            </a: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Environmental Risk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Hamburg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8602422"/>
              </p:ext>
            </p:extLst>
          </p:nvPr>
        </p:nvGraphicFramePr>
        <p:xfrm>
          <a:off x="274320" y="1429227"/>
          <a:ext cx="4709158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2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05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47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05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05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05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Year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Date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Air Temp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Humidity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Wind km/h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Precip mm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Jul 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67%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Jul 06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15.0°*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87%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1.1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Sep 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13.8°*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94%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Sep 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15.5°*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84%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0.0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Jul 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23.4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81%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0.1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Jul 15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24.4°*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54%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0.0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Jul 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18.9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79%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 dirty="0">
                          <a:solidFill>
                            <a:srgbClr val="262626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Jul 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23.6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76%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 dirty="0">
                          <a:solidFill>
                            <a:srgbClr val="262626"/>
                          </a:solidFill>
                          <a:latin typeface="Arial"/>
                        </a:rPr>
                        <a:t>0.2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4135779"/>
              </p:ext>
            </p:extLst>
          </p:nvPr>
        </p:nvGraphicFramePr>
        <p:xfrm>
          <a:off x="5166360" y="1429227"/>
          <a:ext cx="4069078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97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35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66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35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571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Year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PM2.5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EU AQI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UV Index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Risk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Good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6.2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Good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4.8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Good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3.8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Good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4.7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Good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6.5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2.8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Fair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3.6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Fair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5.7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1.5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Fair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212080" y="1088136"/>
            <a:ext cx="393192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 dirty="0">
                <a:solidFill>
                  <a:schemeClr val="bg1"/>
                </a:solidFill>
                <a:latin typeface="Arial"/>
              </a:rPr>
              <a:t>AIR QUALITY (Open-</a:t>
            </a:r>
            <a:r>
              <a:rPr sz="950" b="1" i="0" dirty="0" err="1">
                <a:solidFill>
                  <a:schemeClr val="bg1"/>
                </a:solidFill>
                <a:latin typeface="Arial"/>
              </a:rPr>
              <a:t>Meteo</a:t>
            </a:r>
            <a:r>
              <a:rPr sz="950" b="1" i="0" dirty="0">
                <a:solidFill>
                  <a:schemeClr val="bg1"/>
                </a:solidFill>
                <a:latin typeface="Arial"/>
              </a:rPr>
              <a:t> archive)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4535028"/>
            <a:ext cx="11640312" cy="3200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0040" y="4564817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HEALTH &amp; WATER QUALITY RISK FACTORS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565392"/>
            <a:ext cx="116403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BFBFBF"/>
                </a:solidFill>
                <a:latin typeface="Arial"/>
              </a:rPr>
              <a:t>Weather and AQ data: Open-Meteo historical archive (archive-api.open-meteo.com). EU AQI: Good ≤20, Fair ≤40, Moderate ≤60, Poor ≤80, Very Poor &gt;80.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937A499-26A6-421E-9D5F-39B897F6C186}"/>
              </a:ext>
            </a:extLst>
          </p:cNvPr>
          <p:cNvSpPr txBox="1"/>
          <p:nvPr/>
        </p:nvSpPr>
        <p:spPr>
          <a:xfrm>
            <a:off x="274320" y="4987484"/>
            <a:ext cx="73111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 dirty="0">
                <a:solidFill>
                  <a:srgbClr val="262626"/>
                </a:solidFill>
                <a:latin typeface="Arial"/>
              </a:rPr>
              <a:t>•  </a:t>
            </a:r>
            <a:r>
              <a:rPr lang="en-US" sz="1400" b="0" i="0" dirty="0">
                <a:solidFill>
                  <a:srgbClr val="262626"/>
                </a:solidFill>
                <a:latin typeface="Arial"/>
              </a:rPr>
              <a:t>Race Report Here -&gt; </a:t>
            </a:r>
            <a:r>
              <a:rPr lang="en-US" sz="1100" dirty="0">
                <a:hlinkClick r:id="rId3"/>
              </a:rPr>
              <a:t>Water Quality | 2026 World Triathlon Championship Series Hamburg</a:t>
            </a:r>
            <a:endParaRPr sz="1100" b="0" i="0" dirty="0">
              <a:solidFill>
                <a:srgbClr val="262626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1108</TotalTime>
  <Words>1396</Words>
  <Application>Microsoft Office PowerPoint</Application>
  <PresentationFormat>Custom</PresentationFormat>
  <Paragraphs>278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John High</dc:creator>
  <cp:keywords/>
  <dc:description>generated using python-pptx</dc:description>
  <cp:lastModifiedBy>John High</cp:lastModifiedBy>
  <cp:revision>6</cp:revision>
  <dcterms:created xsi:type="dcterms:W3CDTF">2013-01-27T09:14:16Z</dcterms:created>
  <dcterms:modified xsi:type="dcterms:W3CDTF">2026-07-10T21:36:43Z</dcterms:modified>
  <cp:category/>
</cp:coreProperties>
</file>