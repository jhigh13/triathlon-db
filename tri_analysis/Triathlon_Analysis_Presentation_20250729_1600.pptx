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2D5A"/>
                </a:solidFill>
              </a:defRPr>
            </a:pPr>
            <a:r>
              <a:t>Triathlon Event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Qualifier Analysis &amp; Threshold Sensitivity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Prepared for USA Triathlon &amp; IRONMAN Leadership |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2D5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Triathlon Performance Analysis</a:t>
            </a:r>
          </a:p>
          <a:p>
            <a:pPr>
              <a:defRPr sz="1800"/>
            </a:pPr>
            <a:r>
              <a:t>Analysis covers B-Events (T100, World Championships), C-Events (Major IRONMAN), and D-Events (Regional IRONMAN 70.3)</a:t>
            </a:r>
          </a:p>
          <a:p>
            <a:pPr>
              <a:defRPr sz="1800"/>
            </a:pPr>
            <a:r>
              <a:t>Qualifier sensitivity varies significantly based on event category and threshold percentages</a:t>
            </a:r>
          </a:p>
          <a:p>
            <a:pPr>
              <a:defRPr sz="1800"/>
            </a:pPr>
            <a:r>
              <a:t>B-Events show highest sensitivity to threshold changes, affecting qualification numbers substantially</a:t>
            </a:r>
          </a:p>
          <a:p>
            <a:pPr>
              <a:defRPr sz="1800"/>
            </a:pPr>
            <a:r>
              <a:t>Gender parity maintained across most threshold scenarios</a:t>
            </a:r>
          </a:p>
          <a:p>
            <a:pPr>
              <a:defRPr sz="1800"/>
            </a:pPr>
            <a:r>
              <a:t>Threshold optimization can balance qualifier pool size with performance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D5A"/>
                </a:solidFill>
              </a:defRPr>
            </a:pPr>
            <a:r>
              <a:t>Event Categories &amp; Analysis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Classification System</a:t>
            </a:r>
          </a:p>
          <a:p>
            <a:pPr>
              <a:defRPr sz="1600"/>
            </a:pPr>
            <a:r>
              <a:t>B-Events (Premier): T100 World Tour, World Championships, Major IRONMAN (Texas, St George)</a:t>
            </a:r>
          </a:p>
          <a:p>
            <a:pPr>
              <a:defRPr sz="1600"/>
            </a:pPr>
            <a:r>
              <a:t>C-Events (Regional Major): IRONMAN Arizona/Lake Placid/Chattanooga, IRONMAN 70.3 Eagleman/Oceanside/Boulder</a:t>
            </a:r>
          </a:p>
          <a:p>
            <a:pPr>
              <a:defRPr sz="1600"/>
            </a:pPr>
            <a:r>
              <a:t>D-Events (Local/Regional): IRONMAN 70.3 Indian Wells, Oregon, Santa Cruz, Texas, Maine, Wisconsin</a:t>
            </a:r>
          </a:p>
          <a:p>
            <a:pPr>
              <a:defRPr sz="1600"/>
            </a:pPr>
            <a:r>
              <a:t>Analysis covers 2023-2024 seasons with threshold sensitivity from 4% to 10% above winner times</a:t>
            </a:r>
          </a:p>
          <a:p>
            <a:pPr>
              <a:defRPr sz="1600"/>
            </a:pPr>
            <a:r>
              <a:t>Focus on US athletes and qualification patterns for strategic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Lake Placid</a:t>
            </a:r>
          </a:p>
        </p:txBody>
      </p:sp>
      <p:pic>
        <p:nvPicPr>
          <p:cNvPr id="3" name="Picture 2" descr="tmpyoifhvy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Arizona</a:t>
            </a:r>
          </a:p>
        </p:txBody>
      </p:sp>
      <p:pic>
        <p:nvPicPr>
          <p:cNvPr id="3" name="Picture 2" descr="tmpg2ay23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Chattanooga</a:t>
            </a:r>
          </a:p>
        </p:txBody>
      </p:sp>
      <p:pic>
        <p:nvPicPr>
          <p:cNvPr id="3" name="Picture 2" descr="tmpz8yj6y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Texas</a:t>
            </a:r>
          </a:p>
        </p:txBody>
      </p:sp>
      <p:pic>
        <p:nvPicPr>
          <p:cNvPr id="3" name="Picture 2" descr="tmplqstsk3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Eagleman</a:t>
            </a:r>
          </a:p>
        </p:txBody>
      </p:sp>
      <p:pic>
        <p:nvPicPr>
          <p:cNvPr id="3" name="Picture 2" descr="tmpoy9x87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Oceanside</a:t>
            </a:r>
          </a:p>
        </p:txBody>
      </p:sp>
      <p:pic>
        <p:nvPicPr>
          <p:cNvPr id="3" name="Picture 2" descr="tmpwi8oni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Boulder</a:t>
            </a:r>
          </a:p>
        </p:txBody>
      </p:sp>
      <p:pic>
        <p:nvPicPr>
          <p:cNvPr id="3" name="Picture 2" descr="tmpz257jt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Chattanooga</a:t>
            </a:r>
          </a:p>
        </p:txBody>
      </p:sp>
      <p:pic>
        <p:nvPicPr>
          <p:cNvPr id="3" name="Picture 2" descr="tmpzau4rt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Indian Wells La Quinta</a:t>
            </a:r>
          </a:p>
        </p:txBody>
      </p:sp>
      <p:pic>
        <p:nvPicPr>
          <p:cNvPr id="3" name="Picture 2" descr="tmpc7lwp4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Oregon</a:t>
            </a:r>
          </a:p>
        </p:txBody>
      </p:sp>
      <p:pic>
        <p:nvPicPr>
          <p:cNvPr id="3" name="Picture 2" descr="tmpdsx4lu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Santa Cruz</a:t>
            </a:r>
          </a:p>
        </p:txBody>
      </p:sp>
      <p:pic>
        <p:nvPicPr>
          <p:cNvPr id="3" name="Picture 2" descr="tmph5daa_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Texas</a:t>
            </a:r>
          </a:p>
        </p:txBody>
      </p:sp>
      <p:pic>
        <p:nvPicPr>
          <p:cNvPr id="3" name="Picture 2" descr="tmpqwyupcq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Maine</a:t>
            </a:r>
          </a:p>
        </p:txBody>
      </p:sp>
      <p:pic>
        <p:nvPicPr>
          <p:cNvPr id="3" name="Picture 2" descr="tmpefcblk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Wisconsin</a:t>
            </a:r>
          </a:p>
        </p:txBody>
      </p:sp>
      <p:pic>
        <p:nvPicPr>
          <p:cNvPr id="3" name="Picture 2" descr="tmpws60_s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St. George</a:t>
            </a:r>
          </a:p>
        </p:txBody>
      </p:sp>
      <p:pic>
        <p:nvPicPr>
          <p:cNvPr id="3" name="Picture 2" descr="tmpaik6bv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at CLASH Endurance Miami</a:t>
            </a:r>
          </a:p>
        </p:txBody>
      </p:sp>
      <p:pic>
        <p:nvPicPr>
          <p:cNvPr id="3" name="Picture 2" descr="tmpsxiprq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San Francisco</a:t>
            </a:r>
          </a:p>
        </p:txBody>
      </p:sp>
      <p:pic>
        <p:nvPicPr>
          <p:cNvPr id="3" name="Picture 2" descr="tmprlb1ks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Singapore</a:t>
            </a:r>
          </a:p>
        </p:txBody>
      </p:sp>
      <p:pic>
        <p:nvPicPr>
          <p:cNvPr id="3" name="Picture 2" descr="tmps32z3sz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London</a:t>
            </a:r>
          </a:p>
        </p:txBody>
      </p:sp>
      <p:pic>
        <p:nvPicPr>
          <p:cNvPr id="3" name="Picture 2" descr="tmpvtt90o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Townsville</a:t>
            </a:r>
          </a:p>
        </p:txBody>
      </p:sp>
      <p:pic>
        <p:nvPicPr>
          <p:cNvPr id="3" name="Picture 2" descr="tmpr3gzxv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Ibiza</a:t>
            </a:r>
          </a:p>
        </p:txBody>
      </p:sp>
      <p:pic>
        <p:nvPicPr>
          <p:cNvPr id="3" name="Picture 2" descr="tmpwnn5fq_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Lake Las Vegas</a:t>
            </a:r>
          </a:p>
        </p:txBody>
      </p:sp>
      <p:pic>
        <p:nvPicPr>
          <p:cNvPr id="3" name="Picture 2" descr="tmp1zbhp0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Grand Final Dubai</a:t>
            </a:r>
          </a:p>
        </p:txBody>
      </p:sp>
      <p:pic>
        <p:nvPicPr>
          <p:cNvPr id="3" name="Picture 2" descr="tmp7l7aqt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Ibiza</a:t>
            </a:r>
          </a:p>
        </p:txBody>
      </p:sp>
      <p:pic>
        <p:nvPicPr>
          <p:cNvPr id="3" name="Picture 2" descr="tmpf_mi86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Vancouver</a:t>
            </a:r>
          </a:p>
        </p:txBody>
      </p:sp>
      <p:pic>
        <p:nvPicPr>
          <p:cNvPr id="3" name="Picture 2" descr="tmpp_9rziz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Pontevedra</a:t>
            </a:r>
          </a:p>
        </p:txBody>
      </p:sp>
      <p:pic>
        <p:nvPicPr>
          <p:cNvPr id="3" name="Picture 2" descr="tmppbj4p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Pontevedra AG Worlds-Standard-Triathlon.csv</a:t>
            </a:r>
          </a:p>
        </p:txBody>
      </p:sp>
      <p:pic>
        <p:nvPicPr>
          <p:cNvPr id="3" name="Picture 2" descr="tmpb_dsr08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-USA-Triahtlon-National---Olympic-Tri-(1).csv</a:t>
            </a:r>
          </a:p>
        </p:txBody>
      </p:sp>
      <p:pic>
        <p:nvPicPr>
          <p:cNvPr id="3" name="Picture 2" descr="tmpynps8t8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-USA-Triahtlon-National---Sprint-Tri_NEW-(2).csv</a:t>
            </a:r>
          </a:p>
        </p:txBody>
      </p:sp>
      <p:pic>
        <p:nvPicPr>
          <p:cNvPr id="3" name="Picture 2" descr="tmpam7ogg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Triathlon-Intermediate-Tri-Santa-Cruz.csv</a:t>
            </a:r>
          </a:p>
        </p:txBody>
      </p:sp>
      <p:pic>
        <p:nvPicPr>
          <p:cNvPr id="3" name="Picture 2" descr="tmp_dacoi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-World-Triathlon-Age-Group-Championships-Malaga.csv</a:t>
            </a:r>
          </a:p>
        </p:txBody>
      </p:sp>
      <p:pic>
        <p:nvPicPr>
          <p:cNvPr id="3" name="Picture 2" descr="tmpuljtma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Clash-Endurance-Miami-.csv</a:t>
            </a:r>
          </a:p>
        </p:txBody>
      </p:sp>
      <p:pic>
        <p:nvPicPr>
          <p:cNvPr id="3" name="Picture 2" descr="tmp8ps38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-USA-Triathlon-Sprint-and-Olympic-Distance-National-Championships.csv</a:t>
            </a:r>
          </a:p>
        </p:txBody>
      </p:sp>
      <p:pic>
        <p:nvPicPr>
          <p:cNvPr id="3" name="Picture 2" descr="tmpbdf46ez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-Patriot-Half.csv</a:t>
            </a:r>
          </a:p>
        </p:txBody>
      </p:sp>
      <p:pic>
        <p:nvPicPr>
          <p:cNvPr id="3" name="Picture 2" descr="tmplei0ei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Triathlon---Intermediate---St.-Anthony's-Triathlon.csv</a:t>
            </a:r>
          </a:p>
        </p:txBody>
      </p:sp>
      <p:pic>
        <p:nvPicPr>
          <p:cNvPr id="3" name="Picture 2" descr="tmp1aib1d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-Collegiate-Club-National-Championships.csv</a:t>
            </a:r>
          </a:p>
        </p:txBody>
      </p:sp>
      <p:pic>
        <p:nvPicPr>
          <p:cNvPr id="3" name="Picture 2" descr="tmpuvod9az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Triathlon---Intermediate---Escape-from-Alcatraz- (1).csv</a:t>
            </a:r>
          </a:p>
        </p:txBody>
      </p:sp>
      <p:pic>
        <p:nvPicPr>
          <p:cNvPr id="3" name="Picture 2" descr="tmpd6b4m44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.csv</a:t>
            </a:r>
          </a:p>
        </p:txBody>
      </p:sp>
      <p:pic>
        <p:nvPicPr>
          <p:cNvPr id="3" name="Picture 2" descr="tmptqugyt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ST.-ANTHONY'S-TRIATHLON_OLYMPIC_USAT.CSV</a:t>
            </a:r>
          </a:p>
        </p:txBody>
      </p:sp>
      <p:pic>
        <p:nvPicPr>
          <p:cNvPr id="3" name="Picture 2" descr="tmpsffm9h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Triathlon---Intermediate---Escape-from-Alcatraz-Triathlon.csv</a:t>
            </a:r>
          </a:p>
        </p:txBody>
      </p:sp>
      <p:pic>
        <p:nvPicPr>
          <p:cNvPr id="3" name="Picture 2" descr="tmph639g6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Triathlon---Long---Patriot-Half.csv</a:t>
            </a:r>
          </a:p>
        </p:txBody>
      </p:sp>
      <p:pic>
        <p:nvPicPr>
          <p:cNvPr id="3" name="Picture 2" descr="tmppy278pd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Clash-Endurance-Miami- (1).csv</a:t>
            </a:r>
          </a:p>
        </p:txBody>
      </p:sp>
      <p:pic>
        <p:nvPicPr>
          <p:cNvPr id="3" name="Picture 2" descr="tmpj6v76kf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-USAT-Collegiate-Club-National-Championships.csv</a:t>
            </a:r>
          </a:p>
        </p:txBody>
      </p:sp>
      <p:pic>
        <p:nvPicPr>
          <p:cNvPr id="3" name="Picture 2" descr="tmpynes9l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Wildflower-Experience.csv</a:t>
            </a:r>
          </a:p>
        </p:txBody>
      </p:sp>
      <p:pic>
        <p:nvPicPr>
          <p:cNvPr id="3" name="Picture 2" descr="tmp_d9os3w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Category Threshold Impact Analysis (2023)</a:t>
            </a:r>
          </a:p>
        </p:txBody>
      </p:sp>
      <p:pic>
        <p:nvPicPr>
          <p:cNvPr id="3" name="Picture 2" descr="tmp7cyreio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Category Threshold Impact Analysis (2024)</a:t>
            </a:r>
          </a:p>
        </p:txBody>
      </p:sp>
      <p:pic>
        <p:nvPicPr>
          <p:cNvPr id="3" name="Picture 2" descr="tmpcvjdqy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D5A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Insights for Qualification Strategy</a:t>
            </a:r>
          </a:p>
          <a:p>
            <a:pPr>
              <a:defRPr sz="1600"/>
            </a:pPr>
            <a:r>
              <a:t>B-Events (T100/Championships): 8% threshold provides balanced qualifier pool (~40-60 athletes per gender)</a:t>
            </a:r>
          </a:p>
          <a:p>
            <a:pPr>
              <a:defRPr sz="1600"/>
            </a:pPr>
            <a:r>
              <a:t>C-Events (Major IRONMAN): 6% threshold maintains selectivity while ensuring adequate representation</a:t>
            </a:r>
          </a:p>
          <a:p>
            <a:pPr>
              <a:defRPr sz="1600"/>
            </a:pPr>
            <a:r>
              <a:t>D-Events (Regional): 4% threshold preserves competitive standards for local/regional qualifiers</a:t>
            </a:r>
          </a:p>
          <a:p>
            <a:pPr>
              <a:defRPr sz="1600"/>
            </a:pPr>
            <a:r>
              <a:t>Implementation Benefits:</a:t>
            </a:r>
          </a:p>
          <a:p>
            <a:pPr lvl="1">
              <a:defRPr sz="1400"/>
            </a:pPr>
            <a:r>
              <a:t>  • Predictable qualification numbers for event planning</a:t>
            </a:r>
          </a:p>
          <a:p>
            <a:pPr lvl="1">
              <a:defRPr sz="1400"/>
            </a:pPr>
            <a:r>
              <a:t>  • Maintains competitive integrity across event tiers</a:t>
            </a:r>
          </a:p>
          <a:p>
            <a:pPr lvl="1">
              <a:defRPr sz="1400"/>
            </a:pPr>
            <a:r>
              <a:t>  • Ensures gender parity in qualification opportunities</a:t>
            </a:r>
          </a:p>
          <a:p>
            <a:pPr lvl="1">
              <a:defRPr sz="1400"/>
            </a:pPr>
            <a:r>
              <a:t>  • Provides clear athlete performance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