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2D5A"/>
                </a:solidFill>
              </a:defRPr>
            </a:pPr>
            <a:r>
              <a:t>Triathlon Event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04040"/>
                </a:solidFill>
              </a:defRPr>
            </a:pPr>
            <a:r>
              <a:t>Qualifier Analysis &amp; Threshold Sensitivity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08080"/>
                </a:solidFill>
              </a:defRPr>
            </a:pPr>
            <a:r>
              <a:t>Prepared for USA Triathlon &amp; IRONMAN Leadership | July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2D5A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from Triathlon Performance Analysis</a:t>
            </a:r>
          </a:p>
          <a:p>
            <a:pPr>
              <a:defRPr sz="1800"/>
            </a:pPr>
            <a:r>
              <a:t>Analysis covers B-Events (T100, World Championships), C-Events (Major IRONMAN), and D-Events (Regional IRONMAN 70.3)</a:t>
            </a:r>
          </a:p>
          <a:p>
            <a:pPr>
              <a:defRPr sz="1800"/>
            </a:pPr>
            <a:r>
              <a:t>Qualifier sensitivity varies significantly based on event category and threshold percentages</a:t>
            </a:r>
          </a:p>
          <a:p>
            <a:pPr>
              <a:defRPr sz="1800"/>
            </a:pPr>
            <a:r>
              <a:t>B-Events show highest sensitivity to threshold changes, affecting qualification numbers substantially</a:t>
            </a:r>
          </a:p>
          <a:p>
            <a:pPr>
              <a:defRPr sz="1800"/>
            </a:pPr>
            <a:r>
              <a:t>Gender parity maintained across most threshold scenarios</a:t>
            </a:r>
          </a:p>
          <a:p>
            <a:pPr>
              <a:defRPr sz="1800"/>
            </a:pPr>
            <a:r>
              <a:t>Threshold optimization can balance qualifier pool size with performance standards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D5A"/>
                </a:solidFill>
              </a:defRPr>
            </a:pPr>
            <a:r>
              <a:t>Event Categories &amp; Analysis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 Classification System</a:t>
            </a:r>
          </a:p>
          <a:p>
            <a:pPr>
              <a:defRPr sz="1600"/>
            </a:pPr>
            <a:r>
              <a:t>B-Events (Premier): T100 World Tour, World Championships, Major IRONMAN (Texas, St George)</a:t>
            </a:r>
          </a:p>
          <a:p>
            <a:pPr>
              <a:defRPr sz="1600"/>
            </a:pPr>
            <a:r>
              <a:t>C-Events (Regional Major): IRONMAN Arizona/Lake Placid/Chattanooga, IRONMAN 70.3 Eagleman/Oceanside/Boulder</a:t>
            </a:r>
          </a:p>
          <a:p>
            <a:pPr>
              <a:defRPr sz="1600"/>
            </a:pPr>
            <a:r>
              <a:t>D-Events (Local/Regional): IRONMAN 70.3 Indian Wells, Oregon, Santa Cruz, Texas, Maine, Wisconsin</a:t>
            </a:r>
          </a:p>
          <a:p>
            <a:pPr>
              <a:defRPr sz="1600"/>
            </a:pPr>
            <a:r>
              <a:t>Analysis covers 2023-2024 seasons with threshold sensitivity from 4% to 10% above winner times</a:t>
            </a:r>
          </a:p>
          <a:p>
            <a:pPr>
              <a:defRPr sz="1600"/>
            </a:pPr>
            <a:r>
              <a:t>Focus on US athletes and qualification patterns for strategic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Lake Placid</a:t>
            </a:r>
          </a:p>
        </p:txBody>
      </p:sp>
      <p:pic>
        <p:nvPicPr>
          <p:cNvPr id="3" name="Picture 2" descr="tmp8dxeol5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Arizona</a:t>
            </a:r>
          </a:p>
        </p:txBody>
      </p:sp>
      <p:pic>
        <p:nvPicPr>
          <p:cNvPr id="3" name="Picture 2" descr="tmp81hzpt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Chattanooga</a:t>
            </a:r>
          </a:p>
        </p:txBody>
      </p:sp>
      <p:pic>
        <p:nvPicPr>
          <p:cNvPr id="3" name="Picture 2" descr="tmpk79ri_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Texas</a:t>
            </a:r>
          </a:p>
        </p:txBody>
      </p:sp>
      <p:pic>
        <p:nvPicPr>
          <p:cNvPr id="3" name="Picture 2" descr="tmpls8m1qv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Eagleman</a:t>
            </a:r>
          </a:p>
        </p:txBody>
      </p:sp>
      <p:pic>
        <p:nvPicPr>
          <p:cNvPr id="3" name="Picture 2" descr="tmp8bgjoid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Oceanside</a:t>
            </a:r>
          </a:p>
        </p:txBody>
      </p:sp>
      <p:pic>
        <p:nvPicPr>
          <p:cNvPr id="3" name="Picture 2" descr="tmpjnaawrn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Boulder</a:t>
            </a:r>
          </a:p>
        </p:txBody>
      </p:sp>
      <p:pic>
        <p:nvPicPr>
          <p:cNvPr id="3" name="Picture 2" descr="tmpag0dts8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Chattanooga</a:t>
            </a:r>
          </a:p>
        </p:txBody>
      </p:sp>
      <p:pic>
        <p:nvPicPr>
          <p:cNvPr id="3" name="Picture 2" descr="tmpu4dpqvo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Indian Wells La Quinta</a:t>
            </a:r>
          </a:p>
        </p:txBody>
      </p:sp>
      <p:pic>
        <p:nvPicPr>
          <p:cNvPr id="3" name="Picture 2" descr="tmp8y8gd7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Oregon</a:t>
            </a:r>
          </a:p>
        </p:txBody>
      </p:sp>
      <p:pic>
        <p:nvPicPr>
          <p:cNvPr id="3" name="Picture 2" descr="tmpe0hhw3b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Santa Cruz</a:t>
            </a:r>
          </a:p>
        </p:txBody>
      </p:sp>
      <p:pic>
        <p:nvPicPr>
          <p:cNvPr id="3" name="Picture 2" descr="tmp1411zm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Texas</a:t>
            </a:r>
          </a:p>
        </p:txBody>
      </p:sp>
      <p:pic>
        <p:nvPicPr>
          <p:cNvPr id="3" name="Picture 2" descr="tmpkndggr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Maine</a:t>
            </a:r>
          </a:p>
        </p:txBody>
      </p:sp>
      <p:pic>
        <p:nvPicPr>
          <p:cNvPr id="3" name="Picture 2" descr="tmpi8b3c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Wisconsin</a:t>
            </a:r>
          </a:p>
        </p:txBody>
      </p:sp>
      <p:pic>
        <p:nvPicPr>
          <p:cNvPr id="3" name="Picture 2" descr="tmpdsa6ct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IRONMAN 70.3 St. George</a:t>
            </a:r>
          </a:p>
        </p:txBody>
      </p:sp>
      <p:pic>
        <p:nvPicPr>
          <p:cNvPr id="3" name="Picture 2" descr="tmptez98t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at CLASH Endurance Miami</a:t>
            </a:r>
          </a:p>
        </p:txBody>
      </p:sp>
      <p:pic>
        <p:nvPicPr>
          <p:cNvPr id="3" name="Picture 2" descr="tmpnxxre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San Francisco</a:t>
            </a:r>
          </a:p>
        </p:txBody>
      </p:sp>
      <p:pic>
        <p:nvPicPr>
          <p:cNvPr id="3" name="Picture 2" descr="tmpxm4witi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Singapore</a:t>
            </a:r>
          </a:p>
        </p:txBody>
      </p:sp>
      <p:pic>
        <p:nvPicPr>
          <p:cNvPr id="3" name="Picture 2" descr="tmp694fcov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London</a:t>
            </a:r>
          </a:p>
        </p:txBody>
      </p:sp>
      <p:pic>
        <p:nvPicPr>
          <p:cNvPr id="3" name="Picture 2" descr="tmpow76mf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World Triathlon Long Distance Championships Townsville</a:t>
            </a:r>
          </a:p>
        </p:txBody>
      </p:sp>
      <p:pic>
        <p:nvPicPr>
          <p:cNvPr id="3" name="Picture 2" descr="tmptgqq9x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Ibiza</a:t>
            </a:r>
          </a:p>
        </p:txBody>
      </p:sp>
      <p:pic>
        <p:nvPicPr>
          <p:cNvPr id="3" name="Picture 2" descr="tmp_yoe7qp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Lake Las Vegas</a:t>
            </a:r>
          </a:p>
        </p:txBody>
      </p:sp>
      <p:pic>
        <p:nvPicPr>
          <p:cNvPr id="3" name="Picture 2" descr="tmpbgbk2r0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Grand Final Dubai</a:t>
            </a:r>
          </a:p>
        </p:txBody>
      </p:sp>
      <p:pic>
        <p:nvPicPr>
          <p:cNvPr id="3" name="Picture 2" descr="tmpstqouxd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World Triathlon Long Distance Championships Ibiza</a:t>
            </a:r>
          </a:p>
        </p:txBody>
      </p:sp>
      <p:pic>
        <p:nvPicPr>
          <p:cNvPr id="3" name="Picture 2" descr="tmp5zcho7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T100 Triathlon World Tour Vancouver</a:t>
            </a:r>
          </a:p>
        </p:txBody>
      </p:sp>
      <p:pic>
        <p:nvPicPr>
          <p:cNvPr id="3" name="Picture 2" descr="tmpwen_5l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World Triathlon Long Distance Championships Pontevedra</a:t>
            </a:r>
          </a:p>
        </p:txBody>
      </p:sp>
      <p:pic>
        <p:nvPicPr>
          <p:cNvPr id="3" name="Picture 2" descr="tmpehxa2t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Pontevedra AG Worlds-Standard-Triathlon.csv</a:t>
            </a:r>
          </a:p>
        </p:txBody>
      </p:sp>
      <p:pic>
        <p:nvPicPr>
          <p:cNvPr id="3" name="Picture 2" descr="tmpvr3y4_2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-USA-Triahtlon-National---Olympic-Tri-(1).csv</a:t>
            </a:r>
          </a:p>
        </p:txBody>
      </p:sp>
      <p:pic>
        <p:nvPicPr>
          <p:cNvPr id="3" name="Picture 2" descr="tmpvlse6a5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-USA-Triahtlon-National---Sprint-Tri_NEW-(2).csv</a:t>
            </a:r>
          </a:p>
        </p:txBody>
      </p:sp>
      <p:pic>
        <p:nvPicPr>
          <p:cNvPr id="3" name="Picture 2" descr="tmph40wxj4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Triathlon-Intermediate-Tri-Santa-Cruz.csv</a:t>
            </a:r>
          </a:p>
        </p:txBody>
      </p:sp>
      <p:pic>
        <p:nvPicPr>
          <p:cNvPr id="3" name="Picture 2" descr="tmppbiws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-World-Triathlon-Age-Group-Championships-Malaga.csv</a:t>
            </a:r>
          </a:p>
        </p:txBody>
      </p:sp>
      <p:pic>
        <p:nvPicPr>
          <p:cNvPr id="3" name="Picture 2" descr="tmp9eg__25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Clash-Endurance-Miami-.csv</a:t>
            </a:r>
          </a:p>
        </p:txBody>
      </p:sp>
      <p:pic>
        <p:nvPicPr>
          <p:cNvPr id="3" name="Picture 2" descr="tmpwad6lr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-USA-Triathlon-Sprint-and-Olympic-Distance-National-Championships.csv</a:t>
            </a:r>
          </a:p>
        </p:txBody>
      </p:sp>
      <p:pic>
        <p:nvPicPr>
          <p:cNvPr id="3" name="Picture 2" descr="tmpumpe58a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-Patriot-Half.csv</a:t>
            </a:r>
          </a:p>
        </p:txBody>
      </p:sp>
      <p:pic>
        <p:nvPicPr>
          <p:cNvPr id="3" name="Picture 2" descr="tmpohfv1cq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Triathlon---Intermediate---St.-Anthony's-Triathlon.csv</a:t>
            </a:r>
          </a:p>
        </p:txBody>
      </p:sp>
      <p:pic>
        <p:nvPicPr>
          <p:cNvPr id="3" name="Picture 2" descr="tmpg3ph4dp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-Collegiate-Club-National-Championships.csv</a:t>
            </a:r>
          </a:p>
        </p:txBody>
      </p:sp>
      <p:pic>
        <p:nvPicPr>
          <p:cNvPr id="3" name="Picture 2" descr="tmptuy0gaq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Triathlon---Intermediate---Escape-from-Alcatraz- (1).csv</a:t>
            </a:r>
          </a:p>
        </p:txBody>
      </p:sp>
      <p:pic>
        <p:nvPicPr>
          <p:cNvPr id="3" name="Picture 2" descr="tmp0qut43v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.csv</a:t>
            </a:r>
          </a:p>
        </p:txBody>
      </p:sp>
      <p:pic>
        <p:nvPicPr>
          <p:cNvPr id="3" name="Picture 2" descr="tmpeui862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ST.-ANTHONY'S-TRIATHLON_OLYMPIC_USAT.CSV</a:t>
            </a:r>
          </a:p>
        </p:txBody>
      </p:sp>
      <p:pic>
        <p:nvPicPr>
          <p:cNvPr id="3" name="Picture 2" descr="tmplb758b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Triathlon---Intermediate---Escape-from-Alcatraz-Triathlon.csv</a:t>
            </a:r>
          </a:p>
        </p:txBody>
      </p:sp>
      <p:pic>
        <p:nvPicPr>
          <p:cNvPr id="3" name="Picture 2" descr="tmpoh9ijq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Triathlon---Long---Patriot-Half.csv</a:t>
            </a:r>
          </a:p>
        </p:txBody>
      </p:sp>
      <p:pic>
        <p:nvPicPr>
          <p:cNvPr id="3" name="Picture 2" descr="tmppvsw5j0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Clash-Endurance-Miami- (1).csv</a:t>
            </a:r>
          </a:p>
        </p:txBody>
      </p:sp>
      <p:pic>
        <p:nvPicPr>
          <p:cNvPr id="3" name="Picture 2" descr="tmpa7mtvk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-USAT-Collegiate-Club-National-Championships.csv</a:t>
            </a:r>
          </a:p>
        </p:txBody>
      </p:sp>
      <p:pic>
        <p:nvPicPr>
          <p:cNvPr id="3" name="Picture 2" descr="tmpzt55t0f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Analysis: Wildflower-Experience.csv</a:t>
            </a:r>
          </a:p>
        </p:txBody>
      </p:sp>
      <p:pic>
        <p:nvPicPr>
          <p:cNvPr id="3" name="Picture 2" descr="tmpjao9vm2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Multi-year comparison showing US qualification patterns across different threshold percentages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Category Threshold Impact Analysis (2023)</a:t>
            </a:r>
          </a:p>
        </p:txBody>
      </p:sp>
      <p:pic>
        <p:nvPicPr>
          <p:cNvPr id="3" name="Picture 2" descr="tmpwpq4v5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Comprehensive view showing how threshold changes in each event category affect total US qualification numbers for 2023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5A"/>
                </a:solidFill>
              </a:defRPr>
            </a:pPr>
            <a:r>
              <a:t>Event Category Threshold Impact Analysis (2024)</a:t>
            </a:r>
          </a:p>
        </p:txBody>
      </p:sp>
      <p:pic>
        <p:nvPicPr>
          <p:cNvPr id="3" name="Picture 2" descr="tmpi1kc9b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4552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92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04040"/>
                </a:solidFill>
              </a:defRPr>
            </a:pPr>
            <a:r>
              <a:t>Comprehensive view showing how threshold changes in each event category affect total US qualification numbers for 2024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D5A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Insights for Qualification Strategy</a:t>
            </a:r>
          </a:p>
          <a:p>
            <a:pPr>
              <a:defRPr sz="1600"/>
            </a:pPr>
            <a:r>
              <a:t>B-Events (T100/Championships): 8% threshold provides balanced qualifier pool (~40-60 athletes per gender)</a:t>
            </a:r>
          </a:p>
          <a:p>
            <a:pPr>
              <a:defRPr sz="1600"/>
            </a:pPr>
            <a:r>
              <a:t>C-Events (Major IRONMAN): 6% threshold maintains selectivity while ensuring adequate representation</a:t>
            </a:r>
          </a:p>
          <a:p>
            <a:pPr>
              <a:defRPr sz="1600"/>
            </a:pPr>
            <a:r>
              <a:t>D-Events (Regional): 4% threshold preserves competitive standards for local/regional qualifiers</a:t>
            </a:r>
          </a:p>
          <a:p>
            <a:pPr>
              <a:defRPr sz="1600"/>
            </a:pPr>
            <a:r>
              <a:t>Implementation Benefits:</a:t>
            </a:r>
          </a:p>
          <a:p>
            <a:pPr lvl="1">
              <a:defRPr sz="1400"/>
            </a:pPr>
            <a:r>
              <a:t>  • Predictable qualification numbers for event planning</a:t>
            </a:r>
          </a:p>
          <a:p>
            <a:pPr lvl="1">
              <a:defRPr sz="1400"/>
            </a:pPr>
            <a:r>
              <a:t>  • Maintains competitive integrity across event tiers</a:t>
            </a:r>
          </a:p>
          <a:p>
            <a:pPr lvl="1">
              <a:defRPr sz="1400"/>
            </a:pPr>
            <a:r>
              <a:t>  • Ensures gender parity in qualification opportunities</a:t>
            </a:r>
          </a:p>
          <a:p>
            <a:pPr lvl="1">
              <a:defRPr sz="1400"/>
            </a:pPr>
            <a:r>
              <a:t>  • Provides clear athlete performance targets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