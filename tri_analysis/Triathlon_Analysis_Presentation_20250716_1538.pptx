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85" r:id="rId5"/>
    <p:sldId id="286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2" d="100"/>
          <a:sy n="142" d="100"/>
        </p:scale>
        <p:origin x="978" y="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538554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2D5A"/>
                </a:solidFill>
              </a:defRPr>
            </a:pPr>
            <a:r>
              <a:rPr dirty="0"/>
              <a:t>Triathlon Event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8359" y="3657600"/>
            <a:ext cx="53115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404040"/>
                </a:solidFill>
              </a:defRPr>
            </a:pPr>
            <a:r>
              <a:rPr sz="2000" dirty="0"/>
              <a:t>Qualifier Analysis &amp; Threshold Sensitivity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56813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808080"/>
                </a:solidFill>
              </a:defRPr>
            </a:pPr>
            <a:r>
              <a:rPr dirty="0"/>
              <a:t>Prepared for USA Triathlon &amp; IRONMAN Leadership | July 2025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713FA1-26D8-639E-751E-3A8D889F149A}"/>
              </a:ext>
            </a:extLst>
          </p:cNvPr>
          <p:cNvSpPr/>
          <p:nvPr/>
        </p:nvSpPr>
        <p:spPr>
          <a:xfrm>
            <a:off x="11348565" y="0"/>
            <a:ext cx="360001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6" name="Picture 5" descr="A logo with red and blue text&#10;&#10;AI-generated content may be incorrect.">
            <a:extLst>
              <a:ext uri="{FF2B5EF4-FFF2-40B4-BE49-F238E27FC236}">
                <a16:creationId xmlns:a16="http://schemas.microsoft.com/office/drawing/2014/main" id="{61915C9C-01DF-499C-8BB7-7C527C5B2D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443" y="605289"/>
            <a:ext cx="4454584" cy="34678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D5A"/>
                </a:solidFill>
              </a:defRPr>
            </a:pPr>
            <a:r>
              <a:rPr dirty="0"/>
              <a:t>Event Categories &amp; Analysis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230906" cy="4525963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defRPr sz="1600"/>
            </a:pPr>
            <a:r>
              <a:rPr sz="1800" dirty="0"/>
              <a:t>B-Events (Premier)</a:t>
            </a:r>
            <a:r>
              <a:rPr lang="en-US" sz="1800" dirty="0"/>
              <a:t> – Proposed 8% Winning Time Threshold Cutoff</a:t>
            </a:r>
          </a:p>
          <a:p>
            <a:pPr lvl="1">
              <a:defRPr sz="1600"/>
            </a:pPr>
            <a:r>
              <a:rPr sz="1600" dirty="0"/>
              <a:t>T100 World Tour, World Championships, Major IRONMAN (Texas, St George)</a:t>
            </a:r>
          </a:p>
          <a:p>
            <a:pPr>
              <a:defRPr sz="1600"/>
            </a:pPr>
            <a:endParaRPr lang="en-US" sz="1500" dirty="0"/>
          </a:p>
          <a:p>
            <a:pPr>
              <a:defRPr sz="1600"/>
            </a:pPr>
            <a:r>
              <a:rPr sz="1800" dirty="0"/>
              <a:t>C-Events (Regional Major): </a:t>
            </a:r>
            <a:r>
              <a:rPr lang="en-US" sz="1800" dirty="0"/>
              <a:t>Proposed 6% Winning Time Threshold Cutoff</a:t>
            </a:r>
          </a:p>
          <a:p>
            <a:pPr lvl="1">
              <a:defRPr sz="1600"/>
            </a:pPr>
            <a:r>
              <a:rPr sz="1600" dirty="0"/>
              <a:t>IRONMAN Arizona/Lake Placid/Chattanooga, IRONMAN 70.3 Eagleman/Oceanside/Boulder</a:t>
            </a:r>
          </a:p>
          <a:p>
            <a:pPr>
              <a:defRPr sz="1600"/>
            </a:pPr>
            <a:endParaRPr lang="en-US" sz="1500" dirty="0"/>
          </a:p>
          <a:p>
            <a:pPr>
              <a:defRPr sz="1600"/>
            </a:pPr>
            <a:r>
              <a:rPr sz="1800" dirty="0"/>
              <a:t>D-Events (Local/Regional)</a:t>
            </a:r>
            <a:r>
              <a:rPr lang="en-US" sz="1800" dirty="0"/>
              <a:t> – Proposed 4% Winning Time Threshold</a:t>
            </a:r>
            <a:r>
              <a:rPr sz="1800" dirty="0"/>
              <a:t> </a:t>
            </a:r>
            <a:r>
              <a:rPr lang="en-US" sz="1800" dirty="0"/>
              <a:t>Cutoff</a:t>
            </a:r>
          </a:p>
          <a:p>
            <a:pPr lvl="1">
              <a:defRPr sz="1600"/>
            </a:pPr>
            <a:r>
              <a:rPr sz="1600" dirty="0"/>
              <a:t>IRONMAN 70.3 Indian Wells, Oregon, Santa Cruz, Texas, Maine, Wisconsin</a:t>
            </a:r>
            <a:endParaRPr lang="en-US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CAA5594-C1EF-2486-157D-4511AC930B90}"/>
              </a:ext>
            </a:extLst>
          </p:cNvPr>
          <p:cNvSpPr txBox="1">
            <a:spLocks/>
          </p:cNvSpPr>
          <p:nvPr/>
        </p:nvSpPr>
        <p:spPr>
          <a:xfrm>
            <a:off x="5934635" y="1600199"/>
            <a:ext cx="5096435" cy="45259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/>
            </a:pPr>
            <a:r>
              <a:rPr lang="en-US" sz="1500" dirty="0"/>
              <a:t>Analysis covers 2023-2025 seasons with threshold sensitivity from 4% to 10% above winner times</a:t>
            </a:r>
          </a:p>
          <a:p>
            <a:pPr>
              <a:defRPr sz="1800"/>
            </a:pPr>
            <a:r>
              <a:rPr lang="en-US" sz="1500" dirty="0"/>
              <a:t>Qualifier sensitivity varies significantly based on event category, and a potential outlier winning time</a:t>
            </a:r>
          </a:p>
          <a:p>
            <a:pPr>
              <a:defRPr sz="1800"/>
            </a:pPr>
            <a:r>
              <a:rPr lang="en-US" sz="1500" dirty="0"/>
              <a:t>C-Events show highest sensitivity to threshold changes, affecting qualification numbers substantially</a:t>
            </a:r>
          </a:p>
          <a:p>
            <a:pPr>
              <a:defRPr sz="1800"/>
            </a:pPr>
            <a:r>
              <a:rPr lang="en-US" sz="1500" dirty="0"/>
              <a:t>Gender parity maintained across most threshold scenarios</a:t>
            </a:r>
          </a:p>
          <a:p>
            <a:pPr>
              <a:defRPr sz="1800"/>
            </a:pPr>
            <a:r>
              <a:rPr lang="en-US" sz="1500" dirty="0"/>
              <a:t>Threshold optimization can balance qualifier pool size with performance standards</a:t>
            </a:r>
          </a:p>
          <a:p>
            <a:pPr>
              <a:defRPr sz="1800"/>
            </a:pPr>
            <a:endParaRPr lang="en-US" sz="1500" u="sng" dirty="0"/>
          </a:p>
          <a:p>
            <a:pPr>
              <a:defRPr sz="1800"/>
            </a:pPr>
            <a:r>
              <a:rPr lang="en-US" sz="1500" u="sng" dirty="0"/>
              <a:t>Assumptions/Questions: </a:t>
            </a:r>
          </a:p>
          <a:p>
            <a:pPr lvl="1">
              <a:defRPr sz="1800"/>
            </a:pPr>
            <a:r>
              <a:rPr lang="en-US" sz="1100" dirty="0"/>
              <a:t>Not all IRONMAN results have racers country. There could potentially be individuals from other countries who are deemed qualifiers. </a:t>
            </a:r>
          </a:p>
          <a:p>
            <a:pPr lvl="1">
              <a:defRPr sz="1800"/>
            </a:pPr>
            <a:r>
              <a:rPr lang="en-US" sz="1100" dirty="0"/>
              <a:t>Total Qualifications is only based on the races included in the presentation. This does not include other USAT or regional races proposed in the scope. </a:t>
            </a:r>
          </a:p>
          <a:p>
            <a:pPr>
              <a:defRPr sz="1800"/>
            </a:pPr>
            <a:endParaRPr lang="en-US" sz="1500" dirty="0"/>
          </a:p>
          <a:p>
            <a:pPr>
              <a:defRPr sz="1600"/>
            </a:pPr>
            <a:endParaRPr lang="en-US" sz="16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0E955CF-C170-D203-D6DF-511A5B26AE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822475"/>
              </p:ext>
            </p:extLst>
          </p:nvPr>
        </p:nvGraphicFramePr>
        <p:xfrm>
          <a:off x="457200" y="1273638"/>
          <a:ext cx="5230906" cy="2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0906">
                  <a:extLst>
                    <a:ext uri="{9D8B030D-6E8A-4147-A177-3AD203B41FA5}">
                      <a16:colId xmlns:a16="http://schemas.microsoft.com/office/drawing/2014/main" val="339616571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Event Criteria</a:t>
                      </a:r>
                      <a:endParaRPr lang="en-CA" sz="12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20938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9603A39-7F09-16F3-308C-7C851B5B07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327877"/>
              </p:ext>
            </p:extLst>
          </p:nvPr>
        </p:nvGraphicFramePr>
        <p:xfrm>
          <a:off x="5934635" y="1273638"/>
          <a:ext cx="5096435" cy="2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6435">
                  <a:extLst>
                    <a:ext uri="{9D8B030D-6E8A-4147-A177-3AD203B41FA5}">
                      <a16:colId xmlns:a16="http://schemas.microsoft.com/office/drawing/2014/main" val="339616571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Notes</a:t>
                      </a:r>
                      <a:endParaRPr lang="en-CA" sz="12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20938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Lake Placid</a:t>
            </a:r>
          </a:p>
        </p:txBody>
      </p:sp>
      <p:pic>
        <p:nvPicPr>
          <p:cNvPr id="3" name="Picture 2" descr="tmpi1c82oz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Category Threshold Impact Analysis (2023)</a:t>
            </a:r>
          </a:p>
        </p:txBody>
      </p:sp>
      <p:pic>
        <p:nvPicPr>
          <p:cNvPr id="3" name="Picture 2" descr="tmp0gacnm5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Comprehensive view showing how threshold changes in each event category affect total US qualification numbers for 2023</a:t>
            </a:r>
          </a:p>
        </p:txBody>
      </p:sp>
    </p:spTree>
    <p:extLst>
      <p:ext uri="{BB962C8B-B14F-4D97-AF65-F5344CB8AC3E}">
        <p14:creationId xmlns:p14="http://schemas.microsoft.com/office/powerpoint/2010/main" val="1264674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Category Threshold Impact Analysis (2024)</a:t>
            </a:r>
          </a:p>
        </p:txBody>
      </p:sp>
      <p:pic>
        <p:nvPicPr>
          <p:cNvPr id="3" name="Picture 2" descr="tmpx1gld0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Comprehensive view showing how threshold changes in each event category affect total US qualification numbers for 2024</a:t>
            </a:r>
          </a:p>
        </p:txBody>
      </p:sp>
    </p:spTree>
    <p:extLst>
      <p:ext uri="{BB962C8B-B14F-4D97-AF65-F5344CB8AC3E}">
        <p14:creationId xmlns:p14="http://schemas.microsoft.com/office/powerpoint/2010/main" val="981907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Arizona</a:t>
            </a:r>
          </a:p>
        </p:txBody>
      </p:sp>
      <p:pic>
        <p:nvPicPr>
          <p:cNvPr id="3" name="Picture 2" descr="tmpag3md6_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Chattanooga</a:t>
            </a:r>
          </a:p>
        </p:txBody>
      </p:sp>
      <p:pic>
        <p:nvPicPr>
          <p:cNvPr id="3" name="Picture 2" descr="tmp5x505h2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Texas</a:t>
            </a:r>
          </a:p>
        </p:txBody>
      </p:sp>
      <p:pic>
        <p:nvPicPr>
          <p:cNvPr id="3" name="Picture 2" descr="tmp6x2qib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70.3 Eagleman</a:t>
            </a:r>
          </a:p>
        </p:txBody>
      </p:sp>
      <p:pic>
        <p:nvPicPr>
          <p:cNvPr id="3" name="Picture 2" descr="tmphkole5j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70.3 Oceanside</a:t>
            </a:r>
          </a:p>
        </p:txBody>
      </p:sp>
      <p:pic>
        <p:nvPicPr>
          <p:cNvPr id="3" name="Picture 2" descr="tmpv7ahk6j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70.3 Boulder</a:t>
            </a:r>
          </a:p>
        </p:txBody>
      </p:sp>
      <p:pic>
        <p:nvPicPr>
          <p:cNvPr id="3" name="Picture 2" descr="tmp5fuz2mc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70.3 Chattanooga</a:t>
            </a:r>
          </a:p>
        </p:txBody>
      </p:sp>
      <p:pic>
        <p:nvPicPr>
          <p:cNvPr id="3" name="Picture 2" descr="tmpwlisk4d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70.3 Indian Wells La Quinta</a:t>
            </a:r>
          </a:p>
        </p:txBody>
      </p:sp>
      <p:pic>
        <p:nvPicPr>
          <p:cNvPr id="3" name="Picture 2" descr="tmpop7zy3o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70.3 Oregon</a:t>
            </a:r>
          </a:p>
        </p:txBody>
      </p:sp>
      <p:pic>
        <p:nvPicPr>
          <p:cNvPr id="3" name="Picture 2" descr="tmp6k9t56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70.3 Santa Cruz</a:t>
            </a:r>
          </a:p>
        </p:txBody>
      </p:sp>
      <p:pic>
        <p:nvPicPr>
          <p:cNvPr id="3" name="Picture 2" descr="tmpve6n771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70.3 Texas</a:t>
            </a:r>
          </a:p>
        </p:txBody>
      </p:sp>
      <p:pic>
        <p:nvPicPr>
          <p:cNvPr id="3" name="Picture 2" descr="tmp3ail213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70.3 Maine</a:t>
            </a:r>
          </a:p>
        </p:txBody>
      </p:sp>
      <p:pic>
        <p:nvPicPr>
          <p:cNvPr id="3" name="Picture 2" descr="tmpg3kypq3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70.3 Wisconsin</a:t>
            </a:r>
          </a:p>
        </p:txBody>
      </p:sp>
      <p:pic>
        <p:nvPicPr>
          <p:cNvPr id="3" name="Picture 2" descr="tmp0uc61w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70.3 St. George</a:t>
            </a:r>
          </a:p>
        </p:txBody>
      </p:sp>
      <p:pic>
        <p:nvPicPr>
          <p:cNvPr id="3" name="Picture 2" descr="tmpnf0kicw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T100 Triathlon World Tour at CLASH Endurance Miami</a:t>
            </a:r>
          </a:p>
        </p:txBody>
      </p:sp>
      <p:pic>
        <p:nvPicPr>
          <p:cNvPr id="3" name="Picture 2" descr="tmpufmc_0w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T100 Triathlon World Tour San Francisco</a:t>
            </a:r>
          </a:p>
        </p:txBody>
      </p:sp>
      <p:pic>
        <p:nvPicPr>
          <p:cNvPr id="3" name="Picture 2" descr="tmpo949x8g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T100 Triathlon World Tour Singapore</a:t>
            </a:r>
          </a:p>
        </p:txBody>
      </p:sp>
      <p:pic>
        <p:nvPicPr>
          <p:cNvPr id="3" name="Picture 2" descr="tmp2i71219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T100 Triathlon World Tour London</a:t>
            </a:r>
          </a:p>
        </p:txBody>
      </p:sp>
      <p:pic>
        <p:nvPicPr>
          <p:cNvPr id="3" name="Picture 2" descr="tmp4njawrb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World Triathlon Long Distance Championships Townsville</a:t>
            </a:r>
          </a:p>
        </p:txBody>
      </p:sp>
      <p:pic>
        <p:nvPicPr>
          <p:cNvPr id="3" name="Picture 2" descr="tmpjvtpyb5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T100 Triathlon World Tour Ibiza</a:t>
            </a:r>
          </a:p>
        </p:txBody>
      </p:sp>
      <p:pic>
        <p:nvPicPr>
          <p:cNvPr id="3" name="Picture 2" descr="tmp4sdxwex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T100 Triathlon World Tour Lake Las Vegas</a:t>
            </a:r>
          </a:p>
        </p:txBody>
      </p:sp>
      <p:pic>
        <p:nvPicPr>
          <p:cNvPr id="3" name="Picture 2" descr="tmplgaip3c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T100 Triathlon World Tour Grand Final Dubai</a:t>
            </a:r>
          </a:p>
        </p:txBody>
      </p:sp>
      <p:pic>
        <p:nvPicPr>
          <p:cNvPr id="3" name="Picture 2" descr="tmpagraar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World Triathlon Long Distance Championships Ibiza</a:t>
            </a:r>
          </a:p>
        </p:txBody>
      </p:sp>
      <p:pic>
        <p:nvPicPr>
          <p:cNvPr id="3" name="Picture 2" descr="tmplrx_wi6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T100 Triathlon World Tour Vancouver</a:t>
            </a:r>
          </a:p>
        </p:txBody>
      </p:sp>
      <p:pic>
        <p:nvPicPr>
          <p:cNvPr id="3" name="Picture 2" descr="tmp4h32pt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World Triathlon Long Distance Championships Pontevedra</a:t>
            </a:r>
          </a:p>
        </p:txBody>
      </p:sp>
      <p:pic>
        <p:nvPicPr>
          <p:cNvPr id="3" name="Picture 2" descr="tmpuonrw3u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726</Words>
  <Application>Microsoft Office PowerPoint</Application>
  <PresentationFormat>Custom</PresentationFormat>
  <Paragraphs>79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Presentation</vt:lpstr>
      <vt:lpstr>Event Categories &amp; Analysis Scope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High</cp:lastModifiedBy>
  <cp:revision>3</cp:revision>
  <dcterms:created xsi:type="dcterms:W3CDTF">2013-01-27T09:14:16Z</dcterms:created>
  <dcterms:modified xsi:type="dcterms:W3CDTF">2025-07-16T19:49:58Z</dcterms:modified>
  <cp:category/>
</cp:coreProperties>
</file>