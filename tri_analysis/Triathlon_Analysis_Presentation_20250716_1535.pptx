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66CC"/>
                </a:solidFill>
              </a:defRPr>
            </a:pPr>
            <a:r>
              <a:t>Triathlon Event Performance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404040"/>
                </a:solidFill>
              </a:defRPr>
            </a:pPr>
            <a:r>
              <a:t>Qualifier Analysis &amp; Threshold Sensitivity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808080"/>
                </a:solidFill>
              </a:defRPr>
            </a:pPr>
            <a:r>
              <a:t>Prepared for USA Triathlon &amp; IRONMAN Leadership | July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66CC"/>
                </a:solidFill>
              </a:defRPr>
            </a:pPr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Findings from Triathlon Performance Analysis</a:t>
            </a:r>
          </a:p>
          <a:p>
            <a:pPr>
              <a:defRPr sz="1800"/>
            </a:pPr>
            <a:r>
              <a:t>Analysis covers B-Events (T100, World Championships), C-Events (Major IRONMAN), and D-Events (Regional IRONMAN 70.3)</a:t>
            </a:r>
          </a:p>
          <a:p>
            <a:pPr>
              <a:defRPr sz="1800"/>
            </a:pPr>
            <a:r>
              <a:t>Qualifier sensitivity varies significantly based on event category and threshold percentages</a:t>
            </a:r>
          </a:p>
          <a:p>
            <a:pPr>
              <a:defRPr sz="1800"/>
            </a:pPr>
            <a:r>
              <a:t>B-Events show highest sensitivity to threshold changes, affecting qualification numbers substantially</a:t>
            </a:r>
          </a:p>
          <a:p>
            <a:pPr>
              <a:defRPr sz="1800"/>
            </a:pPr>
            <a:r>
              <a:t>Gender parity maintained across most threshold scenarios</a:t>
            </a:r>
          </a:p>
          <a:p>
            <a:pPr>
              <a:defRPr sz="1800"/>
            </a:pPr>
            <a:r>
              <a:t>Threshold optimization can balance qualifier pool size with performance standards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66CC"/>
                </a:solidFill>
              </a:defRPr>
            </a:pPr>
            <a:r>
              <a:t>Event Categories &amp; Analysis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Event Classification System</a:t>
            </a:r>
          </a:p>
          <a:p>
            <a:pPr>
              <a:defRPr sz="1600"/>
            </a:pPr>
            <a:r>
              <a:t>B-Events (Premier): T100 World Tour, World Championships, Major IRONMAN (Texas, St George)</a:t>
            </a:r>
          </a:p>
          <a:p>
            <a:pPr>
              <a:defRPr sz="1600"/>
            </a:pPr>
            <a:r>
              <a:t>C-Events (Regional Major): IRONMAN Arizona/Lake Placid/Chattanooga, IRONMAN 70.3 Eagleman/Oceanside/Boulder</a:t>
            </a:r>
          </a:p>
          <a:p>
            <a:pPr>
              <a:defRPr sz="1600"/>
            </a:pPr>
            <a:r>
              <a:t>D-Events (Local/Regional): IRONMAN 70.3 Indian Wells, Oregon, Santa Cruz, Texas, Maine, Wisconsin</a:t>
            </a:r>
          </a:p>
          <a:p>
            <a:pPr>
              <a:defRPr sz="1600"/>
            </a:pPr>
            <a:r>
              <a:t>Analysis covers 2023-2024 seasons with threshold sensitivity from 4% to 10% above winner times</a:t>
            </a:r>
          </a:p>
          <a:p>
            <a:pPr>
              <a:defRPr sz="1600"/>
            </a:pPr>
            <a:r>
              <a:t>Focus on US athletes and qualification patterns for strategic planning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66CC"/>
                </a:solidFill>
              </a:defRPr>
            </a:pPr>
            <a:r>
              <a:t>Event Analysis: IRONMAN Lake Placid</a:t>
            </a:r>
          </a:p>
        </p:txBody>
      </p:sp>
      <p:pic>
        <p:nvPicPr>
          <p:cNvPr id="3" name="Picture 2" descr="tmpodetezk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Multi-year comparison showing US qualification patterns across different threshold percentages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66CC"/>
                </a:solidFill>
              </a:defRPr>
            </a:pPr>
            <a:r>
              <a:t>Event Analysis: IRONMAN Arizona</a:t>
            </a:r>
          </a:p>
        </p:txBody>
      </p:sp>
      <p:pic>
        <p:nvPicPr>
          <p:cNvPr id="3" name="Picture 2" descr="tmp26zv0g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Multi-year comparison showing US qualification patterns across different threshold percentages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66CC"/>
                </a:solidFill>
              </a:defRPr>
            </a:pPr>
            <a:r>
              <a:t>Event Analysis: IRONMAN Chattanooga</a:t>
            </a:r>
          </a:p>
        </p:txBody>
      </p:sp>
      <p:pic>
        <p:nvPicPr>
          <p:cNvPr id="3" name="Picture 2" descr="tmp3l9xa2f_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Multi-year comparison showing US qualification patterns across different threshold percentages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66CC"/>
                </a:solidFill>
              </a:defRPr>
            </a:pPr>
            <a:r>
              <a:t>Event Analysis: IRONMAN Texas</a:t>
            </a:r>
          </a:p>
        </p:txBody>
      </p:sp>
      <p:pic>
        <p:nvPicPr>
          <p:cNvPr id="3" name="Picture 2" descr="tmpih45z6s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Multi-year comparison showing US qualification patterns across different threshold percentages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66CC"/>
                </a:solidFill>
              </a:defRPr>
            </a:pPr>
            <a:r>
              <a:t>Event Analysis: IRONMAN 70.3 Eagleman</a:t>
            </a:r>
          </a:p>
        </p:txBody>
      </p:sp>
      <p:pic>
        <p:nvPicPr>
          <p:cNvPr id="3" name="Picture 2" descr="tmp_deevp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Multi-year comparison showing US qualification patterns across different threshold percentages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66CC"/>
                </a:solidFill>
              </a:defRPr>
            </a:pPr>
            <a:r>
              <a:t>Event Analysis: IRONMAN 70.3 Oceanside</a:t>
            </a:r>
          </a:p>
        </p:txBody>
      </p:sp>
      <p:pic>
        <p:nvPicPr>
          <p:cNvPr id="3" name="Picture 2" descr="tmp5q8ya_3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Multi-year comparison showing US qualification patterns across different threshold percentages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66CC"/>
                </a:solidFill>
              </a:defRPr>
            </a:pPr>
            <a:r>
              <a:t>Event Analysis: IRONMAN 70.3 Boulder</a:t>
            </a:r>
          </a:p>
        </p:txBody>
      </p:sp>
      <p:pic>
        <p:nvPicPr>
          <p:cNvPr id="3" name="Picture 2" descr="tmpcy52f15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Multi-year comparison showing US qualification patterns across different threshold percentages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66CC"/>
                </a:solidFill>
              </a:defRPr>
            </a:pPr>
            <a:r>
              <a:t>Event Analysis: IRONMAN 70.3 Chattanooga</a:t>
            </a:r>
          </a:p>
        </p:txBody>
      </p:sp>
      <p:pic>
        <p:nvPicPr>
          <p:cNvPr id="3" name="Picture 2" descr="tmpssj8uqo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Multi-year comparison showing US qualification patterns across different threshold percentages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66CC"/>
                </a:solidFill>
              </a:defRPr>
            </a:pPr>
            <a:r>
              <a:t>Event Analysis: IRONMAN 70.3 Indian Wells La Quinta</a:t>
            </a:r>
          </a:p>
        </p:txBody>
      </p:sp>
      <p:pic>
        <p:nvPicPr>
          <p:cNvPr id="3" name="Picture 2" descr="tmprgp3ikx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Multi-year comparison showing US qualification patterns across different threshold percentages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66CC"/>
                </a:solidFill>
              </a:defRPr>
            </a:pPr>
            <a:r>
              <a:t>Event Analysis: IRONMAN 70.3 Oregon</a:t>
            </a:r>
          </a:p>
        </p:txBody>
      </p:sp>
      <p:pic>
        <p:nvPicPr>
          <p:cNvPr id="3" name="Picture 2" descr="tmpkmb0go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Multi-year comparison showing US qualification patterns across different threshold percentages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66CC"/>
                </a:solidFill>
              </a:defRPr>
            </a:pPr>
            <a:r>
              <a:t>Event Analysis: IRONMAN 70.3 Santa Cruz</a:t>
            </a:r>
          </a:p>
        </p:txBody>
      </p:sp>
      <p:pic>
        <p:nvPicPr>
          <p:cNvPr id="3" name="Picture 2" descr="tmp4depsn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Multi-year comparison showing US qualification patterns across different threshold percentages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66CC"/>
                </a:solidFill>
              </a:defRPr>
            </a:pPr>
            <a:r>
              <a:t>Event Analysis: IRONMAN 70.3 Texas</a:t>
            </a:r>
          </a:p>
        </p:txBody>
      </p:sp>
      <p:pic>
        <p:nvPicPr>
          <p:cNvPr id="3" name="Picture 2" descr="tmpuqg8z31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Multi-year comparison showing US qualification patterns across different threshold percentages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66CC"/>
                </a:solidFill>
              </a:defRPr>
            </a:pPr>
            <a:r>
              <a:t>Event Analysis: IRONMAN 70.3 Maine</a:t>
            </a:r>
          </a:p>
        </p:txBody>
      </p:sp>
      <p:pic>
        <p:nvPicPr>
          <p:cNvPr id="3" name="Picture 2" descr="tmpdwfie31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Multi-year comparison showing US qualification patterns across different threshold percentages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66CC"/>
                </a:solidFill>
              </a:defRPr>
            </a:pPr>
            <a:r>
              <a:t>Event Analysis: IRONMAN 70.3 Wisconsin</a:t>
            </a:r>
          </a:p>
        </p:txBody>
      </p:sp>
      <p:pic>
        <p:nvPicPr>
          <p:cNvPr id="3" name="Picture 2" descr="tmptrhhnf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Multi-year comparison showing US qualification patterns across different threshold percentages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66CC"/>
                </a:solidFill>
              </a:defRPr>
            </a:pPr>
            <a:r>
              <a:t>Event Analysis: IRONMAN 70.3 St. George</a:t>
            </a:r>
          </a:p>
        </p:txBody>
      </p:sp>
      <p:pic>
        <p:nvPicPr>
          <p:cNvPr id="3" name="Picture 2" descr="tmp13h62g5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Multi-year comparison showing US qualification patterns across different threshold percentages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66CC"/>
                </a:solidFill>
              </a:defRPr>
            </a:pPr>
            <a:r>
              <a:t>Event Analysis: T100 Triathlon World Tour at CLASH Endurance Miami</a:t>
            </a:r>
          </a:p>
        </p:txBody>
      </p:sp>
      <p:pic>
        <p:nvPicPr>
          <p:cNvPr id="3" name="Picture 2" descr="tmpzvb911v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Multi-year comparison showing US qualification patterns across different threshold percentages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66CC"/>
                </a:solidFill>
              </a:defRPr>
            </a:pPr>
            <a:r>
              <a:t>Event Analysis: T100 Triathlon World Tour San Francisco</a:t>
            </a:r>
          </a:p>
        </p:txBody>
      </p:sp>
      <p:pic>
        <p:nvPicPr>
          <p:cNvPr id="3" name="Picture 2" descr="tmp74jfyta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Multi-year comparison showing US qualification patterns across different threshold percentages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66CC"/>
                </a:solidFill>
              </a:defRPr>
            </a:pPr>
            <a:r>
              <a:t>Event Analysis: T100 Triathlon World Tour Singapore</a:t>
            </a:r>
          </a:p>
        </p:txBody>
      </p:sp>
      <p:pic>
        <p:nvPicPr>
          <p:cNvPr id="3" name="Picture 2" descr="tmpl4wqo60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Multi-year comparison showing US qualification patterns across different threshold percentages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66CC"/>
                </a:solidFill>
              </a:defRPr>
            </a:pPr>
            <a:r>
              <a:t>Event Analysis: T100 Triathlon World Tour London</a:t>
            </a:r>
          </a:p>
        </p:txBody>
      </p:sp>
      <p:pic>
        <p:nvPicPr>
          <p:cNvPr id="3" name="Picture 2" descr="tmpxqrs858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Multi-year comparison showing US qualification patterns across different threshold percentages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66CC"/>
                </a:solidFill>
              </a:defRPr>
            </a:pPr>
            <a:r>
              <a:t>Event Analysis: World Triathlon Long Distance Championships Townsville</a:t>
            </a:r>
          </a:p>
        </p:txBody>
      </p:sp>
      <p:pic>
        <p:nvPicPr>
          <p:cNvPr id="3" name="Picture 2" descr="tmp_nqpik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Multi-year comparison showing US qualification patterns across different threshold percentages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66CC"/>
                </a:solidFill>
              </a:defRPr>
            </a:pPr>
            <a:r>
              <a:t>Event Analysis: T100 Triathlon World Tour Ibiza</a:t>
            </a:r>
          </a:p>
        </p:txBody>
      </p:sp>
      <p:pic>
        <p:nvPicPr>
          <p:cNvPr id="3" name="Picture 2" descr="tmp6qb_1b_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Multi-year comparison showing US qualification patterns across different threshold percentages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66CC"/>
                </a:solidFill>
              </a:defRPr>
            </a:pPr>
            <a:r>
              <a:t>Event Analysis: T100 Triathlon World Tour Lake Las Vegas</a:t>
            </a:r>
          </a:p>
        </p:txBody>
      </p:sp>
      <p:pic>
        <p:nvPicPr>
          <p:cNvPr id="3" name="Picture 2" descr="tmpbnfqq8f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Multi-year comparison showing US qualification patterns across different threshold percentages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66CC"/>
                </a:solidFill>
              </a:defRPr>
            </a:pPr>
            <a:r>
              <a:t>Event Analysis: T100 Triathlon World Tour Grand Final Dubai</a:t>
            </a:r>
          </a:p>
        </p:txBody>
      </p:sp>
      <p:pic>
        <p:nvPicPr>
          <p:cNvPr id="3" name="Picture 2" descr="tmpham_oa6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Multi-year comparison showing US qualification patterns across different threshold percentages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66CC"/>
                </a:solidFill>
              </a:defRPr>
            </a:pPr>
            <a:r>
              <a:t>Event Analysis: World Triathlon Long Distance Championships Ibiza</a:t>
            </a:r>
          </a:p>
        </p:txBody>
      </p:sp>
      <p:pic>
        <p:nvPicPr>
          <p:cNvPr id="3" name="Picture 2" descr="tmp70qlcz9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Multi-year comparison showing US qualification patterns across different threshold percentages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66CC"/>
                </a:solidFill>
              </a:defRPr>
            </a:pPr>
            <a:r>
              <a:t>Event Analysis: T100 Triathlon World Tour Vancouver</a:t>
            </a:r>
          </a:p>
        </p:txBody>
      </p:sp>
      <p:pic>
        <p:nvPicPr>
          <p:cNvPr id="3" name="Picture 2" descr="tmpye7tsqh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Multi-year comparison showing US qualification patterns across different threshold percentages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66CC"/>
                </a:solidFill>
              </a:defRPr>
            </a:pPr>
            <a:r>
              <a:t>Event Analysis: World Triathlon Long Distance Championships Pontevedra</a:t>
            </a:r>
          </a:p>
        </p:txBody>
      </p:sp>
      <p:pic>
        <p:nvPicPr>
          <p:cNvPr id="3" name="Picture 2" descr="tmpp6yr7z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Multi-year comparison showing US qualification patterns across different threshold percentages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66CC"/>
                </a:solidFill>
              </a:defRPr>
            </a:pPr>
            <a:r>
              <a:t>Event Category Threshold Impact Analysis (2023)</a:t>
            </a:r>
          </a:p>
        </p:txBody>
      </p:sp>
      <p:pic>
        <p:nvPicPr>
          <p:cNvPr id="3" name="Picture 2" descr="tmpz0l8j9m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Comprehensive view showing how threshold changes in each event category affect total US qualification numbers for 2023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66CC"/>
                </a:solidFill>
              </a:defRPr>
            </a:pPr>
            <a:r>
              <a:t>Event Category Threshold Impact Analysis (2024)</a:t>
            </a:r>
          </a:p>
        </p:txBody>
      </p:sp>
      <p:pic>
        <p:nvPicPr>
          <p:cNvPr id="3" name="Picture 2" descr="tmpucimfyw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Comprehensive view showing how threshold changes in each event category affect total US qualification numbers for 2024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66CC"/>
                </a:solidFill>
              </a:defRPr>
            </a:pPr>
            <a:r>
              <a:t>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Data-Driven Insights for Qualification Strategy</a:t>
            </a:r>
          </a:p>
          <a:p>
            <a:pPr>
              <a:defRPr sz="1600"/>
            </a:pPr>
            <a:r>
              <a:t>B-Events (T100/Championships): 8% threshold provides balanced qualifier pool (~40-60 athletes per gender)</a:t>
            </a:r>
          </a:p>
          <a:p>
            <a:pPr>
              <a:defRPr sz="1600"/>
            </a:pPr>
            <a:r>
              <a:t>C-Events (Major IRONMAN): 6% threshold maintains selectivity while ensuring adequate representation</a:t>
            </a:r>
          </a:p>
          <a:p>
            <a:pPr>
              <a:defRPr sz="1600"/>
            </a:pPr>
            <a:r>
              <a:t>D-Events (Regional): 4% threshold preserves competitive standards for local/regional qualifiers</a:t>
            </a:r>
          </a:p>
          <a:p>
            <a:pPr>
              <a:defRPr sz="1600"/>
            </a:pPr>
            <a:r>
              <a:t>Implementation Benefits:</a:t>
            </a:r>
          </a:p>
          <a:p>
            <a:pPr lvl="1">
              <a:defRPr sz="1400"/>
            </a:pPr>
            <a:r>
              <a:t>  • Predictable qualification numbers for event planning</a:t>
            </a:r>
          </a:p>
          <a:p>
            <a:pPr lvl="1">
              <a:defRPr sz="1400"/>
            </a:pPr>
            <a:r>
              <a:t>  • Maintains competitive integrity across event tiers</a:t>
            </a:r>
          </a:p>
          <a:p>
            <a:pPr lvl="1">
              <a:defRPr sz="1400"/>
            </a:pPr>
            <a:r>
              <a:t>  • Ensures gender parity in qualification opportunities</a:t>
            </a:r>
          </a:p>
          <a:p>
            <a:pPr lvl="1">
              <a:defRPr sz="1400"/>
            </a:pPr>
            <a:r>
              <a:t>  • Provides clear athlete performance targets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